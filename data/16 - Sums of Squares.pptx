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5"/>
  </p:notesMasterIdLst>
  <p:sldIdLst>
    <p:sldId id="256" r:id="rId2"/>
    <p:sldId id="257" r:id="rId3"/>
    <p:sldId id="585" r:id="rId4"/>
    <p:sldId id="584" r:id="rId5"/>
    <p:sldId id="583" r:id="rId6"/>
    <p:sldId id="571" r:id="rId7"/>
    <p:sldId id="574" r:id="rId8"/>
    <p:sldId id="591" r:id="rId9"/>
    <p:sldId id="577" r:id="rId10"/>
    <p:sldId id="576" r:id="rId11"/>
    <p:sldId id="575" r:id="rId12"/>
    <p:sldId id="573" r:id="rId13"/>
    <p:sldId id="592" r:id="rId14"/>
    <p:sldId id="593" r:id="rId15"/>
    <p:sldId id="594" r:id="rId16"/>
    <p:sldId id="582" r:id="rId17"/>
    <p:sldId id="400" r:id="rId18"/>
    <p:sldId id="393" r:id="rId19"/>
    <p:sldId id="394" r:id="rId20"/>
    <p:sldId id="340" r:id="rId21"/>
    <p:sldId id="428" r:id="rId22"/>
    <p:sldId id="429" r:id="rId23"/>
    <p:sldId id="430" r:id="rId24"/>
    <p:sldId id="431" r:id="rId25"/>
    <p:sldId id="432" r:id="rId26"/>
    <p:sldId id="433" r:id="rId27"/>
    <p:sldId id="434" r:id="rId28"/>
    <p:sldId id="436" r:id="rId29"/>
    <p:sldId id="438" r:id="rId30"/>
    <p:sldId id="440" r:id="rId31"/>
    <p:sldId id="441" r:id="rId32"/>
    <p:sldId id="442" r:id="rId33"/>
    <p:sldId id="443" r:id="rId34"/>
    <p:sldId id="444" r:id="rId35"/>
    <p:sldId id="439" r:id="rId36"/>
    <p:sldId id="341" r:id="rId37"/>
    <p:sldId id="342" r:id="rId38"/>
    <p:sldId id="343" r:id="rId39"/>
    <p:sldId id="344" r:id="rId40"/>
    <p:sldId id="345" r:id="rId41"/>
    <p:sldId id="346" r:id="rId42"/>
    <p:sldId id="446" r:id="rId43"/>
    <p:sldId id="348" r:id="rId44"/>
    <p:sldId id="349" r:id="rId45"/>
    <p:sldId id="350" r:id="rId46"/>
    <p:sldId id="351" r:id="rId47"/>
    <p:sldId id="352" r:id="rId48"/>
    <p:sldId id="354" r:id="rId49"/>
    <p:sldId id="355" r:id="rId50"/>
    <p:sldId id="356" r:id="rId51"/>
    <p:sldId id="357" r:id="rId52"/>
    <p:sldId id="358" r:id="rId53"/>
    <p:sldId id="447" r:id="rId54"/>
    <p:sldId id="451" r:id="rId55"/>
    <p:sldId id="449" r:id="rId56"/>
    <p:sldId id="452" r:id="rId57"/>
    <p:sldId id="362" r:id="rId58"/>
    <p:sldId id="454" r:id="rId59"/>
    <p:sldId id="363" r:id="rId60"/>
    <p:sldId id="364" r:id="rId61"/>
    <p:sldId id="455" r:id="rId62"/>
    <p:sldId id="365" r:id="rId63"/>
    <p:sldId id="456" r:id="rId64"/>
    <p:sldId id="457" r:id="rId65"/>
    <p:sldId id="458" r:id="rId66"/>
    <p:sldId id="459" r:id="rId67"/>
    <p:sldId id="366" r:id="rId68"/>
    <p:sldId id="588" r:id="rId69"/>
    <p:sldId id="404" r:id="rId70"/>
    <p:sldId id="586" r:id="rId71"/>
    <p:sldId id="469" r:id="rId72"/>
    <p:sldId id="587" r:id="rId73"/>
    <p:sldId id="518" r:id="rId7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48235"/>
    <a:srgbClr val="FFFFFF"/>
    <a:srgbClr val="FFD966"/>
    <a:srgbClr val="996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13" autoAdjust="0"/>
    <p:restoredTop sz="81435" autoAdjust="0"/>
  </p:normalViewPr>
  <p:slideViewPr>
    <p:cSldViewPr snapToGrid="0">
      <p:cViewPr varScale="1">
        <p:scale>
          <a:sx n="83" d="100"/>
          <a:sy n="83" d="100"/>
        </p:scale>
        <p:origin x="466" y="-61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49FA04D-5C42-4D62-A2E3-69462FD4FA81}" type="datetimeFigureOut">
              <a:rPr lang="en-US" smtClean="0"/>
              <a:t>10/13/2026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95FD8CC-2567-4E8B-88B6-FED9D8364B0E}" type="slidenum">
              <a:rPr lang="en-US" smtClean="0"/>
              <a:t>‹#›</a:t>
            </a:fld>
            <a:endParaRPr lang="en-US"/>
          </a:p>
        </p:txBody>
      </p:sp>
    </p:spTree>
    <p:extLst>
      <p:ext uri="{BB962C8B-B14F-4D97-AF65-F5344CB8AC3E}">
        <p14:creationId xmlns:p14="http://schemas.microsoft.com/office/powerpoint/2010/main" val="21111917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a:t>
            </a:fld>
            <a:endParaRPr lang="en-US"/>
          </a:p>
        </p:txBody>
      </p:sp>
    </p:spTree>
    <p:extLst>
      <p:ext uri="{BB962C8B-B14F-4D97-AF65-F5344CB8AC3E}">
        <p14:creationId xmlns:p14="http://schemas.microsoft.com/office/powerpoint/2010/main" val="21944407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okay to have unbalanced</a:t>
            </a:r>
            <a:r>
              <a:rPr lang="en-US" baseline="0" dirty="0"/>
              <a:t> data, you just need to know how to treat it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17</a:t>
            </a:fld>
            <a:endParaRPr lang="en-US"/>
          </a:p>
        </p:txBody>
      </p:sp>
    </p:spTree>
    <p:extLst>
      <p:ext uri="{BB962C8B-B14F-4D97-AF65-F5344CB8AC3E}">
        <p14:creationId xmlns:p14="http://schemas.microsoft.com/office/powerpoint/2010/main" val="15376105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uses the muscadine dataset from 14_muscadines.csv, but the example works for any unbalanced data and with using </a:t>
            </a:r>
            <a:r>
              <a:rPr lang="en-US" dirty="0" err="1"/>
              <a:t>lm</a:t>
            </a:r>
            <a:r>
              <a:rPr lang="en-US" dirty="0"/>
              <a:t>()</a:t>
            </a:r>
          </a:p>
        </p:txBody>
      </p:sp>
      <p:sp>
        <p:nvSpPr>
          <p:cNvPr id="4" name="Slide Number Placeholder 3"/>
          <p:cNvSpPr>
            <a:spLocks noGrp="1"/>
          </p:cNvSpPr>
          <p:nvPr>
            <p:ph type="sldNum" sz="quarter" idx="5"/>
          </p:nvPr>
        </p:nvSpPr>
        <p:spPr/>
        <p:txBody>
          <a:bodyPr/>
          <a:lstStyle/>
          <a:p>
            <a:fld id="{E95FD8CC-2567-4E8B-88B6-FED9D8364B0E}" type="slidenum">
              <a:rPr lang="en-US" smtClean="0"/>
              <a:t>18</a:t>
            </a:fld>
            <a:endParaRPr lang="en-US"/>
          </a:p>
        </p:txBody>
      </p:sp>
    </p:spTree>
    <p:extLst>
      <p:ext uri="{BB962C8B-B14F-4D97-AF65-F5344CB8AC3E}">
        <p14:creationId xmlns:p14="http://schemas.microsoft.com/office/powerpoint/2010/main" val="2133072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case the p-values are not hugely different, but they _are_ different, and the more unbalanced your data is the larger that difference will become</a:t>
            </a:r>
          </a:p>
        </p:txBody>
      </p:sp>
      <p:sp>
        <p:nvSpPr>
          <p:cNvPr id="4" name="Slide Number Placeholder 3"/>
          <p:cNvSpPr>
            <a:spLocks noGrp="1"/>
          </p:cNvSpPr>
          <p:nvPr>
            <p:ph type="sldNum" sz="quarter" idx="10"/>
          </p:nvPr>
        </p:nvSpPr>
        <p:spPr/>
        <p:txBody>
          <a:bodyPr/>
          <a:lstStyle/>
          <a:p>
            <a:fld id="{E95FD8CC-2567-4E8B-88B6-FED9D8364B0E}" type="slidenum">
              <a:rPr lang="en-US" smtClean="0"/>
              <a:t>19</a:t>
            </a:fld>
            <a:endParaRPr lang="en-US"/>
          </a:p>
        </p:txBody>
      </p:sp>
    </p:spTree>
    <p:extLst>
      <p:ext uri="{BB962C8B-B14F-4D97-AF65-F5344CB8AC3E}">
        <p14:creationId xmlns:p14="http://schemas.microsoft.com/office/powerpoint/2010/main" val="5197987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Unbalanced data has some SS that we cannot tell which factor it belongs to because we don’t have equal observations of everything</a:t>
            </a:r>
          </a:p>
        </p:txBody>
      </p:sp>
      <p:sp>
        <p:nvSpPr>
          <p:cNvPr id="4" name="Slide Number Placeholder 3"/>
          <p:cNvSpPr>
            <a:spLocks noGrp="1"/>
          </p:cNvSpPr>
          <p:nvPr>
            <p:ph type="sldNum" sz="quarter" idx="10"/>
          </p:nvPr>
        </p:nvSpPr>
        <p:spPr/>
        <p:txBody>
          <a:bodyPr/>
          <a:lstStyle/>
          <a:p>
            <a:fld id="{E95FD8CC-2567-4E8B-88B6-FED9D8364B0E}" type="slidenum">
              <a:rPr lang="en-US" smtClean="0"/>
              <a:t>27</a:t>
            </a:fld>
            <a:endParaRPr lang="en-US"/>
          </a:p>
        </p:txBody>
      </p:sp>
    </p:spTree>
    <p:extLst>
      <p:ext uri="{BB962C8B-B14F-4D97-AF65-F5344CB8AC3E}">
        <p14:creationId xmlns:p14="http://schemas.microsoft.com/office/powerpoint/2010/main" val="27766159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is fit first, it “absorbs” the ambiguous SS into itself</a:t>
            </a:r>
          </a:p>
        </p:txBody>
      </p:sp>
      <p:sp>
        <p:nvSpPr>
          <p:cNvPr id="4" name="Slide Number Placeholder 3"/>
          <p:cNvSpPr>
            <a:spLocks noGrp="1"/>
          </p:cNvSpPr>
          <p:nvPr>
            <p:ph type="sldNum" sz="quarter" idx="10"/>
          </p:nvPr>
        </p:nvSpPr>
        <p:spPr/>
        <p:txBody>
          <a:bodyPr/>
          <a:lstStyle/>
          <a:p>
            <a:fld id="{E95FD8CC-2567-4E8B-88B6-FED9D8364B0E}" type="slidenum">
              <a:rPr lang="en-US" smtClean="0"/>
              <a:t>28</a:t>
            </a:fld>
            <a:endParaRPr lang="en-US"/>
          </a:p>
        </p:txBody>
      </p:sp>
    </p:spTree>
    <p:extLst>
      <p:ext uri="{BB962C8B-B14F-4D97-AF65-F5344CB8AC3E}">
        <p14:creationId xmlns:p14="http://schemas.microsoft.com/office/powerpoint/2010/main" val="36328653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B is fit first, it “absorbs” the ambiguous SS into itself</a:t>
            </a:r>
          </a:p>
        </p:txBody>
      </p:sp>
      <p:sp>
        <p:nvSpPr>
          <p:cNvPr id="4" name="Slide Number Placeholder 3"/>
          <p:cNvSpPr>
            <a:spLocks noGrp="1"/>
          </p:cNvSpPr>
          <p:nvPr>
            <p:ph type="sldNum" sz="quarter" idx="10"/>
          </p:nvPr>
        </p:nvSpPr>
        <p:spPr/>
        <p:txBody>
          <a:bodyPr/>
          <a:lstStyle/>
          <a:p>
            <a:fld id="{E95FD8CC-2567-4E8B-88B6-FED9D8364B0E}" type="slidenum">
              <a:rPr lang="en-US" smtClean="0"/>
              <a:t>29</a:t>
            </a:fld>
            <a:endParaRPr lang="en-US"/>
          </a:p>
        </p:txBody>
      </p:sp>
    </p:spTree>
    <p:extLst>
      <p:ext uri="{BB962C8B-B14F-4D97-AF65-F5344CB8AC3E}">
        <p14:creationId xmlns:p14="http://schemas.microsoft.com/office/powerpoint/2010/main" val="82127650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you put the things you care about first, you risk</a:t>
            </a:r>
            <a:r>
              <a:rPr lang="en-US" baseline="0" dirty="0"/>
              <a:t> them “absorbing” variance that isn’t actually theirs (block effects, </a:t>
            </a:r>
            <a:r>
              <a:rPr lang="en-US" baseline="0" dirty="0" err="1"/>
              <a:t>etc</a:t>
            </a:r>
            <a:r>
              <a:rPr lang="en-US" baseline="0" dirty="0"/>
              <a:t>). By putting the things you care about last, you guarantee they only contain the effect of what can be uniquely assigned to them.</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35</a:t>
            </a:fld>
            <a:endParaRPr lang="en-US"/>
          </a:p>
        </p:txBody>
      </p:sp>
    </p:spTree>
    <p:extLst>
      <p:ext uri="{BB962C8B-B14F-4D97-AF65-F5344CB8AC3E}">
        <p14:creationId xmlns:p14="http://schemas.microsoft.com/office/powerpoint/2010/main" val="274133790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resource for this: https://mcfromnz.wordpress.com/2011/03/02/anova-type-iiiiii-ss-explained/</a:t>
            </a:r>
          </a:p>
        </p:txBody>
      </p:sp>
      <p:sp>
        <p:nvSpPr>
          <p:cNvPr id="4" name="Slide Number Placeholder 3"/>
          <p:cNvSpPr>
            <a:spLocks noGrp="1"/>
          </p:cNvSpPr>
          <p:nvPr>
            <p:ph type="sldNum" sz="quarter" idx="10"/>
          </p:nvPr>
        </p:nvSpPr>
        <p:spPr/>
        <p:txBody>
          <a:bodyPr/>
          <a:lstStyle/>
          <a:p>
            <a:fld id="{E95FD8CC-2567-4E8B-88B6-FED9D8364B0E}" type="slidenum">
              <a:rPr lang="en-US" smtClean="0"/>
              <a:t>36</a:t>
            </a:fld>
            <a:endParaRPr lang="en-US"/>
          </a:p>
        </p:txBody>
      </p:sp>
    </p:spTree>
    <p:extLst>
      <p:ext uri="{BB962C8B-B14F-4D97-AF65-F5344CB8AC3E}">
        <p14:creationId xmlns:p14="http://schemas.microsoft.com/office/powerpoint/2010/main" val="39514135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37</a:t>
            </a:fld>
            <a:endParaRPr lang="en-US"/>
          </a:p>
        </p:txBody>
      </p:sp>
    </p:spTree>
    <p:extLst>
      <p:ext uri="{BB962C8B-B14F-4D97-AF65-F5344CB8AC3E}">
        <p14:creationId xmlns:p14="http://schemas.microsoft.com/office/powerpoint/2010/main" val="34024819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38</a:t>
            </a:fld>
            <a:endParaRPr lang="en-US"/>
          </a:p>
        </p:txBody>
      </p:sp>
    </p:spTree>
    <p:extLst>
      <p:ext uri="{BB962C8B-B14F-4D97-AF65-F5344CB8AC3E}">
        <p14:creationId xmlns:p14="http://schemas.microsoft.com/office/powerpoint/2010/main" val="40122920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39</a:t>
            </a:fld>
            <a:endParaRPr lang="en-US"/>
          </a:p>
        </p:txBody>
      </p:sp>
    </p:spTree>
    <p:extLst>
      <p:ext uri="{BB962C8B-B14F-4D97-AF65-F5344CB8AC3E}">
        <p14:creationId xmlns:p14="http://schemas.microsoft.com/office/powerpoint/2010/main" val="60749903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end result of this is that the later model terms are computed after accounting for the earlier ones, meaning the earlier model terms are “controlled</a:t>
            </a:r>
            <a:r>
              <a:rPr lang="en-US" baseline="0" dirty="0"/>
              <a:t> for.” In practice, this means you want to put your nuisance variables—the ones you need to be aware of but don’t actually care about, like blocks, people who did the scoring, etc.—earlier in the model than the variables you do care about (plant variety, etc.)</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40</a:t>
            </a:fld>
            <a:endParaRPr lang="en-US"/>
          </a:p>
        </p:txBody>
      </p:sp>
    </p:spTree>
    <p:extLst>
      <p:ext uri="{BB962C8B-B14F-4D97-AF65-F5344CB8AC3E}">
        <p14:creationId xmlns:p14="http://schemas.microsoft.com/office/powerpoint/2010/main" val="37759389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a:t>
            </a:r>
            <a:r>
              <a:rPr lang="en-US" baseline="0" dirty="0"/>
              <a:t> each block has 80 treatments total</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41</a:t>
            </a:fld>
            <a:endParaRPr lang="en-US"/>
          </a:p>
        </p:txBody>
      </p:sp>
    </p:spTree>
    <p:extLst>
      <p:ext uri="{BB962C8B-B14F-4D97-AF65-F5344CB8AC3E}">
        <p14:creationId xmlns:p14="http://schemas.microsoft.com/office/powerpoint/2010/main" val="78052487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Note:</a:t>
            </a:r>
            <a:r>
              <a:rPr lang="en-US" baseline="0" dirty="0"/>
              <a:t> each block has 80 treatments total</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42</a:t>
            </a:fld>
            <a:endParaRPr lang="en-US"/>
          </a:p>
        </p:txBody>
      </p:sp>
    </p:spTree>
    <p:extLst>
      <p:ext uri="{BB962C8B-B14F-4D97-AF65-F5344CB8AC3E}">
        <p14:creationId xmlns:p14="http://schemas.microsoft.com/office/powerpoint/2010/main" val="3820681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Pretty sure if you sum the Type</a:t>
            </a:r>
            <a:r>
              <a:rPr lang="en-US" baseline="0" dirty="0"/>
              <a:t> II and Type III SS for each factor, it is always _less than_ the total model SS. Haven’t rigorously checked this, though.</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46</a:t>
            </a:fld>
            <a:endParaRPr lang="en-US"/>
          </a:p>
        </p:txBody>
      </p:sp>
    </p:spTree>
    <p:extLst>
      <p:ext uri="{BB962C8B-B14F-4D97-AF65-F5344CB8AC3E}">
        <p14:creationId xmlns:p14="http://schemas.microsoft.com/office/powerpoint/2010/main" val="261873153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52</a:t>
            </a:fld>
            <a:endParaRPr lang="en-US"/>
          </a:p>
        </p:txBody>
      </p:sp>
    </p:spTree>
    <p:extLst>
      <p:ext uri="{BB962C8B-B14F-4D97-AF65-F5344CB8AC3E}">
        <p14:creationId xmlns:p14="http://schemas.microsoft.com/office/powerpoint/2010/main" val="77273917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56</a:t>
            </a:fld>
            <a:endParaRPr lang="en-US"/>
          </a:p>
        </p:txBody>
      </p:sp>
    </p:spTree>
    <p:extLst>
      <p:ext uri="{BB962C8B-B14F-4D97-AF65-F5344CB8AC3E}">
        <p14:creationId xmlns:p14="http://schemas.microsoft.com/office/powerpoint/2010/main" val="317446603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59</a:t>
            </a:fld>
            <a:endParaRPr lang="en-US"/>
          </a:p>
        </p:txBody>
      </p:sp>
    </p:spTree>
    <p:extLst>
      <p:ext uri="{BB962C8B-B14F-4D97-AF65-F5344CB8AC3E}">
        <p14:creationId xmlns:p14="http://schemas.microsoft.com/office/powerpoint/2010/main" val="375471073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60</a:t>
            </a:fld>
            <a:endParaRPr lang="en-US"/>
          </a:p>
        </p:txBody>
      </p:sp>
    </p:spTree>
    <p:extLst>
      <p:ext uri="{BB962C8B-B14F-4D97-AF65-F5344CB8AC3E}">
        <p14:creationId xmlns:p14="http://schemas.microsoft.com/office/powerpoint/2010/main" val="199447286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61</a:t>
            </a:fld>
            <a:endParaRPr lang="en-US"/>
          </a:p>
        </p:txBody>
      </p:sp>
    </p:spTree>
    <p:extLst>
      <p:ext uri="{BB962C8B-B14F-4D97-AF65-F5344CB8AC3E}">
        <p14:creationId xmlns:p14="http://schemas.microsoft.com/office/powerpoint/2010/main" val="247235265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options(contrasts = c(“contr.sum”,”</a:t>
            </a:r>
            <a:r>
              <a:rPr lang="en-US" sz="1200" b="0" i="0" kern="1200" dirty="0" err="1">
                <a:solidFill>
                  <a:schemeClr val="tx1"/>
                </a:solidFill>
                <a:effectLst/>
                <a:latin typeface="+mn-lt"/>
                <a:ea typeface="+mn-ea"/>
                <a:cs typeface="+mn-cs"/>
              </a:rPr>
              <a:t>contr.poly</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62</a:t>
            </a:fld>
            <a:endParaRPr lang="en-US"/>
          </a:p>
        </p:txBody>
      </p:sp>
    </p:spTree>
    <p:extLst>
      <p:ext uri="{BB962C8B-B14F-4D97-AF65-F5344CB8AC3E}">
        <p14:creationId xmlns:p14="http://schemas.microsoft.com/office/powerpoint/2010/main" val="41888871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solidFill>
                  <a:schemeClr val="tx1"/>
                </a:solidFill>
                <a:effectLst/>
                <a:latin typeface="+mn-lt"/>
                <a:ea typeface="+mn-ea"/>
                <a:cs typeface="+mn-cs"/>
              </a:rPr>
              <a:t>options(contrasts = c(“contr.sum”,”</a:t>
            </a:r>
            <a:r>
              <a:rPr lang="en-US" sz="1200" b="0" i="0" kern="1200" dirty="0" err="1">
                <a:solidFill>
                  <a:schemeClr val="tx1"/>
                </a:solidFill>
                <a:effectLst/>
                <a:latin typeface="+mn-lt"/>
                <a:ea typeface="+mn-ea"/>
                <a:cs typeface="+mn-cs"/>
              </a:rPr>
              <a:t>contr.poly</a:t>
            </a:r>
            <a:r>
              <a:rPr lang="en-US" sz="1200" b="0" i="0" kern="1200" dirty="0">
                <a:solidFill>
                  <a:schemeClr val="tx1"/>
                </a:solidFill>
                <a:effectLst/>
                <a:latin typeface="+mn-lt"/>
                <a:ea typeface="+mn-ea"/>
                <a:cs typeface="+mn-cs"/>
              </a:rPr>
              <a:t>”))</a:t>
            </a:r>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63</a:t>
            </a:fld>
            <a:endParaRPr lang="en-US"/>
          </a:p>
        </p:txBody>
      </p:sp>
    </p:spTree>
    <p:extLst>
      <p:ext uri="{BB962C8B-B14F-4D97-AF65-F5344CB8AC3E}">
        <p14:creationId xmlns:p14="http://schemas.microsoft.com/office/powerpoint/2010/main" val="10991018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E95FD8CC-2567-4E8B-88B6-FED9D8364B0E}" type="slidenum">
              <a:rPr lang="en-US" smtClean="0"/>
              <a:t>70</a:t>
            </a:fld>
            <a:endParaRPr lang="en-US"/>
          </a:p>
        </p:txBody>
      </p:sp>
    </p:spTree>
    <p:extLst>
      <p:ext uri="{BB962C8B-B14F-4D97-AF65-F5344CB8AC3E}">
        <p14:creationId xmlns:p14="http://schemas.microsoft.com/office/powerpoint/2010/main" val="39806581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95FD8CC-2567-4E8B-88B6-FED9D8364B0E}" type="slidenum">
              <a:rPr lang="en-US" smtClean="0"/>
              <a:t>73</a:t>
            </a:fld>
            <a:endParaRPr lang="en-US"/>
          </a:p>
        </p:txBody>
      </p:sp>
    </p:spTree>
    <p:extLst>
      <p:ext uri="{BB962C8B-B14F-4D97-AF65-F5344CB8AC3E}">
        <p14:creationId xmlns:p14="http://schemas.microsoft.com/office/powerpoint/2010/main" val="27819377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09E8A1D8-F9AF-447C-AE09-AF14014826C2}"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5718225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1">
                <a:latin typeface="Arial" panose="020B0604020202020204" pitchFamily="34" charset="0"/>
                <a:cs typeface="Arial" panose="020B0604020202020204" pitchFamily="34" charset="0"/>
              </a:defRPr>
            </a:lvl1pPr>
          </a:lstStyle>
          <a:p>
            <a:r>
              <a:rPr lang="en-US" dirty="0"/>
              <a:t>Click to edit Master title style</a:t>
            </a:r>
          </a:p>
        </p:txBody>
      </p:sp>
      <p:sp>
        <p:nvSpPr>
          <p:cNvPr id="3" name="Content Placeholder 2"/>
          <p:cNvSpPr>
            <a:spLocks noGrp="1"/>
          </p:cNvSpPr>
          <p:nvPr>
            <p:ph idx="1"/>
          </p:nvPr>
        </p:nvSpPr>
        <p:spPr>
          <a:xfrm>
            <a:off x="838200" y="1825625"/>
            <a:ext cx="10515600" cy="4110718"/>
          </a:xfrm>
        </p:spPr>
        <p:txBody>
          <a:bodyPr>
            <a:noAutofit/>
          </a:bodyPr>
          <a:lstStyle>
            <a:lvl1pPr marL="465138" indent="-465138">
              <a:defRPr sz="3200"/>
            </a:lvl1pPr>
            <a:lvl2pPr marL="914400" indent="-457200">
              <a:defRPr sz="2800"/>
            </a:lvl2pPr>
            <a:lvl3pPr marL="1262063" indent="-347663">
              <a:defRPr sz="2400"/>
            </a:lvl3pPr>
            <a:lvl4pPr marL="1712913" indent="-341313">
              <a:defRPr sz="2000"/>
            </a:lvl4pPr>
            <a:lvl5pPr marL="2176463" indent="-347663">
              <a:defRPr sz="2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6188450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9E8A1D8-F9AF-447C-AE09-AF14014826C2}"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83962296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09E8A1D8-F9AF-447C-AE09-AF14014826C2}"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735867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9E8A1D8-F9AF-447C-AE09-AF14014826C2}" type="datetimeFigureOut">
              <a:rPr lang="en-US" smtClean="0"/>
              <a:t>10/13/2026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65874636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9E8A1D8-F9AF-447C-AE09-AF14014826C2}" type="datetimeFigureOut">
              <a:rPr lang="en-US" smtClean="0"/>
              <a:t>10/13/2026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5089219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9E8A1D8-F9AF-447C-AE09-AF14014826C2}" type="datetimeFigureOut">
              <a:rPr lang="en-US" smtClean="0"/>
              <a:t>10/13/2026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7494039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6186839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9E8A1D8-F9AF-447C-AE09-AF14014826C2}" type="datetimeFigureOut">
              <a:rPr lang="en-US" smtClean="0"/>
              <a:t>10/13/2026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39156473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20312162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9E8A1D8-F9AF-447C-AE09-AF14014826C2}" type="datetimeFigureOut">
              <a:rPr lang="en-US" smtClean="0"/>
              <a:t>10/13/2026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3EF59B-F2EA-4295-8B7F-B2BE0898F8B9}" type="slidenum">
              <a:rPr lang="en-US" smtClean="0"/>
              <a:t>‹#›</a:t>
            </a:fld>
            <a:endParaRPr lang="en-US"/>
          </a:p>
        </p:txBody>
      </p:sp>
    </p:spTree>
    <p:extLst>
      <p:ext uri="{BB962C8B-B14F-4D97-AF65-F5344CB8AC3E}">
        <p14:creationId xmlns:p14="http://schemas.microsoft.com/office/powerpoint/2010/main" val="16253643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9E8A1D8-F9AF-447C-AE09-AF14014826C2}" type="datetimeFigureOut">
              <a:rPr lang="en-US" smtClean="0"/>
              <a:t>10/13/2026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3EF59B-F2EA-4295-8B7F-B2BE0898F8B9}" type="slidenum">
              <a:rPr lang="en-US" smtClean="0"/>
              <a:t>‹#›</a:t>
            </a:fld>
            <a:endParaRPr lang="en-US"/>
          </a:p>
        </p:txBody>
      </p:sp>
    </p:spTree>
    <p:extLst>
      <p:ext uri="{BB962C8B-B14F-4D97-AF65-F5344CB8AC3E}">
        <p14:creationId xmlns:p14="http://schemas.microsoft.com/office/powerpoint/2010/main" val="5818165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35.jp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DE3D19E-55FE-7C59-5B3D-1CB3922FE7E5}"/>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32" t="36820" r="30015" b="1835"/>
          <a:stretch/>
        </p:blipFill>
        <p:spPr>
          <a:xfrm>
            <a:off x="-7257" y="-171287"/>
            <a:ext cx="12177485" cy="7126515"/>
          </a:xfrm>
          <a:prstGeom prst="rect">
            <a:avLst/>
          </a:prstGeom>
        </p:spPr>
      </p:pic>
      <p:sp>
        <p:nvSpPr>
          <p:cNvPr id="8" name="TextBox 3">
            <a:extLst>
              <a:ext uri="{FF2B5EF4-FFF2-40B4-BE49-F238E27FC236}">
                <a16:creationId xmlns:a16="http://schemas.microsoft.com/office/drawing/2014/main" id="{287525C0-658F-38F7-6FA8-0B23C55FE1E5}"/>
              </a:ext>
            </a:extLst>
          </p:cNvPr>
          <p:cNvSpPr txBox="1"/>
          <p:nvPr/>
        </p:nvSpPr>
        <p:spPr>
          <a:xfrm>
            <a:off x="10773739" y="6721510"/>
            <a:ext cx="1425518" cy="307777"/>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i="1" dirty="0">
                <a:solidFill>
                  <a:schemeClr val="tx1">
                    <a:lumMod val="50000"/>
                    <a:lumOff val="50000"/>
                  </a:schemeClr>
                </a:solidFill>
              </a:rPr>
              <a:t>freeimages.co.uk</a:t>
            </a:r>
          </a:p>
        </p:txBody>
      </p:sp>
      <p:sp>
        <p:nvSpPr>
          <p:cNvPr id="9" name="Rounded Rectangle 8"/>
          <p:cNvSpPr/>
          <p:nvPr/>
        </p:nvSpPr>
        <p:spPr>
          <a:xfrm>
            <a:off x="2276475" y="1324533"/>
            <a:ext cx="7639050" cy="2570162"/>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3077029" y="961600"/>
            <a:ext cx="6037943" cy="2387600"/>
          </a:xfrm>
        </p:spPr>
        <p:txBody>
          <a:bodyPr>
            <a:normAutofit/>
          </a:bodyPr>
          <a:lstStyle/>
          <a:p>
            <a:r>
              <a:rPr lang="en-US" b="1" dirty="0"/>
              <a:t>CRSS (PBGG) 8010:</a:t>
            </a:r>
            <a:br>
              <a:rPr lang="en-US" dirty="0"/>
            </a:br>
            <a:r>
              <a:rPr lang="en-US" sz="3600" dirty="0"/>
              <a:t>Research Methods and Design in Crop Science</a:t>
            </a:r>
            <a:endParaRPr lang="en-US" dirty="0"/>
          </a:p>
        </p:txBody>
      </p:sp>
      <p:sp>
        <p:nvSpPr>
          <p:cNvPr id="3" name="Subtitle 2"/>
          <p:cNvSpPr>
            <a:spLocks noGrp="1"/>
          </p:cNvSpPr>
          <p:nvPr>
            <p:ph type="subTitle" idx="1"/>
          </p:nvPr>
        </p:nvSpPr>
        <p:spPr>
          <a:xfrm>
            <a:off x="3835854" y="3465783"/>
            <a:ext cx="4520293" cy="1655762"/>
          </a:xfrm>
        </p:spPr>
        <p:txBody>
          <a:bodyPr/>
          <a:lstStyle/>
          <a:p>
            <a:r>
              <a:rPr lang="en-US" dirty="0"/>
              <a:t>Jason Wallace      Fall 2026</a:t>
            </a:r>
          </a:p>
        </p:txBody>
      </p:sp>
      <p:sp>
        <p:nvSpPr>
          <p:cNvPr id="6" name="Rounded Rectangle 5"/>
          <p:cNvSpPr/>
          <p:nvPr/>
        </p:nvSpPr>
        <p:spPr>
          <a:xfrm>
            <a:off x="3632926" y="4273860"/>
            <a:ext cx="4926148" cy="1116655"/>
          </a:xfrm>
          <a:prstGeom prst="roundRect">
            <a:avLst/>
          </a:prstGeom>
          <a:solidFill>
            <a:srgbClr val="FFFFFF">
              <a:alpha val="89804"/>
            </a:srgb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p:cNvSpPr txBox="1"/>
          <p:nvPr/>
        </p:nvSpPr>
        <p:spPr>
          <a:xfrm>
            <a:off x="4384432" y="4317401"/>
            <a:ext cx="3423138" cy="954107"/>
          </a:xfrm>
          <a:prstGeom prst="rect">
            <a:avLst/>
          </a:prstGeom>
          <a:noFill/>
        </p:spPr>
        <p:txBody>
          <a:bodyPr wrap="square" rtlCol="0">
            <a:spAutoFit/>
          </a:bodyPr>
          <a:lstStyle/>
          <a:p>
            <a:pPr algn="ctr"/>
            <a:r>
              <a:rPr lang="en-US" sz="3200" b="1" dirty="0"/>
              <a:t>Lecture 16</a:t>
            </a:r>
          </a:p>
          <a:p>
            <a:pPr algn="ctr"/>
            <a:r>
              <a:rPr lang="en-US" sz="2400" b="1" dirty="0"/>
              <a:t>Sums-of-Squares</a:t>
            </a:r>
            <a:endParaRPr lang="en-US" sz="3200" b="1" dirty="0"/>
          </a:p>
        </p:txBody>
      </p:sp>
    </p:spTree>
    <p:extLst>
      <p:ext uri="{BB962C8B-B14F-4D97-AF65-F5344CB8AC3E}">
        <p14:creationId xmlns:p14="http://schemas.microsoft.com/office/powerpoint/2010/main" val="1611978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outline</a:t>
            </a:r>
          </a:p>
        </p:txBody>
      </p:sp>
      <p:sp>
        <p:nvSpPr>
          <p:cNvPr id="3" name="Content Placeholder 2"/>
          <p:cNvSpPr>
            <a:spLocks noGrp="1"/>
          </p:cNvSpPr>
          <p:nvPr>
            <p:ph idx="1"/>
          </p:nvPr>
        </p:nvSpPr>
        <p:spPr/>
        <p:txBody>
          <a:bodyPr/>
          <a:lstStyle/>
          <a:p>
            <a:r>
              <a:rPr lang="en-US" dirty="0"/>
              <a:t>Administrative stuff</a:t>
            </a:r>
          </a:p>
          <a:p>
            <a:r>
              <a:rPr lang="en-US" dirty="0"/>
              <a:t>Review of last time</a:t>
            </a:r>
          </a:p>
          <a:p>
            <a:r>
              <a:rPr lang="en-US" dirty="0"/>
              <a:t>Model diagnostic plots</a:t>
            </a:r>
          </a:p>
          <a:p>
            <a:r>
              <a:rPr lang="en-US" dirty="0"/>
              <a:t>Sums of Squares</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1951765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Administrative stuff</a:t>
            </a:r>
          </a:p>
        </p:txBody>
      </p:sp>
      <p:sp>
        <p:nvSpPr>
          <p:cNvPr id="3" name="Content Placeholder 2"/>
          <p:cNvSpPr>
            <a:spLocks noGrp="1"/>
          </p:cNvSpPr>
          <p:nvPr>
            <p:ph idx="1"/>
          </p:nvPr>
        </p:nvSpPr>
        <p:spPr/>
        <p:txBody>
          <a:bodyPr/>
          <a:lstStyle/>
          <a:p>
            <a:r>
              <a:rPr lang="en-US" dirty="0"/>
              <a:t>Major assignments still for class</a:t>
            </a:r>
          </a:p>
          <a:p>
            <a:pPr lvl="1"/>
            <a:r>
              <a:rPr lang="en-US" dirty="0"/>
              <a:t>Exam 2 &amp; Final Exam</a:t>
            </a:r>
          </a:p>
          <a:p>
            <a:pPr lvl="1"/>
            <a:r>
              <a:rPr lang="en-US" dirty="0" err="1"/>
              <a:t>Practium</a:t>
            </a:r>
            <a:r>
              <a:rPr lang="en-US" dirty="0"/>
              <a:t> – Start-to-finish analysis of a real-world dataset</a:t>
            </a:r>
          </a:p>
          <a:p>
            <a:pPr lvl="2"/>
            <a:r>
              <a:rPr lang="en-US" i="1" dirty="0"/>
              <a:t>Start thinking now if there’s one of your own you want to use</a:t>
            </a:r>
          </a:p>
        </p:txBody>
      </p:sp>
    </p:spTree>
    <p:extLst>
      <p:ext uri="{BB962C8B-B14F-4D97-AF65-F5344CB8AC3E}">
        <p14:creationId xmlns:p14="http://schemas.microsoft.com/office/powerpoint/2010/main" val="4734291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400" dirty="0"/>
              <a:t>Linear regression assumptions</a:t>
            </a:r>
            <a:endParaRPr lang="en-US" dirty="0"/>
          </a:p>
        </p:txBody>
      </p:sp>
      <p:sp>
        <p:nvSpPr>
          <p:cNvPr id="3" name="Content Placeholder 2"/>
          <p:cNvSpPr>
            <a:spLocks noGrp="1"/>
          </p:cNvSpPr>
          <p:nvPr>
            <p:ph idx="1"/>
          </p:nvPr>
        </p:nvSpPr>
        <p:spPr/>
        <p:txBody>
          <a:bodyPr/>
          <a:lstStyle/>
          <a:p>
            <a:r>
              <a:rPr lang="en-US" u="sng" dirty="0"/>
              <a:t>Without</a:t>
            </a:r>
            <a:r>
              <a:rPr lang="en-US" dirty="0"/>
              <a:t> looking at your notes, name as many assumptions of linear regression as you can.</a:t>
            </a:r>
            <a:endParaRPr lang="en-US" u="sng" dirty="0"/>
          </a:p>
        </p:txBody>
      </p:sp>
    </p:spTree>
    <p:extLst>
      <p:ext uri="{BB962C8B-B14F-4D97-AF65-F5344CB8AC3E}">
        <p14:creationId xmlns:p14="http://schemas.microsoft.com/office/powerpoint/2010/main" val="7968250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400" dirty="0"/>
              <a:t>Linear regression assumptions</a:t>
            </a:r>
            <a:endParaRPr lang="en-US" dirty="0"/>
          </a:p>
        </p:txBody>
      </p:sp>
      <p:sp>
        <p:nvSpPr>
          <p:cNvPr id="3" name="Content Placeholder 2"/>
          <p:cNvSpPr>
            <a:spLocks noGrp="1"/>
          </p:cNvSpPr>
          <p:nvPr>
            <p:ph idx="1"/>
          </p:nvPr>
        </p:nvSpPr>
        <p:spPr/>
        <p:txBody>
          <a:bodyPr/>
          <a:lstStyle/>
          <a:p>
            <a:r>
              <a:rPr lang="en-US" u="sng" dirty="0"/>
              <a:t>Without</a:t>
            </a:r>
            <a:r>
              <a:rPr lang="en-US" dirty="0"/>
              <a:t> looking at your notes, name as many assumptions of linear regression as you can.</a:t>
            </a:r>
          </a:p>
          <a:p>
            <a:pPr lvl="1"/>
            <a:r>
              <a:rPr lang="en-US" dirty="0">
                <a:solidFill>
                  <a:schemeClr val="accent5"/>
                </a:solidFill>
              </a:rPr>
              <a:t>Linear relationship between dependent and independent variables</a:t>
            </a:r>
          </a:p>
          <a:p>
            <a:pPr lvl="1"/>
            <a:r>
              <a:rPr lang="en-US" dirty="0">
                <a:solidFill>
                  <a:schemeClr val="accent5"/>
                </a:solidFill>
              </a:rPr>
              <a:t>No </a:t>
            </a:r>
            <a:r>
              <a:rPr lang="en-US" dirty="0" err="1">
                <a:solidFill>
                  <a:schemeClr val="accent5"/>
                </a:solidFill>
              </a:rPr>
              <a:t>multicolinearity</a:t>
            </a:r>
            <a:r>
              <a:rPr lang="en-US" dirty="0">
                <a:solidFill>
                  <a:schemeClr val="accent5"/>
                </a:solidFill>
              </a:rPr>
              <a:t> (= independent variables are not correlated with each other)</a:t>
            </a:r>
          </a:p>
          <a:p>
            <a:pPr lvl="1"/>
            <a:r>
              <a:rPr lang="en-US" dirty="0">
                <a:solidFill>
                  <a:schemeClr val="accent5"/>
                </a:solidFill>
              </a:rPr>
              <a:t>Residuals are normally distributed</a:t>
            </a:r>
          </a:p>
          <a:p>
            <a:pPr lvl="1"/>
            <a:r>
              <a:rPr lang="en-US" dirty="0">
                <a:solidFill>
                  <a:schemeClr val="accent5"/>
                </a:solidFill>
              </a:rPr>
              <a:t>Residuals are uncorrelated</a:t>
            </a:r>
          </a:p>
          <a:p>
            <a:pPr lvl="1"/>
            <a:r>
              <a:rPr lang="en-US" dirty="0">
                <a:solidFill>
                  <a:schemeClr val="accent5"/>
                </a:solidFill>
              </a:rPr>
              <a:t>Homoscedasticity (=equal variance)</a:t>
            </a:r>
          </a:p>
          <a:p>
            <a:endParaRPr lang="en-US" u="sng"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09300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Review:</a:t>
            </a:r>
            <a:br>
              <a:rPr lang="en-US" dirty="0"/>
            </a:br>
            <a:r>
              <a:rPr lang="en-US" sz="2800" dirty="0"/>
              <a:t>Model diagnostics</a:t>
            </a:r>
            <a:endParaRPr lang="en-US" dirty="0"/>
          </a:p>
        </p:txBody>
      </p:sp>
      <p:sp>
        <p:nvSpPr>
          <p:cNvPr id="3" name="Content Placeholder 2"/>
          <p:cNvSpPr>
            <a:spLocks noGrp="1"/>
          </p:cNvSpPr>
          <p:nvPr>
            <p:ph idx="1"/>
          </p:nvPr>
        </p:nvSpPr>
        <p:spPr>
          <a:xfrm>
            <a:off x="838201" y="1825625"/>
            <a:ext cx="6296130" cy="4110718"/>
          </a:xfrm>
        </p:spPr>
        <p:txBody>
          <a:bodyPr/>
          <a:lstStyle/>
          <a:p>
            <a:r>
              <a:rPr lang="en-US" dirty="0"/>
              <a:t>Download “16_sunflower.csv” on sunflower oil content. </a:t>
            </a:r>
          </a:p>
          <a:p>
            <a:pPr lvl="1"/>
            <a:r>
              <a:rPr lang="en-US" dirty="0"/>
              <a:t>Fit a model &amp; check your assumptions</a:t>
            </a:r>
          </a:p>
          <a:p>
            <a:pPr lvl="1"/>
            <a:r>
              <a:rPr lang="en-US" dirty="0"/>
              <a:t>Plot the diagnostics</a:t>
            </a:r>
          </a:p>
          <a:p>
            <a:pPr lvl="1"/>
            <a:r>
              <a:rPr lang="en-US" dirty="0"/>
              <a:t>Do you see any outliers or other problems?</a:t>
            </a:r>
          </a:p>
          <a:p>
            <a:pPr lvl="1"/>
            <a:r>
              <a:rPr lang="en-US" dirty="0"/>
              <a:t>If so, how would you solve them?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024915" y="-31447"/>
            <a:ext cx="5167086" cy="6889447"/>
          </a:xfrm>
          <a:prstGeom prst="rect">
            <a:avLst/>
          </a:prstGeom>
        </p:spPr>
      </p:pic>
    </p:spTree>
    <p:extLst>
      <p:ext uri="{BB962C8B-B14F-4D97-AF65-F5344CB8AC3E}">
        <p14:creationId xmlns:p14="http://schemas.microsoft.com/office/powerpoint/2010/main" val="1695531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4E6D4CC8-07E4-438C-BF4C-629DE8BC421F}"/>
              </a:ext>
            </a:extLst>
          </p:cNvPr>
          <p:cNvPicPr>
            <a:picLocks noChangeAspect="1"/>
          </p:cNvPicPr>
          <p:nvPr/>
        </p:nvPicPr>
        <p:blipFill rotWithShape="1">
          <a:blip r:embed="rId2">
            <a:extLst>
              <a:ext uri="{28A0092B-C50C-407E-A947-70E740481C1C}">
                <a14:useLocalDpi xmlns:a14="http://schemas.microsoft.com/office/drawing/2010/main" val="0"/>
              </a:ext>
            </a:extLst>
          </a:blip>
          <a:srcRect t="23777"/>
          <a:stretch/>
        </p:blipFill>
        <p:spPr>
          <a:xfrm>
            <a:off x="1315721" y="3054000"/>
            <a:ext cx="6802120" cy="1120591"/>
          </a:xfrm>
          <a:prstGeom prst="rect">
            <a:avLst/>
          </a:prstGeom>
        </p:spPr>
      </p:pic>
      <p:sp>
        <p:nvSpPr>
          <p:cNvPr id="7" name="TextBox 6">
            <a:extLst>
              <a:ext uri="{FF2B5EF4-FFF2-40B4-BE49-F238E27FC236}">
                <a16:creationId xmlns:a16="http://schemas.microsoft.com/office/drawing/2014/main" id="{DB9E5D05-7700-4ACB-ABC2-11B0F949D63E}"/>
              </a:ext>
            </a:extLst>
          </p:cNvPr>
          <p:cNvSpPr txBox="1"/>
          <p:nvPr/>
        </p:nvSpPr>
        <p:spPr>
          <a:xfrm>
            <a:off x="838200" y="2336800"/>
            <a:ext cx="1164101" cy="584775"/>
          </a:xfrm>
          <a:prstGeom prst="rect">
            <a:avLst/>
          </a:prstGeom>
          <a:noFill/>
        </p:spPr>
        <p:txBody>
          <a:bodyPr wrap="none" rtlCol="0">
            <a:spAutoFit/>
          </a:bodyPr>
          <a:lstStyle/>
          <a:p>
            <a:r>
              <a:rPr lang="en-US" sz="3200" b="1" dirty="0">
                <a:solidFill>
                  <a:schemeClr val="accent2"/>
                </a:solidFill>
              </a:rPr>
              <a:t>Code:</a:t>
            </a:r>
          </a:p>
        </p:txBody>
      </p:sp>
    </p:spTree>
    <p:extLst>
      <p:ext uri="{BB962C8B-B14F-4D97-AF65-F5344CB8AC3E}">
        <p14:creationId xmlns:p14="http://schemas.microsoft.com/office/powerpoint/2010/main" val="214334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8" cy="5342184"/>
          </a:xfrm>
          <a:prstGeom prst="rect">
            <a:avLst/>
          </a:prstGeom>
        </p:spPr>
      </p:pic>
      <p:sp>
        <p:nvSpPr>
          <p:cNvPr id="3" name="TextBox 2">
            <a:extLst>
              <a:ext uri="{FF2B5EF4-FFF2-40B4-BE49-F238E27FC236}">
                <a16:creationId xmlns:a16="http://schemas.microsoft.com/office/drawing/2014/main" id="{C6481CE2-7D34-4015-B182-22C779498365}"/>
              </a:ext>
            </a:extLst>
          </p:cNvPr>
          <p:cNvSpPr txBox="1"/>
          <p:nvPr/>
        </p:nvSpPr>
        <p:spPr>
          <a:xfrm>
            <a:off x="6096000" y="2226754"/>
            <a:ext cx="2267865" cy="461665"/>
          </a:xfrm>
          <a:prstGeom prst="rect">
            <a:avLst/>
          </a:prstGeom>
          <a:noFill/>
        </p:spPr>
        <p:txBody>
          <a:bodyPr wrap="none" rtlCol="0">
            <a:spAutoFit/>
          </a:bodyPr>
          <a:lstStyle/>
          <a:p>
            <a:r>
              <a:rPr lang="en-US" sz="2400" b="1" dirty="0">
                <a:solidFill>
                  <a:srgbClr val="C00000"/>
                </a:solidFill>
              </a:rPr>
              <a:t>Possible outliers</a:t>
            </a:r>
          </a:p>
        </p:txBody>
      </p:sp>
      <p:sp>
        <p:nvSpPr>
          <p:cNvPr id="4" name="Rectangle: Rounded Corners 3">
            <a:extLst>
              <a:ext uri="{FF2B5EF4-FFF2-40B4-BE49-F238E27FC236}">
                <a16:creationId xmlns:a16="http://schemas.microsoft.com/office/drawing/2014/main" id="{77AD0C34-78C7-4C97-9875-4F297959F2D6}"/>
              </a:ext>
            </a:extLst>
          </p:cNvPr>
          <p:cNvSpPr/>
          <p:nvPr/>
        </p:nvSpPr>
        <p:spPr>
          <a:xfrm>
            <a:off x="4937760" y="2226753"/>
            <a:ext cx="4924697" cy="461665"/>
          </a:xfrm>
          <a:prstGeom prst="roundRect">
            <a:avLst/>
          </a:prstGeom>
          <a:noFill/>
          <a:ln w="381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871636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7" cy="5342184"/>
          </a:xfrm>
          <a:prstGeom prst="rect">
            <a:avLst/>
          </a:prstGeom>
        </p:spPr>
      </p:pic>
    </p:spTree>
    <p:extLst>
      <p:ext uri="{BB962C8B-B14F-4D97-AF65-F5344CB8AC3E}">
        <p14:creationId xmlns:p14="http://schemas.microsoft.com/office/powerpoint/2010/main" val="2924232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7" cy="5342184"/>
          </a:xfrm>
          <a:prstGeom prst="rect">
            <a:avLst/>
          </a:prstGeom>
        </p:spPr>
      </p:pic>
    </p:spTree>
    <p:extLst>
      <p:ext uri="{BB962C8B-B14F-4D97-AF65-F5344CB8AC3E}">
        <p14:creationId xmlns:p14="http://schemas.microsoft.com/office/powerpoint/2010/main" val="2456858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67841" y="1560548"/>
            <a:ext cx="8656317" cy="5342184"/>
          </a:xfrm>
          <a:prstGeom prst="rect">
            <a:avLst/>
          </a:prstGeom>
        </p:spPr>
      </p:pic>
    </p:spTree>
    <p:extLst>
      <p:ext uri="{BB962C8B-B14F-4D97-AF65-F5344CB8AC3E}">
        <p14:creationId xmlns:p14="http://schemas.microsoft.com/office/powerpoint/2010/main" val="15482356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1928" y="1853216"/>
            <a:ext cx="6446383" cy="1465008"/>
          </a:xfrm>
          <a:prstGeom prst="rect">
            <a:avLst/>
          </a:prstGeom>
        </p:spPr>
      </p:pic>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928" y="3709729"/>
            <a:ext cx="9281160" cy="2663937"/>
          </a:xfrm>
          <a:prstGeom prst="rect">
            <a:avLst/>
          </a:prstGeom>
        </p:spPr>
      </p:pic>
      <p:sp>
        <p:nvSpPr>
          <p:cNvPr id="8" name="TextBox 7"/>
          <p:cNvSpPr txBox="1"/>
          <p:nvPr/>
        </p:nvSpPr>
        <p:spPr>
          <a:xfrm>
            <a:off x="1056640" y="3329310"/>
            <a:ext cx="2978316" cy="369332"/>
          </a:xfrm>
          <a:prstGeom prst="rect">
            <a:avLst/>
          </a:prstGeom>
          <a:noFill/>
        </p:spPr>
        <p:txBody>
          <a:bodyPr wrap="none" rtlCol="0">
            <a:spAutoFit/>
          </a:bodyPr>
          <a:lstStyle/>
          <a:p>
            <a:r>
              <a:rPr lang="en-US" dirty="0">
                <a:solidFill>
                  <a:schemeClr val="bg1">
                    <a:lumMod val="50000"/>
                  </a:schemeClr>
                </a:solidFill>
              </a:rPr>
              <a:t>[…</a:t>
            </a:r>
            <a:r>
              <a:rPr lang="en-US" i="1" dirty="0">
                <a:solidFill>
                  <a:schemeClr val="bg1">
                    <a:lumMod val="50000"/>
                  </a:schemeClr>
                </a:solidFill>
              </a:rPr>
              <a:t>skipped model summary….]</a:t>
            </a:r>
            <a:endParaRPr lang="en-US" dirty="0">
              <a:solidFill>
                <a:schemeClr val="bg1">
                  <a:lumMod val="50000"/>
                </a:schemeClr>
              </a:solidFill>
            </a:endParaRPr>
          </a:p>
        </p:txBody>
      </p:sp>
      <p:sp>
        <p:nvSpPr>
          <p:cNvPr id="9" name="Rounded Rectangle 8"/>
          <p:cNvSpPr/>
          <p:nvPr/>
        </p:nvSpPr>
        <p:spPr>
          <a:xfrm>
            <a:off x="7670800" y="5842000"/>
            <a:ext cx="2428240" cy="375920"/>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394007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C48F6D40-8978-465C-B4BD-605AC089178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2267" y="1996624"/>
            <a:ext cx="7309733" cy="4511149"/>
          </a:xfrm>
          <a:prstGeom prst="rect">
            <a:avLst/>
          </a:prstGeom>
        </p:spPr>
      </p:pic>
      <p:sp>
        <p:nvSpPr>
          <p:cNvPr id="14" name="TextBox 13">
            <a:extLst>
              <a:ext uri="{FF2B5EF4-FFF2-40B4-BE49-F238E27FC236}">
                <a16:creationId xmlns:a16="http://schemas.microsoft.com/office/drawing/2014/main" id="{B26D223F-2D47-4885-813A-E00AF1AB5A1E}"/>
              </a:ext>
            </a:extLst>
          </p:cNvPr>
          <p:cNvSpPr txBox="1"/>
          <p:nvPr/>
        </p:nvSpPr>
        <p:spPr>
          <a:xfrm>
            <a:off x="528320" y="3298091"/>
            <a:ext cx="4196080" cy="954107"/>
          </a:xfrm>
          <a:prstGeom prst="rect">
            <a:avLst/>
          </a:prstGeom>
          <a:noFill/>
        </p:spPr>
        <p:txBody>
          <a:bodyPr wrap="square" rtlCol="0">
            <a:spAutoFit/>
          </a:bodyPr>
          <a:lstStyle/>
          <a:p>
            <a:r>
              <a:rPr lang="en-US" sz="2800" b="1" dirty="0">
                <a:solidFill>
                  <a:schemeClr val="accent2"/>
                </a:solidFill>
              </a:rPr>
              <a:t>First several plots are looking at treatment levels</a:t>
            </a:r>
          </a:p>
        </p:txBody>
      </p:sp>
      <p:sp>
        <p:nvSpPr>
          <p:cNvPr id="15" name="Rectangle: Rounded Corners 14">
            <a:extLst>
              <a:ext uri="{FF2B5EF4-FFF2-40B4-BE49-F238E27FC236}">
                <a16:creationId xmlns:a16="http://schemas.microsoft.com/office/drawing/2014/main" id="{6D7DA7C3-7573-4C74-8B7A-12CFBAD86380}"/>
              </a:ext>
            </a:extLst>
          </p:cNvPr>
          <p:cNvSpPr/>
          <p:nvPr/>
        </p:nvSpPr>
        <p:spPr>
          <a:xfrm>
            <a:off x="8026400" y="6055360"/>
            <a:ext cx="1412240" cy="304800"/>
          </a:xfrm>
          <a:prstGeom prst="roundRect">
            <a:avLst/>
          </a:prstGeom>
          <a:no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29301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4" name="Picture 3">
            <a:extLst>
              <a:ext uri="{FF2B5EF4-FFF2-40B4-BE49-F238E27FC236}">
                <a16:creationId xmlns:a16="http://schemas.microsoft.com/office/drawing/2014/main" id="{C48F6D40-8978-465C-B4BD-605AC0891787}"/>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4882267" y="1996624"/>
            <a:ext cx="7309733" cy="4511148"/>
          </a:xfrm>
          <a:prstGeom prst="rect">
            <a:avLst/>
          </a:prstGeom>
        </p:spPr>
      </p:pic>
      <p:sp>
        <p:nvSpPr>
          <p:cNvPr id="14" name="TextBox 13">
            <a:extLst>
              <a:ext uri="{FF2B5EF4-FFF2-40B4-BE49-F238E27FC236}">
                <a16:creationId xmlns:a16="http://schemas.microsoft.com/office/drawing/2014/main" id="{B26D223F-2D47-4885-813A-E00AF1AB5A1E}"/>
              </a:ext>
            </a:extLst>
          </p:cNvPr>
          <p:cNvSpPr txBox="1"/>
          <p:nvPr/>
        </p:nvSpPr>
        <p:spPr>
          <a:xfrm>
            <a:off x="528320" y="3298091"/>
            <a:ext cx="4196080" cy="523220"/>
          </a:xfrm>
          <a:prstGeom prst="rect">
            <a:avLst/>
          </a:prstGeom>
          <a:noFill/>
        </p:spPr>
        <p:txBody>
          <a:bodyPr wrap="square" rtlCol="0">
            <a:spAutoFit/>
          </a:bodyPr>
          <a:lstStyle/>
          <a:p>
            <a:r>
              <a:rPr lang="en-US" sz="2800" b="1" dirty="0">
                <a:solidFill>
                  <a:schemeClr val="accent2"/>
                </a:solidFill>
              </a:rPr>
              <a:t>Next raw data (in order)</a:t>
            </a:r>
          </a:p>
        </p:txBody>
      </p:sp>
    </p:spTree>
    <p:extLst>
      <p:ext uri="{BB962C8B-B14F-4D97-AF65-F5344CB8AC3E}">
        <p14:creationId xmlns:p14="http://schemas.microsoft.com/office/powerpoint/2010/main" val="1900691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Model diagnostics</a:t>
            </a:r>
            <a:endParaRPr lang="en-US" dirty="0"/>
          </a:p>
        </p:txBody>
      </p:sp>
      <p:sp>
        <p:nvSpPr>
          <p:cNvPr id="10" name="&quot;No&quot; Symbol 9"/>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 name="TextBox 13">
            <a:extLst>
              <a:ext uri="{FF2B5EF4-FFF2-40B4-BE49-F238E27FC236}">
                <a16:creationId xmlns:a16="http://schemas.microsoft.com/office/drawing/2014/main" id="{B26D223F-2D47-4885-813A-E00AF1AB5A1E}"/>
              </a:ext>
            </a:extLst>
          </p:cNvPr>
          <p:cNvSpPr txBox="1"/>
          <p:nvPr/>
        </p:nvSpPr>
        <p:spPr>
          <a:xfrm>
            <a:off x="632823" y="2727341"/>
            <a:ext cx="2560320" cy="954107"/>
          </a:xfrm>
          <a:prstGeom prst="rect">
            <a:avLst/>
          </a:prstGeom>
          <a:noFill/>
        </p:spPr>
        <p:txBody>
          <a:bodyPr wrap="square" rtlCol="0">
            <a:spAutoFit/>
          </a:bodyPr>
          <a:lstStyle/>
          <a:p>
            <a:r>
              <a:rPr lang="en-US" sz="2800" b="1" dirty="0">
                <a:solidFill>
                  <a:schemeClr val="accent2"/>
                </a:solidFill>
              </a:rPr>
              <a:t>Next Residuals diagnostics</a:t>
            </a:r>
          </a:p>
        </p:txBody>
      </p:sp>
      <p:grpSp>
        <p:nvGrpSpPr>
          <p:cNvPr id="13" name="Group 12">
            <a:extLst>
              <a:ext uri="{FF2B5EF4-FFF2-40B4-BE49-F238E27FC236}">
                <a16:creationId xmlns:a16="http://schemas.microsoft.com/office/drawing/2014/main" id="{1DD3AAE0-5CC6-406C-BFB5-7DE7105F7E2A}"/>
              </a:ext>
            </a:extLst>
          </p:cNvPr>
          <p:cNvGrpSpPr/>
          <p:nvPr/>
        </p:nvGrpSpPr>
        <p:grpSpPr>
          <a:xfrm>
            <a:off x="3526970" y="1572263"/>
            <a:ext cx="8665029" cy="5294697"/>
            <a:chOff x="-1144862" y="-1282423"/>
            <a:chExt cx="13336862" cy="8149383"/>
          </a:xfrm>
        </p:grpSpPr>
        <p:pic>
          <p:nvPicPr>
            <p:cNvPr id="5" name="Picture 4">
              <a:extLst>
                <a:ext uri="{FF2B5EF4-FFF2-40B4-BE49-F238E27FC236}">
                  <a16:creationId xmlns:a16="http://schemas.microsoft.com/office/drawing/2014/main" id="{F4E0F03B-18E9-4CF5-8A01-8E0C9C5331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862" y="-1282423"/>
              <a:ext cx="6668431" cy="4115374"/>
            </a:xfrm>
            <a:prstGeom prst="rect">
              <a:avLst/>
            </a:prstGeom>
          </p:spPr>
        </p:pic>
        <p:pic>
          <p:nvPicPr>
            <p:cNvPr id="7" name="Picture 6">
              <a:extLst>
                <a:ext uri="{FF2B5EF4-FFF2-40B4-BE49-F238E27FC236}">
                  <a16:creationId xmlns:a16="http://schemas.microsoft.com/office/drawing/2014/main" id="{D627FEB4-5D56-49BC-B38A-7574997C97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523569" y="-1282423"/>
              <a:ext cx="6668431" cy="4115374"/>
            </a:xfrm>
            <a:prstGeom prst="rect">
              <a:avLst/>
            </a:prstGeom>
          </p:spPr>
        </p:pic>
        <p:pic>
          <p:nvPicPr>
            <p:cNvPr id="9" name="Picture 8">
              <a:extLst>
                <a:ext uri="{FF2B5EF4-FFF2-40B4-BE49-F238E27FC236}">
                  <a16:creationId xmlns:a16="http://schemas.microsoft.com/office/drawing/2014/main" id="{628B32ED-75BF-45E5-8A89-E296D4A37EB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4862" y="2751586"/>
              <a:ext cx="6668431" cy="4115374"/>
            </a:xfrm>
            <a:prstGeom prst="rect">
              <a:avLst/>
            </a:prstGeom>
          </p:spPr>
        </p:pic>
        <p:pic>
          <p:nvPicPr>
            <p:cNvPr id="12" name="Picture 11">
              <a:extLst>
                <a:ext uri="{FF2B5EF4-FFF2-40B4-BE49-F238E27FC236}">
                  <a16:creationId xmlns:a16="http://schemas.microsoft.com/office/drawing/2014/main" id="{B585F4CB-768B-455F-A0C7-625FA3DA7A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23569" y="2742626"/>
              <a:ext cx="6668431" cy="4115374"/>
            </a:xfrm>
            <a:prstGeom prst="rect">
              <a:avLst/>
            </a:prstGeom>
          </p:spPr>
        </p:pic>
      </p:grpSp>
      <p:sp>
        <p:nvSpPr>
          <p:cNvPr id="15" name="TextBox 14">
            <a:extLst>
              <a:ext uri="{FF2B5EF4-FFF2-40B4-BE49-F238E27FC236}">
                <a16:creationId xmlns:a16="http://schemas.microsoft.com/office/drawing/2014/main" id="{CABDCDB6-3221-4205-8573-FC5C020B1201}"/>
              </a:ext>
            </a:extLst>
          </p:cNvPr>
          <p:cNvSpPr txBox="1"/>
          <p:nvPr/>
        </p:nvSpPr>
        <p:spPr>
          <a:xfrm>
            <a:off x="3989796" y="2028347"/>
            <a:ext cx="3196227" cy="400110"/>
          </a:xfrm>
          <a:prstGeom prst="rect">
            <a:avLst/>
          </a:prstGeom>
          <a:noFill/>
        </p:spPr>
        <p:txBody>
          <a:bodyPr wrap="square" rtlCol="0">
            <a:spAutoFit/>
          </a:bodyPr>
          <a:lstStyle/>
          <a:p>
            <a:r>
              <a:rPr lang="en-US" sz="2000" b="1" dirty="0">
                <a:solidFill>
                  <a:schemeClr val="accent2"/>
                </a:solidFill>
              </a:rPr>
              <a:t>Fitted values vs residuals</a:t>
            </a:r>
          </a:p>
        </p:txBody>
      </p:sp>
      <p:sp>
        <p:nvSpPr>
          <p:cNvPr id="16" name="TextBox 15">
            <a:extLst>
              <a:ext uri="{FF2B5EF4-FFF2-40B4-BE49-F238E27FC236}">
                <a16:creationId xmlns:a16="http://schemas.microsoft.com/office/drawing/2014/main" id="{4C771414-73BB-4033-B8FB-D86545E7B8FB}"/>
              </a:ext>
            </a:extLst>
          </p:cNvPr>
          <p:cNvSpPr txBox="1"/>
          <p:nvPr/>
        </p:nvSpPr>
        <p:spPr>
          <a:xfrm>
            <a:off x="3989796" y="4702127"/>
            <a:ext cx="2560320" cy="400110"/>
          </a:xfrm>
          <a:prstGeom prst="rect">
            <a:avLst/>
          </a:prstGeom>
          <a:noFill/>
        </p:spPr>
        <p:txBody>
          <a:bodyPr wrap="square" rtlCol="0">
            <a:spAutoFit/>
          </a:bodyPr>
          <a:lstStyle/>
          <a:p>
            <a:r>
              <a:rPr lang="en-US" sz="2000" b="1" dirty="0">
                <a:solidFill>
                  <a:schemeClr val="accent2"/>
                </a:solidFill>
              </a:rPr>
              <a:t>QQ plot</a:t>
            </a:r>
          </a:p>
        </p:txBody>
      </p:sp>
      <p:sp>
        <p:nvSpPr>
          <p:cNvPr id="17" name="TextBox 16">
            <a:extLst>
              <a:ext uri="{FF2B5EF4-FFF2-40B4-BE49-F238E27FC236}">
                <a16:creationId xmlns:a16="http://schemas.microsoft.com/office/drawing/2014/main" id="{541DFC71-3F9E-4DF8-94F7-2813872D8617}"/>
              </a:ext>
            </a:extLst>
          </p:cNvPr>
          <p:cNvSpPr txBox="1"/>
          <p:nvPr/>
        </p:nvSpPr>
        <p:spPr>
          <a:xfrm>
            <a:off x="8427629" y="2028347"/>
            <a:ext cx="3196227" cy="400110"/>
          </a:xfrm>
          <a:prstGeom prst="rect">
            <a:avLst/>
          </a:prstGeom>
          <a:noFill/>
        </p:spPr>
        <p:txBody>
          <a:bodyPr wrap="square" rtlCol="0">
            <a:spAutoFit/>
          </a:bodyPr>
          <a:lstStyle/>
          <a:p>
            <a:r>
              <a:rPr lang="en-US" sz="2000" b="1" dirty="0">
                <a:solidFill>
                  <a:schemeClr val="accent2"/>
                </a:solidFill>
              </a:rPr>
              <a:t>Histogram</a:t>
            </a:r>
          </a:p>
        </p:txBody>
      </p:sp>
      <p:sp>
        <p:nvSpPr>
          <p:cNvPr id="18" name="TextBox 17">
            <a:extLst>
              <a:ext uri="{FF2B5EF4-FFF2-40B4-BE49-F238E27FC236}">
                <a16:creationId xmlns:a16="http://schemas.microsoft.com/office/drawing/2014/main" id="{62CA56D4-6345-42F6-ACB0-93800AE9373A}"/>
              </a:ext>
            </a:extLst>
          </p:cNvPr>
          <p:cNvSpPr txBox="1"/>
          <p:nvPr/>
        </p:nvSpPr>
        <p:spPr>
          <a:xfrm>
            <a:off x="8322311" y="4643443"/>
            <a:ext cx="3196227" cy="400110"/>
          </a:xfrm>
          <a:prstGeom prst="rect">
            <a:avLst/>
          </a:prstGeom>
          <a:noFill/>
        </p:spPr>
        <p:txBody>
          <a:bodyPr wrap="square" rtlCol="0">
            <a:spAutoFit/>
          </a:bodyPr>
          <a:lstStyle/>
          <a:p>
            <a:r>
              <a:rPr lang="en-US" sz="2000" b="1" dirty="0">
                <a:solidFill>
                  <a:schemeClr val="accent2"/>
                </a:solidFill>
              </a:rPr>
              <a:t>Residuals (in order)</a:t>
            </a:r>
          </a:p>
        </p:txBody>
      </p:sp>
    </p:spTree>
    <p:extLst>
      <p:ext uri="{BB962C8B-B14F-4D97-AF65-F5344CB8AC3E}">
        <p14:creationId xmlns:p14="http://schemas.microsoft.com/office/powerpoint/2010/main" val="1543892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last time’s material?</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2872983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Balanced versus unbalanced data</a:t>
            </a:r>
          </a:p>
        </p:txBody>
      </p:sp>
      <p:sp>
        <p:nvSpPr>
          <p:cNvPr id="3" name="Content Placeholder 2"/>
          <p:cNvSpPr>
            <a:spLocks noGrp="1"/>
          </p:cNvSpPr>
          <p:nvPr>
            <p:ph idx="1"/>
          </p:nvPr>
        </p:nvSpPr>
        <p:spPr>
          <a:xfrm>
            <a:off x="838199" y="1825625"/>
            <a:ext cx="10515601" cy="4110718"/>
          </a:xfrm>
        </p:spPr>
        <p:txBody>
          <a:bodyPr/>
          <a:lstStyle/>
          <a:p>
            <a:r>
              <a:rPr lang="en-US" u="sng" dirty="0"/>
              <a:t>Balanced</a:t>
            </a:r>
            <a:r>
              <a:rPr lang="en-US" dirty="0"/>
              <a:t> data has equal observations of all treatment levels</a:t>
            </a:r>
          </a:p>
          <a:p>
            <a:r>
              <a:rPr lang="en-US" u="sng" dirty="0"/>
              <a:t>Unbalanced</a:t>
            </a:r>
            <a:r>
              <a:rPr lang="en-US" dirty="0"/>
              <a:t> data does not</a:t>
            </a:r>
          </a:p>
          <a:p>
            <a:pPr lvl="1"/>
            <a:r>
              <a:rPr lang="en-US" dirty="0"/>
              <a:t>When you filter out bad data, you usually</a:t>
            </a:r>
            <a:br>
              <a:rPr lang="en-US" dirty="0"/>
            </a:br>
            <a:r>
              <a:rPr lang="en-US" dirty="0"/>
              <a:t>make your dataset unbalanced</a:t>
            </a:r>
          </a:p>
          <a:p>
            <a:pPr lvl="1"/>
            <a:r>
              <a:rPr lang="en-US" dirty="0"/>
              <a:t>Many upcoming designs in this course are</a:t>
            </a:r>
            <a:br>
              <a:rPr lang="en-US" dirty="0"/>
            </a:br>
            <a:r>
              <a:rPr lang="en-US" dirty="0"/>
              <a:t>also inherently unbalanced</a:t>
            </a:r>
          </a:p>
        </p:txBody>
      </p:sp>
      <p:pic>
        <p:nvPicPr>
          <p:cNvPr id="6" name="Picture 5"/>
          <p:cNvPicPr>
            <a:picLocks noChangeAspect="1"/>
          </p:cNvPicPr>
          <p:nvPr/>
        </p:nvPicPr>
        <p:blipFill rotWithShape="1">
          <a:blip r:embed="rId3" cstate="print">
            <a:extLst>
              <a:ext uri="{28A0092B-C50C-407E-A947-70E740481C1C}">
                <a14:useLocalDpi xmlns:a14="http://schemas.microsoft.com/office/drawing/2010/main" val="0"/>
              </a:ext>
            </a:extLst>
          </a:blip>
          <a:srcRect r="40297"/>
          <a:stretch/>
        </p:blipFill>
        <p:spPr>
          <a:xfrm>
            <a:off x="8539240" y="2915359"/>
            <a:ext cx="3934114" cy="4118487"/>
          </a:xfrm>
          <a:prstGeom prst="rect">
            <a:avLst/>
          </a:prstGeom>
          <a:effectLst>
            <a:softEdge rad="127000"/>
          </a:effectLst>
        </p:spPr>
      </p:pic>
      <p:sp>
        <p:nvSpPr>
          <p:cNvPr id="5" name="TextBox 4"/>
          <p:cNvSpPr txBox="1"/>
          <p:nvPr/>
        </p:nvSpPr>
        <p:spPr>
          <a:xfrm>
            <a:off x="10112477" y="6511019"/>
            <a:ext cx="2079523" cy="339212"/>
          </a:xfrm>
          <a:prstGeom prst="rect">
            <a:avLst/>
          </a:prstGeom>
          <a:noFill/>
        </p:spPr>
        <p:txBody>
          <a:bodyPr wrap="square" rtlCol="0">
            <a:spAutoFit/>
          </a:bodyPr>
          <a:lstStyle/>
          <a:p>
            <a:pPr algn="r"/>
            <a:r>
              <a:rPr lang="en-US" sz="1600" i="1" dirty="0" err="1">
                <a:solidFill>
                  <a:schemeClr val="bg1">
                    <a:lumMod val="75000"/>
                  </a:schemeClr>
                </a:solidFill>
              </a:rPr>
              <a:t>Kjpargeter</a:t>
            </a:r>
            <a:r>
              <a:rPr lang="en-US" sz="1600" i="1" dirty="0">
                <a:solidFill>
                  <a:schemeClr val="bg1">
                    <a:lumMod val="75000"/>
                  </a:schemeClr>
                </a:solidFill>
              </a:rPr>
              <a:t> / </a:t>
            </a:r>
            <a:r>
              <a:rPr lang="en-US" sz="1600" i="1" dirty="0" err="1">
                <a:solidFill>
                  <a:schemeClr val="bg1">
                    <a:lumMod val="75000"/>
                  </a:schemeClr>
                </a:solidFill>
              </a:rPr>
              <a:t>Freepik</a:t>
            </a:r>
            <a:endParaRPr lang="en-US" sz="1600" i="1" dirty="0">
              <a:solidFill>
                <a:schemeClr val="bg1">
                  <a:lumMod val="75000"/>
                </a:schemeClr>
              </a:solidFill>
            </a:endParaRPr>
          </a:p>
        </p:txBody>
      </p:sp>
    </p:spTree>
    <p:extLst>
      <p:ext uri="{BB962C8B-B14F-4D97-AF65-F5344CB8AC3E}">
        <p14:creationId xmlns:p14="http://schemas.microsoft.com/office/powerpoint/2010/main" val="29284232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matters</a:t>
            </a:r>
          </a:p>
        </p:txBody>
      </p:sp>
      <p:sp>
        <p:nvSpPr>
          <p:cNvPr id="3" name="Content Placeholder 2"/>
          <p:cNvSpPr>
            <a:spLocks noGrp="1"/>
          </p:cNvSpPr>
          <p:nvPr>
            <p:ph idx="1"/>
          </p:nvPr>
        </p:nvSpPr>
        <p:spPr>
          <a:xfrm>
            <a:off x="838200" y="1825625"/>
            <a:ext cx="10515600" cy="982004"/>
          </a:xfrm>
        </p:spPr>
        <p:txBody>
          <a:bodyPr/>
          <a:lstStyle/>
          <a:p>
            <a:r>
              <a:rPr lang="en-US" dirty="0"/>
              <a:t>In balanced data, the order you fit terms in ANOVA doesn’t matter</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b="49709"/>
          <a:stretch/>
        </p:blipFill>
        <p:spPr>
          <a:xfrm>
            <a:off x="1307123" y="2807629"/>
            <a:ext cx="9102972" cy="4050371"/>
          </a:xfrm>
          <a:prstGeom prst="rect">
            <a:avLst/>
          </a:prstGeom>
        </p:spPr>
      </p:pic>
      <p:sp>
        <p:nvSpPr>
          <p:cNvPr id="5" name="&quot;No&quot; Symbol 4"/>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 name="Straight Connector 7"/>
          <p:cNvCxnSpPr/>
          <p:nvPr/>
        </p:nvCxnSpPr>
        <p:spPr>
          <a:xfrm>
            <a:off x="4466492" y="3059723"/>
            <a:ext cx="2074985" cy="0"/>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466492" y="5087815"/>
            <a:ext cx="207498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6541477" y="3352800"/>
            <a:ext cx="1312985" cy="644769"/>
          </a:xfrm>
          <a:prstGeom prst="round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6541477" y="5380891"/>
            <a:ext cx="1312985" cy="644769"/>
          </a:xfrm>
          <a:prstGeom prst="round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141722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500"/>
                                        <p:tgtEl>
                                          <p:spTgt spid="8"/>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500"/>
                                        <p:tgtEl>
                                          <p:spTgt spid="14"/>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Order matters</a:t>
            </a:r>
          </a:p>
        </p:txBody>
      </p:sp>
      <p:sp>
        <p:nvSpPr>
          <p:cNvPr id="3" name="Content Placeholder 2"/>
          <p:cNvSpPr>
            <a:spLocks noGrp="1"/>
          </p:cNvSpPr>
          <p:nvPr>
            <p:ph idx="1"/>
          </p:nvPr>
        </p:nvSpPr>
        <p:spPr>
          <a:xfrm>
            <a:off x="838200" y="1825625"/>
            <a:ext cx="10515600" cy="1017173"/>
          </a:xfrm>
        </p:spPr>
        <p:txBody>
          <a:bodyPr/>
          <a:lstStyle/>
          <a:p>
            <a:r>
              <a:rPr lang="en-US" dirty="0"/>
              <a:t>In unbalanced data, order does matter</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258" t="50218" r="258" b="-509"/>
          <a:stretch/>
        </p:blipFill>
        <p:spPr>
          <a:xfrm>
            <a:off x="1307123" y="2842798"/>
            <a:ext cx="9102972" cy="4050371"/>
          </a:xfrm>
          <a:prstGeom prst="rect">
            <a:avLst/>
          </a:prstGeom>
        </p:spPr>
      </p:pic>
      <p:sp>
        <p:nvSpPr>
          <p:cNvPr id="5" name="&quot;No&quot; Symbol 4"/>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8" name="Straight Connector 7"/>
          <p:cNvCxnSpPr/>
          <p:nvPr/>
        </p:nvCxnSpPr>
        <p:spPr>
          <a:xfrm>
            <a:off x="4466492" y="3059723"/>
            <a:ext cx="2074985" cy="0"/>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4466492" y="5087815"/>
            <a:ext cx="2074985" cy="0"/>
          </a:xfrm>
          <a:prstGeom prst="line">
            <a:avLst/>
          </a:prstGeom>
          <a:ln w="57150">
            <a:solidFill>
              <a:schemeClr val="accent6">
                <a:lumMod val="75000"/>
              </a:schemeClr>
            </a:solidFill>
          </a:ln>
        </p:spPr>
        <p:style>
          <a:lnRef idx="1">
            <a:schemeClr val="accent1"/>
          </a:lnRef>
          <a:fillRef idx="0">
            <a:schemeClr val="accent1"/>
          </a:fillRef>
          <a:effectRef idx="0">
            <a:schemeClr val="accent1"/>
          </a:effectRef>
          <a:fontRef idx="minor">
            <a:schemeClr val="tx1"/>
          </a:fontRef>
        </p:style>
      </p:cxnSp>
      <p:sp>
        <p:nvSpPr>
          <p:cNvPr id="14" name="Rounded Rectangle 13"/>
          <p:cNvSpPr/>
          <p:nvPr/>
        </p:nvSpPr>
        <p:spPr>
          <a:xfrm>
            <a:off x="6541477" y="3352800"/>
            <a:ext cx="1312985" cy="644769"/>
          </a:xfrm>
          <a:prstGeom prst="round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p:cNvSpPr/>
          <p:nvPr/>
        </p:nvSpPr>
        <p:spPr>
          <a:xfrm>
            <a:off x="6541477" y="5380891"/>
            <a:ext cx="1312985" cy="644769"/>
          </a:xfrm>
          <a:prstGeom prst="roundRect">
            <a:avLst/>
          </a:prstGeom>
          <a:noFill/>
          <a:ln w="5715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888626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fade">
                                      <p:cBhvr>
                                        <p:cTn id="15" dur="500"/>
                                        <p:tgtEl>
                                          <p:spTgt spid="14"/>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5"/>
                                        </p:tgtEl>
                                        <p:attrNameLst>
                                          <p:attrName>style.visibility</p:attrName>
                                        </p:attrNameLst>
                                      </p:cBhvr>
                                      <p:to>
                                        <p:strVal val="visible"/>
                                      </p:to>
                                    </p:set>
                                    <p:animEffect transition="in" filter="fade">
                                      <p:cBhvr>
                                        <p:cTn id="18"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P spid="15"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a:t>
            </a:r>
          </a:p>
        </p:txBody>
      </p:sp>
      <p:sp>
        <p:nvSpPr>
          <p:cNvPr id="3" name="Content Placeholder 2"/>
          <p:cNvSpPr>
            <a:spLocks noGrp="1"/>
          </p:cNvSpPr>
          <p:nvPr>
            <p:ph idx="1"/>
          </p:nvPr>
        </p:nvSpPr>
        <p:spPr>
          <a:xfrm>
            <a:off x="838200" y="1825624"/>
            <a:ext cx="10515600" cy="4443095"/>
          </a:xfrm>
        </p:spPr>
        <p:txBody>
          <a:bodyPr/>
          <a:lstStyle/>
          <a:p>
            <a:r>
              <a:rPr lang="en-US" dirty="0"/>
              <a:t>Most of this class has used balanced, complete designs without missing data</a:t>
            </a:r>
          </a:p>
          <a:p>
            <a:pPr lvl="1"/>
            <a:r>
              <a:rPr lang="en-US" dirty="0"/>
              <a:t>Because of this, the sums-of-squares we’ve computed have all been independent of each other</a:t>
            </a:r>
          </a:p>
          <a:p>
            <a:r>
              <a:rPr lang="en-US" dirty="0"/>
              <a:t>Now we’re getting into some designs where that is not the case, so order matters</a:t>
            </a:r>
          </a:p>
          <a:p>
            <a:pPr lvl="1"/>
            <a:r>
              <a:rPr lang="en-US" dirty="0"/>
              <a:t>Note: this all specifically refers to linear models; missing data in a true ANOVA analysis is much harder to deal with</a:t>
            </a:r>
          </a:p>
        </p:txBody>
      </p:sp>
    </p:spTree>
    <p:extLst>
      <p:ext uri="{BB962C8B-B14F-4D97-AF65-F5344CB8AC3E}">
        <p14:creationId xmlns:p14="http://schemas.microsoft.com/office/powerpoint/2010/main" val="7121798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order affects Sums of Squares</a:t>
            </a:r>
          </a:p>
        </p:txBody>
      </p:sp>
      <p:sp>
        <p:nvSpPr>
          <p:cNvPr id="3" name="Content Placeholder 2"/>
          <p:cNvSpPr>
            <a:spLocks noGrp="1"/>
          </p:cNvSpPr>
          <p:nvPr>
            <p:ph idx="1"/>
          </p:nvPr>
        </p:nvSpPr>
        <p:spPr>
          <a:xfrm>
            <a:off x="838200" y="1825625"/>
            <a:ext cx="10515600" cy="657594"/>
          </a:xfrm>
        </p:spPr>
        <p:txBody>
          <a:bodyPr/>
          <a:lstStyle/>
          <a:p>
            <a:r>
              <a:rPr lang="en-US" dirty="0"/>
              <a:t>Note a specific pattern in the SS calculations:</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31859" r="68588" b="50313"/>
          <a:stretch/>
        </p:blipFill>
        <p:spPr>
          <a:xfrm>
            <a:off x="895642" y="2803050"/>
            <a:ext cx="4001400" cy="1610676"/>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28422" r="68462" b="52174"/>
          <a:stretch/>
        </p:blipFill>
        <p:spPr>
          <a:xfrm>
            <a:off x="6798104" y="2803050"/>
            <a:ext cx="4017952" cy="1673224"/>
          </a:xfrm>
          <a:prstGeom prst="rect">
            <a:avLst/>
          </a:prstGeom>
        </p:spPr>
      </p:pic>
      <p:sp>
        <p:nvSpPr>
          <p:cNvPr id="7" name="TextBox 6"/>
          <p:cNvSpPr txBox="1"/>
          <p:nvPr/>
        </p:nvSpPr>
        <p:spPr>
          <a:xfrm>
            <a:off x="1855640" y="2304115"/>
            <a:ext cx="2081404" cy="646331"/>
          </a:xfrm>
          <a:prstGeom prst="rect">
            <a:avLst/>
          </a:prstGeom>
          <a:noFill/>
        </p:spPr>
        <p:txBody>
          <a:bodyPr wrap="none" rtlCol="0">
            <a:spAutoFit/>
          </a:bodyPr>
          <a:lstStyle/>
          <a:p>
            <a:r>
              <a:rPr lang="en-US" sz="3600" b="1" dirty="0"/>
              <a:t>Block first</a:t>
            </a:r>
          </a:p>
        </p:txBody>
      </p:sp>
      <p:sp>
        <p:nvSpPr>
          <p:cNvPr id="15" name="TextBox 14"/>
          <p:cNvSpPr txBox="1"/>
          <p:nvPr/>
        </p:nvSpPr>
        <p:spPr>
          <a:xfrm>
            <a:off x="7584678" y="2331739"/>
            <a:ext cx="2405467" cy="646331"/>
          </a:xfrm>
          <a:prstGeom prst="rect">
            <a:avLst/>
          </a:prstGeom>
          <a:noFill/>
        </p:spPr>
        <p:txBody>
          <a:bodyPr wrap="none" rtlCol="0">
            <a:spAutoFit/>
          </a:bodyPr>
          <a:lstStyle/>
          <a:p>
            <a:r>
              <a:rPr lang="en-US" sz="3600" b="1" dirty="0"/>
              <a:t>Variety first</a:t>
            </a:r>
          </a:p>
        </p:txBody>
      </p:sp>
      <p:cxnSp>
        <p:nvCxnSpPr>
          <p:cNvPr id="17" name="Straight Arrow Connector 16"/>
          <p:cNvCxnSpPr/>
          <p:nvPr/>
        </p:nvCxnSpPr>
        <p:spPr>
          <a:xfrm>
            <a:off x="4897042" y="3429000"/>
            <a:ext cx="4475558" cy="388340"/>
          </a:xfrm>
          <a:prstGeom prst="straightConnector1">
            <a:avLst/>
          </a:prstGeom>
          <a:ln w="762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4954484" y="3429000"/>
            <a:ext cx="4418116" cy="471312"/>
          </a:xfrm>
          <a:prstGeom prst="straightConnector1">
            <a:avLst/>
          </a:prstGeom>
          <a:ln w="762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p:cNvSpPr txBox="1"/>
          <p:nvPr/>
        </p:nvSpPr>
        <p:spPr>
          <a:xfrm rot="21160101">
            <a:off x="5413173" y="3739095"/>
            <a:ext cx="1436612" cy="523220"/>
          </a:xfrm>
          <a:prstGeom prst="rect">
            <a:avLst/>
          </a:prstGeom>
          <a:noFill/>
        </p:spPr>
        <p:txBody>
          <a:bodyPr wrap="none" rtlCol="0">
            <a:spAutoFit/>
          </a:bodyPr>
          <a:lstStyle/>
          <a:p>
            <a:r>
              <a:rPr lang="en-US" sz="2800" b="1" dirty="0">
                <a:solidFill>
                  <a:schemeClr val="accent6">
                    <a:lumMod val="75000"/>
                  </a:schemeClr>
                </a:solidFill>
              </a:rPr>
              <a:t>Gains SS</a:t>
            </a:r>
          </a:p>
        </p:txBody>
      </p:sp>
      <p:sp>
        <p:nvSpPr>
          <p:cNvPr id="22" name="TextBox 21"/>
          <p:cNvSpPr txBox="1"/>
          <p:nvPr/>
        </p:nvSpPr>
        <p:spPr>
          <a:xfrm rot="319878">
            <a:off x="5254536" y="3032453"/>
            <a:ext cx="1417376" cy="523220"/>
          </a:xfrm>
          <a:prstGeom prst="rect">
            <a:avLst/>
          </a:prstGeom>
          <a:noFill/>
        </p:spPr>
        <p:txBody>
          <a:bodyPr wrap="none" rtlCol="0">
            <a:spAutoFit/>
          </a:bodyPr>
          <a:lstStyle/>
          <a:p>
            <a:r>
              <a:rPr lang="en-US" sz="2800" b="1" dirty="0">
                <a:solidFill>
                  <a:srgbClr val="C00000"/>
                </a:solidFill>
              </a:rPr>
              <a:t>Loses SS</a:t>
            </a:r>
          </a:p>
        </p:txBody>
      </p:sp>
      <p:cxnSp>
        <p:nvCxnSpPr>
          <p:cNvPr id="26" name="Straight Arrow Connector 25"/>
          <p:cNvCxnSpPr/>
          <p:nvPr/>
        </p:nvCxnSpPr>
        <p:spPr>
          <a:xfrm>
            <a:off x="4954484" y="4351841"/>
            <a:ext cx="4418116" cy="0"/>
          </a:xfrm>
          <a:prstGeom prst="straightConnector1">
            <a:avLst/>
          </a:prstGeom>
          <a:ln w="76200">
            <a:solidFill>
              <a:schemeClr val="accent5">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5490092" y="4313140"/>
            <a:ext cx="3882508" cy="523220"/>
          </a:xfrm>
          <a:prstGeom prst="rect">
            <a:avLst/>
          </a:prstGeom>
          <a:noFill/>
        </p:spPr>
        <p:txBody>
          <a:bodyPr wrap="square" rtlCol="0">
            <a:spAutoFit/>
          </a:bodyPr>
          <a:lstStyle/>
          <a:p>
            <a:r>
              <a:rPr lang="en-US" sz="2800" b="1" dirty="0">
                <a:solidFill>
                  <a:schemeClr val="accent5">
                    <a:lumMod val="75000"/>
                  </a:schemeClr>
                </a:solidFill>
              </a:rPr>
              <a:t>No change for residuals</a:t>
            </a:r>
          </a:p>
        </p:txBody>
      </p:sp>
      <p:sp>
        <p:nvSpPr>
          <p:cNvPr id="29" name="Content Placeholder 2"/>
          <p:cNvSpPr txBox="1">
            <a:spLocks/>
          </p:cNvSpPr>
          <p:nvPr/>
        </p:nvSpPr>
        <p:spPr>
          <a:xfrm>
            <a:off x="895642" y="5039676"/>
            <a:ext cx="10515600" cy="1016396"/>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For unbalanced data, model order doesn’t change the total SS, but does change who gets how much</a:t>
            </a:r>
          </a:p>
        </p:txBody>
      </p:sp>
    </p:spTree>
    <p:extLst>
      <p:ext uri="{BB962C8B-B14F-4D97-AF65-F5344CB8AC3E}">
        <p14:creationId xmlns:p14="http://schemas.microsoft.com/office/powerpoint/2010/main" val="10739465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fade">
                                      <p:cBhvr>
                                        <p:cTn id="7" dur="500"/>
                                        <p:tgtEl>
                                          <p:spTgt spid="22"/>
                                        </p:tgtEl>
                                      </p:cBhvr>
                                    </p:animEffect>
                                  </p:childTnLst>
                                </p:cTn>
                              </p:par>
                              <p:par>
                                <p:cTn id="8" presetID="10" presetClass="entr" presetSubtype="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fade">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fade">
                                      <p:cBhvr>
                                        <p:cTn id="15" dur="500"/>
                                        <p:tgtEl>
                                          <p:spTgt spid="19"/>
                                        </p:tgtEl>
                                      </p:cBhvr>
                                    </p:animEffect>
                                  </p:childTnLst>
                                </p:cTn>
                              </p:par>
                              <p:par>
                                <p:cTn id="16" presetID="10" presetClass="entr" presetSubtype="0" fill="hold" nodeType="withEffect">
                                  <p:stCondLst>
                                    <p:cond delay="0"/>
                                  </p:stCondLst>
                                  <p:childTnLst>
                                    <p:set>
                                      <p:cBhvr>
                                        <p:cTn id="17" dur="1" fill="hold">
                                          <p:stCondLst>
                                            <p:cond delay="0"/>
                                          </p:stCondLst>
                                        </p:cTn>
                                        <p:tgtEl>
                                          <p:spTgt spid="20"/>
                                        </p:tgtEl>
                                        <p:attrNameLst>
                                          <p:attrName>style.visibility</p:attrName>
                                        </p:attrNameLst>
                                      </p:cBhvr>
                                      <p:to>
                                        <p:strVal val="visible"/>
                                      </p:to>
                                    </p:set>
                                    <p:animEffect transition="in" filter="fade">
                                      <p:cBhvr>
                                        <p:cTn id="18" dur="500"/>
                                        <p:tgtEl>
                                          <p:spTgt spid="20"/>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6"/>
                                        </p:tgtEl>
                                        <p:attrNameLst>
                                          <p:attrName>style.visibility</p:attrName>
                                        </p:attrNameLst>
                                      </p:cBhvr>
                                      <p:to>
                                        <p:strVal val="visible"/>
                                      </p:to>
                                    </p:set>
                                    <p:animEffect transition="in" filter="fade">
                                      <p:cBhvr>
                                        <p:cTn id="23" dur="500"/>
                                        <p:tgtEl>
                                          <p:spTgt spid="2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500"/>
                                        <p:tgtEl>
                                          <p:spTgt spid="2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9"/>
                                        </p:tgtEl>
                                        <p:attrNameLst>
                                          <p:attrName>style.visibility</p:attrName>
                                        </p:attrNameLst>
                                      </p:cBhvr>
                                      <p:to>
                                        <p:strVal val="visible"/>
                                      </p:to>
                                    </p:set>
                                    <p:animEffect transition="in" filter="fade">
                                      <p:cBhvr>
                                        <p:cTn id="31"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2" grpId="0"/>
      <p:bldP spid="28" grpId="0"/>
      <p:bldP spid="2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order affects Sums of Squares</a:t>
            </a:r>
          </a:p>
        </p:txBody>
      </p:sp>
      <p:sp>
        <p:nvSpPr>
          <p:cNvPr id="3" name="Content Placeholder 2"/>
          <p:cNvSpPr>
            <a:spLocks noGrp="1"/>
          </p:cNvSpPr>
          <p:nvPr>
            <p:ph idx="1"/>
          </p:nvPr>
        </p:nvSpPr>
        <p:spPr>
          <a:xfrm>
            <a:off x="838200" y="1825625"/>
            <a:ext cx="10515600" cy="657594"/>
          </a:xfrm>
        </p:spPr>
        <p:txBody>
          <a:bodyPr/>
          <a:lstStyle/>
          <a:p>
            <a:r>
              <a:rPr lang="en-US" dirty="0"/>
              <a:t>Note a specific pattern in the SS calculations:</a:t>
            </a:r>
          </a:p>
        </p:txBody>
      </p:sp>
      <p:pic>
        <p:nvPicPr>
          <p:cNvPr id="4" name="Picture 3"/>
          <p:cNvPicPr>
            <a:picLocks noChangeAspect="1"/>
          </p:cNvPicPr>
          <p:nvPr/>
        </p:nvPicPr>
        <p:blipFill rotWithShape="1">
          <a:blip r:embed="rId2">
            <a:extLst>
              <a:ext uri="{28A0092B-C50C-407E-A947-70E740481C1C}">
                <a14:useLocalDpi xmlns:a14="http://schemas.microsoft.com/office/drawing/2010/main" val="0"/>
              </a:ext>
            </a:extLst>
          </a:blip>
          <a:srcRect t="31859" r="68588" b="50313"/>
          <a:stretch/>
        </p:blipFill>
        <p:spPr>
          <a:xfrm>
            <a:off x="895642" y="2803050"/>
            <a:ext cx="4001400" cy="1610676"/>
          </a:xfrm>
          <a:prstGeom prst="rect">
            <a:avLst/>
          </a:prstGeom>
        </p:spPr>
      </p:pic>
      <p:pic>
        <p:nvPicPr>
          <p:cNvPr id="5" name="Picture 4"/>
          <p:cNvPicPr>
            <a:picLocks noChangeAspect="1"/>
          </p:cNvPicPr>
          <p:nvPr/>
        </p:nvPicPr>
        <p:blipFill rotWithShape="1">
          <a:blip r:embed="rId3">
            <a:extLst>
              <a:ext uri="{28A0092B-C50C-407E-A947-70E740481C1C}">
                <a14:useLocalDpi xmlns:a14="http://schemas.microsoft.com/office/drawing/2010/main" val="0"/>
              </a:ext>
            </a:extLst>
          </a:blip>
          <a:srcRect t="28422" r="68462" b="52174"/>
          <a:stretch/>
        </p:blipFill>
        <p:spPr>
          <a:xfrm>
            <a:off x="6798104" y="2803050"/>
            <a:ext cx="4017952" cy="1673224"/>
          </a:xfrm>
          <a:prstGeom prst="rect">
            <a:avLst/>
          </a:prstGeom>
        </p:spPr>
      </p:pic>
      <p:sp>
        <p:nvSpPr>
          <p:cNvPr id="7" name="TextBox 6"/>
          <p:cNvSpPr txBox="1"/>
          <p:nvPr/>
        </p:nvSpPr>
        <p:spPr>
          <a:xfrm>
            <a:off x="1855640" y="2304115"/>
            <a:ext cx="2081404" cy="646331"/>
          </a:xfrm>
          <a:prstGeom prst="rect">
            <a:avLst/>
          </a:prstGeom>
          <a:noFill/>
        </p:spPr>
        <p:txBody>
          <a:bodyPr wrap="none" rtlCol="0">
            <a:spAutoFit/>
          </a:bodyPr>
          <a:lstStyle/>
          <a:p>
            <a:r>
              <a:rPr lang="en-US" sz="3600" b="1" dirty="0"/>
              <a:t>Block first</a:t>
            </a:r>
          </a:p>
        </p:txBody>
      </p:sp>
      <p:sp>
        <p:nvSpPr>
          <p:cNvPr id="15" name="TextBox 14"/>
          <p:cNvSpPr txBox="1"/>
          <p:nvPr/>
        </p:nvSpPr>
        <p:spPr>
          <a:xfrm>
            <a:off x="7584678" y="2331739"/>
            <a:ext cx="2405467" cy="646331"/>
          </a:xfrm>
          <a:prstGeom prst="rect">
            <a:avLst/>
          </a:prstGeom>
          <a:noFill/>
        </p:spPr>
        <p:txBody>
          <a:bodyPr wrap="none" rtlCol="0">
            <a:spAutoFit/>
          </a:bodyPr>
          <a:lstStyle/>
          <a:p>
            <a:r>
              <a:rPr lang="en-US" sz="3600" b="1" dirty="0"/>
              <a:t>Variety first</a:t>
            </a:r>
          </a:p>
        </p:txBody>
      </p:sp>
      <p:sp>
        <p:nvSpPr>
          <p:cNvPr id="29" name="Content Placeholder 2"/>
          <p:cNvSpPr txBox="1">
            <a:spLocks/>
          </p:cNvSpPr>
          <p:nvPr/>
        </p:nvSpPr>
        <p:spPr>
          <a:xfrm>
            <a:off x="895642" y="5039676"/>
            <a:ext cx="10515600" cy="1016396"/>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For unbalanced data, model order doesn’t change the total SS, but does change who gets how much</a:t>
            </a:r>
          </a:p>
          <a:p>
            <a:pPr lvl="1"/>
            <a:r>
              <a:rPr lang="en-US" dirty="0"/>
              <a:t>Loss from one term exactly balanced by gain by another</a:t>
            </a:r>
          </a:p>
        </p:txBody>
      </p:sp>
      <p:sp>
        <p:nvSpPr>
          <p:cNvPr id="30" name="Rounded Rectangle 29"/>
          <p:cNvSpPr/>
          <p:nvPr/>
        </p:nvSpPr>
        <p:spPr>
          <a:xfrm>
            <a:off x="3517900" y="3162300"/>
            <a:ext cx="1436584" cy="838405"/>
          </a:xfrm>
          <a:prstGeom prst="roundRect">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p:cNvSpPr/>
          <p:nvPr/>
        </p:nvSpPr>
        <p:spPr>
          <a:xfrm>
            <a:off x="9392172" y="3195059"/>
            <a:ext cx="1436584" cy="838405"/>
          </a:xfrm>
          <a:prstGeom prst="roundRect">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009175" y="3195059"/>
            <a:ext cx="1478290" cy="646331"/>
          </a:xfrm>
          <a:prstGeom prst="rect">
            <a:avLst/>
          </a:prstGeom>
          <a:noFill/>
        </p:spPr>
        <p:txBody>
          <a:bodyPr wrap="none" rtlCol="0">
            <a:spAutoFit/>
          </a:bodyPr>
          <a:lstStyle/>
          <a:p>
            <a:r>
              <a:rPr lang="en-US" sz="3600" b="1" dirty="0">
                <a:solidFill>
                  <a:schemeClr val="accent4">
                    <a:lumMod val="75000"/>
                  </a:schemeClr>
                </a:solidFill>
              </a:rPr>
              <a:t>454.15</a:t>
            </a:r>
          </a:p>
        </p:txBody>
      </p:sp>
      <p:sp>
        <p:nvSpPr>
          <p:cNvPr id="18" name="TextBox 17"/>
          <p:cNvSpPr txBox="1"/>
          <p:nvPr/>
        </p:nvSpPr>
        <p:spPr>
          <a:xfrm>
            <a:off x="10828756" y="3227559"/>
            <a:ext cx="1478290" cy="646331"/>
          </a:xfrm>
          <a:prstGeom prst="rect">
            <a:avLst/>
          </a:prstGeom>
          <a:noFill/>
        </p:spPr>
        <p:txBody>
          <a:bodyPr wrap="none" rtlCol="0">
            <a:spAutoFit/>
          </a:bodyPr>
          <a:lstStyle/>
          <a:p>
            <a:r>
              <a:rPr lang="en-US" sz="3600" b="1" dirty="0">
                <a:solidFill>
                  <a:schemeClr val="accent4">
                    <a:lumMod val="75000"/>
                  </a:schemeClr>
                </a:solidFill>
              </a:rPr>
              <a:t>454.15</a:t>
            </a:r>
          </a:p>
        </p:txBody>
      </p:sp>
    </p:spTree>
    <p:extLst>
      <p:ext uri="{BB962C8B-B14F-4D97-AF65-F5344CB8AC3E}">
        <p14:creationId xmlns:p14="http://schemas.microsoft.com/office/powerpoint/2010/main" val="3462733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Linear regression is greedy</a:t>
            </a:r>
          </a:p>
        </p:txBody>
      </p:sp>
      <p:sp>
        <p:nvSpPr>
          <p:cNvPr id="3" name="Content Placeholder 2"/>
          <p:cNvSpPr>
            <a:spLocks noGrp="1"/>
          </p:cNvSpPr>
          <p:nvPr>
            <p:ph idx="1"/>
          </p:nvPr>
        </p:nvSpPr>
        <p:spPr>
          <a:xfrm>
            <a:off x="838200" y="1825625"/>
            <a:ext cx="10515600" cy="1946275"/>
          </a:xfrm>
        </p:spPr>
        <p:txBody>
          <a:bodyPr/>
          <a:lstStyle/>
          <a:p>
            <a:r>
              <a:rPr lang="en-US" dirty="0"/>
              <a:t>Linear regression is “greedy”</a:t>
            </a:r>
          </a:p>
          <a:p>
            <a:pPr lvl="1"/>
            <a:r>
              <a:rPr lang="en-US" dirty="0"/>
              <a:t>This means earlier model terms take as much SS as possible</a:t>
            </a:r>
          </a:p>
          <a:p>
            <a:r>
              <a:rPr lang="en-US" dirty="0"/>
              <a:t>In balanced data, you can uniquely assign the model SS to individual terms</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44228" y="3903264"/>
            <a:ext cx="4847771" cy="2954736"/>
          </a:xfrm>
          <a:prstGeom prst="rect">
            <a:avLst/>
          </a:prstGeom>
        </p:spPr>
      </p:pic>
      <p:sp>
        <p:nvSpPr>
          <p:cNvPr id="5" name="Content Placeholder 2"/>
          <p:cNvSpPr txBox="1">
            <a:spLocks/>
          </p:cNvSpPr>
          <p:nvPr/>
        </p:nvSpPr>
        <p:spPr>
          <a:xfrm>
            <a:off x="838200" y="3903264"/>
            <a:ext cx="6172200" cy="1946275"/>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unbalanced data, some SS are “shared” among terms</a:t>
            </a:r>
          </a:p>
          <a:p>
            <a:pPr lvl="1"/>
            <a:r>
              <a:rPr lang="en-US" dirty="0"/>
              <a:t>Whichever term comes first gets all of it</a:t>
            </a:r>
          </a:p>
          <a:p>
            <a:pPr lvl="1"/>
            <a:r>
              <a:rPr lang="en-US" dirty="0"/>
              <a:t>Any later terms get whatever’s left</a:t>
            </a:r>
          </a:p>
        </p:txBody>
      </p:sp>
    </p:spTree>
    <p:extLst>
      <p:ext uri="{BB962C8B-B14F-4D97-AF65-F5344CB8AC3E}">
        <p14:creationId xmlns:p14="http://schemas.microsoft.com/office/powerpoint/2010/main" val="12083646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Sums of Squares</a:t>
            </a:r>
          </a:p>
        </p:txBody>
      </p:sp>
      <p:sp>
        <p:nvSpPr>
          <p:cNvPr id="4" name="TextBox 3"/>
          <p:cNvSpPr txBox="1"/>
          <p:nvPr/>
        </p:nvSpPr>
        <p:spPr>
          <a:xfrm>
            <a:off x="2038882" y="2120325"/>
            <a:ext cx="2627835" cy="584775"/>
          </a:xfrm>
          <a:prstGeom prst="rect">
            <a:avLst/>
          </a:prstGeom>
          <a:noFill/>
        </p:spPr>
        <p:txBody>
          <a:bodyPr wrap="none" rtlCol="0">
            <a:spAutoFit/>
          </a:bodyPr>
          <a:lstStyle/>
          <a:p>
            <a:r>
              <a:rPr lang="en-US" sz="3200" b="1" dirty="0"/>
              <a:t>Balanced Data</a:t>
            </a:r>
          </a:p>
        </p:txBody>
      </p:sp>
      <p:sp>
        <p:nvSpPr>
          <p:cNvPr id="6" name="Rectangle 5"/>
          <p:cNvSpPr/>
          <p:nvPr/>
        </p:nvSpPr>
        <p:spPr>
          <a:xfrm>
            <a:off x="838200" y="2705100"/>
            <a:ext cx="5029200" cy="3073400"/>
          </a:xfrm>
          <a:prstGeom prst="rect">
            <a:avLst/>
          </a:pr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Total Sums of Squares</a:t>
            </a:r>
          </a:p>
        </p:txBody>
      </p:sp>
      <p:sp>
        <p:nvSpPr>
          <p:cNvPr id="15" name="TextBox 14"/>
          <p:cNvSpPr txBox="1"/>
          <p:nvPr/>
        </p:nvSpPr>
        <p:spPr>
          <a:xfrm>
            <a:off x="1875151" y="5943600"/>
            <a:ext cx="2955296" cy="584775"/>
          </a:xfrm>
          <a:prstGeom prst="rect">
            <a:avLst/>
          </a:prstGeom>
          <a:noFill/>
        </p:spPr>
        <p:txBody>
          <a:bodyPr wrap="none" rtlCol="0">
            <a:spAutoFit/>
          </a:bodyPr>
          <a:lstStyle/>
          <a:p>
            <a:r>
              <a:rPr lang="en-US" sz="3200" b="1" dirty="0"/>
              <a:t>outcome ~ A + B</a:t>
            </a:r>
          </a:p>
        </p:txBody>
      </p:sp>
    </p:spTree>
    <p:extLst>
      <p:ext uri="{BB962C8B-B14F-4D97-AF65-F5344CB8AC3E}">
        <p14:creationId xmlns:p14="http://schemas.microsoft.com/office/powerpoint/2010/main" val="872317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Sums of Squares</a:t>
            </a:r>
          </a:p>
        </p:txBody>
      </p:sp>
      <p:sp>
        <p:nvSpPr>
          <p:cNvPr id="4" name="TextBox 3"/>
          <p:cNvSpPr txBox="1"/>
          <p:nvPr/>
        </p:nvSpPr>
        <p:spPr>
          <a:xfrm>
            <a:off x="2038882" y="2120325"/>
            <a:ext cx="2627835" cy="584775"/>
          </a:xfrm>
          <a:prstGeom prst="rect">
            <a:avLst/>
          </a:prstGeom>
          <a:noFill/>
        </p:spPr>
        <p:txBody>
          <a:bodyPr wrap="none" rtlCol="0">
            <a:spAutoFit/>
          </a:bodyPr>
          <a:lstStyle/>
          <a:p>
            <a:r>
              <a:rPr lang="en-US" sz="3200" b="1" dirty="0"/>
              <a:t>Balanced Data</a:t>
            </a:r>
          </a:p>
        </p:txBody>
      </p:sp>
      <p:sp>
        <p:nvSpPr>
          <p:cNvPr id="6" name="Rectangle 5"/>
          <p:cNvSpPr/>
          <p:nvPr/>
        </p:nvSpPr>
        <p:spPr>
          <a:xfrm>
            <a:off x="838200" y="2705100"/>
            <a:ext cx="5029200" cy="3073400"/>
          </a:xfrm>
          <a:prstGeom prst="rect">
            <a:avLst/>
          </a:pr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Total Sums of Squares</a:t>
            </a:r>
          </a:p>
        </p:txBody>
      </p:sp>
      <p:sp>
        <p:nvSpPr>
          <p:cNvPr id="8" name="Rectangle 7"/>
          <p:cNvSpPr/>
          <p:nvPr/>
        </p:nvSpPr>
        <p:spPr>
          <a:xfrm>
            <a:off x="838199" y="2705100"/>
            <a:ext cx="1828801"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9" name="Rectangle 8"/>
          <p:cNvSpPr/>
          <p:nvPr/>
        </p:nvSpPr>
        <p:spPr>
          <a:xfrm>
            <a:off x="2667000" y="2705100"/>
            <a:ext cx="2197100"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10" name="Rectangle 9"/>
          <p:cNvSpPr/>
          <p:nvPr/>
        </p:nvSpPr>
        <p:spPr>
          <a:xfrm rot="16200000">
            <a:off x="3829050" y="3740152"/>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5" name="TextBox 14"/>
          <p:cNvSpPr txBox="1"/>
          <p:nvPr/>
        </p:nvSpPr>
        <p:spPr>
          <a:xfrm>
            <a:off x="1875151" y="5943600"/>
            <a:ext cx="2955296" cy="584775"/>
          </a:xfrm>
          <a:prstGeom prst="rect">
            <a:avLst/>
          </a:prstGeom>
          <a:noFill/>
        </p:spPr>
        <p:txBody>
          <a:bodyPr wrap="none" rtlCol="0">
            <a:spAutoFit/>
          </a:bodyPr>
          <a:lstStyle/>
          <a:p>
            <a:r>
              <a:rPr lang="en-US" sz="3200" b="1" dirty="0"/>
              <a:t>outcome ~ A + B</a:t>
            </a:r>
          </a:p>
        </p:txBody>
      </p:sp>
    </p:spTree>
    <p:extLst>
      <p:ext uri="{BB962C8B-B14F-4D97-AF65-F5344CB8AC3E}">
        <p14:creationId xmlns:p14="http://schemas.microsoft.com/office/powerpoint/2010/main" val="41164311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fade">
                                      <p:cBhvr>
                                        <p:cTn id="1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Sums of Squares</a:t>
            </a:r>
          </a:p>
        </p:txBody>
      </p:sp>
      <p:sp>
        <p:nvSpPr>
          <p:cNvPr id="4" name="TextBox 3"/>
          <p:cNvSpPr txBox="1"/>
          <p:nvPr/>
        </p:nvSpPr>
        <p:spPr>
          <a:xfrm>
            <a:off x="2038882" y="2120325"/>
            <a:ext cx="2627835" cy="584775"/>
          </a:xfrm>
          <a:prstGeom prst="rect">
            <a:avLst/>
          </a:prstGeom>
          <a:noFill/>
        </p:spPr>
        <p:txBody>
          <a:bodyPr wrap="none" rtlCol="0">
            <a:spAutoFit/>
          </a:bodyPr>
          <a:lstStyle/>
          <a:p>
            <a:r>
              <a:rPr lang="en-US" sz="3200" b="1" dirty="0"/>
              <a:t>Balanced Data</a:t>
            </a:r>
          </a:p>
        </p:txBody>
      </p:sp>
      <p:sp>
        <p:nvSpPr>
          <p:cNvPr id="5" name="TextBox 4"/>
          <p:cNvSpPr txBox="1"/>
          <p:nvPr/>
        </p:nvSpPr>
        <p:spPr>
          <a:xfrm>
            <a:off x="7948066" y="2120325"/>
            <a:ext cx="2214068" cy="584775"/>
          </a:xfrm>
          <a:prstGeom prst="rect">
            <a:avLst/>
          </a:prstGeom>
          <a:noFill/>
        </p:spPr>
        <p:txBody>
          <a:bodyPr wrap="none" rtlCol="0">
            <a:spAutoFit/>
          </a:bodyPr>
          <a:lstStyle/>
          <a:p>
            <a:r>
              <a:rPr lang="en-US" sz="3200" b="1" dirty="0"/>
              <a:t>Unbalanced</a:t>
            </a:r>
          </a:p>
        </p:txBody>
      </p:sp>
      <p:sp>
        <p:nvSpPr>
          <p:cNvPr id="6" name="Rectangle 5"/>
          <p:cNvSpPr/>
          <p:nvPr/>
        </p:nvSpPr>
        <p:spPr>
          <a:xfrm>
            <a:off x="838200" y="2705100"/>
            <a:ext cx="5029200" cy="3073400"/>
          </a:xfrm>
          <a:prstGeom prst="rect">
            <a:avLst/>
          </a:pr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Total Sums of Squares</a:t>
            </a:r>
          </a:p>
        </p:txBody>
      </p:sp>
      <p:sp>
        <p:nvSpPr>
          <p:cNvPr id="7" name="Rectangle 6"/>
          <p:cNvSpPr/>
          <p:nvPr/>
        </p:nvSpPr>
        <p:spPr>
          <a:xfrm>
            <a:off x="6540500" y="2705100"/>
            <a:ext cx="5029200" cy="3073400"/>
          </a:xfrm>
          <a:prstGeom prst="rect">
            <a:avLst/>
          </a:pr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Total Sums of Squares</a:t>
            </a:r>
          </a:p>
        </p:txBody>
      </p:sp>
      <p:sp>
        <p:nvSpPr>
          <p:cNvPr id="8" name="Rectangle 7"/>
          <p:cNvSpPr/>
          <p:nvPr/>
        </p:nvSpPr>
        <p:spPr>
          <a:xfrm>
            <a:off x="3031030" y="2705097"/>
            <a:ext cx="1828801"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9" name="Rectangle 8"/>
          <p:cNvSpPr/>
          <p:nvPr/>
        </p:nvSpPr>
        <p:spPr>
          <a:xfrm>
            <a:off x="838198" y="2705097"/>
            <a:ext cx="2197100"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10" name="Rectangle 9"/>
          <p:cNvSpPr/>
          <p:nvPr/>
        </p:nvSpPr>
        <p:spPr>
          <a:xfrm rot="16200000">
            <a:off x="3829050" y="3740152"/>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5" name="TextBox 14"/>
          <p:cNvSpPr txBox="1"/>
          <p:nvPr/>
        </p:nvSpPr>
        <p:spPr>
          <a:xfrm>
            <a:off x="1875151" y="5943600"/>
            <a:ext cx="2955296" cy="584775"/>
          </a:xfrm>
          <a:prstGeom prst="rect">
            <a:avLst/>
          </a:prstGeom>
          <a:noFill/>
        </p:spPr>
        <p:txBody>
          <a:bodyPr wrap="none" rtlCol="0">
            <a:spAutoFit/>
          </a:bodyPr>
          <a:lstStyle/>
          <a:p>
            <a:r>
              <a:rPr lang="en-US" sz="3200" b="1" dirty="0"/>
              <a:t>outcome ~ B + A</a:t>
            </a:r>
          </a:p>
        </p:txBody>
      </p:sp>
    </p:spTree>
    <p:extLst>
      <p:ext uri="{BB962C8B-B14F-4D97-AF65-F5344CB8AC3E}">
        <p14:creationId xmlns:p14="http://schemas.microsoft.com/office/powerpoint/2010/main" val="6696342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Sums of Squares</a:t>
            </a:r>
          </a:p>
        </p:txBody>
      </p:sp>
      <p:sp>
        <p:nvSpPr>
          <p:cNvPr id="4" name="TextBox 3"/>
          <p:cNvSpPr txBox="1"/>
          <p:nvPr/>
        </p:nvSpPr>
        <p:spPr>
          <a:xfrm>
            <a:off x="2038882" y="2120325"/>
            <a:ext cx="2627835" cy="584775"/>
          </a:xfrm>
          <a:prstGeom prst="rect">
            <a:avLst/>
          </a:prstGeom>
          <a:noFill/>
        </p:spPr>
        <p:txBody>
          <a:bodyPr wrap="none" rtlCol="0">
            <a:spAutoFit/>
          </a:bodyPr>
          <a:lstStyle/>
          <a:p>
            <a:r>
              <a:rPr lang="en-US" sz="3200" b="1" dirty="0"/>
              <a:t>Balanced Data</a:t>
            </a:r>
          </a:p>
        </p:txBody>
      </p:sp>
      <p:sp>
        <p:nvSpPr>
          <p:cNvPr id="5" name="TextBox 4"/>
          <p:cNvSpPr txBox="1"/>
          <p:nvPr/>
        </p:nvSpPr>
        <p:spPr>
          <a:xfrm>
            <a:off x="7948066" y="2120325"/>
            <a:ext cx="2214068" cy="584775"/>
          </a:xfrm>
          <a:prstGeom prst="rect">
            <a:avLst/>
          </a:prstGeom>
          <a:noFill/>
        </p:spPr>
        <p:txBody>
          <a:bodyPr wrap="none" rtlCol="0">
            <a:spAutoFit/>
          </a:bodyPr>
          <a:lstStyle/>
          <a:p>
            <a:r>
              <a:rPr lang="en-US" sz="3200" b="1" dirty="0"/>
              <a:t>Unbalanced</a:t>
            </a:r>
          </a:p>
        </p:txBody>
      </p:sp>
      <p:sp>
        <p:nvSpPr>
          <p:cNvPr id="6" name="Rectangle 5"/>
          <p:cNvSpPr/>
          <p:nvPr/>
        </p:nvSpPr>
        <p:spPr>
          <a:xfrm>
            <a:off x="838200" y="2705100"/>
            <a:ext cx="5029200" cy="3073400"/>
          </a:xfrm>
          <a:prstGeom prst="rect">
            <a:avLst/>
          </a:pr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Total Sums of Squares</a:t>
            </a:r>
          </a:p>
        </p:txBody>
      </p:sp>
      <p:sp>
        <p:nvSpPr>
          <p:cNvPr id="7" name="Rectangle 6"/>
          <p:cNvSpPr/>
          <p:nvPr/>
        </p:nvSpPr>
        <p:spPr>
          <a:xfrm>
            <a:off x="6540500" y="2705100"/>
            <a:ext cx="5029200" cy="3073400"/>
          </a:xfrm>
          <a:prstGeom prst="rect">
            <a:avLst/>
          </a:prstGeom>
          <a:solidFill>
            <a:srgbClr val="7030A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Total Sums of Squares</a:t>
            </a:r>
          </a:p>
        </p:txBody>
      </p:sp>
      <p:sp>
        <p:nvSpPr>
          <p:cNvPr id="10" name="Rectangle 9"/>
          <p:cNvSpPr/>
          <p:nvPr/>
        </p:nvSpPr>
        <p:spPr>
          <a:xfrm rot="16200000">
            <a:off x="3829050" y="3740152"/>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1" name="Rectangle 10"/>
          <p:cNvSpPr/>
          <p:nvPr/>
        </p:nvSpPr>
        <p:spPr>
          <a:xfrm>
            <a:off x="6540502" y="2705099"/>
            <a:ext cx="1604948"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12" name="Rectangle 11"/>
          <p:cNvSpPr/>
          <p:nvPr/>
        </p:nvSpPr>
        <p:spPr>
          <a:xfrm>
            <a:off x="8951366" y="2705099"/>
            <a:ext cx="1615036"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13" name="Rectangle 12"/>
          <p:cNvSpPr/>
          <p:nvPr/>
        </p:nvSpPr>
        <p:spPr>
          <a:xfrm rot="16200000">
            <a:off x="9531352" y="3740151"/>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4" name="Rectangle 13"/>
          <p:cNvSpPr/>
          <p:nvPr/>
        </p:nvSpPr>
        <p:spPr>
          <a:xfrm rot="16200000">
            <a:off x="7011706" y="3838840"/>
            <a:ext cx="3073401" cy="805915"/>
          </a:xfrm>
          <a:prstGeom prst="rect">
            <a:avLst/>
          </a:prstGeom>
          <a:solidFill>
            <a:schemeClr val="accent6">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 or B SS</a:t>
            </a:r>
          </a:p>
        </p:txBody>
      </p:sp>
      <p:sp>
        <p:nvSpPr>
          <p:cNvPr id="15" name="Rectangle 14"/>
          <p:cNvSpPr/>
          <p:nvPr/>
        </p:nvSpPr>
        <p:spPr>
          <a:xfrm>
            <a:off x="3031030" y="2705097"/>
            <a:ext cx="1828801"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16" name="Rectangle 15"/>
          <p:cNvSpPr/>
          <p:nvPr/>
        </p:nvSpPr>
        <p:spPr>
          <a:xfrm>
            <a:off x="838198" y="2705097"/>
            <a:ext cx="2197100"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18" name="TextBox 17"/>
          <p:cNvSpPr txBox="1"/>
          <p:nvPr/>
        </p:nvSpPr>
        <p:spPr>
          <a:xfrm>
            <a:off x="1875151" y="5943600"/>
            <a:ext cx="2955296" cy="584775"/>
          </a:xfrm>
          <a:prstGeom prst="rect">
            <a:avLst/>
          </a:prstGeom>
          <a:noFill/>
        </p:spPr>
        <p:txBody>
          <a:bodyPr wrap="none" rtlCol="0">
            <a:spAutoFit/>
          </a:bodyPr>
          <a:lstStyle/>
          <a:p>
            <a:r>
              <a:rPr lang="en-US" sz="3200" b="1" dirty="0"/>
              <a:t>outcome ~ B + A</a:t>
            </a:r>
          </a:p>
        </p:txBody>
      </p:sp>
    </p:spTree>
    <p:extLst>
      <p:ext uri="{BB962C8B-B14F-4D97-AF65-F5344CB8AC3E}">
        <p14:creationId xmlns:p14="http://schemas.microsoft.com/office/powerpoint/2010/main" val="3400215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Sums of Squares</a:t>
            </a:r>
          </a:p>
        </p:txBody>
      </p:sp>
      <p:sp>
        <p:nvSpPr>
          <p:cNvPr id="4" name="TextBox 3"/>
          <p:cNvSpPr txBox="1"/>
          <p:nvPr/>
        </p:nvSpPr>
        <p:spPr>
          <a:xfrm>
            <a:off x="2038882" y="2120325"/>
            <a:ext cx="2627835" cy="584775"/>
          </a:xfrm>
          <a:prstGeom prst="rect">
            <a:avLst/>
          </a:prstGeom>
          <a:noFill/>
        </p:spPr>
        <p:txBody>
          <a:bodyPr wrap="none" rtlCol="0">
            <a:spAutoFit/>
          </a:bodyPr>
          <a:lstStyle/>
          <a:p>
            <a:r>
              <a:rPr lang="en-US" sz="3200" b="1" dirty="0"/>
              <a:t>Balanced Data</a:t>
            </a:r>
          </a:p>
        </p:txBody>
      </p:sp>
      <p:sp>
        <p:nvSpPr>
          <p:cNvPr id="5" name="TextBox 4"/>
          <p:cNvSpPr txBox="1"/>
          <p:nvPr/>
        </p:nvSpPr>
        <p:spPr>
          <a:xfrm>
            <a:off x="7948066" y="2120325"/>
            <a:ext cx="2214068" cy="584775"/>
          </a:xfrm>
          <a:prstGeom prst="rect">
            <a:avLst/>
          </a:prstGeom>
          <a:noFill/>
        </p:spPr>
        <p:txBody>
          <a:bodyPr wrap="none" rtlCol="0">
            <a:spAutoFit/>
          </a:bodyPr>
          <a:lstStyle/>
          <a:p>
            <a:r>
              <a:rPr lang="en-US" sz="3200" b="1" dirty="0"/>
              <a:t>Unbalanced</a:t>
            </a:r>
          </a:p>
        </p:txBody>
      </p:sp>
      <p:sp>
        <p:nvSpPr>
          <p:cNvPr id="10" name="Rectangle 9"/>
          <p:cNvSpPr/>
          <p:nvPr/>
        </p:nvSpPr>
        <p:spPr>
          <a:xfrm rot="16200000">
            <a:off x="3829050" y="3740148"/>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1" name="Rectangle 10"/>
          <p:cNvSpPr/>
          <p:nvPr/>
        </p:nvSpPr>
        <p:spPr>
          <a:xfrm>
            <a:off x="6540502" y="2705098"/>
            <a:ext cx="1604948"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12" name="Rectangle 11"/>
          <p:cNvSpPr/>
          <p:nvPr/>
        </p:nvSpPr>
        <p:spPr>
          <a:xfrm>
            <a:off x="8951366" y="2705099"/>
            <a:ext cx="1615036"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13" name="Rectangle 12"/>
          <p:cNvSpPr/>
          <p:nvPr/>
        </p:nvSpPr>
        <p:spPr>
          <a:xfrm rot="16200000">
            <a:off x="9531352" y="3740151"/>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4" name="Rectangle 13"/>
          <p:cNvSpPr/>
          <p:nvPr/>
        </p:nvSpPr>
        <p:spPr>
          <a:xfrm rot="16200000">
            <a:off x="7011706" y="3838840"/>
            <a:ext cx="3073401" cy="805915"/>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 or B SS</a:t>
            </a:r>
          </a:p>
        </p:txBody>
      </p:sp>
      <p:sp>
        <p:nvSpPr>
          <p:cNvPr id="15" name="Rectangle 14"/>
          <p:cNvSpPr/>
          <p:nvPr/>
        </p:nvSpPr>
        <p:spPr>
          <a:xfrm>
            <a:off x="3031030" y="2705097"/>
            <a:ext cx="1828801"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16" name="Rectangle 15"/>
          <p:cNvSpPr/>
          <p:nvPr/>
        </p:nvSpPr>
        <p:spPr>
          <a:xfrm>
            <a:off x="838198" y="2705097"/>
            <a:ext cx="2197100"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3" name="TextBox 2"/>
          <p:cNvSpPr txBox="1"/>
          <p:nvPr/>
        </p:nvSpPr>
        <p:spPr>
          <a:xfrm>
            <a:off x="7577452" y="5943600"/>
            <a:ext cx="2955296" cy="584775"/>
          </a:xfrm>
          <a:prstGeom prst="rect">
            <a:avLst/>
          </a:prstGeom>
          <a:noFill/>
        </p:spPr>
        <p:txBody>
          <a:bodyPr wrap="none" rtlCol="0">
            <a:spAutoFit/>
          </a:bodyPr>
          <a:lstStyle/>
          <a:p>
            <a:r>
              <a:rPr lang="en-US" sz="3200" b="1" dirty="0"/>
              <a:t>outcome ~ A + B</a:t>
            </a:r>
          </a:p>
        </p:txBody>
      </p:sp>
      <p:sp>
        <p:nvSpPr>
          <p:cNvPr id="17" name="TextBox 16"/>
          <p:cNvSpPr txBox="1"/>
          <p:nvPr/>
        </p:nvSpPr>
        <p:spPr>
          <a:xfrm>
            <a:off x="1875151" y="5943600"/>
            <a:ext cx="2955296" cy="584775"/>
          </a:xfrm>
          <a:prstGeom prst="rect">
            <a:avLst/>
          </a:prstGeom>
          <a:noFill/>
        </p:spPr>
        <p:txBody>
          <a:bodyPr wrap="none" rtlCol="0">
            <a:spAutoFit/>
          </a:bodyPr>
          <a:lstStyle/>
          <a:p>
            <a:r>
              <a:rPr lang="en-US" sz="3200" b="1" dirty="0"/>
              <a:t>outcome ~ B + A</a:t>
            </a:r>
          </a:p>
        </p:txBody>
      </p:sp>
    </p:spTree>
    <p:extLst>
      <p:ext uri="{BB962C8B-B14F-4D97-AF65-F5344CB8AC3E}">
        <p14:creationId xmlns:p14="http://schemas.microsoft.com/office/powerpoint/2010/main" val="3897530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Sharing Sums of Squares</a:t>
            </a:r>
          </a:p>
        </p:txBody>
      </p:sp>
      <p:sp>
        <p:nvSpPr>
          <p:cNvPr id="4" name="TextBox 3"/>
          <p:cNvSpPr txBox="1"/>
          <p:nvPr/>
        </p:nvSpPr>
        <p:spPr>
          <a:xfrm>
            <a:off x="2038882" y="2120325"/>
            <a:ext cx="2627835" cy="584775"/>
          </a:xfrm>
          <a:prstGeom prst="rect">
            <a:avLst/>
          </a:prstGeom>
          <a:noFill/>
        </p:spPr>
        <p:txBody>
          <a:bodyPr wrap="none" rtlCol="0">
            <a:spAutoFit/>
          </a:bodyPr>
          <a:lstStyle/>
          <a:p>
            <a:r>
              <a:rPr lang="en-US" sz="3200" b="1" dirty="0"/>
              <a:t>Balanced Data</a:t>
            </a:r>
          </a:p>
        </p:txBody>
      </p:sp>
      <p:sp>
        <p:nvSpPr>
          <p:cNvPr id="5" name="TextBox 4"/>
          <p:cNvSpPr txBox="1"/>
          <p:nvPr/>
        </p:nvSpPr>
        <p:spPr>
          <a:xfrm>
            <a:off x="7948066" y="2120325"/>
            <a:ext cx="2214068" cy="584775"/>
          </a:xfrm>
          <a:prstGeom prst="rect">
            <a:avLst/>
          </a:prstGeom>
          <a:noFill/>
        </p:spPr>
        <p:txBody>
          <a:bodyPr wrap="none" rtlCol="0">
            <a:spAutoFit/>
          </a:bodyPr>
          <a:lstStyle/>
          <a:p>
            <a:r>
              <a:rPr lang="en-US" sz="3200" b="1" dirty="0"/>
              <a:t>Unbalanced</a:t>
            </a:r>
          </a:p>
        </p:txBody>
      </p:sp>
      <p:sp>
        <p:nvSpPr>
          <p:cNvPr id="10" name="Rectangle 9"/>
          <p:cNvSpPr/>
          <p:nvPr/>
        </p:nvSpPr>
        <p:spPr>
          <a:xfrm rot="16200000">
            <a:off x="3829050" y="3740148"/>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1" name="Rectangle 10"/>
          <p:cNvSpPr/>
          <p:nvPr/>
        </p:nvSpPr>
        <p:spPr>
          <a:xfrm>
            <a:off x="8965968" y="2705098"/>
            <a:ext cx="1604948"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12" name="Rectangle 11"/>
          <p:cNvSpPr/>
          <p:nvPr/>
        </p:nvSpPr>
        <p:spPr>
          <a:xfrm>
            <a:off x="6538366" y="2705098"/>
            <a:ext cx="1615036"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13" name="Rectangle 12"/>
          <p:cNvSpPr/>
          <p:nvPr/>
        </p:nvSpPr>
        <p:spPr>
          <a:xfrm rot="16200000">
            <a:off x="9531352" y="3740151"/>
            <a:ext cx="3073402" cy="1003297"/>
          </a:xfrm>
          <a:prstGeom prst="rect">
            <a:avLst/>
          </a:prstGeom>
          <a:solidFill>
            <a:srgbClr val="C00000"/>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Residual SS</a:t>
            </a:r>
          </a:p>
        </p:txBody>
      </p:sp>
      <p:sp>
        <p:nvSpPr>
          <p:cNvPr id="14" name="Rectangle 13"/>
          <p:cNvSpPr/>
          <p:nvPr/>
        </p:nvSpPr>
        <p:spPr>
          <a:xfrm rot="16200000">
            <a:off x="7011706" y="3838840"/>
            <a:ext cx="3073401" cy="805915"/>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 or B SS</a:t>
            </a:r>
          </a:p>
        </p:txBody>
      </p:sp>
      <p:sp>
        <p:nvSpPr>
          <p:cNvPr id="15" name="Rectangle 14"/>
          <p:cNvSpPr/>
          <p:nvPr/>
        </p:nvSpPr>
        <p:spPr>
          <a:xfrm>
            <a:off x="3031030" y="2705097"/>
            <a:ext cx="1828801" cy="3073400"/>
          </a:xfrm>
          <a:prstGeom prst="rect">
            <a:avLst/>
          </a:prstGeom>
          <a:solidFill>
            <a:schemeClr val="accent4">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A</a:t>
            </a:r>
          </a:p>
          <a:p>
            <a:pPr algn="ctr"/>
            <a:r>
              <a:rPr lang="en-US" sz="3200" b="1" dirty="0"/>
              <a:t>SS</a:t>
            </a:r>
          </a:p>
        </p:txBody>
      </p:sp>
      <p:sp>
        <p:nvSpPr>
          <p:cNvPr id="16" name="Rectangle 15"/>
          <p:cNvSpPr/>
          <p:nvPr/>
        </p:nvSpPr>
        <p:spPr>
          <a:xfrm>
            <a:off x="838198" y="2705097"/>
            <a:ext cx="2197100" cy="3073400"/>
          </a:xfrm>
          <a:prstGeom prst="rect">
            <a:avLst/>
          </a:prstGeom>
          <a:solidFill>
            <a:schemeClr val="accent5">
              <a:lumMod val="75000"/>
            </a:schemeClr>
          </a:solidFill>
          <a:ln w="762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Factor B</a:t>
            </a:r>
          </a:p>
          <a:p>
            <a:pPr algn="ctr"/>
            <a:r>
              <a:rPr lang="en-US" sz="3200" b="1" dirty="0"/>
              <a:t>SS</a:t>
            </a:r>
          </a:p>
        </p:txBody>
      </p:sp>
      <p:sp>
        <p:nvSpPr>
          <p:cNvPr id="3" name="TextBox 2"/>
          <p:cNvSpPr txBox="1"/>
          <p:nvPr/>
        </p:nvSpPr>
        <p:spPr>
          <a:xfrm>
            <a:off x="7577452" y="5943600"/>
            <a:ext cx="2955296" cy="584775"/>
          </a:xfrm>
          <a:prstGeom prst="rect">
            <a:avLst/>
          </a:prstGeom>
          <a:noFill/>
        </p:spPr>
        <p:txBody>
          <a:bodyPr wrap="none" rtlCol="0">
            <a:spAutoFit/>
          </a:bodyPr>
          <a:lstStyle/>
          <a:p>
            <a:r>
              <a:rPr lang="en-US" sz="3200" b="1" dirty="0"/>
              <a:t>outcome ~ B + A</a:t>
            </a:r>
          </a:p>
        </p:txBody>
      </p:sp>
      <p:sp>
        <p:nvSpPr>
          <p:cNvPr id="17" name="TextBox 16"/>
          <p:cNvSpPr txBox="1"/>
          <p:nvPr/>
        </p:nvSpPr>
        <p:spPr>
          <a:xfrm>
            <a:off x="1875151" y="5943600"/>
            <a:ext cx="2955296" cy="584775"/>
          </a:xfrm>
          <a:prstGeom prst="rect">
            <a:avLst/>
          </a:prstGeom>
          <a:noFill/>
        </p:spPr>
        <p:txBody>
          <a:bodyPr wrap="none" rtlCol="0">
            <a:spAutoFit/>
          </a:bodyPr>
          <a:lstStyle/>
          <a:p>
            <a:r>
              <a:rPr lang="en-US" sz="3200" b="1" dirty="0"/>
              <a:t>outcome ~ B + A</a:t>
            </a:r>
          </a:p>
        </p:txBody>
      </p:sp>
    </p:spTree>
    <p:extLst>
      <p:ext uri="{BB962C8B-B14F-4D97-AF65-F5344CB8AC3E}">
        <p14:creationId xmlns:p14="http://schemas.microsoft.com/office/powerpoint/2010/main" val="27060315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Balance and model order</a:t>
            </a:r>
            <a:endParaRPr lang="en-US" dirty="0"/>
          </a:p>
        </p:txBody>
      </p:sp>
      <p:sp>
        <p:nvSpPr>
          <p:cNvPr id="3" name="Content Placeholder 2"/>
          <p:cNvSpPr>
            <a:spLocks noGrp="1"/>
          </p:cNvSpPr>
          <p:nvPr>
            <p:ph idx="1"/>
          </p:nvPr>
        </p:nvSpPr>
        <p:spPr/>
        <p:txBody>
          <a:bodyPr/>
          <a:lstStyle/>
          <a:p>
            <a:r>
              <a:rPr lang="en-US" dirty="0"/>
              <a:t>Download the data “16_balanced.csv”, a simple RCBD</a:t>
            </a:r>
          </a:p>
          <a:p>
            <a:pPr lvl="1"/>
            <a:r>
              <a:rPr lang="en-US" dirty="0"/>
              <a:t>Do an ANOVA swapping the block and variety terms and show that the results are identical</a:t>
            </a:r>
          </a:p>
          <a:p>
            <a:pPr lvl="1"/>
            <a:r>
              <a:rPr lang="en-US" dirty="0"/>
              <a:t>You realize that variety A51 had </a:t>
            </a:r>
            <a:r>
              <a:rPr lang="en-US" dirty="0" err="1"/>
              <a:t>seedlot</a:t>
            </a:r>
            <a:r>
              <a:rPr lang="en-US" dirty="0"/>
              <a:t> issues. Remove all its data from the dataset. Is the data still balanced?</a:t>
            </a:r>
          </a:p>
          <a:p>
            <a:pPr lvl="1"/>
            <a:r>
              <a:rPr lang="en-US" dirty="0"/>
              <a:t>You also find out that in block 4, variety C11 was planted with the wrong seed. After you remove it, is the data still balanced?</a:t>
            </a:r>
          </a:p>
        </p:txBody>
      </p:sp>
    </p:spTree>
    <p:extLst>
      <p:ext uri="{BB962C8B-B14F-4D97-AF65-F5344CB8AC3E}">
        <p14:creationId xmlns:p14="http://schemas.microsoft.com/office/powerpoint/2010/main" val="1033729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57" y="272799"/>
            <a:ext cx="9230089" cy="6585201"/>
          </a:xfrm>
          <a:prstGeom prst="rect">
            <a:avLst/>
          </a:prstGeom>
        </p:spPr>
      </p:pic>
      <p:sp>
        <p:nvSpPr>
          <p:cNvPr id="2" name="Title 1"/>
          <p:cNvSpPr>
            <a:spLocks noGrp="1"/>
          </p:cNvSpPr>
          <p:nvPr>
            <p:ph type="title"/>
          </p:nvPr>
        </p:nvSpPr>
        <p:spPr>
          <a:xfrm>
            <a:off x="7353300" y="1373547"/>
            <a:ext cx="5143500" cy="1325563"/>
          </a:xfrm>
        </p:spPr>
        <p:txBody>
          <a:bodyPr/>
          <a:lstStyle/>
          <a:p>
            <a:r>
              <a:rPr lang="en-US" dirty="0"/>
              <a:t>In-class exercise:</a:t>
            </a:r>
            <a:br>
              <a:rPr lang="en-US" dirty="0"/>
            </a:br>
            <a:r>
              <a:rPr lang="en-US" sz="2800" dirty="0"/>
              <a:t>Balance and model order</a:t>
            </a:r>
            <a:endParaRPr lang="en-US" dirty="0"/>
          </a:p>
        </p:txBody>
      </p:sp>
      <p:sp>
        <p:nvSpPr>
          <p:cNvPr id="7" name="TextBox 6"/>
          <p:cNvSpPr txBox="1"/>
          <p:nvPr/>
        </p:nvSpPr>
        <p:spPr>
          <a:xfrm>
            <a:off x="7353300" y="4000500"/>
            <a:ext cx="2380203" cy="646331"/>
          </a:xfrm>
          <a:prstGeom prst="rect">
            <a:avLst/>
          </a:prstGeom>
          <a:noFill/>
        </p:spPr>
        <p:txBody>
          <a:bodyPr wrap="none" rtlCol="0">
            <a:spAutoFit/>
          </a:bodyPr>
          <a:lstStyle/>
          <a:p>
            <a:r>
              <a:rPr lang="en-US" sz="3600" b="1" dirty="0">
                <a:solidFill>
                  <a:schemeClr val="accent4">
                    <a:lumMod val="75000"/>
                  </a:schemeClr>
                </a:solidFill>
              </a:rPr>
              <a:t>Identical SS</a:t>
            </a:r>
          </a:p>
        </p:txBody>
      </p:sp>
      <p:sp>
        <p:nvSpPr>
          <p:cNvPr id="8" name="Rounded Rectangle 7"/>
          <p:cNvSpPr/>
          <p:nvPr/>
        </p:nvSpPr>
        <p:spPr>
          <a:xfrm>
            <a:off x="2019300" y="2036328"/>
            <a:ext cx="1054100" cy="1341872"/>
          </a:xfrm>
          <a:prstGeom prst="roundRect">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019300" y="5008128"/>
            <a:ext cx="1054100" cy="1341872"/>
          </a:xfrm>
          <a:prstGeom prst="roundRect">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stCxn id="8" idx="3"/>
            <a:endCxn id="7" idx="1"/>
          </p:cNvCxnSpPr>
          <p:nvPr/>
        </p:nvCxnSpPr>
        <p:spPr>
          <a:xfrm>
            <a:off x="3073400" y="2707264"/>
            <a:ext cx="4279900" cy="1616402"/>
          </a:xfrm>
          <a:prstGeom prst="line">
            <a:avLst/>
          </a:prstGeom>
          <a:ln w="762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7" idx="1"/>
          </p:cNvCxnSpPr>
          <p:nvPr/>
        </p:nvCxnSpPr>
        <p:spPr>
          <a:xfrm flipV="1">
            <a:off x="3073400" y="4323666"/>
            <a:ext cx="4279900" cy="1355398"/>
          </a:xfrm>
          <a:prstGeom prst="line">
            <a:avLst/>
          </a:prstGeom>
          <a:ln w="762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1836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57" y="272799"/>
            <a:ext cx="9230088" cy="6585201"/>
          </a:xfrm>
          <a:prstGeom prst="rect">
            <a:avLst/>
          </a:prstGeom>
        </p:spPr>
      </p:pic>
      <p:sp>
        <p:nvSpPr>
          <p:cNvPr id="2" name="Title 1"/>
          <p:cNvSpPr>
            <a:spLocks noGrp="1"/>
          </p:cNvSpPr>
          <p:nvPr>
            <p:ph type="title"/>
          </p:nvPr>
        </p:nvSpPr>
        <p:spPr>
          <a:xfrm>
            <a:off x="7353300" y="1373547"/>
            <a:ext cx="5143500" cy="1325563"/>
          </a:xfrm>
        </p:spPr>
        <p:txBody>
          <a:bodyPr/>
          <a:lstStyle/>
          <a:p>
            <a:r>
              <a:rPr lang="en-US" dirty="0"/>
              <a:t>In-class exercise:</a:t>
            </a:r>
            <a:br>
              <a:rPr lang="en-US" dirty="0"/>
            </a:br>
            <a:r>
              <a:rPr lang="en-US" sz="2800" dirty="0"/>
              <a:t>Balance and model order</a:t>
            </a:r>
            <a:endParaRPr lang="en-US" dirty="0"/>
          </a:p>
        </p:txBody>
      </p:sp>
      <p:sp>
        <p:nvSpPr>
          <p:cNvPr id="7" name="TextBox 6"/>
          <p:cNvSpPr txBox="1"/>
          <p:nvPr/>
        </p:nvSpPr>
        <p:spPr>
          <a:xfrm>
            <a:off x="7353301" y="4000500"/>
            <a:ext cx="3061544" cy="1508105"/>
          </a:xfrm>
          <a:prstGeom prst="rect">
            <a:avLst/>
          </a:prstGeom>
          <a:noFill/>
        </p:spPr>
        <p:txBody>
          <a:bodyPr wrap="square" rtlCol="0">
            <a:spAutoFit/>
          </a:bodyPr>
          <a:lstStyle/>
          <a:p>
            <a:pPr algn="ctr"/>
            <a:r>
              <a:rPr lang="en-US" sz="3600" b="1" dirty="0">
                <a:solidFill>
                  <a:schemeClr val="accent4">
                    <a:lumMod val="75000"/>
                  </a:schemeClr>
                </a:solidFill>
              </a:rPr>
              <a:t>Still balanced</a:t>
            </a:r>
          </a:p>
          <a:p>
            <a:pPr algn="ctr"/>
            <a:r>
              <a:rPr lang="en-US" sz="2800" b="1" dirty="0">
                <a:solidFill>
                  <a:schemeClr val="accent4">
                    <a:lumMod val="75000"/>
                  </a:schemeClr>
                </a:solidFill>
              </a:rPr>
              <a:t>(because removed </a:t>
            </a:r>
            <a:r>
              <a:rPr lang="en-US" sz="2800" b="1" u="sng" dirty="0">
                <a:solidFill>
                  <a:schemeClr val="accent4">
                    <a:lumMod val="75000"/>
                  </a:schemeClr>
                </a:solidFill>
              </a:rPr>
              <a:t>all</a:t>
            </a:r>
            <a:r>
              <a:rPr lang="en-US" sz="2800" b="1" dirty="0">
                <a:solidFill>
                  <a:schemeClr val="accent4">
                    <a:lumMod val="75000"/>
                  </a:schemeClr>
                </a:solidFill>
              </a:rPr>
              <a:t> of one variable)</a:t>
            </a:r>
          </a:p>
        </p:txBody>
      </p:sp>
      <p:sp>
        <p:nvSpPr>
          <p:cNvPr id="8" name="Rounded Rectangle 7"/>
          <p:cNvSpPr/>
          <p:nvPr/>
        </p:nvSpPr>
        <p:spPr>
          <a:xfrm>
            <a:off x="2019300" y="2036328"/>
            <a:ext cx="1054100" cy="1341872"/>
          </a:xfrm>
          <a:prstGeom prst="roundRect">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019300" y="5008128"/>
            <a:ext cx="1054100" cy="1341872"/>
          </a:xfrm>
          <a:prstGeom prst="roundRect">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stCxn id="8" idx="3"/>
            <a:endCxn id="7" idx="1"/>
          </p:cNvCxnSpPr>
          <p:nvPr/>
        </p:nvCxnSpPr>
        <p:spPr>
          <a:xfrm>
            <a:off x="3073400" y="2707264"/>
            <a:ext cx="4279900" cy="1616402"/>
          </a:xfrm>
          <a:prstGeom prst="line">
            <a:avLst/>
          </a:prstGeom>
          <a:ln w="762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7" idx="1"/>
          </p:cNvCxnSpPr>
          <p:nvPr/>
        </p:nvCxnSpPr>
        <p:spPr>
          <a:xfrm flipV="1">
            <a:off x="3073400" y="4323666"/>
            <a:ext cx="4279900" cy="1355398"/>
          </a:xfrm>
          <a:prstGeom prst="line">
            <a:avLst/>
          </a:prstGeom>
          <a:ln w="762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286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0657" y="-3368"/>
            <a:ext cx="9217219" cy="6861368"/>
          </a:xfrm>
          <a:prstGeom prst="rect">
            <a:avLst/>
          </a:prstGeom>
        </p:spPr>
      </p:pic>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p:cNvSpPr>
            <a:spLocks noGrp="1"/>
          </p:cNvSpPr>
          <p:nvPr>
            <p:ph type="title"/>
          </p:nvPr>
        </p:nvSpPr>
        <p:spPr>
          <a:xfrm>
            <a:off x="7353300" y="1373547"/>
            <a:ext cx="5143500" cy="1325563"/>
          </a:xfrm>
        </p:spPr>
        <p:txBody>
          <a:bodyPr/>
          <a:lstStyle/>
          <a:p>
            <a:r>
              <a:rPr lang="en-US" dirty="0"/>
              <a:t>In-class exercise:</a:t>
            </a:r>
            <a:br>
              <a:rPr lang="en-US" dirty="0"/>
            </a:br>
            <a:r>
              <a:rPr lang="en-US" sz="2800" dirty="0"/>
              <a:t>Balance and model order</a:t>
            </a:r>
            <a:endParaRPr lang="en-US" dirty="0"/>
          </a:p>
        </p:txBody>
      </p:sp>
      <p:sp>
        <p:nvSpPr>
          <p:cNvPr id="7" name="TextBox 6"/>
          <p:cNvSpPr txBox="1"/>
          <p:nvPr/>
        </p:nvSpPr>
        <p:spPr>
          <a:xfrm>
            <a:off x="7340431" y="4037467"/>
            <a:ext cx="3458197" cy="1938992"/>
          </a:xfrm>
          <a:prstGeom prst="rect">
            <a:avLst/>
          </a:prstGeom>
          <a:noFill/>
        </p:spPr>
        <p:txBody>
          <a:bodyPr wrap="square" rtlCol="0">
            <a:spAutoFit/>
          </a:bodyPr>
          <a:lstStyle/>
          <a:p>
            <a:pPr algn="ctr"/>
            <a:r>
              <a:rPr lang="en-US" sz="3600" b="1" dirty="0">
                <a:solidFill>
                  <a:schemeClr val="accent2">
                    <a:lumMod val="75000"/>
                  </a:schemeClr>
                </a:solidFill>
              </a:rPr>
              <a:t>Now unbalanced</a:t>
            </a:r>
          </a:p>
          <a:p>
            <a:pPr algn="ctr"/>
            <a:r>
              <a:rPr lang="en-US" sz="2800" b="1" dirty="0">
                <a:solidFill>
                  <a:schemeClr val="accent2">
                    <a:lumMod val="75000"/>
                  </a:schemeClr>
                </a:solidFill>
              </a:rPr>
              <a:t>(though just barely because only a </a:t>
            </a:r>
            <a:r>
              <a:rPr lang="en-US" sz="2800" b="1" u="sng" dirty="0">
                <a:solidFill>
                  <a:schemeClr val="accent2">
                    <a:lumMod val="75000"/>
                  </a:schemeClr>
                </a:solidFill>
              </a:rPr>
              <a:t>little </a:t>
            </a:r>
            <a:r>
              <a:rPr lang="en-US" sz="2800" b="1" dirty="0">
                <a:solidFill>
                  <a:schemeClr val="accent2">
                    <a:lumMod val="75000"/>
                  </a:schemeClr>
                </a:solidFill>
              </a:rPr>
              <a:t>unbalanced)</a:t>
            </a:r>
            <a:endParaRPr lang="en-US" sz="2000" b="1" dirty="0">
              <a:solidFill>
                <a:schemeClr val="accent2">
                  <a:lumMod val="75000"/>
                </a:schemeClr>
              </a:solidFill>
            </a:endParaRPr>
          </a:p>
        </p:txBody>
      </p:sp>
      <p:sp>
        <p:nvSpPr>
          <p:cNvPr id="8" name="Rounded Rectangle 7"/>
          <p:cNvSpPr/>
          <p:nvPr/>
        </p:nvSpPr>
        <p:spPr>
          <a:xfrm>
            <a:off x="2019300" y="2036328"/>
            <a:ext cx="1054100" cy="1341872"/>
          </a:xfrm>
          <a:prstGeom prst="roundRect">
            <a:avLst/>
          </a:prstGeom>
          <a:no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ounded Rectangle 8"/>
          <p:cNvSpPr/>
          <p:nvPr/>
        </p:nvSpPr>
        <p:spPr>
          <a:xfrm>
            <a:off x="2019300" y="5008128"/>
            <a:ext cx="1054100" cy="1341872"/>
          </a:xfrm>
          <a:prstGeom prst="roundRect">
            <a:avLst/>
          </a:prstGeom>
          <a:noFill/>
          <a:ln w="7620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1" name="Straight Connector 10"/>
          <p:cNvCxnSpPr>
            <a:stCxn id="8" idx="3"/>
            <a:endCxn id="7" idx="1"/>
          </p:cNvCxnSpPr>
          <p:nvPr/>
        </p:nvCxnSpPr>
        <p:spPr>
          <a:xfrm>
            <a:off x="3073400" y="2707264"/>
            <a:ext cx="4279900" cy="1616402"/>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a:stCxn id="9" idx="3"/>
            <a:endCxn id="7" idx="1"/>
          </p:cNvCxnSpPr>
          <p:nvPr/>
        </p:nvCxnSpPr>
        <p:spPr>
          <a:xfrm flipV="1">
            <a:off x="3073400" y="4323666"/>
            <a:ext cx="4279900" cy="1355398"/>
          </a:xfrm>
          <a:prstGeom prst="line">
            <a:avLst/>
          </a:prstGeom>
          <a:ln w="7620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12" name="Rounded Rectangle 11"/>
          <p:cNvSpPr/>
          <p:nvPr/>
        </p:nvSpPr>
        <p:spPr>
          <a:xfrm>
            <a:off x="4000500" y="221723"/>
            <a:ext cx="4711700" cy="718077"/>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p:cNvSpPr txBox="1"/>
          <p:nvPr/>
        </p:nvSpPr>
        <p:spPr>
          <a:xfrm>
            <a:off x="6602494" y="1075418"/>
            <a:ext cx="4537420" cy="523220"/>
          </a:xfrm>
          <a:prstGeom prst="rect">
            <a:avLst/>
          </a:prstGeom>
          <a:noFill/>
        </p:spPr>
        <p:txBody>
          <a:bodyPr wrap="square" rtlCol="0">
            <a:spAutoFit/>
          </a:bodyPr>
          <a:lstStyle/>
          <a:p>
            <a:r>
              <a:rPr lang="en-US" sz="2800" b="1" dirty="0">
                <a:solidFill>
                  <a:schemeClr val="accent6">
                    <a:lumMod val="75000"/>
                  </a:schemeClr>
                </a:solidFill>
              </a:rPr>
              <a:t>One of several ways to filter</a:t>
            </a:r>
            <a:endParaRPr lang="en-US" sz="2000" b="1" dirty="0">
              <a:solidFill>
                <a:schemeClr val="accent6">
                  <a:lumMod val="75000"/>
                </a:schemeClr>
              </a:solidFill>
            </a:endParaRPr>
          </a:p>
        </p:txBody>
      </p:sp>
    </p:spTree>
    <p:extLst>
      <p:ext uri="{BB962C8B-B14F-4D97-AF65-F5344CB8AC3E}">
        <p14:creationId xmlns:p14="http://schemas.microsoft.com/office/powerpoint/2010/main" val="1023589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500"/>
                                        <p:tgtEl>
                                          <p:spTgt spid="13"/>
                                        </p:tgtEl>
                                      </p:cBhvr>
                                    </p:animEffect>
                                  </p:childTnLst>
                                </p:cTn>
                              </p:par>
                              <p:par>
                                <p:cTn id="16" presetID="10" presetClass="entr" presetSubtype="0" fill="hold" nodeType="withEffect">
                                  <p:stCondLst>
                                    <p:cond delay="0"/>
                                  </p:stCondLst>
                                  <p:childTnLst>
                                    <p:set>
                                      <p:cBhvr>
                                        <p:cTn id="17" dur="1" fill="hold">
                                          <p:stCondLst>
                                            <p:cond delay="0"/>
                                          </p:stCondLst>
                                        </p:cTn>
                                        <p:tgtEl>
                                          <p:spTgt spid="11"/>
                                        </p:tgtEl>
                                        <p:attrNameLst>
                                          <p:attrName>style.visibility</p:attrName>
                                        </p:attrNameLst>
                                      </p:cBhvr>
                                      <p:to>
                                        <p:strVal val="visible"/>
                                      </p:to>
                                    </p:set>
                                    <p:animEffect transition="in" filter="fade">
                                      <p:cBhvr>
                                        <p:cTn id="18" dur="500"/>
                                        <p:tgtEl>
                                          <p:spTgt spid="11"/>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50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animBg="1"/>
      <p:bldP spid="9" grpId="0" animBg="1"/>
      <p:bldP spid="12" grpId="0" animBg="1"/>
      <p:bldP spid="14"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model order and SS?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599228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 what is the correct model order?</a:t>
            </a:r>
          </a:p>
        </p:txBody>
      </p:sp>
      <p:sp>
        <p:nvSpPr>
          <p:cNvPr id="3" name="Content Placeholder 2"/>
          <p:cNvSpPr>
            <a:spLocks noGrp="1"/>
          </p:cNvSpPr>
          <p:nvPr>
            <p:ph idx="1"/>
          </p:nvPr>
        </p:nvSpPr>
        <p:spPr>
          <a:xfrm>
            <a:off x="838200" y="1825625"/>
            <a:ext cx="10883900" cy="4110718"/>
          </a:xfrm>
        </p:spPr>
        <p:txBody>
          <a:bodyPr/>
          <a:lstStyle/>
          <a:p>
            <a:r>
              <a:rPr lang="en-US" dirty="0"/>
              <a:t>Because regression is greedy, earlier model terms get more SS</a:t>
            </a:r>
          </a:p>
          <a:p>
            <a:r>
              <a:rPr lang="en-US" dirty="0"/>
              <a:t>This increases their mean square and F statistic, making them more likely to be significant</a:t>
            </a:r>
          </a:p>
          <a:p>
            <a:r>
              <a:rPr lang="en-US" dirty="0"/>
              <a:t>The general rule is:</a:t>
            </a:r>
          </a:p>
          <a:p>
            <a:pPr lvl="1"/>
            <a:r>
              <a:rPr lang="en-US" dirty="0"/>
              <a:t>Nuisance variables (blocks, etc.) go </a:t>
            </a:r>
            <a:r>
              <a:rPr lang="en-US" u="sng" dirty="0"/>
              <a:t>first</a:t>
            </a:r>
          </a:p>
          <a:p>
            <a:pPr lvl="1"/>
            <a:r>
              <a:rPr lang="en-US" dirty="0"/>
              <a:t>Things you care about go </a:t>
            </a:r>
            <a:r>
              <a:rPr lang="en-US" u="sng" dirty="0"/>
              <a:t>last</a:t>
            </a:r>
            <a:endParaRPr lang="en-US" dirty="0"/>
          </a:p>
          <a:p>
            <a:r>
              <a:rPr lang="en-US" b="1" dirty="0">
                <a:solidFill>
                  <a:schemeClr val="accent2">
                    <a:lumMod val="75000"/>
                  </a:schemeClr>
                </a:solidFill>
              </a:rPr>
              <a:t>What’s the danger if you do it the other way?</a:t>
            </a:r>
          </a:p>
          <a:p>
            <a:pPr marL="0" indent="0">
              <a:buNone/>
            </a:pPr>
            <a:endParaRPr lang="en-US" dirty="0"/>
          </a:p>
        </p:txBody>
      </p:sp>
    </p:spTree>
    <p:extLst>
      <p:ext uri="{BB962C8B-B14F-4D97-AF65-F5344CB8AC3E}">
        <p14:creationId xmlns:p14="http://schemas.microsoft.com/office/powerpoint/2010/main" val="13240841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3">
                                            <p:txEl>
                                              <p:pRg st="5" end="5"/>
                                            </p:txEl>
                                          </p:spTgt>
                                        </p:tgtEl>
                                        <p:attrNameLst>
                                          <p:attrName>style.visibility</p:attrName>
                                        </p:attrNameLst>
                                      </p:cBhvr>
                                      <p:to>
                                        <p:strVal val="visible"/>
                                      </p:to>
                                    </p:set>
                                    <p:animEffect transition="in" filter="fade">
                                      <p:cBhvr>
                                        <p:cTn id="18"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types of sums-of-squares</a:t>
            </a:r>
          </a:p>
        </p:txBody>
      </p:sp>
      <p:sp>
        <p:nvSpPr>
          <p:cNvPr id="3" name="Content Placeholder 2"/>
          <p:cNvSpPr>
            <a:spLocks noGrp="1"/>
          </p:cNvSpPr>
          <p:nvPr>
            <p:ph idx="1"/>
          </p:nvPr>
        </p:nvSpPr>
        <p:spPr/>
        <p:txBody>
          <a:bodyPr/>
          <a:lstStyle/>
          <a:p>
            <a:r>
              <a:rPr lang="en-US" dirty="0"/>
              <a:t>There are three ways to compute the sums-of-squares for linear models</a:t>
            </a:r>
          </a:p>
          <a:p>
            <a:endParaRPr lang="en-US" dirty="0"/>
          </a:p>
          <a:p>
            <a:endParaRPr lang="en-US" dirty="0"/>
          </a:p>
          <a:p>
            <a:r>
              <a:rPr lang="en-US" dirty="0"/>
              <a:t>Each one makes different assumptions.</a:t>
            </a:r>
          </a:p>
          <a:p>
            <a:pPr lvl="1"/>
            <a:r>
              <a:rPr lang="en-US" dirty="0"/>
              <a:t>They seem to have been arbitrarily defined by SAS, and the names/methodologies stuck</a:t>
            </a:r>
          </a:p>
          <a:p>
            <a:pPr lvl="1"/>
            <a:r>
              <a:rPr lang="en-US" dirty="0"/>
              <a:t>There is no single “best” way; it all depends on what you are looking for</a:t>
            </a:r>
          </a:p>
        </p:txBody>
      </p:sp>
      <p:sp>
        <p:nvSpPr>
          <p:cNvPr id="4" name="Rounded Rectangle 3"/>
          <p:cNvSpPr/>
          <p:nvPr/>
        </p:nvSpPr>
        <p:spPr>
          <a:xfrm>
            <a:off x="2578100" y="2826884"/>
            <a:ext cx="1841500" cy="932316"/>
          </a:xfrm>
          <a:prstGeom prst="roundRect">
            <a:avLst/>
          </a:prstGeom>
          <a:ln w="762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600" b="1" dirty="0"/>
              <a:t>Type I</a:t>
            </a:r>
          </a:p>
        </p:txBody>
      </p:sp>
      <p:sp>
        <p:nvSpPr>
          <p:cNvPr id="5" name="Rounded Rectangle 4"/>
          <p:cNvSpPr/>
          <p:nvPr/>
        </p:nvSpPr>
        <p:spPr>
          <a:xfrm>
            <a:off x="5099050" y="2826884"/>
            <a:ext cx="1841500" cy="932316"/>
          </a:xfrm>
          <a:prstGeom prst="roundRect">
            <a:avLst/>
          </a:prstGeom>
          <a:ln w="762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dirty="0"/>
              <a:t>Type II</a:t>
            </a:r>
          </a:p>
        </p:txBody>
      </p:sp>
      <p:sp>
        <p:nvSpPr>
          <p:cNvPr id="6" name="Rounded Rectangle 5"/>
          <p:cNvSpPr/>
          <p:nvPr/>
        </p:nvSpPr>
        <p:spPr>
          <a:xfrm>
            <a:off x="7620000" y="2826884"/>
            <a:ext cx="1841500" cy="932316"/>
          </a:xfrm>
          <a:prstGeom prst="roundRect">
            <a:avLst/>
          </a:prstGeom>
          <a:ln w="7620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b="1" dirty="0"/>
              <a:t>Type III</a:t>
            </a:r>
          </a:p>
        </p:txBody>
      </p:sp>
    </p:spTree>
    <p:extLst>
      <p:ext uri="{BB962C8B-B14F-4D97-AF65-F5344CB8AC3E}">
        <p14:creationId xmlns:p14="http://schemas.microsoft.com/office/powerpoint/2010/main" val="921371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fade">
                                      <p:cBhvr>
                                        <p:cTn id="11" dur="500"/>
                                        <p:tgtEl>
                                          <p:spTgt spid="5"/>
                                        </p:tgtEl>
                                      </p:cBhvr>
                                    </p:animEffect>
                                  </p:childTnLst>
                                </p:cTn>
                              </p:par>
                            </p:childTnLst>
                          </p:cTn>
                        </p:par>
                        <p:par>
                          <p:cTn id="12" fill="hold">
                            <p:stCondLst>
                              <p:cond delay="1000"/>
                            </p:stCondLst>
                            <p:childTnLst>
                              <p:par>
                                <p:cTn id="13" presetID="10" presetClass="entr" presetSubtype="0"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nodeType="clickEffect">
                                  <p:stCondLst>
                                    <p:cond delay="0"/>
                                  </p:stCondLst>
                                  <p:childTnLst>
                                    <p:set>
                                      <p:cBhvr>
                                        <p:cTn id="19" dur="1" fill="hold">
                                          <p:stCondLst>
                                            <p:cond delay="0"/>
                                          </p:stCondLst>
                                        </p:cTn>
                                        <p:tgtEl>
                                          <p:spTgt spid="3">
                                            <p:txEl>
                                              <p:pRg st="3" end="3"/>
                                            </p:txEl>
                                          </p:spTgt>
                                        </p:tgtEl>
                                        <p:attrNameLst>
                                          <p:attrName>style.visibility</p:attrName>
                                        </p:attrNameLst>
                                      </p:cBhvr>
                                      <p:to>
                                        <p:strVal val="visible"/>
                                      </p:to>
                                    </p:set>
                                    <p:animEffect transition="in" filter="fade">
                                      <p:cBhvr>
                                        <p:cTn id="20" dur="500"/>
                                        <p:tgtEl>
                                          <p:spTgt spid="3">
                                            <p:txEl>
                                              <p:pRg st="3" end="3"/>
                                            </p:txEl>
                                          </p:spTgt>
                                        </p:tgtEl>
                                      </p:cBhvr>
                                    </p:animEffect>
                                  </p:childTnLst>
                                </p:cTn>
                              </p:par>
                              <p:par>
                                <p:cTn id="21" presetID="10" presetClass="entr" presetSubtype="0" fill="hold" nodeType="with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animEffect transition="in" filter="fade">
                                      <p:cBhvr>
                                        <p:cTn id="23" dur="500"/>
                                        <p:tgtEl>
                                          <p:spTgt spid="3">
                                            <p:txEl>
                                              <p:pRg st="4" end="4"/>
                                            </p:txEl>
                                          </p:spTgt>
                                        </p:tgtEl>
                                      </p:cBhvr>
                                    </p:animEffect>
                                  </p:childTnLst>
                                </p:cTn>
                              </p:par>
                              <p:par>
                                <p:cTn id="24" presetID="10" presetClass="entr" presetSubtype="0" fill="hold" nodeType="withEffect">
                                  <p:stCondLst>
                                    <p:cond delay="0"/>
                                  </p:stCondLst>
                                  <p:childTnLst>
                                    <p:set>
                                      <p:cBhvr>
                                        <p:cTn id="25" dur="1" fill="hold">
                                          <p:stCondLst>
                                            <p:cond delay="0"/>
                                          </p:stCondLst>
                                        </p:cTn>
                                        <p:tgtEl>
                                          <p:spTgt spid="3">
                                            <p:txEl>
                                              <p:pRg st="5" end="5"/>
                                            </p:txEl>
                                          </p:spTgt>
                                        </p:tgtEl>
                                        <p:attrNameLst>
                                          <p:attrName>style.visibility</p:attrName>
                                        </p:attrNameLst>
                                      </p:cBhvr>
                                      <p:to>
                                        <p:strVal val="visible"/>
                                      </p:to>
                                    </p:set>
                                    <p:animEffect transition="in" filter="fade">
                                      <p:cBhvr>
                                        <p:cTn id="2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 Sums-of-Squares</a:t>
            </a:r>
          </a:p>
        </p:txBody>
      </p:sp>
      <p:sp>
        <p:nvSpPr>
          <p:cNvPr id="3" name="Content Placeholder 2"/>
          <p:cNvSpPr>
            <a:spLocks noGrp="1"/>
          </p:cNvSpPr>
          <p:nvPr>
            <p:ph idx="1"/>
          </p:nvPr>
        </p:nvSpPr>
        <p:spPr>
          <a:xfrm>
            <a:off x="838200" y="1825625"/>
            <a:ext cx="10515600" cy="2085975"/>
          </a:xfrm>
        </p:spPr>
        <p:txBody>
          <a:bodyPr/>
          <a:lstStyle/>
          <a:p>
            <a:r>
              <a:rPr lang="en-US" dirty="0"/>
              <a:t>Type I sums-of-squares are also called “sequential” sums-of-squares</a:t>
            </a:r>
          </a:p>
          <a:p>
            <a:r>
              <a:rPr lang="en-US" dirty="0"/>
              <a:t>With this method, the sums-of-squares are computed in the order that terms are entered into the model</a:t>
            </a:r>
          </a:p>
        </p:txBody>
      </p:sp>
      <p:sp>
        <p:nvSpPr>
          <p:cNvPr id="4" name="TextBox 3"/>
          <p:cNvSpPr txBox="1"/>
          <p:nvPr/>
        </p:nvSpPr>
        <p:spPr>
          <a:xfrm>
            <a:off x="2926080" y="4046537"/>
            <a:ext cx="5184561" cy="584775"/>
          </a:xfrm>
          <a:prstGeom prst="rect">
            <a:avLst/>
          </a:prstGeom>
          <a:noFill/>
        </p:spPr>
        <p:txBody>
          <a:bodyPr wrap="none" rtlCol="0">
            <a:spAutoFit/>
          </a:bodyPr>
          <a:lstStyle/>
          <a:p>
            <a:r>
              <a:rPr lang="en-US" sz="3200" b="1" dirty="0"/>
              <a:t>y ~ factor1 + factor2 + factor3</a:t>
            </a:r>
          </a:p>
        </p:txBody>
      </p:sp>
      <p:cxnSp>
        <p:nvCxnSpPr>
          <p:cNvPr id="7" name="Straight Arrow Connector 6"/>
          <p:cNvCxnSpPr/>
          <p:nvPr/>
        </p:nvCxnSpPr>
        <p:spPr>
          <a:xfrm flipV="1">
            <a:off x="2418080" y="4511040"/>
            <a:ext cx="508000" cy="355600"/>
          </a:xfrm>
          <a:prstGeom prst="straightConnector1">
            <a:avLst/>
          </a:prstGeom>
          <a:ln w="571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Rounded Rectangle 7"/>
          <p:cNvSpPr/>
          <p:nvPr/>
        </p:nvSpPr>
        <p:spPr>
          <a:xfrm>
            <a:off x="10223500" y="95590"/>
            <a:ext cx="1841500" cy="932316"/>
          </a:xfrm>
          <a:prstGeom prst="roundRect">
            <a:avLst/>
          </a:prstGeom>
          <a:ln w="762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600" b="1" dirty="0"/>
              <a:t>Type I</a:t>
            </a:r>
          </a:p>
        </p:txBody>
      </p:sp>
      <p:sp>
        <p:nvSpPr>
          <p:cNvPr id="9" name="TextBox 8"/>
          <p:cNvSpPr txBox="1"/>
          <p:nvPr/>
        </p:nvSpPr>
        <p:spPr>
          <a:xfrm>
            <a:off x="170433" y="4792688"/>
            <a:ext cx="2501647" cy="461665"/>
          </a:xfrm>
          <a:prstGeom prst="rect">
            <a:avLst/>
          </a:prstGeom>
          <a:noFill/>
        </p:spPr>
        <p:txBody>
          <a:bodyPr wrap="none" rtlCol="0">
            <a:spAutoFit/>
          </a:bodyPr>
          <a:lstStyle/>
          <a:p>
            <a:r>
              <a:rPr lang="en-US" sz="2400" b="1" dirty="0">
                <a:solidFill>
                  <a:schemeClr val="accent1">
                    <a:lumMod val="50000"/>
                  </a:schemeClr>
                </a:solidFill>
              </a:rPr>
              <a:t>Response variable</a:t>
            </a:r>
          </a:p>
        </p:txBody>
      </p:sp>
    </p:spTree>
    <p:extLst>
      <p:ext uri="{BB962C8B-B14F-4D97-AF65-F5344CB8AC3E}">
        <p14:creationId xmlns:p14="http://schemas.microsoft.com/office/powerpoint/2010/main" val="34715455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 Sums-of-Squares</a:t>
            </a:r>
          </a:p>
        </p:txBody>
      </p:sp>
      <p:sp>
        <p:nvSpPr>
          <p:cNvPr id="3" name="Content Placeholder 2"/>
          <p:cNvSpPr>
            <a:spLocks noGrp="1"/>
          </p:cNvSpPr>
          <p:nvPr>
            <p:ph idx="1"/>
          </p:nvPr>
        </p:nvSpPr>
        <p:spPr>
          <a:xfrm>
            <a:off x="838200" y="1825625"/>
            <a:ext cx="10515600" cy="2085975"/>
          </a:xfrm>
        </p:spPr>
        <p:txBody>
          <a:bodyPr/>
          <a:lstStyle/>
          <a:p>
            <a:r>
              <a:rPr lang="en-US" dirty="0"/>
              <a:t>Type I sums-of-squares are also called “sequential” sums-of-squares</a:t>
            </a:r>
          </a:p>
          <a:p>
            <a:r>
              <a:rPr lang="en-US" dirty="0"/>
              <a:t>With this method, the sums-of-squares are computed in the order that terms are entered into the model</a:t>
            </a:r>
          </a:p>
        </p:txBody>
      </p:sp>
      <p:sp>
        <p:nvSpPr>
          <p:cNvPr id="4" name="TextBox 3"/>
          <p:cNvSpPr txBox="1"/>
          <p:nvPr/>
        </p:nvSpPr>
        <p:spPr>
          <a:xfrm>
            <a:off x="2926080" y="4046537"/>
            <a:ext cx="5184561" cy="584775"/>
          </a:xfrm>
          <a:prstGeom prst="rect">
            <a:avLst/>
          </a:prstGeom>
          <a:noFill/>
        </p:spPr>
        <p:txBody>
          <a:bodyPr wrap="none" rtlCol="0">
            <a:spAutoFit/>
          </a:bodyPr>
          <a:lstStyle/>
          <a:p>
            <a:r>
              <a:rPr lang="en-US" sz="3200" b="1" dirty="0"/>
              <a:t>y ~ </a:t>
            </a:r>
            <a:r>
              <a:rPr lang="en-US" sz="3200" b="1" dirty="0">
                <a:solidFill>
                  <a:srgbClr val="C00000"/>
                </a:solidFill>
              </a:rPr>
              <a:t>factor1</a:t>
            </a:r>
            <a:r>
              <a:rPr lang="en-US" sz="3200" b="1" dirty="0"/>
              <a:t> + factor2 + factor3</a:t>
            </a:r>
          </a:p>
        </p:txBody>
      </p:sp>
      <p:sp>
        <p:nvSpPr>
          <p:cNvPr id="5" name="TextBox 4"/>
          <p:cNvSpPr txBox="1"/>
          <p:nvPr/>
        </p:nvSpPr>
        <p:spPr>
          <a:xfrm>
            <a:off x="170433" y="4792688"/>
            <a:ext cx="2501647" cy="461665"/>
          </a:xfrm>
          <a:prstGeom prst="rect">
            <a:avLst/>
          </a:prstGeom>
          <a:noFill/>
        </p:spPr>
        <p:txBody>
          <a:bodyPr wrap="none" rtlCol="0">
            <a:spAutoFit/>
          </a:bodyPr>
          <a:lstStyle/>
          <a:p>
            <a:r>
              <a:rPr lang="en-US" sz="2400" b="1" dirty="0">
                <a:solidFill>
                  <a:schemeClr val="accent1">
                    <a:lumMod val="50000"/>
                  </a:schemeClr>
                </a:solidFill>
              </a:rPr>
              <a:t>Response variable</a:t>
            </a:r>
          </a:p>
        </p:txBody>
      </p:sp>
      <p:cxnSp>
        <p:nvCxnSpPr>
          <p:cNvPr id="7" name="Straight Arrow Connector 6"/>
          <p:cNvCxnSpPr/>
          <p:nvPr/>
        </p:nvCxnSpPr>
        <p:spPr>
          <a:xfrm flipV="1">
            <a:off x="2418080" y="4511040"/>
            <a:ext cx="508000" cy="355600"/>
          </a:xfrm>
          <a:prstGeom prst="straightConnector1">
            <a:avLst/>
          </a:prstGeom>
          <a:ln w="571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418080" y="5284556"/>
            <a:ext cx="2448559" cy="1200329"/>
          </a:xfrm>
          <a:prstGeom prst="rect">
            <a:avLst/>
          </a:prstGeom>
          <a:noFill/>
        </p:spPr>
        <p:txBody>
          <a:bodyPr wrap="square" rtlCol="0">
            <a:spAutoFit/>
          </a:bodyPr>
          <a:lstStyle/>
          <a:p>
            <a:pPr algn="ctr"/>
            <a:r>
              <a:rPr lang="en-US" sz="2400" b="1" dirty="0">
                <a:solidFill>
                  <a:srgbClr val="C00000"/>
                </a:solidFill>
              </a:rPr>
              <a:t>First compute how much SS this accounts for</a:t>
            </a:r>
          </a:p>
        </p:txBody>
      </p:sp>
      <p:cxnSp>
        <p:nvCxnSpPr>
          <p:cNvPr id="10" name="Straight Arrow Connector 9"/>
          <p:cNvCxnSpPr/>
          <p:nvPr/>
        </p:nvCxnSpPr>
        <p:spPr>
          <a:xfrm flipV="1">
            <a:off x="4073841" y="4631312"/>
            <a:ext cx="13759" cy="630368"/>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Rounded Rectangle 5"/>
          <p:cNvSpPr/>
          <p:nvPr/>
        </p:nvSpPr>
        <p:spPr>
          <a:xfrm>
            <a:off x="2418080" y="5261680"/>
            <a:ext cx="2448559" cy="1281360"/>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ounded Rectangle 10"/>
          <p:cNvSpPr/>
          <p:nvPr/>
        </p:nvSpPr>
        <p:spPr>
          <a:xfrm>
            <a:off x="10223500" y="95590"/>
            <a:ext cx="1841500" cy="932316"/>
          </a:xfrm>
          <a:prstGeom prst="roundRect">
            <a:avLst/>
          </a:prstGeom>
          <a:ln w="762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600" b="1" dirty="0"/>
              <a:t>Type I</a:t>
            </a:r>
          </a:p>
        </p:txBody>
      </p:sp>
    </p:spTree>
    <p:extLst>
      <p:ext uri="{BB962C8B-B14F-4D97-AF65-F5344CB8AC3E}">
        <p14:creationId xmlns:p14="http://schemas.microsoft.com/office/powerpoint/2010/main" val="2205579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 Sums-of-Squares</a:t>
            </a:r>
          </a:p>
        </p:txBody>
      </p:sp>
      <p:sp>
        <p:nvSpPr>
          <p:cNvPr id="3" name="Content Placeholder 2"/>
          <p:cNvSpPr>
            <a:spLocks noGrp="1"/>
          </p:cNvSpPr>
          <p:nvPr>
            <p:ph idx="1"/>
          </p:nvPr>
        </p:nvSpPr>
        <p:spPr>
          <a:xfrm>
            <a:off x="838200" y="1825625"/>
            <a:ext cx="10515600" cy="2085975"/>
          </a:xfrm>
        </p:spPr>
        <p:txBody>
          <a:bodyPr/>
          <a:lstStyle/>
          <a:p>
            <a:r>
              <a:rPr lang="en-US" dirty="0"/>
              <a:t>Type I sums-of-squares are also called “sequential” sums-of-squares</a:t>
            </a:r>
          </a:p>
          <a:p>
            <a:r>
              <a:rPr lang="en-US" dirty="0"/>
              <a:t>With this method, the sums-of-squares are computed in the order that terms are entered into the model</a:t>
            </a:r>
          </a:p>
        </p:txBody>
      </p:sp>
      <p:sp>
        <p:nvSpPr>
          <p:cNvPr id="4" name="TextBox 3"/>
          <p:cNvSpPr txBox="1"/>
          <p:nvPr/>
        </p:nvSpPr>
        <p:spPr>
          <a:xfrm>
            <a:off x="2926080" y="4046537"/>
            <a:ext cx="5184561" cy="584775"/>
          </a:xfrm>
          <a:prstGeom prst="rect">
            <a:avLst/>
          </a:prstGeom>
          <a:noFill/>
        </p:spPr>
        <p:txBody>
          <a:bodyPr wrap="none" rtlCol="0">
            <a:spAutoFit/>
          </a:bodyPr>
          <a:lstStyle/>
          <a:p>
            <a:r>
              <a:rPr lang="en-US" sz="3200" b="1" dirty="0"/>
              <a:t>y ~ </a:t>
            </a:r>
            <a:r>
              <a:rPr lang="en-US" sz="3200" b="1" dirty="0">
                <a:solidFill>
                  <a:srgbClr val="C00000"/>
                </a:solidFill>
              </a:rPr>
              <a:t>factor1</a:t>
            </a:r>
            <a:r>
              <a:rPr lang="en-US" sz="3200" b="1" dirty="0"/>
              <a:t> + </a:t>
            </a:r>
            <a:r>
              <a:rPr lang="en-US" sz="3200" b="1" dirty="0">
                <a:solidFill>
                  <a:schemeClr val="accent2">
                    <a:lumMod val="75000"/>
                  </a:schemeClr>
                </a:solidFill>
              </a:rPr>
              <a:t>factor2</a:t>
            </a:r>
            <a:r>
              <a:rPr lang="en-US" sz="3200" b="1" dirty="0"/>
              <a:t> + factor3</a:t>
            </a:r>
          </a:p>
        </p:txBody>
      </p:sp>
      <p:sp>
        <p:nvSpPr>
          <p:cNvPr id="5" name="TextBox 4"/>
          <p:cNvSpPr txBox="1"/>
          <p:nvPr/>
        </p:nvSpPr>
        <p:spPr>
          <a:xfrm>
            <a:off x="170433" y="4792688"/>
            <a:ext cx="2501647" cy="461665"/>
          </a:xfrm>
          <a:prstGeom prst="rect">
            <a:avLst/>
          </a:prstGeom>
          <a:noFill/>
        </p:spPr>
        <p:txBody>
          <a:bodyPr wrap="none" rtlCol="0">
            <a:spAutoFit/>
          </a:bodyPr>
          <a:lstStyle/>
          <a:p>
            <a:r>
              <a:rPr lang="en-US" sz="2400" b="1" dirty="0">
                <a:solidFill>
                  <a:schemeClr val="accent1">
                    <a:lumMod val="50000"/>
                  </a:schemeClr>
                </a:solidFill>
              </a:rPr>
              <a:t>Response variable</a:t>
            </a:r>
          </a:p>
        </p:txBody>
      </p:sp>
      <p:cxnSp>
        <p:nvCxnSpPr>
          <p:cNvPr id="7" name="Straight Arrow Connector 6"/>
          <p:cNvCxnSpPr/>
          <p:nvPr/>
        </p:nvCxnSpPr>
        <p:spPr>
          <a:xfrm flipV="1">
            <a:off x="2418080" y="4511040"/>
            <a:ext cx="508000" cy="355600"/>
          </a:xfrm>
          <a:prstGeom prst="straightConnector1">
            <a:avLst/>
          </a:prstGeom>
          <a:ln w="571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418080" y="5284556"/>
            <a:ext cx="2448559" cy="1200329"/>
          </a:xfrm>
          <a:prstGeom prst="rect">
            <a:avLst/>
          </a:prstGeom>
          <a:noFill/>
        </p:spPr>
        <p:txBody>
          <a:bodyPr wrap="square" rtlCol="0">
            <a:spAutoFit/>
          </a:bodyPr>
          <a:lstStyle/>
          <a:p>
            <a:pPr algn="ctr"/>
            <a:r>
              <a:rPr lang="en-US" sz="2400" b="1" dirty="0">
                <a:solidFill>
                  <a:schemeClr val="bg1">
                    <a:lumMod val="50000"/>
                  </a:schemeClr>
                </a:solidFill>
              </a:rPr>
              <a:t>First compute how much SS this accounts for</a:t>
            </a:r>
          </a:p>
        </p:txBody>
      </p:sp>
      <p:cxnSp>
        <p:nvCxnSpPr>
          <p:cNvPr id="10" name="Straight Arrow Connector 9"/>
          <p:cNvCxnSpPr/>
          <p:nvPr/>
        </p:nvCxnSpPr>
        <p:spPr>
          <a:xfrm flipV="1">
            <a:off x="4073841" y="4631312"/>
            <a:ext cx="13759" cy="630368"/>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973001" y="5077014"/>
            <a:ext cx="2448559" cy="1569660"/>
          </a:xfrm>
          <a:prstGeom prst="rect">
            <a:avLst/>
          </a:prstGeom>
          <a:noFill/>
        </p:spPr>
        <p:txBody>
          <a:bodyPr wrap="square" rtlCol="0">
            <a:spAutoFit/>
          </a:bodyPr>
          <a:lstStyle/>
          <a:p>
            <a:pPr algn="ctr"/>
            <a:r>
              <a:rPr lang="en-US" sz="2400" b="1" dirty="0">
                <a:solidFill>
                  <a:schemeClr val="accent2">
                    <a:lumMod val="75000"/>
                  </a:schemeClr>
                </a:solidFill>
              </a:rPr>
              <a:t>Next, determine how much </a:t>
            </a:r>
            <a:r>
              <a:rPr lang="en-US" sz="2400" b="1" u="sng" dirty="0">
                <a:solidFill>
                  <a:schemeClr val="accent2">
                    <a:lumMod val="75000"/>
                  </a:schemeClr>
                </a:solidFill>
              </a:rPr>
              <a:t>of what remains</a:t>
            </a:r>
            <a:r>
              <a:rPr lang="en-US" sz="2400" b="1" dirty="0">
                <a:solidFill>
                  <a:schemeClr val="accent2">
                    <a:lumMod val="75000"/>
                  </a:schemeClr>
                </a:solidFill>
              </a:rPr>
              <a:t> this accounts for</a:t>
            </a:r>
          </a:p>
        </p:txBody>
      </p:sp>
      <p:sp>
        <p:nvSpPr>
          <p:cNvPr id="6" name="Rounded Rectangle 5"/>
          <p:cNvSpPr/>
          <p:nvPr/>
        </p:nvSpPr>
        <p:spPr>
          <a:xfrm>
            <a:off x="2418080" y="5261680"/>
            <a:ext cx="2448559" cy="1281360"/>
          </a:xfrm>
          <a:prstGeom prst="round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bg1">
                  <a:lumMod val="50000"/>
                </a:schemeClr>
              </a:solidFill>
            </a:endParaRPr>
          </a:p>
        </p:txBody>
      </p:sp>
      <p:sp>
        <p:nvSpPr>
          <p:cNvPr id="12" name="Rounded Rectangle 11"/>
          <p:cNvSpPr/>
          <p:nvPr/>
        </p:nvSpPr>
        <p:spPr>
          <a:xfrm>
            <a:off x="4973001" y="5077014"/>
            <a:ext cx="2448559" cy="1569660"/>
          </a:xfrm>
          <a:prstGeom prst="roundRect">
            <a:avLst/>
          </a:prstGeom>
          <a:noFill/>
          <a:ln w="571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V="1">
            <a:off x="5782210" y="4631312"/>
            <a:ext cx="9729" cy="445702"/>
          </a:xfrm>
          <a:prstGeom prst="straightConnector1">
            <a:avLst/>
          </a:prstGeom>
          <a:ln w="57150">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3" name="Rounded Rectangle 12"/>
          <p:cNvSpPr/>
          <p:nvPr/>
        </p:nvSpPr>
        <p:spPr>
          <a:xfrm>
            <a:off x="10223500" y="95590"/>
            <a:ext cx="1841500" cy="932316"/>
          </a:xfrm>
          <a:prstGeom prst="roundRect">
            <a:avLst/>
          </a:prstGeom>
          <a:ln w="762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600" b="1" dirty="0"/>
              <a:t>Type I</a:t>
            </a:r>
          </a:p>
        </p:txBody>
      </p:sp>
    </p:spTree>
    <p:extLst>
      <p:ext uri="{BB962C8B-B14F-4D97-AF65-F5344CB8AC3E}">
        <p14:creationId xmlns:p14="http://schemas.microsoft.com/office/powerpoint/2010/main" val="3243502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 Sums-of-Squares</a:t>
            </a:r>
          </a:p>
        </p:txBody>
      </p:sp>
      <p:sp>
        <p:nvSpPr>
          <p:cNvPr id="3" name="Content Placeholder 2"/>
          <p:cNvSpPr>
            <a:spLocks noGrp="1"/>
          </p:cNvSpPr>
          <p:nvPr>
            <p:ph idx="1"/>
          </p:nvPr>
        </p:nvSpPr>
        <p:spPr>
          <a:xfrm>
            <a:off x="838200" y="1825625"/>
            <a:ext cx="10515600" cy="2085975"/>
          </a:xfrm>
        </p:spPr>
        <p:txBody>
          <a:bodyPr/>
          <a:lstStyle/>
          <a:p>
            <a:r>
              <a:rPr lang="en-US" dirty="0"/>
              <a:t>Type I sums-of-squares are also called “sequential” sums-of-squares</a:t>
            </a:r>
          </a:p>
          <a:p>
            <a:r>
              <a:rPr lang="en-US" dirty="0"/>
              <a:t>With this method, the sums-of-squares are computed in the order that terms are entered into the model</a:t>
            </a:r>
          </a:p>
        </p:txBody>
      </p:sp>
      <p:sp>
        <p:nvSpPr>
          <p:cNvPr id="4" name="TextBox 3"/>
          <p:cNvSpPr txBox="1"/>
          <p:nvPr/>
        </p:nvSpPr>
        <p:spPr>
          <a:xfrm>
            <a:off x="2926080" y="4046537"/>
            <a:ext cx="5184561" cy="584775"/>
          </a:xfrm>
          <a:prstGeom prst="rect">
            <a:avLst/>
          </a:prstGeom>
          <a:noFill/>
        </p:spPr>
        <p:txBody>
          <a:bodyPr wrap="none" rtlCol="0">
            <a:spAutoFit/>
          </a:bodyPr>
          <a:lstStyle/>
          <a:p>
            <a:r>
              <a:rPr lang="en-US" sz="3200" b="1" dirty="0"/>
              <a:t>y ~ </a:t>
            </a:r>
            <a:r>
              <a:rPr lang="en-US" sz="3200" b="1" dirty="0">
                <a:solidFill>
                  <a:srgbClr val="C00000"/>
                </a:solidFill>
              </a:rPr>
              <a:t>factor1</a:t>
            </a:r>
            <a:r>
              <a:rPr lang="en-US" sz="3200" b="1" dirty="0"/>
              <a:t> + </a:t>
            </a:r>
            <a:r>
              <a:rPr lang="en-US" sz="3200" b="1" dirty="0">
                <a:solidFill>
                  <a:schemeClr val="accent2">
                    <a:lumMod val="75000"/>
                  </a:schemeClr>
                </a:solidFill>
              </a:rPr>
              <a:t>factor2</a:t>
            </a:r>
            <a:r>
              <a:rPr lang="en-US" sz="3200" b="1" dirty="0"/>
              <a:t> + </a:t>
            </a:r>
            <a:r>
              <a:rPr lang="en-US" sz="3200" b="1" dirty="0">
                <a:solidFill>
                  <a:schemeClr val="accent4">
                    <a:lumMod val="75000"/>
                  </a:schemeClr>
                </a:solidFill>
              </a:rPr>
              <a:t>factor3</a:t>
            </a:r>
          </a:p>
        </p:txBody>
      </p:sp>
      <p:sp>
        <p:nvSpPr>
          <p:cNvPr id="5" name="TextBox 4"/>
          <p:cNvSpPr txBox="1"/>
          <p:nvPr/>
        </p:nvSpPr>
        <p:spPr>
          <a:xfrm>
            <a:off x="170433" y="4792688"/>
            <a:ext cx="2501647" cy="461665"/>
          </a:xfrm>
          <a:prstGeom prst="rect">
            <a:avLst/>
          </a:prstGeom>
          <a:noFill/>
        </p:spPr>
        <p:txBody>
          <a:bodyPr wrap="none" rtlCol="0">
            <a:spAutoFit/>
          </a:bodyPr>
          <a:lstStyle/>
          <a:p>
            <a:r>
              <a:rPr lang="en-US" sz="2400" b="1" dirty="0">
                <a:solidFill>
                  <a:schemeClr val="accent1">
                    <a:lumMod val="50000"/>
                  </a:schemeClr>
                </a:solidFill>
              </a:rPr>
              <a:t>Response variable</a:t>
            </a:r>
          </a:p>
        </p:txBody>
      </p:sp>
      <p:cxnSp>
        <p:nvCxnSpPr>
          <p:cNvPr id="7" name="Straight Arrow Connector 6"/>
          <p:cNvCxnSpPr/>
          <p:nvPr/>
        </p:nvCxnSpPr>
        <p:spPr>
          <a:xfrm flipV="1">
            <a:off x="2418080" y="4511040"/>
            <a:ext cx="508000" cy="355600"/>
          </a:xfrm>
          <a:prstGeom prst="straightConnector1">
            <a:avLst/>
          </a:prstGeom>
          <a:ln w="57150">
            <a:solidFill>
              <a:schemeClr val="accent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418080" y="5284556"/>
            <a:ext cx="2448559" cy="1200329"/>
          </a:xfrm>
          <a:prstGeom prst="rect">
            <a:avLst/>
          </a:prstGeom>
          <a:noFill/>
        </p:spPr>
        <p:txBody>
          <a:bodyPr wrap="square" rtlCol="0">
            <a:spAutoFit/>
          </a:bodyPr>
          <a:lstStyle/>
          <a:p>
            <a:pPr algn="ctr"/>
            <a:r>
              <a:rPr lang="en-US" sz="2400" b="1" dirty="0">
                <a:solidFill>
                  <a:schemeClr val="bg1">
                    <a:lumMod val="50000"/>
                  </a:schemeClr>
                </a:solidFill>
              </a:rPr>
              <a:t>First compute how much SS this accounts for</a:t>
            </a:r>
          </a:p>
        </p:txBody>
      </p:sp>
      <p:cxnSp>
        <p:nvCxnSpPr>
          <p:cNvPr id="10" name="Straight Arrow Connector 9"/>
          <p:cNvCxnSpPr/>
          <p:nvPr/>
        </p:nvCxnSpPr>
        <p:spPr>
          <a:xfrm flipV="1">
            <a:off x="4073841" y="4631312"/>
            <a:ext cx="13759" cy="630368"/>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 name="TextBox 8"/>
          <p:cNvSpPr txBox="1"/>
          <p:nvPr/>
        </p:nvSpPr>
        <p:spPr>
          <a:xfrm>
            <a:off x="4973001" y="5077014"/>
            <a:ext cx="2448559" cy="1569660"/>
          </a:xfrm>
          <a:prstGeom prst="rect">
            <a:avLst/>
          </a:prstGeom>
          <a:noFill/>
          <a:ln>
            <a:noFill/>
          </a:ln>
        </p:spPr>
        <p:txBody>
          <a:bodyPr wrap="square" rtlCol="0">
            <a:spAutoFit/>
          </a:bodyPr>
          <a:lstStyle/>
          <a:p>
            <a:pPr algn="ctr"/>
            <a:r>
              <a:rPr lang="en-US" sz="2400" b="1" dirty="0">
                <a:solidFill>
                  <a:schemeClr val="bg1">
                    <a:lumMod val="50000"/>
                  </a:schemeClr>
                </a:solidFill>
              </a:rPr>
              <a:t>Next, determine how much </a:t>
            </a:r>
            <a:r>
              <a:rPr lang="en-US" sz="2400" b="1" u="sng" dirty="0">
                <a:solidFill>
                  <a:schemeClr val="bg1">
                    <a:lumMod val="50000"/>
                  </a:schemeClr>
                </a:solidFill>
              </a:rPr>
              <a:t>of what remains</a:t>
            </a:r>
            <a:r>
              <a:rPr lang="en-US" sz="2400" b="1" dirty="0">
                <a:solidFill>
                  <a:schemeClr val="bg1">
                    <a:lumMod val="50000"/>
                  </a:schemeClr>
                </a:solidFill>
              </a:rPr>
              <a:t> this accounts for</a:t>
            </a:r>
          </a:p>
        </p:txBody>
      </p:sp>
      <p:sp>
        <p:nvSpPr>
          <p:cNvPr id="11" name="TextBox 10"/>
          <p:cNvSpPr txBox="1"/>
          <p:nvPr/>
        </p:nvSpPr>
        <p:spPr>
          <a:xfrm>
            <a:off x="7482520" y="5077014"/>
            <a:ext cx="2596200" cy="1569660"/>
          </a:xfrm>
          <a:prstGeom prst="rect">
            <a:avLst/>
          </a:prstGeom>
          <a:noFill/>
        </p:spPr>
        <p:txBody>
          <a:bodyPr wrap="square" rtlCol="0">
            <a:spAutoFit/>
          </a:bodyPr>
          <a:lstStyle/>
          <a:p>
            <a:pPr algn="ctr"/>
            <a:r>
              <a:rPr lang="en-US" sz="2400" b="1" dirty="0">
                <a:solidFill>
                  <a:schemeClr val="accent4">
                    <a:lumMod val="75000"/>
                  </a:schemeClr>
                </a:solidFill>
              </a:rPr>
              <a:t>Finally, do the same for this one, again using only the remaining SS</a:t>
            </a:r>
          </a:p>
        </p:txBody>
      </p:sp>
      <p:sp>
        <p:nvSpPr>
          <p:cNvPr id="6" name="Rounded Rectangle 5"/>
          <p:cNvSpPr/>
          <p:nvPr/>
        </p:nvSpPr>
        <p:spPr>
          <a:xfrm>
            <a:off x="2418080" y="5261680"/>
            <a:ext cx="2448559" cy="1281360"/>
          </a:xfrm>
          <a:prstGeom prst="round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p:cNvSpPr/>
          <p:nvPr/>
        </p:nvSpPr>
        <p:spPr>
          <a:xfrm>
            <a:off x="4973001" y="5077014"/>
            <a:ext cx="2448559" cy="1569660"/>
          </a:xfrm>
          <a:prstGeom prst="roundRect">
            <a:avLst/>
          </a:prstGeom>
          <a:noFill/>
          <a:ln w="571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7556341" y="5117530"/>
            <a:ext cx="2448559" cy="1569660"/>
          </a:xfrm>
          <a:prstGeom prst="roundRect">
            <a:avLst/>
          </a:prstGeom>
          <a:noFill/>
          <a:ln w="571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p:cNvCxnSpPr/>
          <p:nvPr/>
        </p:nvCxnSpPr>
        <p:spPr>
          <a:xfrm flipV="1">
            <a:off x="5782210" y="4631312"/>
            <a:ext cx="9729" cy="445702"/>
          </a:xfrm>
          <a:prstGeom prst="straightConnector1">
            <a:avLst/>
          </a:prstGeom>
          <a:ln w="57150">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p:cNvCxnSpPr/>
          <p:nvPr/>
        </p:nvCxnSpPr>
        <p:spPr>
          <a:xfrm flipV="1">
            <a:off x="7793006" y="4631312"/>
            <a:ext cx="10613" cy="486218"/>
          </a:xfrm>
          <a:prstGeom prst="straightConnector1">
            <a:avLst/>
          </a:prstGeom>
          <a:ln w="57150">
            <a:solidFill>
              <a:schemeClr val="accent4">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7" name="Rounded Rectangle 16"/>
          <p:cNvSpPr/>
          <p:nvPr/>
        </p:nvSpPr>
        <p:spPr>
          <a:xfrm>
            <a:off x="10223500" y="95590"/>
            <a:ext cx="1841500" cy="932316"/>
          </a:xfrm>
          <a:prstGeom prst="roundRect">
            <a:avLst/>
          </a:prstGeom>
          <a:ln w="762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600" b="1" dirty="0"/>
              <a:t>Type I</a:t>
            </a:r>
          </a:p>
        </p:txBody>
      </p:sp>
    </p:spTree>
    <p:extLst>
      <p:ext uri="{BB962C8B-B14F-4D97-AF65-F5344CB8AC3E}">
        <p14:creationId xmlns:p14="http://schemas.microsoft.com/office/powerpoint/2010/main" val="231985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Type I Sums-of-Squares</a:t>
            </a:r>
          </a:p>
        </p:txBody>
      </p:sp>
      <p:sp>
        <p:nvSpPr>
          <p:cNvPr id="3" name="Content Placeholder 2"/>
          <p:cNvSpPr>
            <a:spLocks noGrp="1"/>
          </p:cNvSpPr>
          <p:nvPr>
            <p:ph idx="1"/>
          </p:nvPr>
        </p:nvSpPr>
        <p:spPr>
          <a:xfrm>
            <a:off x="838200" y="1825625"/>
            <a:ext cx="10515600" cy="3990975"/>
          </a:xfrm>
        </p:spPr>
        <p:txBody>
          <a:bodyPr/>
          <a:lstStyle/>
          <a:p>
            <a:r>
              <a:rPr lang="en-US" dirty="0"/>
              <a:t>Consider a full factorial design with 20 cotton </a:t>
            </a:r>
            <a:br>
              <a:rPr lang="en-US" dirty="0"/>
            </a:br>
            <a:r>
              <a:rPr lang="en-US" dirty="0"/>
              <a:t>varieties, 4 scorers, and 5 reps in RCBD</a:t>
            </a:r>
          </a:p>
          <a:p>
            <a:r>
              <a:rPr lang="en-US" dirty="0"/>
              <a:t>Several plots in one block got eaten by deer, so data is missing</a:t>
            </a:r>
          </a:p>
          <a:p>
            <a:r>
              <a:rPr lang="en-US" dirty="0"/>
              <a:t>What order do you put the model in?</a:t>
            </a:r>
          </a:p>
          <a:p>
            <a:pPr marL="971550" lvl="1" indent="-514350">
              <a:buFont typeface="+mj-lt"/>
              <a:buAutoNum type="arabicPeriod"/>
            </a:pPr>
            <a:r>
              <a:rPr lang="en-US" dirty="0"/>
              <a:t>fiber ~ variety + block + scorer</a:t>
            </a:r>
          </a:p>
          <a:p>
            <a:pPr marL="971550" lvl="1" indent="-514350">
              <a:buFont typeface="+mj-lt"/>
              <a:buAutoNum type="arabicPeriod"/>
            </a:pPr>
            <a:r>
              <a:rPr lang="en-US" dirty="0"/>
              <a:t>fiber ~ block + scorer + variety</a:t>
            </a:r>
          </a:p>
          <a:p>
            <a:pPr marL="971550" lvl="1" indent="-514350">
              <a:buFont typeface="+mj-lt"/>
              <a:buAutoNum type="arabicPeriod"/>
            </a:pPr>
            <a:r>
              <a:rPr lang="en-US" dirty="0"/>
              <a:t>fiber ~ scorer + variety + block</a:t>
            </a:r>
          </a:p>
          <a:p>
            <a:endParaRPr lang="en-US" dirty="0"/>
          </a:p>
        </p:txBody>
      </p:sp>
      <p:pic>
        <p:nvPicPr>
          <p:cNvPr id="15" name="Picture 14"/>
          <p:cNvPicPr>
            <a:picLocks noChangeAspect="1"/>
          </p:cNvPicPr>
          <p:nvPr/>
        </p:nvPicPr>
        <p:blipFill rotWithShape="1">
          <a:blip r:embed="rId3" cstate="print">
            <a:extLst>
              <a:ext uri="{28A0092B-C50C-407E-A947-70E740481C1C}">
                <a14:useLocalDpi xmlns:a14="http://schemas.microsoft.com/office/drawing/2010/main" val="0"/>
              </a:ext>
            </a:extLst>
          </a:blip>
          <a:srcRect l="42162" t="22402" r="15950" b="29192"/>
          <a:stretch/>
        </p:blipFill>
        <p:spPr>
          <a:xfrm>
            <a:off x="9662160" y="172720"/>
            <a:ext cx="2377440" cy="1960880"/>
          </a:xfrm>
          <a:prstGeom prst="rect">
            <a:avLst/>
          </a:prstGeom>
          <a:effectLst>
            <a:softEdge rad="63500"/>
          </a:effectLst>
        </p:spPr>
      </p:pic>
    </p:spTree>
    <p:extLst>
      <p:ext uri="{BB962C8B-B14F-4D97-AF65-F5344CB8AC3E}">
        <p14:creationId xmlns:p14="http://schemas.microsoft.com/office/powerpoint/2010/main" val="2694669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Type I Sums-of-Squares</a:t>
            </a:r>
          </a:p>
        </p:txBody>
      </p:sp>
      <p:sp>
        <p:nvSpPr>
          <p:cNvPr id="3" name="Content Placeholder 2"/>
          <p:cNvSpPr>
            <a:spLocks noGrp="1"/>
          </p:cNvSpPr>
          <p:nvPr>
            <p:ph idx="1"/>
          </p:nvPr>
        </p:nvSpPr>
        <p:spPr>
          <a:xfrm>
            <a:off x="838200" y="1825625"/>
            <a:ext cx="10515600" cy="3990975"/>
          </a:xfrm>
        </p:spPr>
        <p:txBody>
          <a:bodyPr/>
          <a:lstStyle/>
          <a:p>
            <a:r>
              <a:rPr lang="en-US" dirty="0"/>
              <a:t>Consider a full factorial design with 20 cotton</a:t>
            </a:r>
            <a:br>
              <a:rPr lang="en-US" dirty="0"/>
            </a:br>
            <a:r>
              <a:rPr lang="en-US" dirty="0"/>
              <a:t>varieties, 4 scorers, and 5 reps in RCBD</a:t>
            </a:r>
          </a:p>
          <a:p>
            <a:r>
              <a:rPr lang="en-US" dirty="0"/>
              <a:t>Several plots in one block got eaten by deer, so data is missing</a:t>
            </a:r>
          </a:p>
          <a:p>
            <a:r>
              <a:rPr lang="en-US" dirty="0"/>
              <a:t>What order do you put the model in?</a:t>
            </a:r>
          </a:p>
          <a:p>
            <a:pPr marL="971550" lvl="1" indent="-514350">
              <a:buFont typeface="+mj-lt"/>
              <a:buAutoNum type="arabicPeriod"/>
            </a:pPr>
            <a:r>
              <a:rPr lang="en-US" dirty="0"/>
              <a:t>fiber ~ variety + block + scorer</a:t>
            </a:r>
          </a:p>
          <a:p>
            <a:pPr marL="971550" lvl="1" indent="-514350">
              <a:buFont typeface="+mj-lt"/>
              <a:buAutoNum type="arabicPeriod"/>
            </a:pPr>
            <a:r>
              <a:rPr lang="en-US" dirty="0"/>
              <a:t>fiber ~ block + scorer + variety</a:t>
            </a:r>
          </a:p>
          <a:p>
            <a:pPr marL="971550" lvl="1" indent="-514350">
              <a:buFont typeface="+mj-lt"/>
              <a:buAutoNum type="arabicPeriod"/>
            </a:pPr>
            <a:r>
              <a:rPr lang="en-US" dirty="0"/>
              <a:t>fiber ~ scorer + variety + block</a:t>
            </a:r>
          </a:p>
          <a:p>
            <a:endParaRPr lang="en-US" dirty="0"/>
          </a:p>
        </p:txBody>
      </p:sp>
      <p:sp>
        <p:nvSpPr>
          <p:cNvPr id="5" name="Rounded Rectangle 4"/>
          <p:cNvSpPr/>
          <p:nvPr/>
        </p:nvSpPr>
        <p:spPr>
          <a:xfrm>
            <a:off x="1270000" y="4737100"/>
            <a:ext cx="5054600" cy="508000"/>
          </a:xfrm>
          <a:prstGeom prst="roundRect">
            <a:avLst/>
          </a:prstGeom>
          <a:noFill/>
          <a:ln w="5715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quot;No&quot; Symbol 5"/>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4" name="TextBox 3"/>
          <p:cNvSpPr txBox="1"/>
          <p:nvPr/>
        </p:nvSpPr>
        <p:spPr>
          <a:xfrm>
            <a:off x="6743700" y="4495800"/>
            <a:ext cx="5295900" cy="1815882"/>
          </a:xfrm>
          <a:prstGeom prst="rect">
            <a:avLst/>
          </a:prstGeom>
          <a:noFill/>
        </p:spPr>
        <p:txBody>
          <a:bodyPr wrap="square" rtlCol="0">
            <a:spAutoFit/>
          </a:bodyPr>
          <a:lstStyle/>
          <a:p>
            <a:r>
              <a:rPr lang="en-US" sz="2800" b="1" dirty="0">
                <a:solidFill>
                  <a:schemeClr val="accent4">
                    <a:lumMod val="75000"/>
                  </a:schemeClr>
                </a:solidFill>
              </a:rPr>
              <a:t>All are statistically valid, but since you probably only care about variety, it should go last (=most honest assessment)</a:t>
            </a:r>
          </a:p>
        </p:txBody>
      </p:sp>
    </p:spTree>
    <p:extLst>
      <p:ext uri="{BB962C8B-B14F-4D97-AF65-F5344CB8AC3E}">
        <p14:creationId xmlns:p14="http://schemas.microsoft.com/office/powerpoint/2010/main" val="641106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Type I Sums-of-Squares</a:t>
            </a:r>
          </a:p>
        </p:txBody>
      </p:sp>
      <p:sp>
        <p:nvSpPr>
          <p:cNvPr id="3" name="Content Placeholder 2"/>
          <p:cNvSpPr>
            <a:spLocks noGrp="1"/>
          </p:cNvSpPr>
          <p:nvPr>
            <p:ph idx="1"/>
          </p:nvPr>
        </p:nvSpPr>
        <p:spPr/>
        <p:txBody>
          <a:bodyPr/>
          <a:lstStyle/>
          <a:p>
            <a:r>
              <a:rPr lang="en-US" dirty="0"/>
              <a:t>What about this situation:</a:t>
            </a:r>
          </a:p>
          <a:p>
            <a:pPr lvl="1"/>
            <a:r>
              <a:rPr lang="en-US" dirty="0"/>
              <a:t>3 fertilizers, 2 irrigation schemes, and 6 maize varieties in a full factorial RCBD with 3 replicates</a:t>
            </a:r>
          </a:p>
          <a:p>
            <a:r>
              <a:rPr lang="en-US" dirty="0"/>
              <a:t>Which factor would you put last?</a:t>
            </a:r>
          </a:p>
          <a:p>
            <a:pPr lvl="1"/>
            <a:r>
              <a:rPr lang="en-US" dirty="0"/>
              <a:t>Block</a:t>
            </a:r>
          </a:p>
          <a:p>
            <a:pPr lvl="1"/>
            <a:r>
              <a:rPr lang="en-US" dirty="0"/>
              <a:t>Fertilizer</a:t>
            </a:r>
          </a:p>
          <a:p>
            <a:pPr lvl="1"/>
            <a:r>
              <a:rPr lang="en-US" dirty="0"/>
              <a:t>Irrigation</a:t>
            </a:r>
          </a:p>
          <a:p>
            <a:pPr lvl="1"/>
            <a:r>
              <a:rPr lang="en-US" dirty="0"/>
              <a:t>Maize variety</a:t>
            </a:r>
          </a:p>
        </p:txBody>
      </p:sp>
    </p:spTree>
    <p:extLst>
      <p:ext uri="{BB962C8B-B14F-4D97-AF65-F5344CB8AC3E}">
        <p14:creationId xmlns:p14="http://schemas.microsoft.com/office/powerpoint/2010/main" val="38573518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Type I Sums-of-Squares</a:t>
            </a:r>
            <a:endParaRPr lang="en-US" dirty="0"/>
          </a:p>
        </p:txBody>
      </p:sp>
      <p:sp>
        <p:nvSpPr>
          <p:cNvPr id="3" name="Content Placeholder 2"/>
          <p:cNvSpPr>
            <a:spLocks noGrp="1"/>
          </p:cNvSpPr>
          <p:nvPr>
            <p:ph idx="1"/>
          </p:nvPr>
        </p:nvSpPr>
        <p:spPr/>
        <p:txBody>
          <a:bodyPr/>
          <a:lstStyle/>
          <a:p>
            <a:r>
              <a:rPr lang="en-US" dirty="0"/>
              <a:t>What about this situation:</a:t>
            </a:r>
          </a:p>
          <a:p>
            <a:pPr lvl="1"/>
            <a:r>
              <a:rPr lang="en-US" dirty="0"/>
              <a:t>3 fertilizers, 2 irrigation schemes, and 6 maize varieties in a full factorial RCBD with 3 replicates</a:t>
            </a:r>
          </a:p>
          <a:p>
            <a:r>
              <a:rPr lang="en-US" dirty="0"/>
              <a:t>Which factor would you put last?</a:t>
            </a:r>
          </a:p>
          <a:p>
            <a:pPr lvl="1"/>
            <a:r>
              <a:rPr lang="en-US" strike="sngStrike" dirty="0"/>
              <a:t>Block</a:t>
            </a:r>
          </a:p>
          <a:p>
            <a:pPr lvl="1"/>
            <a:r>
              <a:rPr lang="en-US" dirty="0"/>
              <a:t>Fertilizer</a:t>
            </a:r>
          </a:p>
          <a:p>
            <a:pPr lvl="1"/>
            <a:r>
              <a:rPr lang="en-US" dirty="0"/>
              <a:t>Irrigation</a:t>
            </a:r>
          </a:p>
          <a:p>
            <a:pPr lvl="1"/>
            <a:r>
              <a:rPr lang="en-US" dirty="0"/>
              <a:t>Maize variety</a:t>
            </a:r>
          </a:p>
        </p:txBody>
      </p:sp>
      <p:cxnSp>
        <p:nvCxnSpPr>
          <p:cNvPr id="5" name="Straight Arrow Connector 4"/>
          <p:cNvCxnSpPr/>
          <p:nvPr/>
        </p:nvCxnSpPr>
        <p:spPr>
          <a:xfrm>
            <a:off x="2928395" y="3970116"/>
            <a:ext cx="613459" cy="0"/>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p:cNvSpPr txBox="1"/>
          <p:nvPr/>
        </p:nvSpPr>
        <p:spPr>
          <a:xfrm>
            <a:off x="3541854" y="3739283"/>
            <a:ext cx="8435835" cy="523220"/>
          </a:xfrm>
          <a:prstGeom prst="rect">
            <a:avLst/>
          </a:prstGeom>
          <a:noFill/>
        </p:spPr>
        <p:txBody>
          <a:bodyPr wrap="none" rtlCol="0">
            <a:spAutoFit/>
          </a:bodyPr>
          <a:lstStyle/>
          <a:p>
            <a:r>
              <a:rPr lang="en-US" sz="2800" b="1" dirty="0">
                <a:solidFill>
                  <a:srgbClr val="C00000"/>
                </a:solidFill>
              </a:rPr>
              <a:t>Not this one; block is almost always a nuisance variable</a:t>
            </a:r>
          </a:p>
        </p:txBody>
      </p:sp>
      <p:sp>
        <p:nvSpPr>
          <p:cNvPr id="7" name="Right Brace 6"/>
          <p:cNvSpPr/>
          <p:nvPr/>
        </p:nvSpPr>
        <p:spPr>
          <a:xfrm>
            <a:off x="4085863" y="4200948"/>
            <a:ext cx="231494" cy="1320176"/>
          </a:xfrm>
          <a:prstGeom prst="rightBrace">
            <a:avLst/>
          </a:prstGeom>
          <a:ln w="57150">
            <a:solidFill>
              <a:schemeClr val="accent5">
                <a:lumMod val="7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8" name="TextBox 7"/>
          <p:cNvSpPr txBox="1"/>
          <p:nvPr/>
        </p:nvSpPr>
        <p:spPr>
          <a:xfrm>
            <a:off x="4649863" y="4260871"/>
            <a:ext cx="6877558" cy="1384995"/>
          </a:xfrm>
          <a:prstGeom prst="rect">
            <a:avLst/>
          </a:prstGeom>
          <a:noFill/>
        </p:spPr>
        <p:txBody>
          <a:bodyPr wrap="square" rtlCol="0">
            <a:spAutoFit/>
          </a:bodyPr>
          <a:lstStyle/>
          <a:p>
            <a:r>
              <a:rPr lang="en-US" sz="2800" b="1" dirty="0">
                <a:solidFill>
                  <a:schemeClr val="accent1">
                    <a:lumMod val="50000"/>
                  </a:schemeClr>
                </a:solidFill>
              </a:rPr>
              <a:t>You’re probably interested in </a:t>
            </a:r>
            <a:r>
              <a:rPr lang="en-US" sz="2800" b="1" u="sng" dirty="0">
                <a:solidFill>
                  <a:schemeClr val="accent1">
                    <a:lumMod val="50000"/>
                  </a:schemeClr>
                </a:solidFill>
              </a:rPr>
              <a:t>all</a:t>
            </a:r>
            <a:r>
              <a:rPr lang="en-US" sz="2800" b="1" dirty="0">
                <a:solidFill>
                  <a:schemeClr val="accent1">
                    <a:lumMod val="50000"/>
                  </a:schemeClr>
                </a:solidFill>
              </a:rPr>
              <a:t> of these, and probably their interactions, too. But you can only put 1 term in last place</a:t>
            </a:r>
          </a:p>
        </p:txBody>
      </p:sp>
      <p:sp>
        <p:nvSpPr>
          <p:cNvPr id="9" name="&quot;No&quot; Symbol 8"/>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1722280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 Sums-of-Squares</a:t>
            </a:r>
          </a:p>
        </p:txBody>
      </p:sp>
      <p:sp>
        <p:nvSpPr>
          <p:cNvPr id="3" name="Content Placeholder 2"/>
          <p:cNvSpPr>
            <a:spLocks noGrp="1"/>
          </p:cNvSpPr>
          <p:nvPr>
            <p:ph idx="1"/>
          </p:nvPr>
        </p:nvSpPr>
        <p:spPr/>
        <p:txBody>
          <a:bodyPr/>
          <a:lstStyle/>
          <a:p>
            <a:r>
              <a:rPr lang="en-US" dirty="0"/>
              <a:t>This is the great limitation of Type I sums-of-squares. It is easy to do and accurate for the </a:t>
            </a:r>
            <a:r>
              <a:rPr lang="en-US" u="sng" dirty="0"/>
              <a:t>total</a:t>
            </a:r>
            <a:r>
              <a:rPr lang="en-US" dirty="0"/>
              <a:t> model, but less so for individual model parts</a:t>
            </a:r>
          </a:p>
          <a:p>
            <a:r>
              <a:rPr lang="en-US" dirty="0"/>
              <a:t>To get more honest results, we have to use the other types</a:t>
            </a:r>
          </a:p>
        </p:txBody>
      </p:sp>
      <p:sp>
        <p:nvSpPr>
          <p:cNvPr id="4" name="Rounded Rectangle 3"/>
          <p:cNvSpPr/>
          <p:nvPr/>
        </p:nvSpPr>
        <p:spPr>
          <a:xfrm>
            <a:off x="10223500" y="95590"/>
            <a:ext cx="1841500" cy="932316"/>
          </a:xfrm>
          <a:prstGeom prst="roundRect">
            <a:avLst/>
          </a:prstGeom>
          <a:ln w="7620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3600" b="1" dirty="0"/>
              <a:t>Type I</a:t>
            </a:r>
          </a:p>
        </p:txBody>
      </p:sp>
    </p:spTree>
    <p:extLst>
      <p:ext uri="{BB962C8B-B14F-4D97-AF65-F5344CB8AC3E}">
        <p14:creationId xmlns:p14="http://schemas.microsoft.com/office/powerpoint/2010/main" val="19069532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II Sums-of-Squares</a:t>
            </a:r>
          </a:p>
        </p:txBody>
      </p:sp>
      <p:sp>
        <p:nvSpPr>
          <p:cNvPr id="3" name="Content Placeholder 2"/>
          <p:cNvSpPr>
            <a:spLocks noGrp="1"/>
          </p:cNvSpPr>
          <p:nvPr>
            <p:ph idx="1"/>
          </p:nvPr>
        </p:nvSpPr>
        <p:spPr/>
        <p:txBody>
          <a:bodyPr/>
          <a:lstStyle/>
          <a:p>
            <a:r>
              <a:rPr lang="en-US" dirty="0"/>
              <a:t>Type II Sums-of-Squares gives you the SS value of each main effect </a:t>
            </a:r>
            <a:r>
              <a:rPr lang="en-US" u="sng" dirty="0"/>
              <a:t>after</a:t>
            </a:r>
            <a:r>
              <a:rPr lang="en-US" dirty="0"/>
              <a:t> fitting all other main effects</a:t>
            </a:r>
          </a:p>
          <a:p>
            <a:pPr lvl="1"/>
            <a:r>
              <a:rPr lang="en-US" dirty="0"/>
              <a:t>Basically, the model is fit multiple times, each time with a different effect in last place</a:t>
            </a:r>
          </a:p>
          <a:p>
            <a:pPr lvl="1"/>
            <a:r>
              <a:rPr lang="en-US" dirty="0"/>
              <a:t>Higher-order interactions are </a:t>
            </a:r>
            <a:r>
              <a:rPr lang="en-US" u="sng" dirty="0"/>
              <a:t>ignored</a:t>
            </a:r>
            <a:r>
              <a:rPr lang="en-US" dirty="0"/>
              <a:t>; this can be dangerous if interactions are significant</a:t>
            </a:r>
          </a:p>
        </p:txBody>
      </p:sp>
      <p:sp>
        <p:nvSpPr>
          <p:cNvPr id="4" name="Rounded Rectangle 3"/>
          <p:cNvSpPr/>
          <p:nvPr/>
        </p:nvSpPr>
        <p:spPr>
          <a:xfrm>
            <a:off x="10217150" y="95590"/>
            <a:ext cx="1841500" cy="932316"/>
          </a:xfrm>
          <a:prstGeom prst="roundRect">
            <a:avLst/>
          </a:prstGeom>
          <a:ln w="762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dirty="0"/>
              <a:t>Type II</a:t>
            </a:r>
          </a:p>
        </p:txBody>
      </p:sp>
      <p:sp>
        <p:nvSpPr>
          <p:cNvPr id="5" name="Rounded Rectangle 4"/>
          <p:cNvSpPr/>
          <p:nvPr/>
        </p:nvSpPr>
        <p:spPr>
          <a:xfrm>
            <a:off x="1771650" y="4787900"/>
            <a:ext cx="8648700" cy="1422400"/>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b="1" dirty="0"/>
              <a:t>Note: the sum of individual Type II SS values </a:t>
            </a:r>
            <a:r>
              <a:rPr lang="en-US" sz="3600" b="1" u="sng" dirty="0"/>
              <a:t>will not</a:t>
            </a:r>
            <a:r>
              <a:rPr lang="en-US" sz="3600" b="1" dirty="0"/>
              <a:t> equal the total model SS.</a:t>
            </a:r>
          </a:p>
        </p:txBody>
      </p:sp>
    </p:spTree>
    <p:extLst>
      <p:ext uri="{BB962C8B-B14F-4D97-AF65-F5344CB8AC3E}">
        <p14:creationId xmlns:p14="http://schemas.microsoft.com/office/powerpoint/2010/main" val="27287686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II Sums-of-Squares</a:t>
            </a:r>
          </a:p>
        </p:txBody>
      </p:sp>
      <p:sp>
        <p:nvSpPr>
          <p:cNvPr id="3" name="Content Placeholder 2"/>
          <p:cNvSpPr>
            <a:spLocks noGrp="1"/>
          </p:cNvSpPr>
          <p:nvPr>
            <p:ph idx="1"/>
          </p:nvPr>
        </p:nvSpPr>
        <p:spPr>
          <a:xfrm>
            <a:off x="838200" y="1825625"/>
            <a:ext cx="10515600" cy="3444875"/>
          </a:xfrm>
        </p:spPr>
        <p:txBody>
          <a:bodyPr/>
          <a:lstStyle/>
          <a:p>
            <a:r>
              <a:rPr lang="en-US" dirty="0"/>
              <a:t>Going back to our example:</a:t>
            </a:r>
          </a:p>
          <a:p>
            <a:pPr lvl="1"/>
            <a:r>
              <a:rPr lang="en-US" dirty="0"/>
              <a:t>3 fertilizers, 2 irrigation schemes, and 6 maize varieties in a full factorial RCBD with 3 replicates</a:t>
            </a:r>
          </a:p>
          <a:p>
            <a:r>
              <a:rPr lang="en-US" dirty="0"/>
              <a:t>Type II sums-of-squares will return:</a:t>
            </a:r>
          </a:p>
          <a:p>
            <a:pPr lvl="1"/>
            <a:r>
              <a:rPr lang="en-US" dirty="0"/>
              <a:t>SS of </a:t>
            </a:r>
            <a:r>
              <a:rPr lang="en-US" u="sng" dirty="0"/>
              <a:t>fertilizer</a:t>
            </a:r>
            <a:r>
              <a:rPr lang="en-US" dirty="0"/>
              <a:t> after fitting irrigation and variety</a:t>
            </a:r>
          </a:p>
          <a:p>
            <a:pPr lvl="1"/>
            <a:r>
              <a:rPr lang="en-US" dirty="0"/>
              <a:t>SS of </a:t>
            </a:r>
            <a:r>
              <a:rPr lang="en-US" u="sng" dirty="0"/>
              <a:t>irrigation</a:t>
            </a:r>
            <a:r>
              <a:rPr lang="en-US" dirty="0"/>
              <a:t> after fitting fertilizer and variety</a:t>
            </a:r>
          </a:p>
          <a:p>
            <a:pPr lvl="1"/>
            <a:r>
              <a:rPr lang="en-US" dirty="0"/>
              <a:t>SS of </a:t>
            </a:r>
            <a:r>
              <a:rPr lang="en-US" u="sng" dirty="0"/>
              <a:t>variety</a:t>
            </a:r>
            <a:r>
              <a:rPr lang="en-US" dirty="0"/>
              <a:t> after fitting fertilizer and irrigation</a:t>
            </a:r>
          </a:p>
        </p:txBody>
      </p:sp>
      <p:sp>
        <p:nvSpPr>
          <p:cNvPr id="4" name="Rounded Rectangle 3"/>
          <p:cNvSpPr/>
          <p:nvPr/>
        </p:nvSpPr>
        <p:spPr>
          <a:xfrm>
            <a:off x="10217150" y="95590"/>
            <a:ext cx="1841500" cy="932316"/>
          </a:xfrm>
          <a:prstGeom prst="roundRect">
            <a:avLst/>
          </a:prstGeom>
          <a:ln w="762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dirty="0"/>
              <a:t>Type II</a:t>
            </a:r>
          </a:p>
        </p:txBody>
      </p:sp>
    </p:spTree>
    <p:extLst>
      <p:ext uri="{BB962C8B-B14F-4D97-AF65-F5344CB8AC3E}">
        <p14:creationId xmlns:p14="http://schemas.microsoft.com/office/powerpoint/2010/main" val="448031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II Sums-of-Squares</a:t>
            </a:r>
          </a:p>
        </p:txBody>
      </p:sp>
      <p:sp>
        <p:nvSpPr>
          <p:cNvPr id="3" name="Content Placeholder 2"/>
          <p:cNvSpPr>
            <a:spLocks noGrp="1"/>
          </p:cNvSpPr>
          <p:nvPr>
            <p:ph idx="1"/>
          </p:nvPr>
        </p:nvSpPr>
        <p:spPr/>
        <p:txBody>
          <a:bodyPr/>
          <a:lstStyle/>
          <a:p>
            <a:r>
              <a:rPr lang="en-US" dirty="0"/>
              <a:t>Type II SS is probably the best if:</a:t>
            </a:r>
          </a:p>
          <a:p>
            <a:pPr lvl="1"/>
            <a:r>
              <a:rPr lang="en-US" dirty="0"/>
              <a:t>You don’t have any interaction terms </a:t>
            </a:r>
          </a:p>
          <a:p>
            <a:pPr lvl="1"/>
            <a:r>
              <a:rPr lang="en-US" dirty="0"/>
              <a:t>You already tested the interactions and they are not significant</a:t>
            </a:r>
          </a:p>
          <a:p>
            <a:r>
              <a:rPr lang="en-US" dirty="0"/>
              <a:t>By definition, Type II SS cannot test interactions</a:t>
            </a:r>
          </a:p>
          <a:p>
            <a:pPr lvl="1"/>
            <a:r>
              <a:rPr lang="en-US" dirty="0"/>
              <a:t>This is obviously a big problem if you care about them</a:t>
            </a:r>
          </a:p>
          <a:p>
            <a:pPr lvl="1"/>
            <a:r>
              <a:rPr lang="en-US" dirty="0"/>
              <a:t>You can, however, make a pseudo-Type II SS for interaction terms by just fitting them last.</a:t>
            </a:r>
          </a:p>
          <a:p>
            <a:pPr lvl="2"/>
            <a:r>
              <a:rPr lang="en-US" dirty="0"/>
              <a:t>(This is how you’d test to see if they’re significant or not.)</a:t>
            </a:r>
          </a:p>
          <a:p>
            <a:pPr lvl="1"/>
            <a:endParaRPr lang="en-US" dirty="0"/>
          </a:p>
        </p:txBody>
      </p:sp>
      <p:sp>
        <p:nvSpPr>
          <p:cNvPr id="4" name="Rounded Rectangle 3"/>
          <p:cNvSpPr/>
          <p:nvPr/>
        </p:nvSpPr>
        <p:spPr>
          <a:xfrm>
            <a:off x="10217150" y="95590"/>
            <a:ext cx="1841500" cy="932316"/>
          </a:xfrm>
          <a:prstGeom prst="roundRect">
            <a:avLst/>
          </a:prstGeom>
          <a:ln w="76200"/>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dirty="0"/>
              <a:t>Type II</a:t>
            </a:r>
          </a:p>
        </p:txBody>
      </p:sp>
    </p:spTree>
    <p:extLst>
      <p:ext uri="{BB962C8B-B14F-4D97-AF65-F5344CB8AC3E}">
        <p14:creationId xmlns:p14="http://schemas.microsoft.com/office/powerpoint/2010/main" val="22027251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6" end="6"/>
                                            </p:txEl>
                                          </p:spTgt>
                                        </p:tgtEl>
                                        <p:attrNameLst>
                                          <p:attrName>style.visibility</p:attrName>
                                        </p:attrNameLst>
                                      </p:cBhvr>
                                      <p:to>
                                        <p:strVal val="visible"/>
                                      </p:to>
                                    </p:set>
                                    <p:animEffect transition="in" filter="fade">
                                      <p:cBhvr>
                                        <p:cTn id="16"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III Sums-of-Squares</a:t>
            </a:r>
          </a:p>
        </p:txBody>
      </p:sp>
      <p:sp>
        <p:nvSpPr>
          <p:cNvPr id="3" name="Content Placeholder 2"/>
          <p:cNvSpPr>
            <a:spLocks noGrp="1"/>
          </p:cNvSpPr>
          <p:nvPr>
            <p:ph idx="1"/>
          </p:nvPr>
        </p:nvSpPr>
        <p:spPr/>
        <p:txBody>
          <a:bodyPr/>
          <a:lstStyle/>
          <a:p>
            <a:r>
              <a:rPr lang="en-US" dirty="0"/>
              <a:t>Type III SS is very similar to Type II, except that you calculate SS for each effect after accounting for all other main effects </a:t>
            </a:r>
            <a:r>
              <a:rPr lang="en-US" u="sng" dirty="0"/>
              <a:t>and their interactions</a:t>
            </a:r>
            <a:endParaRPr lang="en-US" dirty="0"/>
          </a:p>
          <a:p>
            <a:endParaRPr lang="en-US" i="1" u="sng" dirty="0"/>
          </a:p>
          <a:p>
            <a:endParaRPr lang="en-US" dirty="0"/>
          </a:p>
        </p:txBody>
      </p:sp>
      <p:sp>
        <p:nvSpPr>
          <p:cNvPr id="4" name="Rounded Rectangle 3"/>
          <p:cNvSpPr/>
          <p:nvPr/>
        </p:nvSpPr>
        <p:spPr>
          <a:xfrm>
            <a:off x="10223500" y="95590"/>
            <a:ext cx="1841500" cy="932316"/>
          </a:xfrm>
          <a:prstGeom prst="roundRect">
            <a:avLst/>
          </a:prstGeom>
          <a:ln w="7620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b="1" dirty="0"/>
              <a:t>Type III</a:t>
            </a:r>
          </a:p>
        </p:txBody>
      </p:sp>
    </p:spTree>
    <p:extLst>
      <p:ext uri="{BB962C8B-B14F-4D97-AF65-F5344CB8AC3E}">
        <p14:creationId xmlns:p14="http://schemas.microsoft.com/office/powerpoint/2010/main" val="19555745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III Sums-of-Squares</a:t>
            </a:r>
          </a:p>
        </p:txBody>
      </p:sp>
      <p:sp>
        <p:nvSpPr>
          <p:cNvPr id="3" name="Content Placeholder 2"/>
          <p:cNvSpPr>
            <a:spLocks noGrp="1"/>
          </p:cNvSpPr>
          <p:nvPr>
            <p:ph idx="1"/>
          </p:nvPr>
        </p:nvSpPr>
        <p:spPr>
          <a:xfrm>
            <a:off x="838200" y="1825624"/>
            <a:ext cx="10515600" cy="4945565"/>
          </a:xfrm>
        </p:spPr>
        <p:txBody>
          <a:bodyPr/>
          <a:lstStyle/>
          <a:p>
            <a:r>
              <a:rPr lang="en-US" dirty="0"/>
              <a:t>Going back to our example:</a:t>
            </a:r>
          </a:p>
          <a:p>
            <a:pPr lvl="1"/>
            <a:r>
              <a:rPr lang="en-US" dirty="0"/>
              <a:t>3 fertilizers, 2 irrigation schemes, and 6 maize varieties in a full factorial RCBD with 3 replicates</a:t>
            </a:r>
          </a:p>
          <a:p>
            <a:r>
              <a:rPr lang="en-US" dirty="0"/>
              <a:t>Type III sums-of-squares will return:</a:t>
            </a:r>
          </a:p>
          <a:p>
            <a:pPr lvl="1"/>
            <a:r>
              <a:rPr lang="en-US" dirty="0"/>
              <a:t>SS of </a:t>
            </a:r>
            <a:r>
              <a:rPr lang="en-US" u="sng" dirty="0"/>
              <a:t>fertilizer</a:t>
            </a:r>
            <a:r>
              <a:rPr lang="en-US" dirty="0"/>
              <a:t> after fitting:</a:t>
            </a:r>
          </a:p>
          <a:p>
            <a:pPr lvl="2"/>
            <a:r>
              <a:rPr lang="en-US" dirty="0"/>
              <a:t>Irrigation</a:t>
            </a:r>
          </a:p>
          <a:p>
            <a:pPr lvl="2"/>
            <a:r>
              <a:rPr lang="en-US" dirty="0"/>
              <a:t>Variety</a:t>
            </a:r>
          </a:p>
          <a:p>
            <a:pPr lvl="2"/>
            <a:r>
              <a:rPr lang="en-US" dirty="0" err="1"/>
              <a:t>Fertilizer:Variety</a:t>
            </a:r>
            <a:endParaRPr lang="en-US" dirty="0"/>
          </a:p>
          <a:p>
            <a:pPr lvl="2"/>
            <a:r>
              <a:rPr lang="en-US" dirty="0" err="1"/>
              <a:t>Irrigation:Variety</a:t>
            </a:r>
            <a:endParaRPr lang="en-US" dirty="0"/>
          </a:p>
          <a:p>
            <a:pPr lvl="2"/>
            <a:r>
              <a:rPr lang="en-US" dirty="0" err="1"/>
              <a:t>Fertilizer:Irrigation:Variety</a:t>
            </a:r>
            <a:endParaRPr lang="en-US" dirty="0"/>
          </a:p>
          <a:p>
            <a:pPr lvl="1"/>
            <a:r>
              <a:rPr lang="en-US" dirty="0"/>
              <a:t>Same idea for the other factors</a:t>
            </a:r>
          </a:p>
        </p:txBody>
      </p:sp>
      <p:sp>
        <p:nvSpPr>
          <p:cNvPr id="4" name="Rounded Rectangle 3"/>
          <p:cNvSpPr/>
          <p:nvPr/>
        </p:nvSpPr>
        <p:spPr>
          <a:xfrm>
            <a:off x="10223500" y="95590"/>
            <a:ext cx="1841500" cy="932316"/>
          </a:xfrm>
          <a:prstGeom prst="roundRect">
            <a:avLst/>
          </a:prstGeom>
          <a:ln w="7620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b="1" dirty="0"/>
              <a:t>Type III</a:t>
            </a:r>
          </a:p>
        </p:txBody>
      </p:sp>
    </p:spTree>
    <p:extLst>
      <p:ext uri="{BB962C8B-B14F-4D97-AF65-F5344CB8AC3E}">
        <p14:creationId xmlns:p14="http://schemas.microsoft.com/office/powerpoint/2010/main" val="416775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500"/>
                                        <p:tgtEl>
                                          <p:spTgt spid="3">
                                            <p:txEl>
                                              <p:pRg st="2" end="2"/>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3" end="3"/>
                                            </p:txEl>
                                          </p:spTgt>
                                        </p:tgtEl>
                                        <p:attrNameLst>
                                          <p:attrName>style.visibility</p:attrName>
                                        </p:attrNameLst>
                                      </p:cBhvr>
                                      <p:to>
                                        <p:strVal val="visible"/>
                                      </p:to>
                                    </p:set>
                                    <p:animEffect transition="in" filter="fade">
                                      <p:cBhvr>
                                        <p:cTn id="10" dur="500"/>
                                        <p:tgtEl>
                                          <p:spTgt spid="3">
                                            <p:txEl>
                                              <p:pRg st="3" end="3"/>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4" end="4"/>
                                            </p:txEl>
                                          </p:spTgt>
                                        </p:tgtEl>
                                        <p:attrNameLst>
                                          <p:attrName>style.visibility</p:attrName>
                                        </p:attrNameLst>
                                      </p:cBhvr>
                                      <p:to>
                                        <p:strVal val="visible"/>
                                      </p:to>
                                    </p:set>
                                    <p:animEffect transition="in" filter="fade">
                                      <p:cBhvr>
                                        <p:cTn id="13" dur="500"/>
                                        <p:tgtEl>
                                          <p:spTgt spid="3">
                                            <p:txEl>
                                              <p:pRg st="4" end="4"/>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5" end="5"/>
                                            </p:txEl>
                                          </p:spTgt>
                                        </p:tgtEl>
                                        <p:attrNameLst>
                                          <p:attrName>style.visibility</p:attrName>
                                        </p:attrNameLst>
                                      </p:cBhvr>
                                      <p:to>
                                        <p:strVal val="visible"/>
                                      </p:to>
                                    </p:set>
                                    <p:animEffect transition="in" filter="fade">
                                      <p:cBhvr>
                                        <p:cTn id="16" dur="500"/>
                                        <p:tgtEl>
                                          <p:spTgt spid="3">
                                            <p:txEl>
                                              <p:pRg st="5" end="5"/>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animEffect transition="in" filter="fade">
                                      <p:cBhvr>
                                        <p:cTn id="19" dur="500"/>
                                        <p:tgtEl>
                                          <p:spTgt spid="3">
                                            <p:txEl>
                                              <p:pRg st="6" end="6"/>
                                            </p:txEl>
                                          </p:spTgt>
                                        </p:tgtEl>
                                      </p:cBhvr>
                                    </p:animEffect>
                                  </p:childTnLst>
                                </p:cTn>
                              </p:par>
                              <p:par>
                                <p:cTn id="20" presetID="10" presetClass="entr" presetSubtype="0" fill="hold" nodeType="withEffect">
                                  <p:stCondLst>
                                    <p:cond delay="0"/>
                                  </p:stCondLst>
                                  <p:childTnLst>
                                    <p:set>
                                      <p:cBhvr>
                                        <p:cTn id="21" dur="1" fill="hold">
                                          <p:stCondLst>
                                            <p:cond delay="0"/>
                                          </p:stCondLst>
                                        </p:cTn>
                                        <p:tgtEl>
                                          <p:spTgt spid="3">
                                            <p:txEl>
                                              <p:pRg st="7" end="7"/>
                                            </p:txEl>
                                          </p:spTgt>
                                        </p:tgtEl>
                                        <p:attrNameLst>
                                          <p:attrName>style.visibility</p:attrName>
                                        </p:attrNameLst>
                                      </p:cBhvr>
                                      <p:to>
                                        <p:strVal val="visible"/>
                                      </p:to>
                                    </p:set>
                                    <p:animEffect transition="in" filter="fade">
                                      <p:cBhvr>
                                        <p:cTn id="22" dur="500"/>
                                        <p:tgtEl>
                                          <p:spTgt spid="3">
                                            <p:txEl>
                                              <p:pRg st="7" end="7"/>
                                            </p:txEl>
                                          </p:spTgt>
                                        </p:tgtEl>
                                      </p:cBhvr>
                                    </p:animEffect>
                                  </p:childTnLst>
                                </p:cTn>
                              </p:par>
                              <p:par>
                                <p:cTn id="23" presetID="10" presetClass="entr" presetSubtype="0" fill="hold" nodeType="withEffect">
                                  <p:stCondLst>
                                    <p:cond delay="0"/>
                                  </p:stCondLst>
                                  <p:childTnLst>
                                    <p:set>
                                      <p:cBhvr>
                                        <p:cTn id="24" dur="1" fill="hold">
                                          <p:stCondLst>
                                            <p:cond delay="0"/>
                                          </p:stCondLst>
                                        </p:cTn>
                                        <p:tgtEl>
                                          <p:spTgt spid="3">
                                            <p:txEl>
                                              <p:pRg st="8" end="8"/>
                                            </p:txEl>
                                          </p:spTgt>
                                        </p:tgtEl>
                                        <p:attrNameLst>
                                          <p:attrName>style.visibility</p:attrName>
                                        </p:attrNameLst>
                                      </p:cBhvr>
                                      <p:to>
                                        <p:strVal val="visible"/>
                                      </p:to>
                                    </p:set>
                                    <p:animEffect transition="in" filter="fade">
                                      <p:cBhvr>
                                        <p:cTn id="25" dur="500"/>
                                        <p:tgtEl>
                                          <p:spTgt spid="3">
                                            <p:txEl>
                                              <p:pRg st="8" end="8"/>
                                            </p:txEl>
                                          </p:spTgt>
                                        </p:tgtEl>
                                      </p:cBhvr>
                                    </p:animEffect>
                                  </p:childTnLst>
                                </p:cTn>
                              </p:par>
                              <p:par>
                                <p:cTn id="26" presetID="10" presetClass="entr" presetSubtype="0" fill="hold" nodeType="withEffect">
                                  <p:stCondLst>
                                    <p:cond delay="0"/>
                                  </p:stCondLst>
                                  <p:childTnLst>
                                    <p:set>
                                      <p:cBhvr>
                                        <p:cTn id="27" dur="1" fill="hold">
                                          <p:stCondLst>
                                            <p:cond delay="0"/>
                                          </p:stCondLst>
                                        </p:cTn>
                                        <p:tgtEl>
                                          <p:spTgt spid="3">
                                            <p:txEl>
                                              <p:pRg st="9" end="9"/>
                                            </p:txEl>
                                          </p:spTgt>
                                        </p:tgtEl>
                                        <p:attrNameLst>
                                          <p:attrName>style.visibility</p:attrName>
                                        </p:attrNameLst>
                                      </p:cBhvr>
                                      <p:to>
                                        <p:strVal val="visible"/>
                                      </p:to>
                                    </p:set>
                                    <p:animEffect transition="in" filter="fade">
                                      <p:cBhvr>
                                        <p:cTn id="28"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III Sums-of-Squares</a:t>
            </a:r>
          </a:p>
        </p:txBody>
      </p:sp>
      <p:sp>
        <p:nvSpPr>
          <p:cNvPr id="3" name="Content Placeholder 2"/>
          <p:cNvSpPr>
            <a:spLocks noGrp="1"/>
          </p:cNvSpPr>
          <p:nvPr>
            <p:ph idx="1"/>
          </p:nvPr>
        </p:nvSpPr>
        <p:spPr/>
        <p:txBody>
          <a:bodyPr/>
          <a:lstStyle/>
          <a:p>
            <a:r>
              <a:rPr lang="en-US" dirty="0"/>
              <a:t>If you’re interested in interactions, type III SS is frequently your best bet</a:t>
            </a:r>
          </a:p>
          <a:p>
            <a:r>
              <a:rPr lang="en-US" u="sng" dirty="0"/>
              <a:t>However</a:t>
            </a:r>
            <a:r>
              <a:rPr lang="en-US" dirty="0"/>
              <a:t>, if your interactions are significant, the interpretation of your main effects are not always clear </a:t>
            </a:r>
          </a:p>
        </p:txBody>
      </p:sp>
      <p:sp>
        <p:nvSpPr>
          <p:cNvPr id="4" name="Rounded Rectangle 3"/>
          <p:cNvSpPr/>
          <p:nvPr/>
        </p:nvSpPr>
        <p:spPr>
          <a:xfrm>
            <a:off x="10223500" y="95590"/>
            <a:ext cx="1841500" cy="932316"/>
          </a:xfrm>
          <a:prstGeom prst="roundRect">
            <a:avLst/>
          </a:prstGeom>
          <a:ln w="76200"/>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sz="3600" b="1" dirty="0"/>
              <a:t>Type III</a:t>
            </a:r>
          </a:p>
        </p:txBody>
      </p:sp>
    </p:spTree>
    <p:extLst>
      <p:ext uri="{BB962C8B-B14F-4D97-AF65-F5344CB8AC3E}">
        <p14:creationId xmlns:p14="http://schemas.microsoft.com/office/powerpoint/2010/main" val="1623055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summaries</a:t>
            </a:r>
          </a:p>
        </p:txBody>
      </p:sp>
      <p:sp>
        <p:nvSpPr>
          <p:cNvPr id="3" name="Content Placeholder 2"/>
          <p:cNvSpPr>
            <a:spLocks noGrp="1"/>
          </p:cNvSpPr>
          <p:nvPr>
            <p:ph idx="1"/>
          </p:nvPr>
        </p:nvSpPr>
        <p:spPr>
          <a:xfrm>
            <a:off x="838200" y="1690688"/>
            <a:ext cx="11353800" cy="4852967"/>
          </a:xfrm>
        </p:spPr>
        <p:txBody>
          <a:bodyPr/>
          <a:lstStyle/>
          <a:p>
            <a:r>
              <a:rPr lang="en-US" dirty="0"/>
              <a:t>Type I</a:t>
            </a:r>
          </a:p>
          <a:p>
            <a:pPr lvl="1"/>
            <a:r>
              <a:rPr lang="en-US" dirty="0"/>
              <a:t>Everything added in order</a:t>
            </a:r>
          </a:p>
          <a:p>
            <a:pPr lvl="1"/>
            <a:r>
              <a:rPr lang="en-US" dirty="0"/>
              <a:t>Easiest; default for R</a:t>
            </a:r>
          </a:p>
          <a:p>
            <a:pPr lvl="1"/>
            <a:r>
              <a:rPr lang="en-US" dirty="0"/>
              <a:t>Use if you have balanced data</a:t>
            </a:r>
          </a:p>
          <a:p>
            <a:r>
              <a:rPr lang="en-US" dirty="0"/>
              <a:t>Type II</a:t>
            </a:r>
          </a:p>
          <a:p>
            <a:pPr lvl="1"/>
            <a:r>
              <a:rPr lang="en-US" dirty="0"/>
              <a:t>Tests effects after all other effects of the same order or lower</a:t>
            </a:r>
          </a:p>
          <a:p>
            <a:pPr lvl="1"/>
            <a:r>
              <a:rPr lang="en-US" dirty="0"/>
              <a:t>More power than Type III if higher-order interactions are not significant; dangerous/wrong if they are</a:t>
            </a:r>
          </a:p>
          <a:p>
            <a:r>
              <a:rPr lang="en-US" dirty="0"/>
              <a:t>Type III</a:t>
            </a:r>
          </a:p>
          <a:p>
            <a:pPr lvl="1"/>
            <a:r>
              <a:rPr lang="en-US" dirty="0"/>
              <a:t>Tests all terms after including all other terms</a:t>
            </a:r>
          </a:p>
          <a:p>
            <a:pPr lvl="1"/>
            <a:r>
              <a:rPr lang="en-US" dirty="0"/>
              <a:t>Generally what you’re interested in, but can have interpretation issues</a:t>
            </a:r>
          </a:p>
        </p:txBody>
      </p:sp>
    </p:spTree>
    <p:extLst>
      <p:ext uri="{BB962C8B-B14F-4D97-AF65-F5344CB8AC3E}">
        <p14:creationId xmlns:p14="http://schemas.microsoft.com/office/powerpoint/2010/main" val="19701117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animEffect transition="in" filter="fade">
                                      <p:cBhvr>
                                        <p:cTn id="13" dur="500"/>
                                        <p:tgtEl>
                                          <p:spTgt spid="3">
                                            <p:txEl>
                                              <p:pRg st="6" end="6"/>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3">
                                            <p:txEl>
                                              <p:pRg st="7" end="7"/>
                                            </p:txEl>
                                          </p:spTgt>
                                        </p:tgtEl>
                                        <p:attrNameLst>
                                          <p:attrName>style.visibility</p:attrName>
                                        </p:attrNameLst>
                                      </p:cBhvr>
                                      <p:to>
                                        <p:strVal val="visible"/>
                                      </p:to>
                                    </p:set>
                                    <p:animEffect transition="in" filter="fade">
                                      <p:cBhvr>
                                        <p:cTn id="18" dur="500"/>
                                        <p:tgtEl>
                                          <p:spTgt spid="3">
                                            <p:txEl>
                                              <p:pRg st="7" end="7"/>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3">
                                            <p:txEl>
                                              <p:pRg st="8" end="8"/>
                                            </p:txEl>
                                          </p:spTgt>
                                        </p:tgtEl>
                                        <p:attrNameLst>
                                          <p:attrName>style.visibility</p:attrName>
                                        </p:attrNameLst>
                                      </p:cBhvr>
                                      <p:to>
                                        <p:strVal val="visible"/>
                                      </p:to>
                                    </p:set>
                                    <p:animEffect transition="in" filter="fade">
                                      <p:cBhvr>
                                        <p:cTn id="21" dur="500"/>
                                        <p:tgtEl>
                                          <p:spTgt spid="3">
                                            <p:txEl>
                                              <p:pRg st="8" end="8"/>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3">
                                            <p:txEl>
                                              <p:pRg st="9" end="9"/>
                                            </p:txEl>
                                          </p:spTgt>
                                        </p:tgtEl>
                                        <p:attrNameLst>
                                          <p:attrName>style.visibility</p:attrName>
                                        </p:attrNameLst>
                                      </p:cBhvr>
                                      <p:to>
                                        <p:strVal val="visible"/>
                                      </p:to>
                                    </p:set>
                                    <p:animEffect transition="in" filter="fade">
                                      <p:cBhvr>
                                        <p:cTn id="24" dur="500"/>
                                        <p:tgtEl>
                                          <p:spTgt spid="3">
                                            <p:txEl>
                                              <p:pRg st="9" end="9"/>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examples:</a:t>
            </a:r>
          </a:p>
        </p:txBody>
      </p:sp>
      <p:sp>
        <p:nvSpPr>
          <p:cNvPr id="3" name="Content Placeholder 2"/>
          <p:cNvSpPr>
            <a:spLocks noGrp="1"/>
          </p:cNvSpPr>
          <p:nvPr>
            <p:ph idx="1"/>
          </p:nvPr>
        </p:nvSpPr>
        <p:spPr>
          <a:xfrm>
            <a:off x="838200" y="1825624"/>
            <a:ext cx="10515600" cy="4771945"/>
          </a:xfrm>
        </p:spPr>
        <p:txBody>
          <a:bodyPr/>
          <a:lstStyle/>
          <a:p>
            <a:r>
              <a:rPr lang="en-US" dirty="0"/>
              <a:t>Example 1: </a:t>
            </a:r>
            <a:r>
              <a:rPr lang="en-US" dirty="0" err="1"/>
              <a:t>Breadmaking</a:t>
            </a:r>
            <a:r>
              <a:rPr lang="en-US" dirty="0"/>
              <a:t> quality in wheat</a:t>
            </a:r>
          </a:p>
          <a:p>
            <a:pPr lvl="1"/>
            <a:r>
              <a:rPr lang="en-US" dirty="0"/>
              <a:t>25 wheat varieties</a:t>
            </a:r>
          </a:p>
          <a:p>
            <a:pPr lvl="1"/>
            <a:r>
              <a:rPr lang="en-US" dirty="0"/>
              <a:t>6 reps in RCBD, each in a different field</a:t>
            </a:r>
          </a:p>
          <a:p>
            <a:r>
              <a:rPr lang="en-US" dirty="0"/>
              <a:t>What formula would you use?</a:t>
            </a:r>
          </a:p>
          <a:p>
            <a:pPr lvl="1"/>
            <a:r>
              <a:rPr lang="en-US" dirty="0">
                <a:solidFill>
                  <a:schemeClr val="bg1"/>
                </a:solidFill>
              </a:rPr>
              <a:t> </a:t>
            </a:r>
          </a:p>
          <a:p>
            <a:r>
              <a:rPr lang="en-US" dirty="0"/>
              <a:t>What type of SS would you use?</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5796" y="1896659"/>
            <a:ext cx="3456204" cy="2314937"/>
          </a:xfrm>
          <a:prstGeom prst="rect">
            <a:avLst/>
          </a:prstGeom>
          <a:effectLst>
            <a:softEdge rad="63500"/>
          </a:effectLst>
        </p:spPr>
      </p:pic>
    </p:spTree>
    <p:extLst>
      <p:ext uri="{BB962C8B-B14F-4D97-AF65-F5344CB8AC3E}">
        <p14:creationId xmlns:p14="http://schemas.microsoft.com/office/powerpoint/2010/main" val="1111672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examples:</a:t>
            </a:r>
          </a:p>
        </p:txBody>
      </p:sp>
      <p:sp>
        <p:nvSpPr>
          <p:cNvPr id="3" name="Content Placeholder 2"/>
          <p:cNvSpPr>
            <a:spLocks noGrp="1"/>
          </p:cNvSpPr>
          <p:nvPr>
            <p:ph idx="1"/>
          </p:nvPr>
        </p:nvSpPr>
        <p:spPr>
          <a:xfrm>
            <a:off x="838200" y="1825624"/>
            <a:ext cx="10515600" cy="4771945"/>
          </a:xfrm>
        </p:spPr>
        <p:txBody>
          <a:bodyPr/>
          <a:lstStyle/>
          <a:p>
            <a:r>
              <a:rPr lang="en-US" dirty="0"/>
              <a:t>Example 1: </a:t>
            </a:r>
            <a:r>
              <a:rPr lang="en-US" dirty="0" err="1"/>
              <a:t>Breadmaking</a:t>
            </a:r>
            <a:r>
              <a:rPr lang="en-US" dirty="0"/>
              <a:t> quality in wheat</a:t>
            </a:r>
          </a:p>
          <a:p>
            <a:pPr lvl="1"/>
            <a:r>
              <a:rPr lang="en-US" dirty="0"/>
              <a:t>25 wheat varieties</a:t>
            </a:r>
          </a:p>
          <a:p>
            <a:pPr lvl="1"/>
            <a:r>
              <a:rPr lang="en-US" dirty="0"/>
              <a:t>6 reps in RCBD, each in a different field</a:t>
            </a:r>
          </a:p>
          <a:p>
            <a:r>
              <a:rPr lang="en-US" dirty="0"/>
              <a:t>What formula would you use?</a:t>
            </a:r>
          </a:p>
          <a:p>
            <a:pPr lvl="1"/>
            <a:r>
              <a:rPr lang="en-US" b="1" dirty="0">
                <a:solidFill>
                  <a:schemeClr val="accent4">
                    <a:lumMod val="75000"/>
                  </a:schemeClr>
                </a:solidFill>
              </a:rPr>
              <a:t>Quality ~ block + variety</a:t>
            </a:r>
          </a:p>
          <a:p>
            <a:r>
              <a:rPr lang="en-US" dirty="0"/>
              <a:t>What type of SS would you use?</a:t>
            </a:r>
          </a:p>
          <a:p>
            <a:pPr lvl="1"/>
            <a:r>
              <a:rPr lang="en-US" dirty="0">
                <a:solidFill>
                  <a:schemeClr val="accent4">
                    <a:lumMod val="75000"/>
                  </a:schemeClr>
                </a:solidFill>
              </a:rPr>
              <a:t>Probably just Type I, since not interested in block</a:t>
            </a:r>
          </a:p>
          <a:p>
            <a:pPr lvl="1"/>
            <a:r>
              <a:rPr lang="en-US" dirty="0">
                <a:solidFill>
                  <a:schemeClr val="accent4">
                    <a:lumMod val="75000"/>
                  </a:schemeClr>
                </a:solidFill>
              </a:rPr>
              <a:t>Note: Cannot test interactions because blocks are not replicated</a:t>
            </a:r>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8735796" y="1896659"/>
            <a:ext cx="3456204" cy="2314937"/>
          </a:xfrm>
          <a:prstGeom prst="rect">
            <a:avLst/>
          </a:prstGeom>
          <a:effectLst>
            <a:softEdge rad="63500"/>
          </a:effectLst>
        </p:spPr>
      </p:pic>
      <p:sp>
        <p:nvSpPr>
          <p:cNvPr id="6" name="&quot;No&quot; Symbol 5"/>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417634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examples:</a:t>
            </a:r>
          </a:p>
        </p:txBody>
      </p:sp>
      <p:sp>
        <p:nvSpPr>
          <p:cNvPr id="3" name="Content Placeholder 2"/>
          <p:cNvSpPr>
            <a:spLocks noGrp="1"/>
          </p:cNvSpPr>
          <p:nvPr>
            <p:ph idx="1"/>
          </p:nvPr>
        </p:nvSpPr>
        <p:spPr>
          <a:xfrm>
            <a:off x="838200" y="1825624"/>
            <a:ext cx="7842812" cy="2352676"/>
          </a:xfrm>
        </p:spPr>
        <p:txBody>
          <a:bodyPr/>
          <a:lstStyle/>
          <a:p>
            <a:r>
              <a:rPr lang="en-US" dirty="0"/>
              <a:t>Example 2: Insect damage in blueberries</a:t>
            </a:r>
          </a:p>
          <a:p>
            <a:pPr lvl="1"/>
            <a:r>
              <a:rPr lang="en-US" dirty="0"/>
              <a:t>6 integrated pest management variations </a:t>
            </a:r>
          </a:p>
          <a:p>
            <a:pPr lvl="1"/>
            <a:r>
              <a:rPr lang="en-US" dirty="0"/>
              <a:t>10 blueberry varieties </a:t>
            </a:r>
          </a:p>
          <a:p>
            <a:pPr lvl="1"/>
            <a:r>
              <a:rPr lang="en-US" dirty="0"/>
              <a:t>4 reps in a CRD with missing data</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81012" y="1825624"/>
            <a:ext cx="3426063" cy="2658923"/>
          </a:xfrm>
          <a:prstGeom prst="rect">
            <a:avLst/>
          </a:prstGeom>
          <a:effectLst>
            <a:softEdge rad="63500"/>
          </a:effectLst>
        </p:spPr>
      </p:pic>
      <p:sp>
        <p:nvSpPr>
          <p:cNvPr id="6" name="Content Placeholder 2"/>
          <p:cNvSpPr txBox="1">
            <a:spLocks/>
          </p:cNvSpPr>
          <p:nvPr/>
        </p:nvSpPr>
        <p:spPr>
          <a:xfrm>
            <a:off x="838199" y="4178300"/>
            <a:ext cx="11156995" cy="2222500"/>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formula would you use?</a:t>
            </a:r>
            <a:endParaRPr lang="en-US" dirty="0">
              <a:solidFill>
                <a:schemeClr val="bg1"/>
              </a:solidFill>
            </a:endParaRPr>
          </a:p>
          <a:p>
            <a:pPr lvl="1"/>
            <a:r>
              <a:rPr lang="en-US" dirty="0">
                <a:solidFill>
                  <a:schemeClr val="bg1"/>
                </a:solidFill>
              </a:rPr>
              <a:t> </a:t>
            </a:r>
          </a:p>
          <a:p>
            <a:r>
              <a:rPr lang="en-US" dirty="0"/>
              <a:t>What type of SS would you use?</a:t>
            </a:r>
          </a:p>
        </p:txBody>
      </p:sp>
    </p:spTree>
    <p:extLst>
      <p:ext uri="{BB962C8B-B14F-4D97-AF65-F5344CB8AC3E}">
        <p14:creationId xmlns:p14="http://schemas.microsoft.com/office/powerpoint/2010/main" val="10731615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examples:</a:t>
            </a:r>
          </a:p>
        </p:txBody>
      </p:sp>
      <p:sp>
        <p:nvSpPr>
          <p:cNvPr id="3" name="Content Placeholder 2"/>
          <p:cNvSpPr>
            <a:spLocks noGrp="1"/>
          </p:cNvSpPr>
          <p:nvPr>
            <p:ph idx="1"/>
          </p:nvPr>
        </p:nvSpPr>
        <p:spPr>
          <a:xfrm>
            <a:off x="838200" y="1825624"/>
            <a:ext cx="7842812" cy="2352676"/>
          </a:xfrm>
        </p:spPr>
        <p:txBody>
          <a:bodyPr/>
          <a:lstStyle/>
          <a:p>
            <a:r>
              <a:rPr lang="en-US" dirty="0"/>
              <a:t>Example 2: Insect damage in blueberries</a:t>
            </a:r>
          </a:p>
          <a:p>
            <a:pPr lvl="1"/>
            <a:r>
              <a:rPr lang="en-US" dirty="0"/>
              <a:t>6 integrated pest management variations </a:t>
            </a:r>
          </a:p>
          <a:p>
            <a:pPr lvl="1"/>
            <a:r>
              <a:rPr lang="en-US" dirty="0"/>
              <a:t>10 blueberry varieties </a:t>
            </a:r>
          </a:p>
          <a:p>
            <a:pPr lvl="1"/>
            <a:r>
              <a:rPr lang="en-US" dirty="0"/>
              <a:t>4 reps in a CRD with missing data</a:t>
            </a: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1012" y="1825624"/>
            <a:ext cx="3426063" cy="2658923"/>
          </a:xfrm>
          <a:prstGeom prst="rect">
            <a:avLst/>
          </a:prstGeom>
          <a:effectLst>
            <a:softEdge rad="63500"/>
          </a:effectLst>
        </p:spPr>
      </p:pic>
      <p:sp>
        <p:nvSpPr>
          <p:cNvPr id="5" name="&quot;No&quot; Symbol 4"/>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Content Placeholder 2"/>
          <p:cNvSpPr txBox="1">
            <a:spLocks/>
          </p:cNvSpPr>
          <p:nvPr/>
        </p:nvSpPr>
        <p:spPr>
          <a:xfrm>
            <a:off x="838199" y="4178300"/>
            <a:ext cx="11156995" cy="5032376"/>
          </a:xfrm>
          <a:prstGeom prst="rect">
            <a:avLst/>
          </a:prstGeom>
        </p:spPr>
        <p:txBody>
          <a:bodyPr vert="horz" lIns="91440" tIns="45720" rIns="91440" bIns="45720" rtlCol="0">
            <a:noAutofit/>
          </a:bodyPr>
          <a:lstStyle>
            <a:lvl1pPr marL="465138" indent="-465138" algn="l" defTabSz="914400" rtl="0" eaLnBrk="1" latinLnBrk="0" hangingPunct="1">
              <a:lnSpc>
                <a:spcPct val="90000"/>
              </a:lnSpc>
              <a:spcBef>
                <a:spcPts val="1000"/>
              </a:spcBef>
              <a:buFont typeface="Arial" panose="020B0604020202020204" pitchFamily="34" charset="0"/>
              <a:buChar char="•"/>
              <a:defRPr sz="3200" kern="1200">
                <a:solidFill>
                  <a:schemeClr val="tx1"/>
                </a:solidFill>
                <a:latin typeface="+mn-lt"/>
                <a:ea typeface="+mn-ea"/>
                <a:cs typeface="+mn-cs"/>
              </a:defRPr>
            </a:lvl1pPr>
            <a:lvl2pPr marL="914400" indent="-457200" algn="l" defTabSz="914400" rtl="0" eaLnBrk="1" latinLnBrk="0" hangingPunct="1">
              <a:lnSpc>
                <a:spcPct val="90000"/>
              </a:lnSpc>
              <a:spcBef>
                <a:spcPts val="500"/>
              </a:spcBef>
              <a:buFont typeface="Arial" panose="020B0604020202020204" pitchFamily="34" charset="0"/>
              <a:buChar char="•"/>
              <a:defRPr sz="2800" kern="1200">
                <a:solidFill>
                  <a:schemeClr val="tx1"/>
                </a:solidFill>
                <a:latin typeface="+mn-lt"/>
                <a:ea typeface="+mn-ea"/>
                <a:cs typeface="+mn-cs"/>
              </a:defRPr>
            </a:lvl2pPr>
            <a:lvl3pPr marL="1262063" indent="-347663"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3pPr>
            <a:lvl4pPr marL="1712913" indent="-34131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4pPr>
            <a:lvl5pPr marL="2176463" indent="-347663"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What formula would you use?</a:t>
            </a:r>
          </a:p>
          <a:p>
            <a:pPr lvl="1"/>
            <a:r>
              <a:rPr lang="en-US" b="1" dirty="0">
                <a:solidFill>
                  <a:schemeClr val="accent5">
                    <a:lumMod val="75000"/>
                  </a:schemeClr>
                </a:solidFill>
              </a:rPr>
              <a:t>Damage ~ </a:t>
            </a:r>
            <a:r>
              <a:rPr lang="en-US" b="1" dirty="0" err="1">
                <a:solidFill>
                  <a:schemeClr val="accent5">
                    <a:lumMod val="75000"/>
                  </a:schemeClr>
                </a:solidFill>
              </a:rPr>
              <a:t>ipm</a:t>
            </a:r>
            <a:r>
              <a:rPr lang="en-US" b="1" dirty="0">
                <a:solidFill>
                  <a:schemeClr val="accent5">
                    <a:lumMod val="75000"/>
                  </a:schemeClr>
                </a:solidFill>
              </a:rPr>
              <a:t> + variety + </a:t>
            </a:r>
            <a:r>
              <a:rPr lang="en-US" b="1" dirty="0" err="1">
                <a:solidFill>
                  <a:schemeClr val="accent5">
                    <a:lumMod val="75000"/>
                  </a:schemeClr>
                </a:solidFill>
              </a:rPr>
              <a:t>ipm:variety</a:t>
            </a:r>
            <a:endParaRPr lang="en-US" b="1" dirty="0">
              <a:solidFill>
                <a:schemeClr val="accent5">
                  <a:lumMod val="75000"/>
                </a:schemeClr>
              </a:solidFill>
            </a:endParaRPr>
          </a:p>
          <a:p>
            <a:r>
              <a:rPr lang="en-US" dirty="0"/>
              <a:t>What type of SS would you use?</a:t>
            </a:r>
          </a:p>
          <a:p>
            <a:pPr lvl="1"/>
            <a:r>
              <a:rPr lang="en-US" dirty="0">
                <a:solidFill>
                  <a:schemeClr val="accent5">
                    <a:lumMod val="75000"/>
                  </a:schemeClr>
                </a:solidFill>
              </a:rPr>
              <a:t>Probably Type III since care about both main effects and interaction</a:t>
            </a:r>
          </a:p>
          <a:p>
            <a:pPr lvl="1"/>
            <a:r>
              <a:rPr lang="en-US" dirty="0">
                <a:solidFill>
                  <a:schemeClr val="accent5">
                    <a:lumMod val="75000"/>
                  </a:schemeClr>
                </a:solidFill>
              </a:rPr>
              <a:t>But maybe Type II if the </a:t>
            </a:r>
            <a:r>
              <a:rPr lang="en-US" dirty="0" err="1">
                <a:solidFill>
                  <a:schemeClr val="accent5">
                    <a:lumMod val="75000"/>
                  </a:schemeClr>
                </a:solidFill>
              </a:rPr>
              <a:t>ipm:variety</a:t>
            </a:r>
            <a:r>
              <a:rPr lang="en-US" dirty="0">
                <a:solidFill>
                  <a:schemeClr val="accent5">
                    <a:lumMod val="75000"/>
                  </a:schemeClr>
                </a:solidFill>
              </a:rPr>
              <a:t> term is not significant/important</a:t>
            </a:r>
          </a:p>
          <a:p>
            <a:endParaRPr lang="en-US" dirty="0">
              <a:solidFill>
                <a:schemeClr val="accent5">
                  <a:lumMod val="75000"/>
                </a:schemeClr>
              </a:solidFill>
            </a:endParaRPr>
          </a:p>
        </p:txBody>
      </p:sp>
    </p:spTree>
    <p:extLst>
      <p:ext uri="{BB962C8B-B14F-4D97-AF65-F5344CB8AC3E}">
        <p14:creationId xmlns:p14="http://schemas.microsoft.com/office/powerpoint/2010/main" val="2568887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summaries</a:t>
            </a:r>
          </a:p>
        </p:txBody>
      </p:sp>
      <p:sp>
        <p:nvSpPr>
          <p:cNvPr id="3" name="Content Placeholder 2"/>
          <p:cNvSpPr>
            <a:spLocks noGrp="1"/>
          </p:cNvSpPr>
          <p:nvPr>
            <p:ph idx="1"/>
          </p:nvPr>
        </p:nvSpPr>
        <p:spPr/>
        <p:txBody>
          <a:bodyPr/>
          <a:lstStyle/>
          <a:p>
            <a:r>
              <a:rPr lang="en-US" dirty="0"/>
              <a:t>The different types of sums-of-squares are tools, each with their own niche</a:t>
            </a:r>
          </a:p>
          <a:p>
            <a:pPr lvl="1"/>
            <a:r>
              <a:rPr lang="en-US" dirty="0"/>
              <a:t>If your data is balanced and complete (no missing data), there’s no need to go beyond Type I</a:t>
            </a:r>
          </a:p>
          <a:p>
            <a:pPr lvl="1"/>
            <a:r>
              <a:rPr lang="en-US" dirty="0"/>
              <a:t>Use Type II if you don’t care about interactions</a:t>
            </a:r>
          </a:p>
          <a:p>
            <a:pPr lvl="1"/>
            <a:r>
              <a:rPr lang="en-US" dirty="0"/>
              <a:t>Use Type III if you do</a:t>
            </a:r>
          </a:p>
        </p:txBody>
      </p:sp>
    </p:spTree>
    <p:extLst>
      <p:ext uri="{BB962C8B-B14F-4D97-AF65-F5344CB8AC3E}">
        <p14:creationId xmlns:p14="http://schemas.microsoft.com/office/powerpoint/2010/main" val="18600640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Questions on the types of SS?</a:t>
            </a:r>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3649436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in R</a:t>
            </a:r>
          </a:p>
        </p:txBody>
      </p:sp>
      <p:sp>
        <p:nvSpPr>
          <p:cNvPr id="3" name="Content Placeholder 2"/>
          <p:cNvSpPr>
            <a:spLocks noGrp="1"/>
          </p:cNvSpPr>
          <p:nvPr>
            <p:ph idx="1"/>
          </p:nvPr>
        </p:nvSpPr>
        <p:spPr/>
        <p:txBody>
          <a:bodyPr/>
          <a:lstStyle/>
          <a:p>
            <a:r>
              <a:rPr lang="en-US" dirty="0"/>
              <a:t>R does Type I SS by default; no need to do anything fancy</a:t>
            </a:r>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35100" y="2350317"/>
            <a:ext cx="10010779" cy="4215583"/>
          </a:xfrm>
          <a:prstGeom prst="rect">
            <a:avLst/>
          </a:prstGeom>
        </p:spPr>
      </p:pic>
      <p:sp>
        <p:nvSpPr>
          <p:cNvPr id="6" name="TextBox 5"/>
          <p:cNvSpPr txBox="1"/>
          <p:nvPr/>
        </p:nvSpPr>
        <p:spPr>
          <a:xfrm>
            <a:off x="5270500" y="3810000"/>
            <a:ext cx="1678665" cy="584775"/>
          </a:xfrm>
          <a:prstGeom prst="rect">
            <a:avLst/>
          </a:prstGeom>
          <a:noFill/>
        </p:spPr>
        <p:txBody>
          <a:bodyPr wrap="none" rtlCol="0">
            <a:spAutoFit/>
          </a:bodyPr>
          <a:lstStyle/>
          <a:p>
            <a:r>
              <a:rPr lang="en-US" sz="3200" b="1" dirty="0">
                <a:solidFill>
                  <a:schemeClr val="accent4">
                    <a:lumMod val="75000"/>
                  </a:schemeClr>
                </a:solidFill>
              </a:rPr>
              <a:t>Type I SS</a:t>
            </a:r>
          </a:p>
        </p:txBody>
      </p:sp>
      <p:sp>
        <p:nvSpPr>
          <p:cNvPr id="7" name="Rounded Rectangle 6"/>
          <p:cNvSpPr/>
          <p:nvPr/>
        </p:nvSpPr>
        <p:spPr>
          <a:xfrm>
            <a:off x="3505200" y="4521200"/>
            <a:ext cx="1143000" cy="1415143"/>
          </a:xfrm>
          <a:prstGeom prst="roundRect">
            <a:avLst/>
          </a:prstGeom>
          <a:noFill/>
          <a:ln w="76200">
            <a:solidFill>
              <a:schemeClr val="accent4">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 name="Straight Connector 8"/>
          <p:cNvCxnSpPr>
            <a:endCxn id="6" idx="1"/>
          </p:cNvCxnSpPr>
          <p:nvPr/>
        </p:nvCxnSpPr>
        <p:spPr>
          <a:xfrm flipV="1">
            <a:off x="4601817" y="4102388"/>
            <a:ext cx="668683" cy="476537"/>
          </a:xfrm>
          <a:prstGeom prst="line">
            <a:avLst/>
          </a:prstGeom>
          <a:ln w="76200">
            <a:solidFill>
              <a:schemeClr val="accent4">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692513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r="5176"/>
          <a:stretch/>
        </p:blipFill>
        <p:spPr>
          <a:xfrm>
            <a:off x="2086479" y="2419553"/>
            <a:ext cx="9864221" cy="4380608"/>
          </a:xfrm>
          <a:prstGeom prst="rect">
            <a:avLst/>
          </a:prstGeom>
        </p:spPr>
      </p:pic>
      <p:sp>
        <p:nvSpPr>
          <p:cNvPr id="2" name="Title 1"/>
          <p:cNvSpPr>
            <a:spLocks noGrp="1"/>
          </p:cNvSpPr>
          <p:nvPr>
            <p:ph type="title"/>
          </p:nvPr>
        </p:nvSpPr>
        <p:spPr/>
        <p:txBody>
          <a:bodyPr/>
          <a:lstStyle/>
          <a:p>
            <a:r>
              <a:rPr lang="en-US" dirty="0"/>
              <a:t>Sums-of-squares in R</a:t>
            </a:r>
          </a:p>
        </p:txBody>
      </p:sp>
      <p:sp>
        <p:nvSpPr>
          <p:cNvPr id="3" name="Content Placeholder 2"/>
          <p:cNvSpPr>
            <a:spLocks noGrp="1"/>
          </p:cNvSpPr>
          <p:nvPr>
            <p:ph idx="1"/>
          </p:nvPr>
        </p:nvSpPr>
        <p:spPr/>
        <p:txBody>
          <a:bodyPr/>
          <a:lstStyle/>
          <a:p>
            <a:r>
              <a:rPr lang="en-US" dirty="0"/>
              <a:t>Type II and Type III accessible through the “car” package</a:t>
            </a:r>
          </a:p>
        </p:txBody>
      </p:sp>
      <p:sp>
        <p:nvSpPr>
          <p:cNvPr id="5" name="Rounded Rectangle 4"/>
          <p:cNvSpPr/>
          <p:nvPr/>
        </p:nvSpPr>
        <p:spPr>
          <a:xfrm>
            <a:off x="2359368" y="2737877"/>
            <a:ext cx="2174532" cy="367214"/>
          </a:xfrm>
          <a:prstGeom prst="roundRect">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520700" y="2698386"/>
            <a:ext cx="1692515" cy="461665"/>
          </a:xfrm>
          <a:prstGeom prst="rect">
            <a:avLst/>
          </a:prstGeom>
          <a:noFill/>
        </p:spPr>
        <p:txBody>
          <a:bodyPr wrap="none" rtlCol="0">
            <a:spAutoFit/>
          </a:bodyPr>
          <a:lstStyle/>
          <a:p>
            <a:r>
              <a:rPr lang="en-US" sz="2400" b="1" dirty="0">
                <a:solidFill>
                  <a:schemeClr val="accent5">
                    <a:lumMod val="75000"/>
                  </a:schemeClr>
                </a:solidFill>
              </a:rPr>
              <a:t>Load library</a:t>
            </a:r>
          </a:p>
        </p:txBody>
      </p:sp>
      <p:sp>
        <p:nvSpPr>
          <p:cNvPr id="7" name="TextBox 6"/>
          <p:cNvSpPr txBox="1"/>
          <p:nvPr/>
        </p:nvSpPr>
        <p:spPr>
          <a:xfrm>
            <a:off x="5725" y="4429260"/>
            <a:ext cx="2080754" cy="1938992"/>
          </a:xfrm>
          <a:prstGeom prst="rect">
            <a:avLst/>
          </a:prstGeom>
          <a:noFill/>
        </p:spPr>
        <p:txBody>
          <a:bodyPr wrap="square" rtlCol="0">
            <a:spAutoFit/>
          </a:bodyPr>
          <a:lstStyle/>
          <a:p>
            <a:pPr algn="ctr"/>
            <a:r>
              <a:rPr lang="en-US" sz="2400" b="1" dirty="0">
                <a:solidFill>
                  <a:srgbClr val="C00000"/>
                </a:solidFill>
              </a:rPr>
              <a:t>Note the capital letter; this is </a:t>
            </a:r>
            <a:r>
              <a:rPr lang="en-US" sz="2400" b="1" u="sng" dirty="0">
                <a:solidFill>
                  <a:srgbClr val="C00000"/>
                </a:solidFill>
              </a:rPr>
              <a:t>not</a:t>
            </a:r>
            <a:r>
              <a:rPr lang="en-US" sz="2400" b="1" dirty="0">
                <a:solidFill>
                  <a:srgbClr val="C00000"/>
                </a:solidFill>
              </a:rPr>
              <a:t> the same function as </a:t>
            </a:r>
            <a:r>
              <a:rPr lang="en-US" sz="2400" b="1" dirty="0" err="1">
                <a:solidFill>
                  <a:srgbClr val="C00000"/>
                </a:solidFill>
              </a:rPr>
              <a:t>anova</a:t>
            </a:r>
            <a:r>
              <a:rPr lang="en-US" sz="2400" b="1" dirty="0">
                <a:solidFill>
                  <a:srgbClr val="C00000"/>
                </a:solidFill>
              </a:rPr>
              <a:t>()</a:t>
            </a:r>
          </a:p>
        </p:txBody>
      </p:sp>
      <p:sp>
        <p:nvSpPr>
          <p:cNvPr id="8" name="Oval 7"/>
          <p:cNvSpPr/>
          <p:nvPr/>
        </p:nvSpPr>
        <p:spPr>
          <a:xfrm>
            <a:off x="2359368" y="3391384"/>
            <a:ext cx="1056932" cy="448143"/>
          </a:xfrm>
          <a:prstGeom prst="ellipse">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p:cNvCxnSpPr>
            <a:stCxn id="7" idx="0"/>
            <a:endCxn id="8" idx="3"/>
          </p:cNvCxnSpPr>
          <p:nvPr/>
        </p:nvCxnSpPr>
        <p:spPr>
          <a:xfrm flipV="1">
            <a:off x="1046102" y="3773898"/>
            <a:ext cx="1468050" cy="655362"/>
          </a:xfrm>
          <a:prstGeom prst="straightConnector1">
            <a:avLst/>
          </a:prstGeom>
          <a:ln w="5715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p:cNvSpPr txBox="1"/>
          <p:nvPr/>
        </p:nvSpPr>
        <p:spPr>
          <a:xfrm>
            <a:off x="8448480" y="3718689"/>
            <a:ext cx="2553387" cy="830997"/>
          </a:xfrm>
          <a:prstGeom prst="rect">
            <a:avLst/>
          </a:prstGeom>
          <a:noFill/>
        </p:spPr>
        <p:txBody>
          <a:bodyPr wrap="square" rtlCol="0">
            <a:spAutoFit/>
          </a:bodyPr>
          <a:lstStyle/>
          <a:p>
            <a:pPr algn="ctr"/>
            <a:r>
              <a:rPr lang="en-US" sz="2400" b="1" dirty="0">
                <a:solidFill>
                  <a:schemeClr val="accent6"/>
                </a:solidFill>
              </a:rPr>
              <a:t>Specify which type to use (2 or 3)</a:t>
            </a:r>
          </a:p>
        </p:txBody>
      </p:sp>
      <p:sp>
        <p:nvSpPr>
          <p:cNvPr id="12" name="Oval 11"/>
          <p:cNvSpPr/>
          <p:nvPr/>
        </p:nvSpPr>
        <p:spPr>
          <a:xfrm>
            <a:off x="4758524" y="3417338"/>
            <a:ext cx="1548257" cy="424187"/>
          </a:xfrm>
          <a:prstGeom prst="ellipse">
            <a:avLst/>
          </a:prstGeom>
          <a:noFill/>
          <a:ln w="571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p:cNvCxnSpPr/>
          <p:nvPr/>
        </p:nvCxnSpPr>
        <p:spPr>
          <a:xfrm flipH="1" flipV="1">
            <a:off x="6464301" y="3615455"/>
            <a:ext cx="1984179" cy="265529"/>
          </a:xfrm>
          <a:prstGeom prst="straightConnector1">
            <a:avLst/>
          </a:prstGeom>
          <a:ln w="57150">
            <a:solidFill>
              <a:schemeClr val="accent6"/>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8964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50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fade">
                                      <p:cBhvr>
                                        <p:cTn id="31" dur="500"/>
                                        <p:tgtEl>
                                          <p:spTgt spid="11"/>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500"/>
                                        <p:tgtEl>
                                          <p:spTgt spid="13"/>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p:bldP spid="8" grpId="0" animBg="1"/>
      <p:bldP spid="11" grpId="0"/>
      <p:bldP spid="12"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Type I versus Type II</a:t>
            </a:r>
          </a:p>
        </p:txBody>
      </p:sp>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t="7593" r="69879" b="79630"/>
          <a:stretch/>
        </p:blipFill>
        <p:spPr>
          <a:xfrm>
            <a:off x="1346199" y="2552700"/>
            <a:ext cx="3809407" cy="1993900"/>
          </a:xfrm>
          <a:prstGeom prst="rect">
            <a:avLst/>
          </a:prstGeom>
        </p:spPr>
      </p:pic>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l="602" t="32740" r="69277" b="54483"/>
          <a:stretch/>
        </p:blipFill>
        <p:spPr>
          <a:xfrm>
            <a:off x="1473197" y="4775200"/>
            <a:ext cx="3809407" cy="1993900"/>
          </a:xfrm>
          <a:prstGeom prst="rect">
            <a:avLst/>
          </a:prstGeom>
        </p:spPr>
      </p:pic>
      <p:pic>
        <p:nvPicPr>
          <p:cNvPr id="8" name="Picture 7"/>
          <p:cNvPicPr>
            <a:picLocks noChangeAspect="1"/>
          </p:cNvPicPr>
          <p:nvPr/>
        </p:nvPicPr>
        <p:blipFill rotWithShape="1">
          <a:blip r:embed="rId3">
            <a:extLst>
              <a:ext uri="{28A0092B-C50C-407E-A947-70E740481C1C}">
                <a14:useLocalDpi xmlns:a14="http://schemas.microsoft.com/office/drawing/2010/main" val="0"/>
              </a:ext>
            </a:extLst>
          </a:blip>
          <a:srcRect l="401" t="57805" r="73792" b="29418"/>
          <a:stretch/>
        </p:blipFill>
        <p:spPr>
          <a:xfrm>
            <a:off x="7093260" y="2592390"/>
            <a:ext cx="3263902" cy="1993900"/>
          </a:xfrm>
          <a:prstGeom prst="rect">
            <a:avLst/>
          </a:prstGeom>
        </p:spPr>
      </p:pic>
      <p:pic>
        <p:nvPicPr>
          <p:cNvPr id="9" name="Picture 8"/>
          <p:cNvPicPr>
            <a:picLocks noChangeAspect="1"/>
          </p:cNvPicPr>
          <p:nvPr/>
        </p:nvPicPr>
        <p:blipFill rotWithShape="1">
          <a:blip r:embed="rId3">
            <a:extLst>
              <a:ext uri="{28A0092B-C50C-407E-A947-70E740481C1C}">
                <a14:useLocalDpi xmlns:a14="http://schemas.microsoft.com/office/drawing/2010/main" val="0"/>
              </a:ext>
            </a:extLst>
          </a:blip>
          <a:srcRect l="-101" t="82545" r="73490" b="4678"/>
          <a:stretch/>
        </p:blipFill>
        <p:spPr>
          <a:xfrm>
            <a:off x="7042459" y="4775200"/>
            <a:ext cx="3365503" cy="1993900"/>
          </a:xfrm>
          <a:prstGeom prst="rect">
            <a:avLst/>
          </a:prstGeom>
        </p:spPr>
      </p:pic>
      <p:sp>
        <p:nvSpPr>
          <p:cNvPr id="10" name="TextBox 9"/>
          <p:cNvSpPr txBox="1"/>
          <p:nvPr/>
        </p:nvSpPr>
        <p:spPr>
          <a:xfrm>
            <a:off x="2071871" y="1429534"/>
            <a:ext cx="2612062" cy="1200329"/>
          </a:xfrm>
          <a:prstGeom prst="rect">
            <a:avLst/>
          </a:prstGeom>
          <a:noFill/>
        </p:spPr>
        <p:txBody>
          <a:bodyPr wrap="none" rtlCol="0">
            <a:spAutoFit/>
          </a:bodyPr>
          <a:lstStyle/>
          <a:p>
            <a:pPr algn="ctr"/>
            <a:r>
              <a:rPr lang="en-US" sz="4000" b="1" dirty="0">
                <a:solidFill>
                  <a:srgbClr val="C00000"/>
                </a:solidFill>
              </a:rPr>
              <a:t>Type I</a:t>
            </a:r>
          </a:p>
          <a:p>
            <a:pPr algn="ctr"/>
            <a:r>
              <a:rPr lang="en-US" sz="3200" b="1" dirty="0">
                <a:solidFill>
                  <a:srgbClr val="C00000"/>
                </a:solidFill>
              </a:rPr>
              <a:t>Order Matters</a:t>
            </a:r>
          </a:p>
        </p:txBody>
      </p:sp>
      <p:sp>
        <p:nvSpPr>
          <p:cNvPr id="11" name="TextBox 10"/>
          <p:cNvSpPr txBox="1"/>
          <p:nvPr/>
        </p:nvSpPr>
        <p:spPr>
          <a:xfrm>
            <a:off x="6793112" y="1443029"/>
            <a:ext cx="3864199" cy="1200329"/>
          </a:xfrm>
          <a:prstGeom prst="rect">
            <a:avLst/>
          </a:prstGeom>
          <a:noFill/>
        </p:spPr>
        <p:txBody>
          <a:bodyPr wrap="none" rtlCol="0">
            <a:spAutoFit/>
          </a:bodyPr>
          <a:lstStyle/>
          <a:p>
            <a:pPr algn="ctr"/>
            <a:r>
              <a:rPr lang="en-US" sz="4000" b="1" dirty="0">
                <a:solidFill>
                  <a:schemeClr val="accent6">
                    <a:lumMod val="75000"/>
                  </a:schemeClr>
                </a:solidFill>
              </a:rPr>
              <a:t>Type II</a:t>
            </a:r>
            <a:br>
              <a:rPr lang="en-US" sz="4000" b="1" dirty="0">
                <a:solidFill>
                  <a:schemeClr val="accent6">
                    <a:lumMod val="75000"/>
                  </a:schemeClr>
                </a:solidFill>
              </a:rPr>
            </a:br>
            <a:r>
              <a:rPr lang="en-US" sz="3200" b="1" dirty="0">
                <a:solidFill>
                  <a:schemeClr val="accent6">
                    <a:lumMod val="75000"/>
                  </a:schemeClr>
                </a:solidFill>
              </a:rPr>
              <a:t>Order Doesn’t Matter</a:t>
            </a:r>
          </a:p>
        </p:txBody>
      </p:sp>
      <p:sp>
        <p:nvSpPr>
          <p:cNvPr id="12" name="Rounded Rectangle 11"/>
          <p:cNvSpPr/>
          <p:nvPr/>
        </p:nvSpPr>
        <p:spPr>
          <a:xfrm>
            <a:off x="3784600" y="2984500"/>
            <a:ext cx="1638300" cy="3784600"/>
          </a:xfrm>
          <a:prstGeom prst="roundRect">
            <a:avLst/>
          </a:prstGeom>
          <a:noFill/>
          <a:ln w="7620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ounded Rectangle 12"/>
          <p:cNvSpPr/>
          <p:nvPr/>
        </p:nvSpPr>
        <p:spPr>
          <a:xfrm>
            <a:off x="8919737" y="2984500"/>
            <a:ext cx="1638300" cy="3784600"/>
          </a:xfrm>
          <a:prstGeom prst="roundRect">
            <a:avLst/>
          </a:prstGeom>
          <a:noFill/>
          <a:ln w="76200">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82617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500"/>
                                        <p:tgtEl>
                                          <p:spTgt spid="6"/>
                                        </p:tgtEl>
                                      </p:cBhvr>
                                    </p:animEffect>
                                  </p:childTnLst>
                                </p:cTn>
                              </p:par>
                              <p:par>
                                <p:cTn id="11" presetID="10"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500"/>
                                        <p:tgtEl>
                                          <p:spTgt spid="7"/>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fade">
                                      <p:cBhvr>
                                        <p:cTn id="18" dur="500"/>
                                        <p:tgtEl>
                                          <p:spTgt spid="12"/>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fade">
                                      <p:cBhvr>
                                        <p:cTn id="23" dur="500"/>
                                        <p:tgtEl>
                                          <p:spTgt spid="11"/>
                                        </p:tgtEl>
                                      </p:cBhvr>
                                    </p:animEffect>
                                  </p:childTnLst>
                                </p:cTn>
                              </p:par>
                              <p:par>
                                <p:cTn id="24" presetID="10" presetClass="entr" presetSubtype="0" fill="hold"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fade">
                                      <p:cBhvr>
                                        <p:cTn id="26" dur="500"/>
                                        <p:tgtEl>
                                          <p:spTgt spid="8"/>
                                        </p:tgtEl>
                                      </p:cBhvr>
                                    </p:animEffect>
                                  </p:childTnLst>
                                </p:cTn>
                              </p:par>
                              <p:par>
                                <p:cTn id="27" presetID="10" presetClass="entr" presetSubtype="0" fill="hold" nodeType="withEffect">
                                  <p:stCondLst>
                                    <p:cond delay="0"/>
                                  </p:stCondLst>
                                  <p:childTnLst>
                                    <p:set>
                                      <p:cBhvr>
                                        <p:cTn id="28" dur="1" fill="hold">
                                          <p:stCondLst>
                                            <p:cond delay="0"/>
                                          </p:stCondLst>
                                        </p:cTn>
                                        <p:tgtEl>
                                          <p:spTgt spid="9"/>
                                        </p:tgtEl>
                                        <p:attrNameLst>
                                          <p:attrName>style.visibility</p:attrName>
                                        </p:attrNameLst>
                                      </p:cBhvr>
                                      <p:to>
                                        <p:strVal val="visible"/>
                                      </p:to>
                                    </p:set>
                                    <p:animEffect transition="in" filter="fade">
                                      <p:cBhvr>
                                        <p:cTn id="29" dur="500"/>
                                        <p:tgtEl>
                                          <p:spTgt spid="9"/>
                                        </p:tgtEl>
                                      </p:cBhvr>
                                    </p:animEffect>
                                  </p:childTnLst>
                                </p:cTn>
                              </p:par>
                            </p:childTnLst>
                          </p:cTn>
                        </p:par>
                        <p:par>
                          <p:cTn id="30" fill="hold">
                            <p:stCondLst>
                              <p:cond delay="50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1" grpId="0"/>
      <p:bldP spid="12" grpId="0" animBg="1"/>
      <p:bldP spid="13" grpId="0" animBg="1"/>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6693" y="2438541"/>
            <a:ext cx="10794102" cy="1646737"/>
          </a:xfrm>
          <a:prstGeom prst="rect">
            <a:avLst/>
          </a:prstGeom>
        </p:spPr>
      </p:pic>
      <p:sp>
        <p:nvSpPr>
          <p:cNvPr id="2" name="Title 1"/>
          <p:cNvSpPr>
            <a:spLocks noGrp="1"/>
          </p:cNvSpPr>
          <p:nvPr>
            <p:ph type="title"/>
          </p:nvPr>
        </p:nvSpPr>
        <p:spPr/>
        <p:txBody>
          <a:bodyPr/>
          <a:lstStyle/>
          <a:p>
            <a:r>
              <a:rPr lang="en-US" dirty="0"/>
              <a:t>Sums-of-squares in R</a:t>
            </a:r>
          </a:p>
        </p:txBody>
      </p:sp>
      <p:sp>
        <p:nvSpPr>
          <p:cNvPr id="3" name="Content Placeholder 2"/>
          <p:cNvSpPr>
            <a:spLocks noGrp="1"/>
          </p:cNvSpPr>
          <p:nvPr>
            <p:ph idx="1"/>
          </p:nvPr>
        </p:nvSpPr>
        <p:spPr>
          <a:xfrm>
            <a:off x="838200" y="1825625"/>
            <a:ext cx="10515600" cy="558958"/>
          </a:xfrm>
        </p:spPr>
        <p:txBody>
          <a:bodyPr/>
          <a:lstStyle/>
          <a:p>
            <a:r>
              <a:rPr lang="en-US" dirty="0"/>
              <a:t>Type III SS requires an extra line of code</a:t>
            </a:r>
          </a:p>
        </p:txBody>
      </p:sp>
      <p:sp>
        <p:nvSpPr>
          <p:cNvPr id="11" name="TextBox 10"/>
          <p:cNvSpPr txBox="1"/>
          <p:nvPr/>
        </p:nvSpPr>
        <p:spPr>
          <a:xfrm>
            <a:off x="1276693" y="4546298"/>
            <a:ext cx="6586521" cy="1569660"/>
          </a:xfrm>
          <a:prstGeom prst="rect">
            <a:avLst/>
          </a:prstGeom>
          <a:noFill/>
        </p:spPr>
        <p:txBody>
          <a:bodyPr wrap="square" rtlCol="0">
            <a:spAutoFit/>
          </a:bodyPr>
          <a:lstStyle/>
          <a:p>
            <a:pPr algn="ctr"/>
            <a:r>
              <a:rPr lang="en-US" sz="3200" b="1" dirty="0">
                <a:solidFill>
                  <a:srgbClr val="C00000"/>
                </a:solidFill>
              </a:rPr>
              <a:t>Specifies the type of contrasts the model uses; R’s defaults are not appropriate for Type III SS</a:t>
            </a:r>
          </a:p>
        </p:txBody>
      </p:sp>
      <p:sp>
        <p:nvSpPr>
          <p:cNvPr id="9" name="Rounded Rectangle 8"/>
          <p:cNvSpPr/>
          <p:nvPr/>
        </p:nvSpPr>
        <p:spPr>
          <a:xfrm>
            <a:off x="1592966" y="3086100"/>
            <a:ext cx="8198734" cy="386503"/>
          </a:xfrm>
          <a:prstGeom prst="roundRect">
            <a:avLst/>
          </a:prstGeom>
          <a:noFill/>
          <a:ln w="57150">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66592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9"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Sums-of-squares in R</a:t>
            </a:r>
          </a:p>
        </p:txBody>
      </p:sp>
      <p:pic>
        <p:nvPicPr>
          <p:cNvPr id="4" name="Picture 3"/>
          <p:cNvPicPr>
            <a:picLocks noChangeAspect="1"/>
          </p:cNvPicPr>
          <p:nvPr/>
        </p:nvPicPr>
        <p:blipFill rotWithShape="1">
          <a:blip r:embed="rId3">
            <a:extLst>
              <a:ext uri="{28A0092B-C50C-407E-A947-70E740481C1C}">
                <a14:useLocalDpi xmlns:a14="http://schemas.microsoft.com/office/drawing/2010/main" val="0"/>
              </a:ext>
            </a:extLst>
          </a:blip>
          <a:srcRect l="-1" t="10001" r="60164" b="69090"/>
          <a:stretch/>
        </p:blipFill>
        <p:spPr>
          <a:xfrm>
            <a:off x="609600" y="3175000"/>
            <a:ext cx="3785792" cy="2324100"/>
          </a:xfrm>
          <a:prstGeom prst="rect">
            <a:avLst/>
          </a:prstGeom>
        </p:spPr>
      </p:pic>
      <p:pic>
        <p:nvPicPr>
          <p:cNvPr id="10" name="Picture 9"/>
          <p:cNvPicPr>
            <a:picLocks noChangeAspect="1"/>
          </p:cNvPicPr>
          <p:nvPr/>
        </p:nvPicPr>
        <p:blipFill rotWithShape="1">
          <a:blip r:embed="rId3">
            <a:extLst>
              <a:ext uri="{28A0092B-C50C-407E-A947-70E740481C1C}">
                <a14:useLocalDpi xmlns:a14="http://schemas.microsoft.com/office/drawing/2010/main" val="0"/>
              </a:ext>
            </a:extLst>
          </a:blip>
          <a:srcRect l="-316" t="40921" r="64769" b="37598"/>
          <a:stretch/>
        </p:blipFill>
        <p:spPr>
          <a:xfrm>
            <a:off x="4686300" y="3111500"/>
            <a:ext cx="3378200" cy="2387600"/>
          </a:xfrm>
          <a:prstGeom prst="rect">
            <a:avLst/>
          </a:prstGeom>
        </p:spPr>
      </p:pic>
      <p:pic>
        <p:nvPicPr>
          <p:cNvPr id="12" name="Picture 11"/>
          <p:cNvPicPr>
            <a:picLocks noChangeAspect="1"/>
          </p:cNvPicPr>
          <p:nvPr/>
        </p:nvPicPr>
        <p:blipFill rotWithShape="1">
          <a:blip r:embed="rId3">
            <a:extLst>
              <a:ext uri="{28A0092B-C50C-407E-A947-70E740481C1C}">
                <a14:useLocalDpi xmlns:a14="http://schemas.microsoft.com/office/drawing/2010/main" val="0"/>
              </a:ext>
            </a:extLst>
          </a:blip>
          <a:srcRect l="158" t="72776" r="65081" b="3344"/>
          <a:stretch/>
        </p:blipFill>
        <p:spPr>
          <a:xfrm>
            <a:off x="8507610" y="2857500"/>
            <a:ext cx="3303390" cy="2654300"/>
          </a:xfrm>
          <a:prstGeom prst="rect">
            <a:avLst/>
          </a:prstGeom>
        </p:spPr>
      </p:pic>
      <p:pic>
        <p:nvPicPr>
          <p:cNvPr id="13" name="Picture 12"/>
          <p:cNvPicPr>
            <a:picLocks noChangeAspect="1"/>
          </p:cNvPicPr>
          <p:nvPr/>
        </p:nvPicPr>
        <p:blipFill rotWithShape="1">
          <a:blip r:embed="rId3">
            <a:extLst>
              <a:ext uri="{28A0092B-C50C-407E-A947-70E740481C1C}">
                <a14:useLocalDpi xmlns:a14="http://schemas.microsoft.com/office/drawing/2010/main" val="0"/>
              </a:ext>
            </a:extLst>
          </a:blip>
          <a:srcRect l="-1" t="2831" r="60164" b="94570"/>
          <a:stretch/>
        </p:blipFill>
        <p:spPr>
          <a:xfrm>
            <a:off x="609600" y="2593976"/>
            <a:ext cx="3785792" cy="288924"/>
          </a:xfrm>
          <a:prstGeom prst="rect">
            <a:avLst/>
          </a:prstGeom>
        </p:spPr>
      </p:pic>
      <p:pic>
        <p:nvPicPr>
          <p:cNvPr id="14" name="Picture 13"/>
          <p:cNvPicPr>
            <a:picLocks noChangeAspect="1"/>
          </p:cNvPicPr>
          <p:nvPr/>
        </p:nvPicPr>
        <p:blipFill rotWithShape="1">
          <a:blip r:embed="rId3">
            <a:extLst>
              <a:ext uri="{28A0092B-C50C-407E-A947-70E740481C1C}">
                <a14:useLocalDpi xmlns:a14="http://schemas.microsoft.com/office/drawing/2010/main" val="0"/>
              </a:ext>
            </a:extLst>
          </a:blip>
          <a:srcRect l="-316" t="34322" r="63167" b="62964"/>
          <a:stretch/>
        </p:blipFill>
        <p:spPr>
          <a:xfrm>
            <a:off x="4686300" y="2593976"/>
            <a:ext cx="3530402" cy="301624"/>
          </a:xfrm>
          <a:prstGeom prst="rect">
            <a:avLst/>
          </a:prstGeom>
        </p:spPr>
      </p:pic>
      <p:pic>
        <p:nvPicPr>
          <p:cNvPr id="15" name="Picture 14"/>
          <p:cNvPicPr>
            <a:picLocks noChangeAspect="1"/>
          </p:cNvPicPr>
          <p:nvPr/>
        </p:nvPicPr>
        <p:blipFill rotWithShape="1">
          <a:blip r:embed="rId3">
            <a:extLst>
              <a:ext uri="{28A0092B-C50C-407E-A947-70E740481C1C}">
                <a14:useLocalDpi xmlns:a14="http://schemas.microsoft.com/office/drawing/2010/main" val="0"/>
              </a:ext>
            </a:extLst>
          </a:blip>
          <a:srcRect l="158" t="65949" r="62693" b="31338"/>
          <a:stretch/>
        </p:blipFill>
        <p:spPr>
          <a:xfrm>
            <a:off x="8507610" y="2593976"/>
            <a:ext cx="3530402" cy="301624"/>
          </a:xfrm>
          <a:prstGeom prst="rect">
            <a:avLst/>
          </a:prstGeom>
        </p:spPr>
      </p:pic>
    </p:spTree>
    <p:extLst>
      <p:ext uri="{BB962C8B-B14F-4D97-AF65-F5344CB8AC3E}">
        <p14:creationId xmlns:p14="http://schemas.microsoft.com/office/powerpoint/2010/main" val="38926993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Sums of squares</a:t>
            </a:r>
            <a:endParaRPr lang="en-US" dirty="0"/>
          </a:p>
        </p:txBody>
      </p:sp>
      <p:sp>
        <p:nvSpPr>
          <p:cNvPr id="3" name="Content Placeholder 2"/>
          <p:cNvSpPr>
            <a:spLocks noGrp="1"/>
          </p:cNvSpPr>
          <p:nvPr>
            <p:ph idx="1"/>
          </p:nvPr>
        </p:nvSpPr>
        <p:spPr/>
        <p:txBody>
          <a:bodyPr/>
          <a:lstStyle/>
          <a:p>
            <a:r>
              <a:rPr lang="en-US" dirty="0"/>
              <a:t>Load “16_peanuts.csv” and do an ANOVA analysis </a:t>
            </a:r>
          </a:p>
          <a:p>
            <a:pPr lvl="1"/>
            <a:r>
              <a:rPr lang="en-US" dirty="0"/>
              <a:t>Which SS method is most appropriate for this dataset?</a:t>
            </a:r>
          </a:p>
          <a:p>
            <a:pPr lvl="1"/>
            <a:r>
              <a:rPr lang="en-US" dirty="0"/>
              <a:t>Run an ANOVA with that method</a:t>
            </a:r>
          </a:p>
          <a:p>
            <a:r>
              <a:rPr lang="en-US" dirty="0"/>
              <a:t>Code for enabling Type III SS if you need it:</a:t>
            </a:r>
          </a:p>
          <a:p>
            <a:pPr lvl="1"/>
            <a:r>
              <a:rPr lang="en-US" sz="2400" b="1" dirty="0">
                <a:latin typeface="Courier New" panose="02070309020205020404" pitchFamily="49" charset="0"/>
                <a:cs typeface="Courier New" panose="02070309020205020404" pitchFamily="49" charset="0"/>
              </a:rPr>
              <a:t>options(contrasts = c("</a:t>
            </a:r>
            <a:r>
              <a:rPr lang="en-US" sz="2400" b="1" dirty="0" err="1">
                <a:latin typeface="Courier New" panose="02070309020205020404" pitchFamily="49" charset="0"/>
                <a:cs typeface="Courier New" panose="02070309020205020404" pitchFamily="49" charset="0"/>
              </a:rPr>
              <a:t>contr.sum</a:t>
            </a:r>
            <a:r>
              <a:rPr lang="en-US" sz="2400" b="1" dirty="0">
                <a:latin typeface="Courier New" panose="02070309020205020404" pitchFamily="49" charset="0"/>
                <a:cs typeface="Courier New" panose="02070309020205020404" pitchFamily="49" charset="0"/>
              </a:rPr>
              <a:t>", "</a:t>
            </a:r>
            <a:r>
              <a:rPr lang="en-US" sz="2400" b="1" dirty="0" err="1">
                <a:latin typeface="Courier New" panose="02070309020205020404" pitchFamily="49" charset="0"/>
                <a:cs typeface="Courier New" panose="02070309020205020404" pitchFamily="49" charset="0"/>
              </a:rPr>
              <a:t>contr.poly</a:t>
            </a:r>
            <a:r>
              <a:rPr lang="en-US" sz="2400" b="1" dirty="0">
                <a:latin typeface="Courier New" panose="02070309020205020404" pitchFamily="49" charset="0"/>
                <a:cs typeface="Courier New" panose="02070309020205020404" pitchFamily="49" charset="0"/>
              </a:rPr>
              <a:t>"))</a:t>
            </a:r>
          </a:p>
          <a:p>
            <a:pPr marL="0" indent="0">
              <a:buNone/>
            </a:pPr>
            <a:endParaRPr lang="en-US" sz="2800" b="1" dirty="0">
              <a:cs typeface="Courier New" panose="02070309020205020404" pitchFamily="49" charset="0"/>
            </a:endParaRPr>
          </a:p>
        </p:txBody>
      </p:sp>
    </p:spTree>
    <p:extLst>
      <p:ext uri="{BB962C8B-B14F-4D97-AF65-F5344CB8AC3E}">
        <p14:creationId xmlns:p14="http://schemas.microsoft.com/office/powerpoint/2010/main" val="272638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Sums of squares</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b="87695"/>
          <a:stretch/>
        </p:blipFill>
        <p:spPr>
          <a:xfrm>
            <a:off x="1060196" y="1690688"/>
            <a:ext cx="10674603" cy="1008969"/>
          </a:xfrm>
          <a:prstGeom prst="rect">
            <a:avLst/>
          </a:prstGeom>
        </p:spPr>
      </p:pic>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t="12306" b="39723"/>
          <a:stretch/>
        </p:blipFill>
        <p:spPr>
          <a:xfrm>
            <a:off x="1060195" y="2924628"/>
            <a:ext cx="10674603" cy="3933372"/>
          </a:xfrm>
          <a:prstGeom prst="rect">
            <a:avLst/>
          </a:prstGeom>
        </p:spPr>
      </p:pic>
    </p:spTree>
    <p:extLst>
      <p:ext uri="{BB962C8B-B14F-4D97-AF65-F5344CB8AC3E}">
        <p14:creationId xmlns:p14="http://schemas.microsoft.com/office/powerpoint/2010/main" val="2813907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In-class exercise:</a:t>
            </a:r>
            <a:br>
              <a:rPr lang="en-US" dirty="0"/>
            </a:br>
            <a:r>
              <a:rPr lang="en-US" sz="2800" dirty="0"/>
              <a:t>Sums of squares</a:t>
            </a:r>
            <a:endParaRPr lang="en-US" dirty="0"/>
          </a:p>
        </p:txBody>
      </p:sp>
      <p:sp>
        <p:nvSpPr>
          <p:cNvPr id="4" name="&quot;No&quot; Symbol 3"/>
          <p:cNvSpPr/>
          <p:nvPr/>
        </p:nvSpPr>
        <p:spPr>
          <a:xfrm>
            <a:off x="10798629" y="176981"/>
            <a:ext cx="1196566" cy="1196566"/>
          </a:xfrm>
          <a:prstGeom prst="noSmoking">
            <a:avLst/>
          </a:prstGeom>
          <a:solidFill>
            <a:srgbClr val="FF0000"/>
          </a:solidFill>
          <a:ln w="28575">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b="87695"/>
          <a:stretch/>
        </p:blipFill>
        <p:spPr>
          <a:xfrm>
            <a:off x="1060196" y="1690688"/>
            <a:ext cx="10674603" cy="1008969"/>
          </a:xfrm>
          <a:prstGeom prst="rect">
            <a:avLst/>
          </a:prstGeom>
        </p:spPr>
      </p:pic>
      <p:pic>
        <p:nvPicPr>
          <p:cNvPr id="3" name="Picture 2"/>
          <p:cNvPicPr>
            <a:picLocks noChangeAspect="1"/>
          </p:cNvPicPr>
          <p:nvPr/>
        </p:nvPicPr>
        <p:blipFill rotWithShape="1">
          <a:blip r:embed="rId3">
            <a:extLst>
              <a:ext uri="{28A0092B-C50C-407E-A947-70E740481C1C}">
                <a14:useLocalDpi xmlns:a14="http://schemas.microsoft.com/office/drawing/2010/main" val="0"/>
              </a:ext>
            </a:extLst>
          </a:blip>
          <a:srcRect t="844" b="14211"/>
          <a:stretch/>
        </p:blipFill>
        <p:spPr>
          <a:xfrm>
            <a:off x="1060195" y="2924628"/>
            <a:ext cx="10668393" cy="3650343"/>
          </a:xfrm>
          <a:prstGeom prst="rect">
            <a:avLst/>
          </a:prstGeom>
        </p:spPr>
      </p:pic>
    </p:spTree>
    <p:extLst>
      <p:ext uri="{BB962C8B-B14F-4D97-AF65-F5344CB8AC3E}">
        <p14:creationId xmlns:p14="http://schemas.microsoft.com/office/powerpoint/2010/main" val="2506938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questions on Sums of Squares?</a:t>
            </a:r>
          </a:p>
        </p:txBody>
      </p:sp>
      <p:sp>
        <p:nvSpPr>
          <p:cNvPr id="3" name="Content Placeholder 2"/>
          <p:cNvSpPr>
            <a:spLocks noGrp="1"/>
          </p:cNvSpPr>
          <p:nvPr>
            <p:ph idx="1"/>
          </p:nvPr>
        </p:nvSpPr>
        <p:spPr/>
        <p:txBody>
          <a:bodyPr/>
          <a:lstStyle/>
          <a:p>
            <a:endParaRPr lang="en-US" dirty="0"/>
          </a:p>
        </p:txBody>
      </p:sp>
    </p:spTree>
    <p:extLst>
      <p:ext uri="{BB962C8B-B14F-4D97-AF65-F5344CB8AC3E}">
        <p14:creationId xmlns:p14="http://schemas.microsoft.com/office/powerpoint/2010/main" val="20224054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9DCE26-EAEF-8441-EF50-1A257D9E0DBF}"/>
              </a:ext>
            </a:extLst>
          </p:cNvPr>
          <p:cNvSpPr>
            <a:spLocks noGrp="1"/>
          </p:cNvSpPr>
          <p:nvPr>
            <p:ph type="title"/>
          </p:nvPr>
        </p:nvSpPr>
        <p:spPr/>
        <p:txBody>
          <a:bodyPr/>
          <a:lstStyle/>
          <a:p>
            <a:r>
              <a:rPr lang="en-US" dirty="0"/>
              <a:t>Homework 6</a:t>
            </a:r>
          </a:p>
        </p:txBody>
      </p:sp>
      <p:sp>
        <p:nvSpPr>
          <p:cNvPr id="3" name="Content Placeholder 2">
            <a:extLst>
              <a:ext uri="{FF2B5EF4-FFF2-40B4-BE49-F238E27FC236}">
                <a16:creationId xmlns:a16="http://schemas.microsoft.com/office/drawing/2014/main" id="{EA9EEFD1-90A2-BF76-FF5D-7D93F2A429DB}"/>
              </a:ext>
            </a:extLst>
          </p:cNvPr>
          <p:cNvSpPr>
            <a:spLocks noGrp="1"/>
          </p:cNvSpPr>
          <p:nvPr>
            <p:ph idx="1"/>
          </p:nvPr>
        </p:nvSpPr>
        <p:spPr/>
        <p:txBody>
          <a:bodyPr/>
          <a:lstStyle/>
          <a:p>
            <a:r>
              <a:rPr lang="en-US" dirty="0"/>
              <a:t>Due before class Thursday (Oct 15)</a:t>
            </a:r>
          </a:p>
          <a:p>
            <a:pPr lvl="1"/>
            <a:r>
              <a:rPr lang="en-US" dirty="0"/>
              <a:t>Response by start of Tuesday class (Oct 20)</a:t>
            </a:r>
          </a:p>
          <a:p>
            <a:endParaRPr lang="en-US" dirty="0"/>
          </a:p>
        </p:txBody>
      </p:sp>
    </p:spTree>
    <p:extLst>
      <p:ext uri="{BB962C8B-B14F-4D97-AF65-F5344CB8AC3E}">
        <p14:creationId xmlns:p14="http://schemas.microsoft.com/office/powerpoint/2010/main" val="42600007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1:</a:t>
            </a:r>
            <a:br>
              <a:rPr lang="en-US" dirty="0"/>
            </a:br>
            <a:r>
              <a:rPr lang="en-US" sz="2800" dirty="0"/>
              <a:t>Linear Regression</a:t>
            </a:r>
            <a:endParaRPr lang="en-US" dirty="0"/>
          </a:p>
        </p:txBody>
      </p:sp>
      <p:sp>
        <p:nvSpPr>
          <p:cNvPr id="3" name="Content Placeholder 2"/>
          <p:cNvSpPr>
            <a:spLocks noGrp="1"/>
          </p:cNvSpPr>
          <p:nvPr>
            <p:ph idx="1"/>
          </p:nvPr>
        </p:nvSpPr>
        <p:spPr>
          <a:xfrm>
            <a:off x="838200" y="1825624"/>
            <a:ext cx="10515600" cy="3839679"/>
          </a:xfrm>
        </p:spPr>
        <p:txBody>
          <a:bodyPr/>
          <a:lstStyle/>
          <a:p>
            <a:r>
              <a:rPr lang="en-US" dirty="0"/>
              <a:t>Download the dataset “16_malting.csv”, containing a test of barley malting quality at a combination of planting densities and planting depths.</a:t>
            </a:r>
          </a:p>
          <a:p>
            <a:pPr lvl="1"/>
            <a:r>
              <a:rPr lang="en-US" dirty="0"/>
              <a:t>What kind of design is this?</a:t>
            </a:r>
          </a:p>
          <a:p>
            <a:pPr lvl="1"/>
            <a:r>
              <a:rPr lang="en-US" dirty="0"/>
              <a:t>Run an ANOVA analysis on this data using both </a:t>
            </a:r>
            <a:r>
              <a:rPr lang="en-US" dirty="0" err="1"/>
              <a:t>aov</a:t>
            </a:r>
            <a:r>
              <a:rPr lang="en-US" dirty="0"/>
              <a:t>() and </a:t>
            </a:r>
            <a:r>
              <a:rPr lang="en-US" dirty="0" err="1"/>
              <a:t>anova</a:t>
            </a:r>
            <a:r>
              <a:rPr lang="en-US" dirty="0"/>
              <a:t>()</a:t>
            </a:r>
          </a:p>
          <a:p>
            <a:pPr lvl="2"/>
            <a:r>
              <a:rPr lang="en-US" dirty="0"/>
              <a:t>Confirm that the results are the same for each factor</a:t>
            </a:r>
          </a:p>
          <a:p>
            <a:pPr lvl="1"/>
            <a:r>
              <a:rPr lang="en-US" dirty="0"/>
              <a:t>Which factor(s) is/are significant?</a:t>
            </a:r>
          </a:p>
          <a:p>
            <a:pPr lvl="2"/>
            <a:r>
              <a:rPr lang="en-US" dirty="0"/>
              <a:t>If there are any significant interactions, plot them.</a:t>
            </a:r>
          </a:p>
          <a:p>
            <a:pPr lvl="1"/>
            <a:endParaRPr lang="en-US" dirty="0"/>
          </a:p>
        </p:txBody>
      </p:sp>
      <p:pic>
        <p:nvPicPr>
          <p:cNvPr id="9" name="Picture 8"/>
          <p:cNvPicPr>
            <a:picLocks noChangeAspect="1"/>
          </p:cNvPicPr>
          <p:nvPr/>
        </p:nvPicPr>
        <p:blipFill rotWithShape="1">
          <a:blip r:embed="rId2" cstate="print">
            <a:extLst>
              <a:ext uri="{28A0092B-C50C-407E-A947-70E740481C1C}">
                <a14:useLocalDpi xmlns:a14="http://schemas.microsoft.com/office/drawing/2010/main" val="0"/>
              </a:ext>
            </a:extLst>
          </a:blip>
          <a:srcRect l="17914" t="32485" r="41277" b="19172"/>
          <a:stretch/>
        </p:blipFill>
        <p:spPr>
          <a:xfrm>
            <a:off x="8994913" y="4336775"/>
            <a:ext cx="3197087" cy="2521225"/>
          </a:xfrm>
          <a:prstGeom prst="rect">
            <a:avLst/>
          </a:prstGeom>
          <a:ln w="57150">
            <a:solidFill>
              <a:schemeClr val="tx1"/>
            </a:solidFill>
          </a:ln>
        </p:spPr>
      </p:pic>
    </p:spTree>
    <p:extLst>
      <p:ext uri="{BB962C8B-B14F-4D97-AF65-F5344CB8AC3E}">
        <p14:creationId xmlns:p14="http://schemas.microsoft.com/office/powerpoint/2010/main" val="18132487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2:</a:t>
            </a:r>
            <a:br>
              <a:rPr lang="en-US" dirty="0"/>
            </a:br>
            <a:r>
              <a:rPr lang="en-US" sz="2800" dirty="0"/>
              <a:t>Fill out the model table</a:t>
            </a:r>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1418342219"/>
              </p:ext>
            </p:extLst>
          </p:nvPr>
        </p:nvGraphicFramePr>
        <p:xfrm>
          <a:off x="142239" y="4185918"/>
          <a:ext cx="8961121" cy="3058160"/>
        </p:xfrm>
        <a:graphic>
          <a:graphicData uri="http://schemas.openxmlformats.org/drawingml/2006/table">
            <a:tbl>
              <a:tblPr firstRow="1" bandRow="1">
                <a:tableStyleId>{7E9639D4-E3E2-4D34-9284-5A2195B3D0D7}</a:tableStyleId>
              </a:tblPr>
              <a:tblGrid>
                <a:gridCol w="871727">
                  <a:extLst>
                    <a:ext uri="{9D8B030D-6E8A-4147-A177-3AD203B41FA5}">
                      <a16:colId xmlns:a16="http://schemas.microsoft.com/office/drawing/2014/main" val="20000"/>
                    </a:ext>
                  </a:extLst>
                </a:gridCol>
                <a:gridCol w="871727">
                  <a:extLst>
                    <a:ext uri="{9D8B030D-6E8A-4147-A177-3AD203B41FA5}">
                      <a16:colId xmlns:a16="http://schemas.microsoft.com/office/drawing/2014/main" val="20001"/>
                    </a:ext>
                  </a:extLst>
                </a:gridCol>
                <a:gridCol w="871727">
                  <a:extLst>
                    <a:ext uri="{9D8B030D-6E8A-4147-A177-3AD203B41FA5}">
                      <a16:colId xmlns:a16="http://schemas.microsoft.com/office/drawing/2014/main" val="20002"/>
                    </a:ext>
                  </a:extLst>
                </a:gridCol>
                <a:gridCol w="871727">
                  <a:extLst>
                    <a:ext uri="{9D8B030D-6E8A-4147-A177-3AD203B41FA5}">
                      <a16:colId xmlns:a16="http://schemas.microsoft.com/office/drawing/2014/main" val="20003"/>
                    </a:ext>
                  </a:extLst>
                </a:gridCol>
                <a:gridCol w="871727">
                  <a:extLst>
                    <a:ext uri="{9D8B030D-6E8A-4147-A177-3AD203B41FA5}">
                      <a16:colId xmlns:a16="http://schemas.microsoft.com/office/drawing/2014/main" val="20004"/>
                    </a:ext>
                  </a:extLst>
                </a:gridCol>
                <a:gridCol w="782321">
                  <a:extLst>
                    <a:ext uri="{9D8B030D-6E8A-4147-A177-3AD203B41FA5}">
                      <a16:colId xmlns:a16="http://schemas.microsoft.com/office/drawing/2014/main" val="20005"/>
                    </a:ext>
                  </a:extLst>
                </a:gridCol>
                <a:gridCol w="1412240">
                  <a:extLst>
                    <a:ext uri="{9D8B030D-6E8A-4147-A177-3AD203B41FA5}">
                      <a16:colId xmlns:a16="http://schemas.microsoft.com/office/drawing/2014/main" val="20006"/>
                    </a:ext>
                  </a:extLst>
                </a:gridCol>
                <a:gridCol w="1036321">
                  <a:extLst>
                    <a:ext uri="{9D8B030D-6E8A-4147-A177-3AD203B41FA5}">
                      <a16:colId xmlns:a16="http://schemas.microsoft.com/office/drawing/2014/main" val="20007"/>
                    </a:ext>
                  </a:extLst>
                </a:gridCol>
                <a:gridCol w="1371604">
                  <a:extLst>
                    <a:ext uri="{9D8B030D-6E8A-4147-A177-3AD203B41FA5}">
                      <a16:colId xmlns:a16="http://schemas.microsoft.com/office/drawing/2014/main" val="20008"/>
                    </a:ext>
                  </a:extLst>
                </a:gridCol>
              </a:tblGrid>
              <a:tr h="370840">
                <a:tc>
                  <a:txBody>
                    <a:bodyPr/>
                    <a:lstStyle/>
                    <a:p>
                      <a:pPr algn="ctr"/>
                      <a:r>
                        <a:rPr lang="en-US" sz="1400" dirty="0"/>
                        <a:t>intercept</a:t>
                      </a:r>
                    </a:p>
                  </a:txBody>
                  <a:tcPr anchor="ctr"/>
                </a:tc>
                <a:tc>
                  <a:txBody>
                    <a:bodyPr/>
                    <a:lstStyle/>
                    <a:p>
                      <a:pPr algn="ctr"/>
                      <a:r>
                        <a:rPr lang="en-US" dirty="0"/>
                        <a:t>block1</a:t>
                      </a:r>
                    </a:p>
                  </a:txBody>
                  <a:tcPr>
                    <a:solidFill>
                      <a:schemeClr val="bg1">
                        <a:lumMod val="65000"/>
                      </a:schemeClr>
                    </a:solidFill>
                  </a:tcPr>
                </a:tc>
                <a:tc>
                  <a:txBody>
                    <a:bodyPr/>
                    <a:lstStyle/>
                    <a:p>
                      <a:pPr algn="ctr"/>
                      <a:r>
                        <a:rPr lang="en-US" dirty="0"/>
                        <a:t>block2</a:t>
                      </a:r>
                    </a:p>
                  </a:txBody>
                  <a:tcPr/>
                </a:tc>
                <a:tc>
                  <a:txBody>
                    <a:bodyPr/>
                    <a:lstStyle/>
                    <a:p>
                      <a:pPr algn="ctr"/>
                      <a:r>
                        <a:rPr lang="en-US" dirty="0"/>
                        <a:t>block3</a:t>
                      </a:r>
                    </a:p>
                  </a:txBody>
                  <a:tcPr/>
                </a:tc>
                <a:tc>
                  <a:txBody>
                    <a:bodyPr/>
                    <a:lstStyle/>
                    <a:p>
                      <a:pPr algn="ctr"/>
                      <a:r>
                        <a:rPr lang="en-US" dirty="0"/>
                        <a:t>block4</a:t>
                      </a:r>
                    </a:p>
                  </a:txBody>
                  <a:tcPr/>
                </a:tc>
                <a:tc>
                  <a:txBody>
                    <a:bodyPr/>
                    <a:lstStyle/>
                    <a:p>
                      <a:pPr algn="ctr"/>
                      <a:r>
                        <a:rPr lang="en-US" dirty="0"/>
                        <a:t>Anne</a:t>
                      </a:r>
                    </a:p>
                  </a:txBody>
                  <a:tcPr>
                    <a:solidFill>
                      <a:schemeClr val="bg1">
                        <a:lumMod val="65000"/>
                      </a:schemeClr>
                    </a:solidFill>
                  </a:tcPr>
                </a:tc>
                <a:tc>
                  <a:txBody>
                    <a:bodyPr/>
                    <a:lstStyle/>
                    <a:p>
                      <a:pPr algn="ctr"/>
                      <a:r>
                        <a:rPr lang="en-US" dirty="0"/>
                        <a:t>Cumberland</a:t>
                      </a:r>
                    </a:p>
                  </a:txBody>
                  <a:tcPr/>
                </a:tc>
                <a:tc>
                  <a:txBody>
                    <a:bodyPr/>
                    <a:lstStyle/>
                    <a:p>
                      <a:pPr algn="ctr"/>
                      <a:r>
                        <a:rPr lang="en-US" dirty="0"/>
                        <a:t>Heritage</a:t>
                      </a:r>
                      <a:endParaRPr lang="en-US" sz="1800" dirty="0"/>
                    </a:p>
                  </a:txBody>
                  <a:tcPr/>
                </a:tc>
                <a:tc>
                  <a:txBody>
                    <a:bodyPr/>
                    <a:lstStyle/>
                    <a:p>
                      <a:pPr algn="ctr"/>
                      <a:r>
                        <a:rPr lang="en-US" dirty="0" err="1"/>
                        <a:t>JewellBlack</a:t>
                      </a:r>
                      <a:endParaRPr lang="en-US" dirty="0"/>
                    </a:p>
                  </a:txBody>
                  <a:tcPr/>
                </a:tc>
                <a:extLst>
                  <a:ext uri="{0D108BD9-81ED-4DB2-BD59-A6C34878D82A}">
                    <a16:rowId xmlns:a16="http://schemas.microsoft.com/office/drawing/2014/main" val="10000"/>
                  </a:ext>
                </a:extLst>
              </a:tr>
              <a:tr h="370840">
                <a:tc>
                  <a:txBody>
                    <a:bodyPr/>
                    <a:lstStyle/>
                    <a:p>
                      <a:pPr algn="ctr"/>
                      <a:r>
                        <a:rPr lang="en-US" sz="1600" b="1" kern="1200" dirty="0">
                          <a:solidFill>
                            <a:schemeClr val="tx1"/>
                          </a:solidFill>
                          <a:latin typeface="+mn-lt"/>
                          <a:ea typeface="+mn-ea"/>
                          <a:cs typeface="+mn-cs"/>
                        </a:rPr>
                        <a:t>12.406</a:t>
                      </a: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extLst>
                  <a:ext uri="{0D108BD9-81ED-4DB2-BD59-A6C34878D82A}">
                    <a16:rowId xmlns:a16="http://schemas.microsoft.com/office/drawing/2014/main" val="1000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12.406</a:t>
                      </a:r>
                    </a:p>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r>
                        <a:rPr lang="en-US" sz="1600" b="1" kern="1200" dirty="0">
                          <a:solidFill>
                            <a:schemeClr val="tx1"/>
                          </a:solidFill>
                          <a:latin typeface="+mn-lt"/>
                          <a:ea typeface="+mn-ea"/>
                          <a:cs typeface="+mn-cs"/>
                        </a:rPr>
                        <a:t>-2.875</a:t>
                      </a: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endParaRPr lang="en-US" sz="1600" b="1" kern="1200" dirty="0">
                        <a:solidFill>
                          <a:schemeClr val="tx1"/>
                        </a:solidFill>
                        <a:latin typeface="+mn-lt"/>
                        <a:ea typeface="+mn-ea"/>
                        <a:cs typeface="+mn-cs"/>
                      </a:endParaRPr>
                    </a:p>
                  </a:txBody>
                  <a:tcPr/>
                </a:tc>
                <a:tc>
                  <a:txBody>
                    <a:bodyPr/>
                    <a:lstStyle/>
                    <a:p>
                      <a:pPr algn="ctr"/>
                      <a:r>
                        <a:rPr lang="en-US" sz="1600" b="1" kern="1200" dirty="0">
                          <a:solidFill>
                            <a:schemeClr val="tx1"/>
                          </a:solidFill>
                          <a:latin typeface="+mn-lt"/>
                          <a:ea typeface="+mn-ea"/>
                          <a:cs typeface="+mn-cs"/>
                        </a:rPr>
                        <a:t>3.275</a:t>
                      </a:r>
                    </a:p>
                  </a:txBody>
                  <a:tcPr/>
                </a:tc>
                <a:tc>
                  <a:txBody>
                    <a:bodyPr/>
                    <a:lstStyle/>
                    <a:p>
                      <a:pPr algn="ctr"/>
                      <a:endParaRPr lang="en-US" sz="1600" b="1" kern="1200" dirty="0">
                        <a:solidFill>
                          <a:schemeClr val="tx1"/>
                        </a:solidFill>
                        <a:latin typeface="+mn-lt"/>
                        <a:ea typeface="+mn-ea"/>
                        <a:cs typeface="+mn-cs"/>
                      </a:endParaRPr>
                    </a:p>
                  </a:txBody>
                  <a:tcPr/>
                </a:tc>
                <a:extLst>
                  <a:ext uri="{0D108BD9-81ED-4DB2-BD59-A6C34878D82A}">
                    <a16:rowId xmlns:a16="http://schemas.microsoft.com/office/drawing/2014/main" val="1000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12.406</a:t>
                      </a:r>
                    </a:p>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-2.875</a:t>
                      </a:r>
                    </a:p>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r>
                        <a:rPr lang="en-US" sz="1600" b="1" kern="1200" dirty="0">
                          <a:solidFill>
                            <a:schemeClr val="tx1"/>
                          </a:solidFill>
                          <a:latin typeface="+mn-lt"/>
                          <a:ea typeface="+mn-ea"/>
                          <a:cs typeface="+mn-cs"/>
                        </a:rPr>
                        <a:t>0.925</a:t>
                      </a: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extLst>
                  <a:ext uri="{0D108BD9-81ED-4DB2-BD59-A6C34878D82A}">
                    <a16:rowId xmlns:a16="http://schemas.microsoft.com/office/drawing/2014/main" val="1000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12.406</a:t>
                      </a:r>
                    </a:p>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endParaRPr lang="en-US" sz="1600" b="1" kern="1200" dirty="0">
                        <a:solidFill>
                          <a:schemeClr val="tx1"/>
                        </a:solidFill>
                        <a:latin typeface="+mn-lt"/>
                        <a:ea typeface="+mn-ea"/>
                        <a:cs typeface="+mn-cs"/>
                      </a:endParaRPr>
                    </a:p>
                  </a:txBody>
                  <a:tcPr/>
                </a:tc>
                <a:tc>
                  <a:txBody>
                    <a:bodyPr/>
                    <a:lstStyle/>
                    <a:p>
                      <a:pPr algn="ctr"/>
                      <a:r>
                        <a:rPr lang="en-US" sz="1600" b="1" kern="1200" dirty="0">
                          <a:solidFill>
                            <a:schemeClr val="tx1"/>
                          </a:solidFill>
                          <a:latin typeface="+mn-lt"/>
                          <a:ea typeface="+mn-ea"/>
                          <a:cs typeface="+mn-cs"/>
                        </a:rPr>
                        <a:t>-0.275</a:t>
                      </a: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extLst>
                  <a:ext uri="{0D108BD9-81ED-4DB2-BD59-A6C34878D82A}">
                    <a16:rowId xmlns:a16="http://schemas.microsoft.com/office/drawing/2014/main" val="1000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kern="1200" dirty="0">
                          <a:solidFill>
                            <a:schemeClr val="tx1"/>
                          </a:solidFill>
                          <a:latin typeface="+mn-lt"/>
                          <a:ea typeface="+mn-ea"/>
                          <a:cs typeface="+mn-cs"/>
                        </a:rPr>
                        <a:t>12.406</a:t>
                      </a:r>
                    </a:p>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endParaRPr lang="en-US" sz="1600" b="1" kern="1200" dirty="0">
                        <a:solidFill>
                          <a:schemeClr val="tx1"/>
                        </a:solidFill>
                        <a:latin typeface="+mn-lt"/>
                        <a:ea typeface="+mn-ea"/>
                        <a:cs typeface="+mn-cs"/>
                      </a:endParaRPr>
                    </a:p>
                  </a:txBody>
                  <a:tcPr/>
                </a:tc>
                <a:tc>
                  <a:txBody>
                    <a:bodyPr/>
                    <a:lstStyle/>
                    <a:p>
                      <a:pPr algn="ctr"/>
                      <a:endParaRPr lang="en-US" sz="1600" b="1" kern="1200" dirty="0">
                        <a:solidFill>
                          <a:schemeClr val="tx1"/>
                        </a:solidFill>
                        <a:latin typeface="+mn-lt"/>
                        <a:ea typeface="+mn-ea"/>
                        <a:cs typeface="+mn-cs"/>
                      </a:endParaRPr>
                    </a:p>
                  </a:txBody>
                  <a:tcPr/>
                </a:tc>
                <a:tc>
                  <a:txBody>
                    <a:bodyPr/>
                    <a:lstStyle/>
                    <a:p>
                      <a:pPr algn="ctr"/>
                      <a:r>
                        <a:rPr lang="en-US" sz="1600" b="1" kern="1200" dirty="0">
                          <a:solidFill>
                            <a:schemeClr val="tx1"/>
                          </a:solidFill>
                          <a:latin typeface="+mn-lt"/>
                          <a:ea typeface="+mn-ea"/>
                          <a:cs typeface="+mn-cs"/>
                        </a:rPr>
                        <a:t>-0.175</a:t>
                      </a:r>
                    </a:p>
                  </a:txBody>
                  <a:tcPr/>
                </a:tc>
                <a:tc>
                  <a:txBody>
                    <a:bodyPr/>
                    <a:lstStyle/>
                    <a:p>
                      <a:pPr algn="ctr"/>
                      <a:endParaRPr lang="en-US" sz="1600" b="1" kern="1200" dirty="0">
                        <a:solidFill>
                          <a:schemeClr val="tx1"/>
                        </a:solidFill>
                        <a:latin typeface="+mn-lt"/>
                        <a:ea typeface="+mn-ea"/>
                        <a:cs typeface="+mn-cs"/>
                      </a:endParaRPr>
                    </a:p>
                  </a:txBody>
                  <a:tcPr>
                    <a:solidFill>
                      <a:schemeClr val="bg1">
                        <a:lumMod val="65000"/>
                      </a:schemeClr>
                    </a:solidFill>
                  </a:tcPr>
                </a:tc>
                <a:tc>
                  <a:txBody>
                    <a:bodyPr/>
                    <a:lstStyle/>
                    <a:p>
                      <a:pPr algn="ctr"/>
                      <a:endParaRPr lang="en-US" sz="1600" b="1" kern="1200" dirty="0">
                        <a:solidFill>
                          <a:schemeClr val="tx1"/>
                        </a:solidFill>
                        <a:latin typeface="+mn-lt"/>
                        <a:ea typeface="+mn-ea"/>
                        <a:cs typeface="+mn-cs"/>
                      </a:endParaRPr>
                    </a:p>
                  </a:txBody>
                  <a:tcPr/>
                </a:tc>
                <a:tc>
                  <a:txBody>
                    <a:bodyPr/>
                    <a:lstStyle/>
                    <a:p>
                      <a:pPr algn="ctr"/>
                      <a:r>
                        <a:rPr lang="en-US" sz="1600" b="1" kern="1200" dirty="0">
                          <a:solidFill>
                            <a:schemeClr val="tx1"/>
                          </a:solidFill>
                          <a:latin typeface="+mn-lt"/>
                          <a:ea typeface="+mn-ea"/>
                          <a:cs typeface="+mn-cs"/>
                        </a:rPr>
                        <a:t>1.275</a:t>
                      </a:r>
                    </a:p>
                  </a:txBody>
                  <a:tcPr/>
                </a:tc>
                <a:tc>
                  <a:txBody>
                    <a:bodyPr/>
                    <a:lstStyle/>
                    <a:p>
                      <a:pPr algn="ctr"/>
                      <a:endParaRPr lang="en-US" sz="1600" b="1" kern="1200" dirty="0">
                        <a:solidFill>
                          <a:schemeClr val="tx1"/>
                        </a:solidFill>
                        <a:latin typeface="+mn-lt"/>
                        <a:ea typeface="+mn-ea"/>
                        <a:cs typeface="+mn-cs"/>
                      </a:endParaRPr>
                    </a:p>
                  </a:txBody>
                  <a:tcPr/>
                </a:tc>
                <a:extLst>
                  <a:ext uri="{0D108BD9-81ED-4DB2-BD59-A6C34878D82A}">
                    <a16:rowId xmlns:a16="http://schemas.microsoft.com/office/drawing/2014/main" val="10005"/>
                  </a:ext>
                </a:extLst>
              </a:tr>
            </a:tbl>
          </a:graphicData>
        </a:graphic>
      </p:graphicFrame>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112001" y="1564639"/>
            <a:ext cx="3464560" cy="2263277"/>
          </a:xfrm>
          <a:prstGeom prst="rect">
            <a:avLst/>
          </a:prstGeom>
          <a:ln>
            <a:solidFill>
              <a:schemeClr val="tx1"/>
            </a:solidFill>
          </a:ln>
        </p:spPr>
      </p:pic>
      <p:graphicFrame>
        <p:nvGraphicFramePr>
          <p:cNvPr id="6" name="Table 5"/>
          <p:cNvGraphicFramePr>
            <a:graphicFrameLocks noGrp="1"/>
          </p:cNvGraphicFramePr>
          <p:nvPr/>
        </p:nvGraphicFramePr>
        <p:xfrm>
          <a:off x="1615439" y="1564640"/>
          <a:ext cx="4297680" cy="2225040"/>
        </p:xfrm>
        <a:graphic>
          <a:graphicData uri="http://schemas.openxmlformats.org/drawingml/2006/table">
            <a:tbl>
              <a:tblPr firstRow="1" bandRow="1">
                <a:tableStyleId>{7E9639D4-E3E2-4D34-9284-5A2195B3D0D7}</a:tableStyleId>
              </a:tblPr>
              <a:tblGrid>
                <a:gridCol w="1432560">
                  <a:extLst>
                    <a:ext uri="{9D8B030D-6E8A-4147-A177-3AD203B41FA5}">
                      <a16:colId xmlns:a16="http://schemas.microsoft.com/office/drawing/2014/main" val="20000"/>
                    </a:ext>
                  </a:extLst>
                </a:gridCol>
                <a:gridCol w="1432560">
                  <a:extLst>
                    <a:ext uri="{9D8B030D-6E8A-4147-A177-3AD203B41FA5}">
                      <a16:colId xmlns:a16="http://schemas.microsoft.com/office/drawing/2014/main" val="20001"/>
                    </a:ext>
                  </a:extLst>
                </a:gridCol>
                <a:gridCol w="1432560">
                  <a:extLst>
                    <a:ext uri="{9D8B030D-6E8A-4147-A177-3AD203B41FA5}">
                      <a16:colId xmlns:a16="http://schemas.microsoft.com/office/drawing/2014/main" val="20002"/>
                    </a:ext>
                  </a:extLst>
                </a:gridCol>
              </a:tblGrid>
              <a:tr h="370840">
                <a:tc>
                  <a:txBody>
                    <a:bodyPr/>
                    <a:lstStyle/>
                    <a:p>
                      <a:pPr algn="ctr"/>
                      <a:r>
                        <a:rPr lang="en-US" dirty="0"/>
                        <a:t>Block</a:t>
                      </a:r>
                    </a:p>
                  </a:txBody>
                  <a:tcPr/>
                </a:tc>
                <a:tc>
                  <a:txBody>
                    <a:bodyPr/>
                    <a:lstStyle/>
                    <a:p>
                      <a:pPr algn="ctr"/>
                      <a:r>
                        <a:rPr lang="en-US" dirty="0"/>
                        <a:t>Variety</a:t>
                      </a:r>
                    </a:p>
                  </a:txBody>
                  <a:tcPr/>
                </a:tc>
                <a:tc>
                  <a:txBody>
                    <a:bodyPr/>
                    <a:lstStyle/>
                    <a:p>
                      <a:pPr algn="ctr"/>
                      <a:r>
                        <a:rPr lang="en-US" dirty="0"/>
                        <a:t>Yield</a:t>
                      </a:r>
                    </a:p>
                  </a:txBody>
                  <a:tcPr/>
                </a:tc>
                <a:extLst>
                  <a:ext uri="{0D108BD9-81ED-4DB2-BD59-A6C34878D82A}">
                    <a16:rowId xmlns:a16="http://schemas.microsoft.com/office/drawing/2014/main" val="10000"/>
                  </a:ext>
                </a:extLst>
              </a:tr>
              <a:tr h="370840">
                <a:tc>
                  <a:txBody>
                    <a:bodyPr/>
                    <a:lstStyle/>
                    <a:p>
                      <a:pPr algn="ctr"/>
                      <a:r>
                        <a:rPr lang="en-US" dirty="0"/>
                        <a:t>block1</a:t>
                      </a:r>
                    </a:p>
                  </a:txBody>
                  <a:tcPr/>
                </a:tc>
                <a:tc>
                  <a:txBody>
                    <a:bodyPr/>
                    <a:lstStyle/>
                    <a:p>
                      <a:pPr algn="ctr"/>
                      <a:r>
                        <a:rPr lang="en-US" dirty="0"/>
                        <a:t>Anne</a:t>
                      </a:r>
                    </a:p>
                  </a:txBody>
                  <a:tcPr/>
                </a:tc>
                <a:tc>
                  <a:txBody>
                    <a:bodyPr/>
                    <a:lstStyle/>
                    <a:p>
                      <a:pPr algn="ctr"/>
                      <a:r>
                        <a:rPr lang="en-US" dirty="0"/>
                        <a:t>12.0</a:t>
                      </a:r>
                    </a:p>
                  </a:txBody>
                  <a:tcPr/>
                </a:tc>
                <a:extLst>
                  <a:ext uri="{0D108BD9-81ED-4DB2-BD59-A6C34878D82A}">
                    <a16:rowId xmlns:a16="http://schemas.microsoft.com/office/drawing/2014/main" val="10001"/>
                  </a:ext>
                </a:extLst>
              </a:tr>
              <a:tr h="370840">
                <a:tc>
                  <a:txBody>
                    <a:bodyPr/>
                    <a:lstStyle/>
                    <a:p>
                      <a:pPr algn="ctr"/>
                      <a:r>
                        <a:rPr lang="en-US" dirty="0"/>
                        <a:t>block2</a:t>
                      </a:r>
                    </a:p>
                  </a:txBody>
                  <a:tcPr/>
                </a:tc>
                <a:tc>
                  <a:txBody>
                    <a:bodyPr/>
                    <a:lstStyle/>
                    <a:p>
                      <a:pPr algn="ctr"/>
                      <a:r>
                        <a:rPr lang="en-US" dirty="0"/>
                        <a:t>Heritage</a:t>
                      </a:r>
                    </a:p>
                  </a:txBody>
                  <a:tcPr/>
                </a:tc>
                <a:tc>
                  <a:txBody>
                    <a:bodyPr/>
                    <a:lstStyle/>
                    <a:p>
                      <a:pPr algn="ctr"/>
                      <a:r>
                        <a:rPr lang="en-US" dirty="0"/>
                        <a:t>13.4</a:t>
                      </a:r>
                    </a:p>
                  </a:txBody>
                  <a:tcPr/>
                </a:tc>
                <a:extLst>
                  <a:ext uri="{0D108BD9-81ED-4DB2-BD59-A6C34878D82A}">
                    <a16:rowId xmlns:a16="http://schemas.microsoft.com/office/drawing/2014/main" val="10002"/>
                  </a:ext>
                </a:extLst>
              </a:tr>
              <a:tr h="370840">
                <a:tc>
                  <a:txBody>
                    <a:bodyPr/>
                    <a:lstStyle/>
                    <a:p>
                      <a:pPr algn="ctr"/>
                      <a:r>
                        <a:rPr lang="en-US" dirty="0"/>
                        <a:t>block2</a:t>
                      </a:r>
                    </a:p>
                  </a:txBody>
                  <a:tcPr/>
                </a:tc>
                <a:tc>
                  <a:txBody>
                    <a:bodyPr/>
                    <a:lstStyle/>
                    <a:p>
                      <a:pPr algn="ctr"/>
                      <a:r>
                        <a:rPr lang="en-US" dirty="0"/>
                        <a:t>Cumberland</a:t>
                      </a:r>
                    </a:p>
                  </a:txBody>
                  <a:tcPr/>
                </a:tc>
                <a:tc>
                  <a:txBody>
                    <a:bodyPr/>
                    <a:lstStyle/>
                    <a:p>
                      <a:pPr algn="ctr"/>
                      <a:r>
                        <a:rPr lang="en-US" dirty="0"/>
                        <a:t>9.1</a:t>
                      </a:r>
                    </a:p>
                  </a:txBody>
                  <a:tcPr/>
                </a:tc>
                <a:extLst>
                  <a:ext uri="{0D108BD9-81ED-4DB2-BD59-A6C34878D82A}">
                    <a16:rowId xmlns:a16="http://schemas.microsoft.com/office/drawing/2014/main" val="10003"/>
                  </a:ext>
                </a:extLst>
              </a:tr>
              <a:tr h="370840">
                <a:tc>
                  <a:txBody>
                    <a:bodyPr/>
                    <a:lstStyle/>
                    <a:p>
                      <a:pPr algn="ctr"/>
                      <a:r>
                        <a:rPr lang="en-US" dirty="0"/>
                        <a:t>block3</a:t>
                      </a:r>
                    </a:p>
                  </a:txBody>
                  <a:tcPr/>
                </a:tc>
                <a:tc>
                  <a:txBody>
                    <a:bodyPr/>
                    <a:lstStyle/>
                    <a:p>
                      <a:pPr algn="ctr"/>
                      <a:r>
                        <a:rPr lang="en-US" dirty="0"/>
                        <a:t>Anne</a:t>
                      </a:r>
                    </a:p>
                  </a:txBody>
                  <a:tcPr/>
                </a:tc>
                <a:tc>
                  <a:txBody>
                    <a:bodyPr/>
                    <a:lstStyle/>
                    <a:p>
                      <a:pPr algn="ctr"/>
                      <a:r>
                        <a:rPr lang="en-US" dirty="0"/>
                        <a:t>12.5</a:t>
                      </a:r>
                    </a:p>
                  </a:txBody>
                  <a:tcPr/>
                </a:tc>
                <a:extLst>
                  <a:ext uri="{0D108BD9-81ED-4DB2-BD59-A6C34878D82A}">
                    <a16:rowId xmlns:a16="http://schemas.microsoft.com/office/drawing/2014/main" val="10004"/>
                  </a:ext>
                </a:extLst>
              </a:tr>
              <a:tr h="370840">
                <a:tc>
                  <a:txBody>
                    <a:bodyPr/>
                    <a:lstStyle/>
                    <a:p>
                      <a:pPr algn="ctr"/>
                      <a:r>
                        <a:rPr lang="en-US" dirty="0"/>
                        <a:t>block4</a:t>
                      </a:r>
                    </a:p>
                  </a:txBody>
                  <a:tcPr/>
                </a:tc>
                <a:tc>
                  <a:txBody>
                    <a:bodyPr/>
                    <a:lstStyle/>
                    <a:p>
                      <a:pPr algn="ctr"/>
                      <a:r>
                        <a:rPr lang="en-US" dirty="0" err="1"/>
                        <a:t>JewellBlack</a:t>
                      </a:r>
                      <a:endParaRPr lang="en-US" dirty="0"/>
                    </a:p>
                  </a:txBody>
                  <a:tcPr/>
                </a:tc>
                <a:tc>
                  <a:txBody>
                    <a:bodyPr/>
                    <a:lstStyle/>
                    <a:p>
                      <a:pPr algn="ctr"/>
                      <a:r>
                        <a:rPr lang="en-US" dirty="0"/>
                        <a:t>12.9</a:t>
                      </a:r>
                    </a:p>
                  </a:txBody>
                  <a:tcPr/>
                </a:tc>
                <a:extLst>
                  <a:ext uri="{0D108BD9-81ED-4DB2-BD59-A6C34878D82A}">
                    <a16:rowId xmlns:a16="http://schemas.microsoft.com/office/drawing/2014/main" val="10005"/>
                  </a:ext>
                </a:extLst>
              </a:tr>
            </a:tbl>
          </a:graphicData>
        </a:graphic>
      </p:graphicFrame>
      <p:graphicFrame>
        <p:nvGraphicFramePr>
          <p:cNvPr id="7" name="Table 6"/>
          <p:cNvGraphicFramePr>
            <a:graphicFrameLocks noGrp="1"/>
          </p:cNvGraphicFramePr>
          <p:nvPr>
            <p:extLst>
              <p:ext uri="{D42A27DB-BD31-4B8C-83A1-F6EECF244321}">
                <p14:modId xmlns:p14="http://schemas.microsoft.com/office/powerpoint/2010/main" val="2202243025"/>
              </p:ext>
            </p:extLst>
          </p:nvPr>
        </p:nvGraphicFramePr>
        <p:xfrm>
          <a:off x="9103360" y="4185917"/>
          <a:ext cx="2987040" cy="3058159"/>
        </p:xfrm>
        <a:graphic>
          <a:graphicData uri="http://schemas.openxmlformats.org/drawingml/2006/table">
            <a:tbl>
              <a:tblPr firstRow="1" bandRow="1">
                <a:tableStyleId>{7E9639D4-E3E2-4D34-9284-5A2195B3D0D7}</a:tableStyleId>
              </a:tblPr>
              <a:tblGrid>
                <a:gridCol w="995680">
                  <a:extLst>
                    <a:ext uri="{9D8B030D-6E8A-4147-A177-3AD203B41FA5}">
                      <a16:colId xmlns:a16="http://schemas.microsoft.com/office/drawing/2014/main" val="20000"/>
                    </a:ext>
                  </a:extLst>
                </a:gridCol>
                <a:gridCol w="995680">
                  <a:extLst>
                    <a:ext uri="{9D8B030D-6E8A-4147-A177-3AD203B41FA5}">
                      <a16:colId xmlns:a16="http://schemas.microsoft.com/office/drawing/2014/main" val="20001"/>
                    </a:ext>
                  </a:extLst>
                </a:gridCol>
                <a:gridCol w="995680">
                  <a:extLst>
                    <a:ext uri="{9D8B030D-6E8A-4147-A177-3AD203B41FA5}">
                      <a16:colId xmlns:a16="http://schemas.microsoft.com/office/drawing/2014/main" val="20002"/>
                    </a:ext>
                  </a:extLst>
                </a:gridCol>
              </a:tblGrid>
              <a:tr h="519397">
                <a:tc>
                  <a:txBody>
                    <a:bodyPr/>
                    <a:lstStyle/>
                    <a:p>
                      <a:pPr algn="ctr"/>
                      <a:r>
                        <a:rPr lang="en-US" i="1" dirty="0"/>
                        <a:t>Total</a:t>
                      </a:r>
                    </a:p>
                  </a:txBody>
                  <a:tcPr/>
                </a:tc>
                <a:tc>
                  <a:txBody>
                    <a:bodyPr/>
                    <a:lstStyle/>
                    <a:p>
                      <a:pPr algn="ctr"/>
                      <a:r>
                        <a:rPr lang="en-US" dirty="0"/>
                        <a:t>Actual</a:t>
                      </a:r>
                    </a:p>
                  </a:txBody>
                  <a:tcPr/>
                </a:tc>
                <a:tc>
                  <a:txBody>
                    <a:bodyPr/>
                    <a:lstStyle/>
                    <a:p>
                      <a:pPr algn="ctr"/>
                      <a:r>
                        <a:rPr lang="en-US" dirty="0"/>
                        <a:t>Error</a:t>
                      </a:r>
                    </a:p>
                  </a:txBody>
                  <a:tcPr/>
                </a:tc>
                <a:extLst>
                  <a:ext uri="{0D108BD9-81ED-4DB2-BD59-A6C34878D82A}">
                    <a16:rowId xmlns:a16="http://schemas.microsoft.com/office/drawing/2014/main" val="10000"/>
                  </a:ext>
                </a:extLst>
              </a:tr>
              <a:tr h="519397">
                <a:tc>
                  <a:txBody>
                    <a:bodyPr/>
                    <a:lstStyle/>
                    <a:p>
                      <a:pPr algn="ctr"/>
                      <a:r>
                        <a:rPr lang="en-US" sz="1600" b="1" dirty="0"/>
                        <a:t>12.4063</a:t>
                      </a:r>
                    </a:p>
                  </a:txBody>
                  <a:tcPr/>
                </a:tc>
                <a:tc>
                  <a:txBody>
                    <a:bodyPr/>
                    <a:lstStyle/>
                    <a:p>
                      <a:pPr algn="ctr"/>
                      <a:r>
                        <a:rPr lang="en-US" sz="1600" b="1" kern="1200" dirty="0">
                          <a:solidFill>
                            <a:schemeClr val="tx1"/>
                          </a:solidFill>
                          <a:latin typeface="+mn-lt"/>
                          <a:ea typeface="+mn-ea"/>
                          <a:cs typeface="+mn-cs"/>
                        </a:rPr>
                        <a:t>12.0</a:t>
                      </a:r>
                    </a:p>
                  </a:txBody>
                  <a:tcPr/>
                </a:tc>
                <a:tc>
                  <a:txBody>
                    <a:bodyPr/>
                    <a:lstStyle/>
                    <a:p>
                      <a:pPr algn="ctr"/>
                      <a:r>
                        <a:rPr lang="en-US" sz="1600" b="1" kern="1200" dirty="0">
                          <a:solidFill>
                            <a:schemeClr val="tx1"/>
                          </a:solidFill>
                          <a:latin typeface="+mn-lt"/>
                          <a:ea typeface="+mn-ea"/>
                          <a:cs typeface="+mn-cs"/>
                        </a:rPr>
                        <a:t>0.4063</a:t>
                      </a:r>
                    </a:p>
                  </a:txBody>
                  <a:tcPr/>
                </a:tc>
                <a:extLst>
                  <a:ext uri="{0D108BD9-81ED-4DB2-BD59-A6C34878D82A}">
                    <a16:rowId xmlns:a16="http://schemas.microsoft.com/office/drawing/2014/main" val="10001"/>
                  </a:ext>
                </a:extLst>
              </a:tr>
              <a:tr h="519397">
                <a:tc>
                  <a:txBody>
                    <a:bodyPr/>
                    <a:lstStyle/>
                    <a:p>
                      <a:pPr marL="0" algn="ctr" defTabSz="914400" rtl="0" eaLnBrk="1" latinLnBrk="0" hangingPunct="1"/>
                      <a:r>
                        <a:rPr lang="en-US" sz="1600" b="1" kern="1200" dirty="0">
                          <a:solidFill>
                            <a:schemeClr val="tx1"/>
                          </a:solidFill>
                          <a:latin typeface="+mn-lt"/>
                          <a:ea typeface="+mn-ea"/>
                          <a:cs typeface="+mn-cs"/>
                        </a:rPr>
                        <a:t>12.8063</a:t>
                      </a:r>
                    </a:p>
                  </a:txBody>
                  <a:tcPr/>
                </a:tc>
                <a:tc>
                  <a:txBody>
                    <a:bodyPr/>
                    <a:lstStyle/>
                    <a:p>
                      <a:pPr marL="0" algn="ctr" defTabSz="914400" rtl="0" eaLnBrk="1" latinLnBrk="0" hangingPunct="1"/>
                      <a:r>
                        <a:rPr lang="en-US" sz="1600" b="1" kern="1200" dirty="0">
                          <a:solidFill>
                            <a:schemeClr val="tx1"/>
                          </a:solidFill>
                          <a:latin typeface="+mn-lt"/>
                          <a:ea typeface="+mn-ea"/>
                          <a:cs typeface="+mn-cs"/>
                        </a:rPr>
                        <a:t>13.4</a:t>
                      </a:r>
                    </a:p>
                  </a:txBody>
                  <a:tcPr/>
                </a:tc>
                <a:tc>
                  <a:txBody>
                    <a:bodyPr/>
                    <a:lstStyle/>
                    <a:p>
                      <a:pPr marL="0" algn="ctr" defTabSz="914400" rtl="0" eaLnBrk="1" latinLnBrk="0" hangingPunct="1"/>
                      <a:r>
                        <a:rPr lang="en-US" sz="1600" b="1" kern="1200" dirty="0">
                          <a:solidFill>
                            <a:schemeClr val="tx1"/>
                          </a:solidFill>
                          <a:latin typeface="+mn-lt"/>
                          <a:ea typeface="+mn-ea"/>
                          <a:cs typeface="+mn-cs"/>
                        </a:rPr>
                        <a:t>-0.5937</a:t>
                      </a:r>
                    </a:p>
                  </a:txBody>
                  <a:tcPr/>
                </a:tc>
                <a:extLst>
                  <a:ext uri="{0D108BD9-81ED-4DB2-BD59-A6C34878D82A}">
                    <a16:rowId xmlns:a16="http://schemas.microsoft.com/office/drawing/2014/main" val="10002"/>
                  </a:ext>
                </a:extLst>
              </a:tr>
              <a:tr h="519397">
                <a:tc>
                  <a:txBody>
                    <a:bodyPr/>
                    <a:lstStyle/>
                    <a:p>
                      <a:pPr marL="0" algn="ctr" defTabSz="914400" rtl="0" eaLnBrk="1" latinLnBrk="0" hangingPunct="1"/>
                      <a:r>
                        <a:rPr lang="en-US" sz="1600" b="1" kern="1200" dirty="0">
                          <a:solidFill>
                            <a:schemeClr val="tx1"/>
                          </a:solidFill>
                          <a:latin typeface="+mn-lt"/>
                          <a:ea typeface="+mn-ea"/>
                          <a:cs typeface="+mn-cs"/>
                        </a:rPr>
                        <a:t>10.4563</a:t>
                      </a:r>
                    </a:p>
                  </a:txBody>
                  <a:tcPr/>
                </a:tc>
                <a:tc>
                  <a:txBody>
                    <a:bodyPr/>
                    <a:lstStyle/>
                    <a:p>
                      <a:pPr marL="0" algn="ctr" defTabSz="914400" rtl="0" eaLnBrk="1" latinLnBrk="0" hangingPunct="1"/>
                      <a:r>
                        <a:rPr lang="en-US" sz="1600" b="1" kern="1200" dirty="0">
                          <a:solidFill>
                            <a:schemeClr val="tx1"/>
                          </a:solidFill>
                          <a:latin typeface="+mn-lt"/>
                          <a:ea typeface="+mn-ea"/>
                          <a:cs typeface="+mn-cs"/>
                        </a:rPr>
                        <a:t>9.1</a:t>
                      </a:r>
                    </a:p>
                  </a:txBody>
                  <a:tcPr/>
                </a:tc>
                <a:tc>
                  <a:txBody>
                    <a:bodyPr/>
                    <a:lstStyle/>
                    <a:p>
                      <a:pPr marL="0" algn="ctr" defTabSz="914400" rtl="0" eaLnBrk="1" latinLnBrk="0" hangingPunct="1"/>
                      <a:r>
                        <a:rPr lang="en-US" sz="1600" b="1" kern="1200" dirty="0">
                          <a:solidFill>
                            <a:schemeClr val="tx1"/>
                          </a:solidFill>
                          <a:latin typeface="+mn-lt"/>
                          <a:ea typeface="+mn-ea"/>
                          <a:cs typeface="+mn-cs"/>
                        </a:rPr>
                        <a:t>1.3563</a:t>
                      </a:r>
                    </a:p>
                  </a:txBody>
                  <a:tcPr/>
                </a:tc>
                <a:extLst>
                  <a:ext uri="{0D108BD9-81ED-4DB2-BD59-A6C34878D82A}">
                    <a16:rowId xmlns:a16="http://schemas.microsoft.com/office/drawing/2014/main" val="10003"/>
                  </a:ext>
                </a:extLst>
              </a:tr>
              <a:tr h="461174">
                <a:tc>
                  <a:txBody>
                    <a:bodyPr/>
                    <a:lstStyle/>
                    <a:p>
                      <a:pPr marL="0" algn="ctr" defTabSz="914400" rtl="0" eaLnBrk="1" latinLnBrk="0" hangingPunct="1"/>
                      <a:r>
                        <a:rPr lang="en-US" sz="1600" b="1" kern="1200" dirty="0">
                          <a:solidFill>
                            <a:schemeClr val="tx1"/>
                          </a:solidFill>
                          <a:latin typeface="+mn-lt"/>
                          <a:ea typeface="+mn-ea"/>
                          <a:cs typeface="+mn-cs"/>
                        </a:rPr>
                        <a:t>12.1313</a:t>
                      </a:r>
                    </a:p>
                  </a:txBody>
                  <a:tcPr/>
                </a:tc>
                <a:tc>
                  <a:txBody>
                    <a:bodyPr/>
                    <a:lstStyle/>
                    <a:p>
                      <a:pPr marL="0" algn="ctr" defTabSz="914400" rtl="0" eaLnBrk="1" latinLnBrk="0" hangingPunct="1"/>
                      <a:r>
                        <a:rPr lang="en-US" sz="1600" b="1" kern="1200" dirty="0">
                          <a:solidFill>
                            <a:schemeClr val="tx1"/>
                          </a:solidFill>
                          <a:latin typeface="+mn-lt"/>
                          <a:ea typeface="+mn-ea"/>
                          <a:cs typeface="+mn-cs"/>
                        </a:rPr>
                        <a:t>12.5</a:t>
                      </a:r>
                    </a:p>
                  </a:txBody>
                  <a:tcPr/>
                </a:tc>
                <a:tc>
                  <a:txBody>
                    <a:bodyPr/>
                    <a:lstStyle/>
                    <a:p>
                      <a:pPr marL="0" algn="ctr" defTabSz="914400" rtl="0" eaLnBrk="1" latinLnBrk="0" hangingPunct="1"/>
                      <a:r>
                        <a:rPr lang="en-US" sz="1600" b="1" kern="1200" dirty="0">
                          <a:solidFill>
                            <a:schemeClr val="tx1"/>
                          </a:solidFill>
                          <a:latin typeface="+mn-lt"/>
                          <a:ea typeface="+mn-ea"/>
                          <a:cs typeface="+mn-cs"/>
                        </a:rPr>
                        <a:t>-0.3687</a:t>
                      </a:r>
                    </a:p>
                  </a:txBody>
                  <a:tcPr/>
                </a:tc>
                <a:extLst>
                  <a:ext uri="{0D108BD9-81ED-4DB2-BD59-A6C34878D82A}">
                    <a16:rowId xmlns:a16="http://schemas.microsoft.com/office/drawing/2014/main" val="10004"/>
                  </a:ext>
                </a:extLst>
              </a:tr>
              <a:tr h="519397">
                <a:tc>
                  <a:txBody>
                    <a:bodyPr/>
                    <a:lstStyle/>
                    <a:p>
                      <a:pPr marL="0" algn="ctr" defTabSz="914400" rtl="0" eaLnBrk="1" latinLnBrk="0" hangingPunct="1"/>
                      <a:r>
                        <a:rPr lang="en-US" sz="1600" b="1" kern="1200" dirty="0">
                          <a:solidFill>
                            <a:schemeClr val="tx1"/>
                          </a:solidFill>
                          <a:latin typeface="+mn-lt"/>
                          <a:ea typeface="+mn-ea"/>
                          <a:cs typeface="+mn-cs"/>
                        </a:rPr>
                        <a:t>13.5063</a:t>
                      </a:r>
                    </a:p>
                  </a:txBody>
                  <a:tcPr/>
                </a:tc>
                <a:tc>
                  <a:txBody>
                    <a:bodyPr/>
                    <a:lstStyle/>
                    <a:p>
                      <a:pPr marL="0" algn="ctr" defTabSz="914400" rtl="0" eaLnBrk="1" latinLnBrk="0" hangingPunct="1"/>
                      <a:r>
                        <a:rPr lang="en-US" sz="1600" b="1" kern="1200" dirty="0">
                          <a:solidFill>
                            <a:schemeClr val="tx1"/>
                          </a:solidFill>
                          <a:latin typeface="+mn-lt"/>
                          <a:ea typeface="+mn-ea"/>
                          <a:cs typeface="+mn-cs"/>
                        </a:rPr>
                        <a:t>12.9</a:t>
                      </a:r>
                    </a:p>
                  </a:txBody>
                  <a:tcPr/>
                </a:tc>
                <a:tc>
                  <a:txBody>
                    <a:bodyPr/>
                    <a:lstStyle/>
                    <a:p>
                      <a:pPr marL="0" algn="ctr" defTabSz="914400" rtl="0" eaLnBrk="1" latinLnBrk="0" hangingPunct="1"/>
                      <a:r>
                        <a:rPr lang="en-US" sz="1600" b="1" kern="1200" dirty="0">
                          <a:solidFill>
                            <a:schemeClr val="tx1"/>
                          </a:solidFill>
                          <a:latin typeface="+mn-lt"/>
                          <a:ea typeface="+mn-ea"/>
                          <a:cs typeface="+mn-cs"/>
                        </a:rPr>
                        <a:t>0.6063</a:t>
                      </a:r>
                    </a:p>
                  </a:txBody>
                  <a:tcPr/>
                </a:tc>
                <a:extLst>
                  <a:ext uri="{0D108BD9-81ED-4DB2-BD59-A6C34878D82A}">
                    <a16:rowId xmlns:a16="http://schemas.microsoft.com/office/drawing/2014/main" val="10005"/>
                  </a:ext>
                </a:extLst>
              </a:tr>
            </a:tbl>
          </a:graphicData>
        </a:graphic>
      </p:graphicFrame>
      <p:sp>
        <p:nvSpPr>
          <p:cNvPr id="3" name="TextBox 2">
            <a:extLst>
              <a:ext uri="{FF2B5EF4-FFF2-40B4-BE49-F238E27FC236}">
                <a16:creationId xmlns:a16="http://schemas.microsoft.com/office/drawing/2014/main" id="{6847F036-4CC2-49C9-8191-E6E762102705}"/>
              </a:ext>
            </a:extLst>
          </p:cNvPr>
          <p:cNvSpPr txBox="1"/>
          <p:nvPr/>
        </p:nvSpPr>
        <p:spPr>
          <a:xfrm>
            <a:off x="502418" y="1564639"/>
            <a:ext cx="1283843" cy="646331"/>
          </a:xfrm>
          <a:prstGeom prst="rect">
            <a:avLst/>
          </a:prstGeom>
          <a:noFill/>
        </p:spPr>
        <p:txBody>
          <a:bodyPr wrap="square" rtlCol="0">
            <a:spAutoFit/>
          </a:bodyPr>
          <a:lstStyle/>
          <a:p>
            <a:r>
              <a:rPr lang="en-US" dirty="0"/>
              <a:t>(subset of full data)</a:t>
            </a:r>
          </a:p>
        </p:txBody>
      </p:sp>
    </p:spTree>
    <p:extLst>
      <p:ext uri="{BB962C8B-B14F-4D97-AF65-F5344CB8AC3E}">
        <p14:creationId xmlns:p14="http://schemas.microsoft.com/office/powerpoint/2010/main" val="2392804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3:</a:t>
            </a:r>
            <a:br>
              <a:rPr lang="en-US" dirty="0"/>
            </a:br>
            <a:r>
              <a:rPr lang="en-US" sz="2800" dirty="0"/>
              <a:t>Quality control</a:t>
            </a:r>
            <a:endParaRPr lang="en-US" dirty="0"/>
          </a:p>
        </p:txBody>
      </p:sp>
      <p:sp>
        <p:nvSpPr>
          <p:cNvPr id="3" name="Content Placeholder 2"/>
          <p:cNvSpPr>
            <a:spLocks noGrp="1"/>
          </p:cNvSpPr>
          <p:nvPr>
            <p:ph idx="1"/>
          </p:nvPr>
        </p:nvSpPr>
        <p:spPr>
          <a:xfrm>
            <a:off x="838200" y="1825625"/>
            <a:ext cx="9408886" cy="4720318"/>
          </a:xfrm>
        </p:spPr>
        <p:txBody>
          <a:bodyPr/>
          <a:lstStyle/>
          <a:p>
            <a:r>
              <a:rPr lang="en-US" dirty="0"/>
              <a:t>Download the data “16_pecans.csv”, containing a RCBD factorial with pecan varieties and fungicide treatment</a:t>
            </a:r>
          </a:p>
          <a:p>
            <a:pPr lvl="1"/>
            <a:r>
              <a:rPr lang="en-US" dirty="0"/>
              <a:t>Fit a model with interactions</a:t>
            </a:r>
          </a:p>
          <a:p>
            <a:pPr lvl="1"/>
            <a:r>
              <a:rPr lang="en-US" dirty="0"/>
              <a:t>Plot both the raw data and residuals. Are there any problems?</a:t>
            </a:r>
          </a:p>
          <a:p>
            <a:pPr lvl="2"/>
            <a:r>
              <a:rPr lang="en-US" dirty="0"/>
              <a:t>Double-check with </a:t>
            </a:r>
            <a:r>
              <a:rPr lang="en-US" dirty="0" err="1"/>
              <a:t>gvlma</a:t>
            </a:r>
            <a:r>
              <a:rPr lang="en-US" dirty="0"/>
              <a:t>()</a:t>
            </a:r>
          </a:p>
          <a:p>
            <a:pPr lvl="1"/>
            <a:r>
              <a:rPr lang="en-US" dirty="0"/>
              <a:t>If you found problems, fix them by removing the problematic data points and fitting the model again. Then show that the problem is fixed.</a:t>
            </a:r>
          </a:p>
        </p:txBody>
      </p:sp>
      <p:pic>
        <p:nvPicPr>
          <p:cNvPr id="5" name="Picture 4">
            <a:extLst>
              <a:ext uri="{FF2B5EF4-FFF2-40B4-BE49-F238E27FC236}">
                <a16:creationId xmlns:a16="http://schemas.microsoft.com/office/drawing/2014/main" id="{134B80EE-94CC-4B5A-A55E-1A3E9330FC6C}"/>
              </a:ext>
            </a:extLst>
          </p:cNvPr>
          <p:cNvPicPr>
            <a:picLocks noChangeAspect="1"/>
          </p:cNvPicPr>
          <p:nvPr/>
        </p:nvPicPr>
        <p:blipFill rotWithShape="1">
          <a:blip r:embed="rId2" cstate="print">
            <a:extLst>
              <a:ext uri="{BEBA8EAE-BF5A-486C-A8C5-ECC9F3942E4B}">
                <a14:imgProps xmlns:a14="http://schemas.microsoft.com/office/drawing/2010/main">
                  <a14:imgLayer r:embed="rId3">
                    <a14:imgEffect>
                      <a14:brightnessContrast bright="20000"/>
                    </a14:imgEffect>
                  </a14:imgLayer>
                </a14:imgProps>
              </a:ext>
              <a:ext uri="{28A0092B-C50C-407E-A947-70E740481C1C}">
                <a14:useLocalDpi xmlns:a14="http://schemas.microsoft.com/office/drawing/2010/main" val="0"/>
              </a:ext>
            </a:extLst>
          </a:blip>
          <a:srcRect l="18092" t="15238" r="26523" b="5324"/>
          <a:stretch/>
        </p:blipFill>
        <p:spPr>
          <a:xfrm>
            <a:off x="10138786" y="0"/>
            <a:ext cx="2053213" cy="1963274"/>
          </a:xfrm>
          <a:prstGeom prst="rect">
            <a:avLst/>
          </a:prstGeom>
          <a:ln w="38100">
            <a:solidFill>
              <a:schemeClr val="tx1"/>
            </a:solidFill>
          </a:ln>
        </p:spPr>
      </p:pic>
    </p:spTree>
    <p:extLst>
      <p:ext uri="{BB962C8B-B14F-4D97-AF65-F5344CB8AC3E}">
        <p14:creationId xmlns:p14="http://schemas.microsoft.com/office/powerpoint/2010/main" val="38905634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 4:</a:t>
            </a:r>
            <a:br>
              <a:rPr lang="en-US" dirty="0"/>
            </a:br>
            <a:r>
              <a:rPr lang="en-US" sz="2800" dirty="0"/>
              <a:t>Sums of Squares</a:t>
            </a:r>
          </a:p>
        </p:txBody>
      </p:sp>
      <p:sp>
        <p:nvSpPr>
          <p:cNvPr id="3" name="Content Placeholder 2"/>
          <p:cNvSpPr>
            <a:spLocks noGrp="1"/>
          </p:cNvSpPr>
          <p:nvPr>
            <p:ph idx="1"/>
          </p:nvPr>
        </p:nvSpPr>
        <p:spPr>
          <a:xfrm>
            <a:off x="838200" y="1825625"/>
            <a:ext cx="10515600" cy="4625975"/>
          </a:xfrm>
        </p:spPr>
        <p:txBody>
          <a:bodyPr/>
          <a:lstStyle/>
          <a:p>
            <a:r>
              <a:rPr lang="en-US" dirty="0"/>
              <a:t>Download the dataset “16_beans.csv”, which is a full factorial RCBD of green bean disease resistance.</a:t>
            </a:r>
          </a:p>
          <a:p>
            <a:pPr lvl="1"/>
            <a:r>
              <a:rPr lang="en-US" dirty="0"/>
              <a:t>Treatment 1 = bean variety</a:t>
            </a:r>
          </a:p>
          <a:p>
            <a:pPr lvl="1"/>
            <a:r>
              <a:rPr lang="en-US" dirty="0"/>
              <a:t>Treatment 2 = inoculant for nitrogen fixation</a:t>
            </a:r>
          </a:p>
          <a:p>
            <a:pPr lvl="1"/>
            <a:r>
              <a:rPr lang="en-US" dirty="0"/>
              <a:t>About 20% of plots had to be discarded due to deer damage</a:t>
            </a:r>
          </a:p>
          <a:p>
            <a:r>
              <a:rPr lang="en-US" dirty="0"/>
              <a:t>Run an analysis of this data, including using the correct SS for ANOVA and finding the best treatment(s).</a:t>
            </a:r>
          </a:p>
          <a:p>
            <a:pPr lvl="1"/>
            <a:r>
              <a:rPr lang="en-US" dirty="0"/>
              <a:t>Remember to import the </a:t>
            </a:r>
            <a:r>
              <a:rPr lang="en-US" sz="2400" b="1" dirty="0">
                <a:latin typeface="Courier New" panose="02070309020205020404" pitchFamily="49" charset="0"/>
                <a:cs typeface="Courier New" panose="02070309020205020404" pitchFamily="49" charset="0"/>
              </a:rPr>
              <a:t>car</a:t>
            </a:r>
            <a:r>
              <a:rPr lang="en-US" dirty="0"/>
              <a:t> library if you want Type 2 or Type 3</a:t>
            </a:r>
          </a:p>
          <a:p>
            <a:pPr lvl="1"/>
            <a:r>
              <a:rPr lang="en-US" dirty="0"/>
              <a:t>Remember to include the below code if you want type 3:</a:t>
            </a:r>
          </a:p>
          <a:p>
            <a:pPr lvl="2"/>
            <a:r>
              <a:rPr lang="en-US" b="1" dirty="0">
                <a:latin typeface="Courier New" panose="02070309020205020404" pitchFamily="49" charset="0"/>
                <a:cs typeface="Courier New" panose="02070309020205020404" pitchFamily="49" charset="0"/>
              </a:rPr>
              <a:t>options(contrasts = c("</a:t>
            </a:r>
            <a:r>
              <a:rPr lang="en-US" b="1" dirty="0" err="1">
                <a:latin typeface="Courier New" panose="02070309020205020404" pitchFamily="49" charset="0"/>
                <a:cs typeface="Courier New" panose="02070309020205020404" pitchFamily="49" charset="0"/>
              </a:rPr>
              <a:t>contr.sum</a:t>
            </a:r>
            <a:r>
              <a:rPr lang="en-US" b="1" dirty="0">
                <a:latin typeface="Courier New" panose="02070309020205020404" pitchFamily="49" charset="0"/>
                <a:cs typeface="Courier New" panose="02070309020205020404" pitchFamily="49" charset="0"/>
              </a:rPr>
              <a:t>", "</a:t>
            </a:r>
            <a:r>
              <a:rPr lang="en-US" b="1" dirty="0" err="1">
                <a:latin typeface="Courier New" panose="02070309020205020404" pitchFamily="49" charset="0"/>
                <a:cs typeface="Courier New" panose="02070309020205020404" pitchFamily="49" charset="0"/>
              </a:rPr>
              <a:t>contr.poly</a:t>
            </a:r>
            <a:r>
              <a:rPr lang="en-US" b="1" dirty="0">
                <a:latin typeface="Courier New" panose="02070309020205020404" pitchFamily="49" charset="0"/>
                <a:cs typeface="Courier New" panose="02070309020205020404" pitchFamily="49" charset="0"/>
              </a:rPr>
              <a:t>"))</a:t>
            </a:r>
          </a:p>
          <a:p>
            <a:pPr lvl="2"/>
            <a:endParaRPr lang="en-US" dirty="0"/>
          </a:p>
        </p:txBody>
      </p:sp>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796780" y="0"/>
            <a:ext cx="2395220" cy="1596813"/>
          </a:xfrm>
          <a:prstGeom prst="rect">
            <a:avLst/>
          </a:prstGeom>
        </p:spPr>
      </p:pic>
    </p:spTree>
    <p:extLst>
      <p:ext uri="{BB962C8B-B14F-4D97-AF65-F5344CB8AC3E}">
        <p14:creationId xmlns:p14="http://schemas.microsoft.com/office/powerpoint/2010/main" val="22238441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1FC4E3-9D7D-4B30-9BE1-2F8734B85C81}"/>
              </a:ext>
            </a:extLst>
          </p:cNvPr>
          <p:cNvSpPr>
            <a:spLocks noGrp="1"/>
          </p:cNvSpPr>
          <p:nvPr>
            <p:ph type="title"/>
          </p:nvPr>
        </p:nvSpPr>
        <p:spPr/>
        <p:txBody>
          <a:bodyPr/>
          <a:lstStyle/>
          <a:p>
            <a:r>
              <a:rPr lang="en-US" dirty="0"/>
              <a:t>Exercise 5:</a:t>
            </a:r>
            <a:br>
              <a:rPr lang="en-US" dirty="0"/>
            </a:br>
            <a:r>
              <a:rPr lang="en-US" sz="2800" dirty="0"/>
              <a:t>Experimental Design</a:t>
            </a:r>
            <a:endParaRPr lang="en-US" dirty="0"/>
          </a:p>
        </p:txBody>
      </p:sp>
      <p:sp>
        <p:nvSpPr>
          <p:cNvPr id="3" name="Content Placeholder 2">
            <a:extLst>
              <a:ext uri="{FF2B5EF4-FFF2-40B4-BE49-F238E27FC236}">
                <a16:creationId xmlns:a16="http://schemas.microsoft.com/office/drawing/2014/main" id="{4501CC03-4FA1-45DC-825C-210899B7E3AA}"/>
              </a:ext>
            </a:extLst>
          </p:cNvPr>
          <p:cNvSpPr>
            <a:spLocks noGrp="1"/>
          </p:cNvSpPr>
          <p:nvPr>
            <p:ph idx="1"/>
          </p:nvPr>
        </p:nvSpPr>
        <p:spPr/>
        <p:txBody>
          <a:bodyPr/>
          <a:lstStyle/>
          <a:p>
            <a:r>
              <a:rPr lang="en-US" dirty="0"/>
              <a:t>You are designing an experiment to look at combinations of probiotics and antibiotics to boost the growth of baby goats. You have:</a:t>
            </a:r>
          </a:p>
          <a:p>
            <a:pPr lvl="1"/>
            <a:r>
              <a:rPr lang="en-US" dirty="0"/>
              <a:t>3 antibiotics: None, Tetracycline, Lincomycin</a:t>
            </a:r>
          </a:p>
          <a:p>
            <a:pPr lvl="1"/>
            <a:r>
              <a:rPr lang="en-US" dirty="0"/>
              <a:t>4 probiotics: None, Lactobacillus, Enterococcus, </a:t>
            </a:r>
            <a:r>
              <a:rPr lang="en-US" dirty="0" err="1"/>
              <a:t>Bifidobacteria</a:t>
            </a:r>
            <a:endParaRPr lang="en-US" dirty="0"/>
          </a:p>
          <a:p>
            <a:pPr lvl="1"/>
            <a:r>
              <a:rPr lang="en-US" dirty="0"/>
              <a:t>3 barns, each of which has 32 pens that can hold 5 goats each</a:t>
            </a:r>
          </a:p>
          <a:p>
            <a:pPr lvl="1"/>
            <a:r>
              <a:rPr lang="en-US" dirty="0"/>
              <a:t>An unlimited supply of baby goats</a:t>
            </a:r>
          </a:p>
          <a:p>
            <a:r>
              <a:rPr lang="en-US" dirty="0"/>
              <a:t>What would be the best design for this experiment?</a:t>
            </a:r>
          </a:p>
          <a:p>
            <a:pPr lvl="1"/>
            <a:r>
              <a:rPr lang="en-US" dirty="0"/>
              <a:t>How many DOF will you have for each term (&amp; for error)?</a:t>
            </a:r>
          </a:p>
          <a:p>
            <a:pPr lvl="1"/>
            <a:r>
              <a:rPr lang="en-US" dirty="0"/>
              <a:t>Create this design in R and export the data table (=</a:t>
            </a:r>
            <a:r>
              <a:rPr lang="en-US" dirty="0" err="1"/>
              <a:t>fieldbook</a:t>
            </a:r>
            <a:r>
              <a:rPr lang="en-US" dirty="0"/>
              <a:t>).</a:t>
            </a:r>
          </a:p>
        </p:txBody>
      </p:sp>
      <p:pic>
        <p:nvPicPr>
          <p:cNvPr id="5" name="Picture 4">
            <a:extLst>
              <a:ext uri="{FF2B5EF4-FFF2-40B4-BE49-F238E27FC236}">
                <a16:creationId xmlns:a16="http://schemas.microsoft.com/office/drawing/2014/main" id="{90EE4C5D-FB91-4431-A474-01EAEEB54DDB}"/>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l="29813" r="25352" b="42710"/>
          <a:stretch/>
        </p:blipFill>
        <p:spPr>
          <a:xfrm>
            <a:off x="10038302" y="1"/>
            <a:ext cx="2153697" cy="1834630"/>
          </a:xfrm>
          <a:prstGeom prst="rect">
            <a:avLst/>
          </a:prstGeom>
          <a:ln w="38100">
            <a:solidFill>
              <a:schemeClr val="tx1"/>
            </a:solidFill>
          </a:ln>
        </p:spPr>
      </p:pic>
    </p:spTree>
    <p:extLst>
      <p:ext uri="{BB962C8B-B14F-4D97-AF65-F5344CB8AC3E}">
        <p14:creationId xmlns:p14="http://schemas.microsoft.com/office/powerpoint/2010/main" val="4232860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animEffect transition="in" filter="fade">
                                      <p:cBhvr>
                                        <p:cTn id="7" dur="500"/>
                                        <p:tgtEl>
                                          <p:spTgt spid="3">
                                            <p:txEl>
                                              <p:pRg st="5" end="5"/>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6" end="6"/>
                                            </p:txEl>
                                          </p:spTgt>
                                        </p:tgtEl>
                                        <p:attrNameLst>
                                          <p:attrName>style.visibility</p:attrName>
                                        </p:attrNameLst>
                                      </p:cBhvr>
                                      <p:to>
                                        <p:strVal val="visible"/>
                                      </p:to>
                                    </p:set>
                                    <p:animEffect transition="in" filter="fade">
                                      <p:cBhvr>
                                        <p:cTn id="10" dur="500"/>
                                        <p:tgtEl>
                                          <p:spTgt spid="3">
                                            <p:txEl>
                                              <p:pRg st="6" end="6"/>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Effect transition="in" filter="fade">
                                      <p:cBhvr>
                                        <p:cTn id="13" dur="500"/>
                                        <p:tgtEl>
                                          <p:spTgt spid="3">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4898</TotalTime>
  <Words>3354</Words>
  <Application>Microsoft Office PowerPoint</Application>
  <PresentationFormat>Widescreen</PresentationFormat>
  <Paragraphs>511</Paragraphs>
  <Slides>73</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73</vt:i4>
      </vt:variant>
    </vt:vector>
  </HeadingPairs>
  <TitlesOfParts>
    <vt:vector size="78" baseType="lpstr">
      <vt:lpstr>Arial</vt:lpstr>
      <vt:lpstr>Calibri</vt:lpstr>
      <vt:lpstr>Calibri Light</vt:lpstr>
      <vt:lpstr>Courier New</vt:lpstr>
      <vt:lpstr>Office Theme</vt:lpstr>
      <vt:lpstr>CRSS (PBGG) 8010: Research Methods and Design in Crop Science</vt:lpstr>
      <vt:lpstr>Lecture outline</vt:lpstr>
      <vt:lpstr>Administrative stuff</vt:lpstr>
      <vt:lpstr>Review: Linear regression assumptions</vt:lpstr>
      <vt:lpstr>Review: Linear regression assumptions</vt:lpstr>
      <vt:lpstr>Review: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In-class exercise: Model diagnostics</vt:lpstr>
      <vt:lpstr>Questions on last time’s material?</vt:lpstr>
      <vt:lpstr>Balanced versus unbalanced data</vt:lpstr>
      <vt:lpstr>Order matters</vt:lpstr>
      <vt:lpstr>Order matters</vt:lpstr>
      <vt:lpstr>Sums-of-Squares</vt:lpstr>
      <vt:lpstr>How order affects Sums of Squares</vt:lpstr>
      <vt:lpstr>How order affects Sums of Squares</vt:lpstr>
      <vt:lpstr>Linear regression is greedy</vt:lpstr>
      <vt:lpstr>Sharing Sums of Squares</vt:lpstr>
      <vt:lpstr>Sharing Sums of Squares</vt:lpstr>
      <vt:lpstr>Sharing Sums of Squares</vt:lpstr>
      <vt:lpstr>Sharing Sums of Squares</vt:lpstr>
      <vt:lpstr>Sharing Sums of Squares</vt:lpstr>
      <vt:lpstr>Sharing Sums of Squares</vt:lpstr>
      <vt:lpstr>In-class exercise: Balance and model order</vt:lpstr>
      <vt:lpstr>In-class exercise: Balance and model order</vt:lpstr>
      <vt:lpstr>In-class exercise: Balance and model order</vt:lpstr>
      <vt:lpstr>In-class exercise: Balance and model order</vt:lpstr>
      <vt:lpstr>Questions on model order and SS?</vt:lpstr>
      <vt:lpstr>So what is the correct model order?</vt:lpstr>
      <vt:lpstr>The types of sums-of-squares</vt:lpstr>
      <vt:lpstr>Type I Sums-of-Squares</vt:lpstr>
      <vt:lpstr>Type I Sums-of-Squares</vt:lpstr>
      <vt:lpstr>Type I Sums-of-Squares</vt:lpstr>
      <vt:lpstr>Type I Sums-of-Squares</vt:lpstr>
      <vt:lpstr>In-class exercise: Type I Sums-of-Squares</vt:lpstr>
      <vt:lpstr>In-class exercise: Type I Sums-of-Squares</vt:lpstr>
      <vt:lpstr>In-class exercise: Type I Sums-of-Squares</vt:lpstr>
      <vt:lpstr>In-class exercise: Type I Sums-of-Squares</vt:lpstr>
      <vt:lpstr>Type I Sums-of-Squares</vt:lpstr>
      <vt:lpstr>Type II Sums-of-Squares</vt:lpstr>
      <vt:lpstr>Type II Sums-of-Squares</vt:lpstr>
      <vt:lpstr>Type II Sums-of-Squares</vt:lpstr>
      <vt:lpstr>Type III Sums-of-Squares</vt:lpstr>
      <vt:lpstr>Type III Sums-of-Squares</vt:lpstr>
      <vt:lpstr>Type III Sums-of-Squares</vt:lpstr>
      <vt:lpstr>Sums-of-squares summaries</vt:lpstr>
      <vt:lpstr>Sums-of-squares examples:</vt:lpstr>
      <vt:lpstr>Sums-of-squares examples:</vt:lpstr>
      <vt:lpstr>Sums-of-squares examples:</vt:lpstr>
      <vt:lpstr>Sums-of-squares examples:</vt:lpstr>
      <vt:lpstr>Sums-of-squares summaries</vt:lpstr>
      <vt:lpstr>Questions on the types of SS?</vt:lpstr>
      <vt:lpstr>Sums-of-squares in R</vt:lpstr>
      <vt:lpstr>Sums-of-squares in R</vt:lpstr>
      <vt:lpstr>Type I versus Type II</vt:lpstr>
      <vt:lpstr>Sums-of-squares in R</vt:lpstr>
      <vt:lpstr>Sums-of-squares in R</vt:lpstr>
      <vt:lpstr>In-class exercise: Sums of squares</vt:lpstr>
      <vt:lpstr>In-class exercise: Sums of squares</vt:lpstr>
      <vt:lpstr>In-class exercise: Sums of squares</vt:lpstr>
      <vt:lpstr>Final questions on Sums of Squares?</vt:lpstr>
      <vt:lpstr>Homework 6</vt:lpstr>
      <vt:lpstr>Exercise 1: Linear Regression</vt:lpstr>
      <vt:lpstr>Exercise 2: Fill out the model table</vt:lpstr>
      <vt:lpstr>Exercise 3: Quality control</vt:lpstr>
      <vt:lpstr>Exercise 4: Sums of Squares</vt:lpstr>
      <vt:lpstr>Exercise 5: Experimental Design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CRSS (PBGG) 8010: Research Methods and Experimental Design for Agriculture</dc:title>
  <dc:creator>Jason Wallace</dc:creator>
  <cp:lastModifiedBy>Matheus Ardigueri</cp:lastModifiedBy>
  <cp:revision>522</cp:revision>
  <dcterms:created xsi:type="dcterms:W3CDTF">2016-05-27T18:28:23Z</dcterms:created>
  <dcterms:modified xsi:type="dcterms:W3CDTF">2026-10-13T21:13:28Z</dcterms:modified>
</cp:coreProperties>
</file>