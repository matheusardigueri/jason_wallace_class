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257" r:id="rId3"/>
    <p:sldId id="350" r:id="rId4"/>
    <p:sldId id="415" r:id="rId5"/>
    <p:sldId id="269" r:id="rId6"/>
    <p:sldId id="416" r:id="rId7"/>
    <p:sldId id="271" r:id="rId8"/>
    <p:sldId id="417" r:id="rId9"/>
    <p:sldId id="272" r:id="rId10"/>
    <p:sldId id="352" r:id="rId11"/>
    <p:sldId id="358" r:id="rId12"/>
    <p:sldId id="414" r:id="rId13"/>
    <p:sldId id="353" r:id="rId14"/>
    <p:sldId id="360" r:id="rId15"/>
    <p:sldId id="361" r:id="rId16"/>
    <p:sldId id="362" r:id="rId17"/>
    <p:sldId id="363" r:id="rId18"/>
    <p:sldId id="367" r:id="rId19"/>
    <p:sldId id="369" r:id="rId20"/>
    <p:sldId id="370" r:id="rId21"/>
    <p:sldId id="371" r:id="rId22"/>
    <p:sldId id="368" r:id="rId23"/>
    <p:sldId id="300" r:id="rId24"/>
    <p:sldId id="258" r:id="rId25"/>
    <p:sldId id="259" r:id="rId26"/>
    <p:sldId id="260" r:id="rId27"/>
    <p:sldId id="261" r:id="rId28"/>
    <p:sldId id="301" r:id="rId29"/>
    <p:sldId id="302" r:id="rId30"/>
    <p:sldId id="303" r:id="rId31"/>
    <p:sldId id="304" r:id="rId32"/>
    <p:sldId id="305" r:id="rId33"/>
    <p:sldId id="306" r:id="rId34"/>
    <p:sldId id="307" r:id="rId35"/>
    <p:sldId id="308" r:id="rId36"/>
    <p:sldId id="309" r:id="rId37"/>
    <p:sldId id="317" r:id="rId38"/>
    <p:sldId id="318" r:id="rId39"/>
    <p:sldId id="319" r:id="rId40"/>
    <p:sldId id="373" r:id="rId41"/>
    <p:sldId id="320" r:id="rId42"/>
    <p:sldId id="321" r:id="rId43"/>
    <p:sldId id="374" r:id="rId44"/>
    <p:sldId id="375" r:id="rId45"/>
    <p:sldId id="376" r:id="rId46"/>
    <p:sldId id="382" r:id="rId47"/>
    <p:sldId id="383" r:id="rId48"/>
    <p:sldId id="384" r:id="rId49"/>
    <p:sldId id="385" r:id="rId50"/>
    <p:sldId id="386" r:id="rId51"/>
    <p:sldId id="391" r:id="rId52"/>
    <p:sldId id="387" r:id="rId53"/>
    <p:sldId id="392" r:id="rId54"/>
    <p:sldId id="394" r:id="rId55"/>
    <p:sldId id="393" r:id="rId56"/>
    <p:sldId id="395" r:id="rId57"/>
    <p:sldId id="396" r:id="rId58"/>
    <p:sldId id="397" r:id="rId59"/>
    <p:sldId id="398" r:id="rId60"/>
    <p:sldId id="279" r:id="rId61"/>
    <p:sldId id="280" r:id="rId62"/>
    <p:sldId id="281" r:id="rId63"/>
    <p:sldId id="282" r:id="rId64"/>
    <p:sldId id="283" r:id="rId65"/>
    <p:sldId id="284" r:id="rId66"/>
    <p:sldId id="285" r:id="rId67"/>
    <p:sldId id="286" r:id="rId68"/>
    <p:sldId id="399"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3FE5"/>
    <a:srgbClr val="EE82EE"/>
    <a:srgbClr val="548235"/>
    <a:srgbClr val="FFFFFF"/>
    <a:srgbClr val="FFD966"/>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3" autoAdjust="0"/>
    <p:restoredTop sz="81435" autoAdjust="0"/>
  </p:normalViewPr>
  <p:slideViewPr>
    <p:cSldViewPr snapToGrid="0">
      <p:cViewPr varScale="1">
        <p:scale>
          <a:sx n="93" d="100"/>
          <a:sy n="93" d="100"/>
        </p:scale>
        <p:origin x="216"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FA04D-5C42-4D62-A2E3-69462FD4FA81}"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FD8CC-2567-4E8B-88B6-FED9D8364B0E}" type="slidenum">
              <a:rPr lang="en-US" smtClean="0"/>
              <a:t>‹#›</a:t>
            </a:fld>
            <a:endParaRPr lang="en-US"/>
          </a:p>
        </p:txBody>
      </p:sp>
    </p:spTree>
    <p:extLst>
      <p:ext uri="{BB962C8B-B14F-4D97-AF65-F5344CB8AC3E}">
        <p14:creationId xmlns:p14="http://schemas.microsoft.com/office/powerpoint/2010/main" val="211119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a:t>
            </a:fld>
            <a:endParaRPr lang="en-US"/>
          </a:p>
        </p:txBody>
      </p:sp>
    </p:spTree>
    <p:extLst>
      <p:ext uri="{BB962C8B-B14F-4D97-AF65-F5344CB8AC3E}">
        <p14:creationId xmlns:p14="http://schemas.microsoft.com/office/powerpoint/2010/main" val="2194440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unbalanced</a:t>
            </a:r>
            <a:r>
              <a:rPr lang="en-US" baseline="0" dirty="0"/>
              <a:t> data, the order you put terms into the model will change what their p-values are. We’ll talk about this more later this lecture.</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9</a:t>
            </a:fld>
            <a:endParaRPr lang="en-US"/>
          </a:p>
        </p:txBody>
      </p:sp>
    </p:spTree>
    <p:extLst>
      <p:ext uri="{BB962C8B-B14F-4D97-AF65-F5344CB8AC3E}">
        <p14:creationId xmlns:p14="http://schemas.microsoft.com/office/powerpoint/2010/main" val="3046847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15</a:t>
            </a:fld>
            <a:endParaRPr lang="en-US"/>
          </a:p>
        </p:txBody>
      </p:sp>
    </p:spTree>
    <p:extLst>
      <p:ext uri="{BB962C8B-B14F-4D97-AF65-F5344CB8AC3E}">
        <p14:creationId xmlns:p14="http://schemas.microsoft.com/office/powerpoint/2010/main" val="324780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16</a:t>
            </a:fld>
            <a:endParaRPr lang="en-US"/>
          </a:p>
        </p:txBody>
      </p:sp>
    </p:spTree>
    <p:extLst>
      <p:ext uri="{BB962C8B-B14F-4D97-AF65-F5344CB8AC3E}">
        <p14:creationId xmlns:p14="http://schemas.microsoft.com/office/powerpoint/2010/main" val="61285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23</a:t>
            </a:fld>
            <a:endParaRPr lang="en-US"/>
          </a:p>
        </p:txBody>
      </p:sp>
    </p:spTree>
    <p:extLst>
      <p:ext uri="{BB962C8B-B14F-4D97-AF65-F5344CB8AC3E}">
        <p14:creationId xmlns:p14="http://schemas.microsoft.com/office/powerpoint/2010/main" val="770196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time to mention that Galton was a brilliant scientist, but also a eugenicist and a racist. Basically, his insight into how to analyze genetics was amazing, but his choices in how to use it, not so much.</a:t>
            </a:r>
          </a:p>
        </p:txBody>
      </p:sp>
      <p:sp>
        <p:nvSpPr>
          <p:cNvPr id="4" name="Slide Number Placeholder 3"/>
          <p:cNvSpPr>
            <a:spLocks noGrp="1"/>
          </p:cNvSpPr>
          <p:nvPr>
            <p:ph type="sldNum" sz="quarter" idx="5"/>
          </p:nvPr>
        </p:nvSpPr>
        <p:spPr/>
        <p:txBody>
          <a:bodyPr/>
          <a:lstStyle/>
          <a:p>
            <a:fld id="{E95FD8CC-2567-4E8B-88B6-FED9D8364B0E}" type="slidenum">
              <a:rPr lang="en-US" smtClean="0"/>
              <a:t>24</a:t>
            </a:fld>
            <a:endParaRPr lang="en-US"/>
          </a:p>
        </p:txBody>
      </p:sp>
    </p:spTree>
    <p:extLst>
      <p:ext uri="{BB962C8B-B14F-4D97-AF65-F5344CB8AC3E}">
        <p14:creationId xmlns:p14="http://schemas.microsoft.com/office/powerpoint/2010/main" val="3383911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to skip the explanation</a:t>
            </a:r>
            <a:r>
              <a:rPr lang="en-US" baseline="0" dirty="0"/>
              <a:t> of how we got these numbers for now; that will be a little later. Right now the focus is on showing that these are, indeed, the optimum numbers.</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34</a:t>
            </a:fld>
            <a:endParaRPr lang="en-US"/>
          </a:p>
        </p:txBody>
      </p:sp>
    </p:spTree>
    <p:extLst>
      <p:ext uri="{BB962C8B-B14F-4D97-AF65-F5344CB8AC3E}">
        <p14:creationId xmlns:p14="http://schemas.microsoft.com/office/powerpoint/2010/main" val="3568110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35</a:t>
            </a:fld>
            <a:endParaRPr lang="en-US"/>
          </a:p>
        </p:txBody>
      </p:sp>
    </p:spTree>
    <p:extLst>
      <p:ext uri="{BB962C8B-B14F-4D97-AF65-F5344CB8AC3E}">
        <p14:creationId xmlns:p14="http://schemas.microsoft.com/office/powerpoint/2010/main" val="30877242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Whereas with ANOVA we look at differences from the mean value, in linear regression we look at differences from the predicted value. (Though if you think about it, the mean _is_ what we would predict based on what data we have, so</a:t>
            </a:r>
            <a:r>
              <a:rPr lang="en-US" baseline="0" dirty="0"/>
              <a:t> these are really the same thing)</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36</a:t>
            </a:fld>
            <a:endParaRPr lang="en-US"/>
          </a:p>
        </p:txBody>
      </p:sp>
    </p:spTree>
    <p:extLst>
      <p:ext uri="{BB962C8B-B14F-4D97-AF65-F5344CB8AC3E}">
        <p14:creationId xmlns:p14="http://schemas.microsoft.com/office/powerpoint/2010/main" val="1953731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resemblance here is partly coincidence and partly real. Multiplying X by numbers to get the line is the same idea in both cases, but the constants on the end (the error and the “b” slope) are coincidence. (The intercept is actually included as part of the Beta term in linear regression)</a:t>
            </a:r>
          </a:p>
        </p:txBody>
      </p:sp>
      <p:sp>
        <p:nvSpPr>
          <p:cNvPr id="4" name="Slide Number Placeholder 3"/>
          <p:cNvSpPr>
            <a:spLocks noGrp="1"/>
          </p:cNvSpPr>
          <p:nvPr>
            <p:ph type="sldNum" sz="quarter" idx="10"/>
          </p:nvPr>
        </p:nvSpPr>
        <p:spPr/>
        <p:txBody>
          <a:bodyPr/>
          <a:lstStyle/>
          <a:p>
            <a:fld id="{E95FD8CC-2567-4E8B-88B6-FED9D8364B0E}" type="slidenum">
              <a:rPr lang="en-US" smtClean="0"/>
              <a:t>38</a:t>
            </a:fld>
            <a:endParaRPr lang="en-US"/>
          </a:p>
        </p:txBody>
      </p:sp>
    </p:spTree>
    <p:extLst>
      <p:ext uri="{BB962C8B-B14F-4D97-AF65-F5344CB8AC3E}">
        <p14:creationId xmlns:p14="http://schemas.microsoft.com/office/powerpoint/2010/main" val="300173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learn</a:t>
            </a:r>
            <a:r>
              <a:rPr lang="en-US" baseline="0" dirty="0"/>
              <a:t> all the Matrix-y details, take my GWAS class next semester</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39</a:t>
            </a:fld>
            <a:endParaRPr lang="en-US"/>
          </a:p>
        </p:txBody>
      </p:sp>
    </p:spTree>
    <p:extLst>
      <p:ext uri="{BB962C8B-B14F-4D97-AF65-F5344CB8AC3E}">
        <p14:creationId xmlns:p14="http://schemas.microsoft.com/office/powerpoint/2010/main" val="3054117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assume that the amount of nitrogen supplied</a:t>
            </a:r>
            <a:r>
              <a:rPr lang="en-US" baseline="0" dirty="0"/>
              <a:t> affects biomass produced, not vice-versa.</a:t>
            </a:r>
          </a:p>
          <a:p>
            <a:r>
              <a:rPr lang="en-US" baseline="0" dirty="0"/>
              <a:t>The dependent variable is usually easy to spot because it’s the thing you want to explain</a:t>
            </a:r>
          </a:p>
          <a:p>
            <a:r>
              <a:rPr lang="en-US" baseline="0" dirty="0"/>
              <a:t>In this case, the “plot” column is just a label, so we can ignore it for the regression.</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42</a:t>
            </a:fld>
            <a:endParaRPr lang="en-US"/>
          </a:p>
        </p:txBody>
      </p:sp>
    </p:spTree>
    <p:extLst>
      <p:ext uri="{BB962C8B-B14F-4D97-AF65-F5344CB8AC3E}">
        <p14:creationId xmlns:p14="http://schemas.microsoft.com/office/powerpoint/2010/main" val="3321348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43</a:t>
            </a:fld>
            <a:endParaRPr lang="en-US"/>
          </a:p>
        </p:txBody>
      </p:sp>
    </p:spTree>
    <p:extLst>
      <p:ext uri="{BB962C8B-B14F-4D97-AF65-F5344CB8AC3E}">
        <p14:creationId xmlns:p14="http://schemas.microsoft.com/office/powerpoint/2010/main" val="684621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44</a:t>
            </a:fld>
            <a:endParaRPr lang="en-US"/>
          </a:p>
        </p:txBody>
      </p:sp>
    </p:spTree>
    <p:extLst>
      <p:ext uri="{BB962C8B-B14F-4D97-AF65-F5344CB8AC3E}">
        <p14:creationId xmlns:p14="http://schemas.microsoft.com/office/powerpoint/2010/main" val="2854204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a:t>
            </a:r>
            <a:r>
              <a:rPr lang="en-US" baseline="0" dirty="0"/>
              <a:t> you call lm() just like you call </a:t>
            </a:r>
            <a:r>
              <a:rPr lang="en-US" baseline="0" dirty="0" err="1"/>
              <a:t>aov</a:t>
            </a:r>
            <a:r>
              <a:rPr lang="en-US" baseline="0" dirty="0"/>
              <a: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45</a:t>
            </a:fld>
            <a:endParaRPr lang="en-US"/>
          </a:p>
        </p:txBody>
      </p:sp>
    </p:spTree>
    <p:extLst>
      <p:ext uri="{BB962C8B-B14F-4D97-AF65-F5344CB8AC3E}">
        <p14:creationId xmlns:p14="http://schemas.microsoft.com/office/powerpoint/2010/main" val="3077640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46</a:t>
            </a:fld>
            <a:endParaRPr lang="en-US"/>
          </a:p>
        </p:txBody>
      </p:sp>
    </p:spTree>
    <p:extLst>
      <p:ext uri="{BB962C8B-B14F-4D97-AF65-F5344CB8AC3E}">
        <p14:creationId xmlns:p14="http://schemas.microsoft.com/office/powerpoint/2010/main" val="384117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47</a:t>
            </a:fld>
            <a:endParaRPr lang="en-US"/>
          </a:p>
        </p:txBody>
      </p:sp>
    </p:spTree>
    <p:extLst>
      <p:ext uri="{BB962C8B-B14F-4D97-AF65-F5344CB8AC3E}">
        <p14:creationId xmlns:p14="http://schemas.microsoft.com/office/powerpoint/2010/main" val="3231392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48</a:t>
            </a:fld>
            <a:endParaRPr lang="en-US"/>
          </a:p>
        </p:txBody>
      </p:sp>
    </p:spTree>
    <p:extLst>
      <p:ext uri="{BB962C8B-B14F-4D97-AF65-F5344CB8AC3E}">
        <p14:creationId xmlns:p14="http://schemas.microsoft.com/office/powerpoint/2010/main" val="18484450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49</a:t>
            </a:fld>
            <a:endParaRPr lang="en-US"/>
          </a:p>
        </p:txBody>
      </p:sp>
    </p:spTree>
    <p:extLst>
      <p:ext uri="{BB962C8B-B14F-4D97-AF65-F5344CB8AC3E}">
        <p14:creationId xmlns:p14="http://schemas.microsoft.com/office/powerpoint/2010/main" val="541358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50</a:t>
            </a:fld>
            <a:endParaRPr lang="en-US"/>
          </a:p>
        </p:txBody>
      </p:sp>
    </p:spTree>
    <p:extLst>
      <p:ext uri="{BB962C8B-B14F-4D97-AF65-F5344CB8AC3E}">
        <p14:creationId xmlns:p14="http://schemas.microsoft.com/office/powerpoint/2010/main" val="52437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55</a:t>
            </a:fld>
            <a:endParaRPr lang="en-US"/>
          </a:p>
        </p:txBody>
      </p:sp>
    </p:spTree>
    <p:extLst>
      <p:ext uri="{BB962C8B-B14F-4D97-AF65-F5344CB8AC3E}">
        <p14:creationId xmlns:p14="http://schemas.microsoft.com/office/powerpoint/2010/main" val="346654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56</a:t>
            </a:fld>
            <a:endParaRPr lang="en-US"/>
          </a:p>
        </p:txBody>
      </p:sp>
    </p:spTree>
    <p:extLst>
      <p:ext uri="{BB962C8B-B14F-4D97-AF65-F5344CB8AC3E}">
        <p14:creationId xmlns:p14="http://schemas.microsoft.com/office/powerpoint/2010/main" val="15520453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Coding variables like this is usually called “dummy coding” because the indicator</a:t>
            </a:r>
            <a:r>
              <a:rPr lang="en-US" baseline="0" dirty="0"/>
              <a:t> variables are “dummy variables” for the real thing</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60</a:t>
            </a:fld>
            <a:endParaRPr lang="en-US"/>
          </a:p>
        </p:txBody>
      </p:sp>
    </p:spTree>
    <p:extLst>
      <p:ext uri="{BB962C8B-B14F-4D97-AF65-F5344CB8AC3E}">
        <p14:creationId xmlns:p14="http://schemas.microsoft.com/office/powerpoint/2010/main" val="2900359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you _have_ to drop one of</a:t>
            </a:r>
            <a:r>
              <a:rPr lang="en-US" baseline="0" dirty="0"/>
              <a:t> the categories due to how the linear algebra works. If you don’t, the math won’t work out right.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61</a:t>
            </a:fld>
            <a:endParaRPr lang="en-US"/>
          </a:p>
        </p:txBody>
      </p:sp>
    </p:spTree>
    <p:extLst>
      <p:ext uri="{BB962C8B-B14F-4D97-AF65-F5344CB8AC3E}">
        <p14:creationId xmlns:p14="http://schemas.microsoft.com/office/powerpoint/2010/main" val="2669164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571822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838200" y="1825625"/>
            <a:ext cx="10515600" cy="4110718"/>
          </a:xfrm>
        </p:spPr>
        <p:txBody>
          <a:bodyPr>
            <a:noAutofit/>
          </a:bodyPr>
          <a:lstStyle>
            <a:lvl1pPr marL="465138" indent="-465138">
              <a:defRPr sz="3200"/>
            </a:lvl1pPr>
            <a:lvl2pPr marL="914400" indent="-457200">
              <a:defRPr sz="2800"/>
            </a:lvl2pPr>
            <a:lvl3pPr marL="1262063" indent="-347663">
              <a:defRPr sz="2400"/>
            </a:lvl3pPr>
            <a:lvl4pPr marL="1712913" indent="-341313">
              <a:defRPr sz="2000"/>
            </a:lvl4pPr>
            <a:lvl5pPr marL="2176463" indent="-347663">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61884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1839622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E8A1D8-F9AF-447C-AE09-AF14014826C2}"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735867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E8A1D8-F9AF-447C-AE09-AF14014826C2}"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65874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E8A1D8-F9AF-447C-AE09-AF14014826C2}"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508921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E8A1D8-F9AF-447C-AE09-AF14014826C2}"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74940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E8A1D8-F9AF-447C-AE09-AF14014826C2}"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618683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E8A1D8-F9AF-447C-AE09-AF14014826C2}"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91564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031216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1625364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E8A1D8-F9AF-447C-AE09-AF14014826C2}" type="datetimeFigureOut">
              <a:rPr lang="en-US" smtClean="0"/>
              <a:t>10/5/2026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3EF59B-F2EA-4295-8B7F-B2BE0898F8B9}" type="slidenum">
              <a:rPr lang="en-US" smtClean="0"/>
              <a:t>‹#›</a:t>
            </a:fld>
            <a:endParaRPr lang="en-US"/>
          </a:p>
        </p:txBody>
      </p:sp>
    </p:spTree>
    <p:extLst>
      <p:ext uri="{BB962C8B-B14F-4D97-AF65-F5344CB8AC3E}">
        <p14:creationId xmlns:p14="http://schemas.microsoft.com/office/powerpoint/2010/main" val="581816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9018" t="24017" r="1601"/>
          <a:stretch/>
        </p:blipFill>
        <p:spPr>
          <a:xfrm>
            <a:off x="-38101" y="-38100"/>
            <a:ext cx="12242801" cy="6870700"/>
          </a:xfrm>
          <a:prstGeom prst="rect">
            <a:avLst/>
          </a:prstGeom>
        </p:spPr>
      </p:pic>
      <p:sp>
        <p:nvSpPr>
          <p:cNvPr id="9" name="Rounded Rectangle 8"/>
          <p:cNvSpPr/>
          <p:nvPr/>
        </p:nvSpPr>
        <p:spPr>
          <a:xfrm>
            <a:off x="2276475" y="1324533"/>
            <a:ext cx="7639050" cy="2570162"/>
          </a:xfrm>
          <a:prstGeom prst="roundRect">
            <a:avLst/>
          </a:prstGeom>
          <a:solidFill>
            <a:srgbClr val="FFFFFF">
              <a:alpha val="89804"/>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077029" y="961600"/>
            <a:ext cx="6037943" cy="2387600"/>
          </a:xfrm>
        </p:spPr>
        <p:txBody>
          <a:bodyPr>
            <a:normAutofit/>
          </a:bodyPr>
          <a:lstStyle/>
          <a:p>
            <a:r>
              <a:rPr lang="en-US" b="1" dirty="0"/>
              <a:t>CRSS (PBGG) 8010:</a:t>
            </a:r>
            <a:br>
              <a:rPr lang="en-US" dirty="0"/>
            </a:br>
            <a:r>
              <a:rPr lang="en-US" sz="3600" dirty="0"/>
              <a:t>Research Methods and Design in Crop Science</a:t>
            </a:r>
            <a:endParaRPr lang="en-US" dirty="0"/>
          </a:p>
        </p:txBody>
      </p:sp>
      <p:sp>
        <p:nvSpPr>
          <p:cNvPr id="3" name="Subtitle 2"/>
          <p:cNvSpPr>
            <a:spLocks noGrp="1"/>
          </p:cNvSpPr>
          <p:nvPr>
            <p:ph type="subTitle" idx="1"/>
          </p:nvPr>
        </p:nvSpPr>
        <p:spPr>
          <a:xfrm>
            <a:off x="3835854" y="3465783"/>
            <a:ext cx="4520293" cy="1655762"/>
          </a:xfrm>
        </p:spPr>
        <p:txBody>
          <a:bodyPr/>
          <a:lstStyle/>
          <a:p>
            <a:r>
              <a:rPr lang="en-US" dirty="0"/>
              <a:t>Jason Wallace      Fall 2026</a:t>
            </a:r>
          </a:p>
        </p:txBody>
      </p:sp>
      <p:sp>
        <p:nvSpPr>
          <p:cNvPr id="6" name="Rounded Rectangle 5"/>
          <p:cNvSpPr/>
          <p:nvPr/>
        </p:nvSpPr>
        <p:spPr>
          <a:xfrm>
            <a:off x="3632926" y="4273860"/>
            <a:ext cx="4926148" cy="1100780"/>
          </a:xfrm>
          <a:prstGeom prst="roundRect">
            <a:avLst/>
          </a:prstGeom>
          <a:solidFill>
            <a:srgbClr val="FFFFFF">
              <a:alpha val="89804"/>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204857" y="4317401"/>
            <a:ext cx="7782287" cy="954107"/>
          </a:xfrm>
          <a:prstGeom prst="rect">
            <a:avLst/>
          </a:prstGeom>
          <a:noFill/>
        </p:spPr>
        <p:txBody>
          <a:bodyPr wrap="square" rtlCol="0">
            <a:spAutoFit/>
          </a:bodyPr>
          <a:lstStyle/>
          <a:p>
            <a:pPr algn="ctr"/>
            <a:r>
              <a:rPr lang="en-US" sz="3200" b="1" dirty="0"/>
              <a:t>Lecture 14</a:t>
            </a:r>
          </a:p>
          <a:p>
            <a:pPr algn="ctr"/>
            <a:r>
              <a:rPr lang="en-US" sz="2400" b="1" dirty="0"/>
              <a:t>Linear Regression I</a:t>
            </a:r>
            <a:endParaRPr lang="en-US" sz="3200" b="1" dirty="0"/>
          </a:p>
        </p:txBody>
      </p:sp>
    </p:spTree>
    <p:extLst>
      <p:ext uri="{BB962C8B-B14F-4D97-AF65-F5344CB8AC3E}">
        <p14:creationId xmlns:p14="http://schemas.microsoft.com/office/powerpoint/2010/main" val="161197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outline</a:t>
            </a:r>
          </a:p>
        </p:txBody>
      </p:sp>
      <p:sp>
        <p:nvSpPr>
          <p:cNvPr id="3" name="Content Placeholder 2"/>
          <p:cNvSpPr>
            <a:spLocks noGrp="1"/>
          </p:cNvSpPr>
          <p:nvPr>
            <p:ph idx="1"/>
          </p:nvPr>
        </p:nvSpPr>
        <p:spPr/>
        <p:txBody>
          <a:bodyPr/>
          <a:lstStyle/>
          <a:p>
            <a:r>
              <a:rPr lang="en-US" dirty="0"/>
              <a:t>Administrative Stuff</a:t>
            </a:r>
          </a:p>
          <a:p>
            <a:r>
              <a:rPr lang="en-US" dirty="0"/>
              <a:t>Review of last time</a:t>
            </a:r>
          </a:p>
          <a:p>
            <a:r>
              <a:rPr lang="en-US" dirty="0"/>
              <a:t>Linear Regression principles</a:t>
            </a:r>
          </a:p>
          <a:p>
            <a:r>
              <a:rPr lang="en-US" dirty="0"/>
              <a:t>Linear Regression in practice</a:t>
            </a:r>
          </a:p>
          <a:p>
            <a:pPr marL="0" indent="0">
              <a:buNone/>
            </a:pPr>
            <a:endParaRPr lang="en-US" dirty="0"/>
          </a:p>
        </p:txBody>
      </p:sp>
    </p:spTree>
    <p:extLst>
      <p:ext uri="{BB962C8B-B14F-4D97-AF65-F5344CB8AC3E}">
        <p14:creationId xmlns:p14="http://schemas.microsoft.com/office/powerpoint/2010/main" val="119517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Stuff</a:t>
            </a:r>
          </a:p>
        </p:txBody>
      </p:sp>
      <p:sp>
        <p:nvSpPr>
          <p:cNvPr id="3" name="Content Placeholder 2"/>
          <p:cNvSpPr>
            <a:spLocks noGrp="1"/>
          </p:cNvSpPr>
          <p:nvPr>
            <p:ph idx="1"/>
          </p:nvPr>
        </p:nvSpPr>
        <p:spPr/>
        <p:txBody>
          <a:bodyPr/>
          <a:lstStyle/>
          <a:p>
            <a:r>
              <a:rPr lang="en-US" dirty="0"/>
              <a:t>Midterm 1 response due Thursday</a:t>
            </a:r>
          </a:p>
          <a:p>
            <a:pPr lvl="1"/>
            <a:r>
              <a:rPr lang="en-US" dirty="0"/>
              <a:t>(Visibility issue fixed)</a:t>
            </a:r>
          </a:p>
        </p:txBody>
      </p:sp>
    </p:spTree>
    <p:extLst>
      <p:ext uri="{BB962C8B-B14F-4D97-AF65-F5344CB8AC3E}">
        <p14:creationId xmlns:p14="http://schemas.microsoft.com/office/powerpoint/2010/main" val="1029039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8246F-E837-4271-BD04-D968AB49E585}"/>
              </a:ext>
            </a:extLst>
          </p:cNvPr>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3" name="Content Placeholder 2">
            <a:extLst>
              <a:ext uri="{FF2B5EF4-FFF2-40B4-BE49-F238E27FC236}">
                <a16:creationId xmlns:a16="http://schemas.microsoft.com/office/drawing/2014/main" id="{2F9560D6-4978-422B-9227-59E13CBB5A87}"/>
              </a:ext>
            </a:extLst>
          </p:cNvPr>
          <p:cNvSpPr>
            <a:spLocks noGrp="1"/>
          </p:cNvSpPr>
          <p:nvPr>
            <p:ph idx="1"/>
          </p:nvPr>
        </p:nvSpPr>
        <p:spPr>
          <a:xfrm>
            <a:off x="838200" y="1825625"/>
            <a:ext cx="10761324" cy="4110718"/>
          </a:xfrm>
        </p:spPr>
        <p:txBody>
          <a:bodyPr/>
          <a:lstStyle/>
          <a:p>
            <a:r>
              <a:rPr lang="en-US" dirty="0"/>
              <a:t>Download the dataset “14_muscadines.csv,” which is a RCBD of 6 muscadine varieties.</a:t>
            </a:r>
          </a:p>
          <a:p>
            <a:pPr lvl="1"/>
            <a:r>
              <a:rPr lang="en-US" dirty="0"/>
              <a:t>Run basic quality control on both the raw data and after fitting an ANOVA model.</a:t>
            </a:r>
          </a:p>
          <a:p>
            <a:pPr lvl="2"/>
            <a:r>
              <a:rPr lang="en-US" i="1" dirty="0"/>
              <a:t>“After” = using residuals() to extract the model residuals and test them</a:t>
            </a:r>
          </a:p>
          <a:p>
            <a:pPr lvl="1"/>
            <a:r>
              <a:rPr lang="en-US" dirty="0"/>
              <a:t>Are there any odd datapoints or patterns you should be aware of?</a:t>
            </a:r>
          </a:p>
          <a:p>
            <a:r>
              <a:rPr lang="en-US" dirty="0"/>
              <a:t>If you find odd datapoints, remove them and rerun the ANOVA without them. What does it do to your data? </a:t>
            </a:r>
          </a:p>
          <a:p>
            <a:endParaRPr lang="en-US" dirty="0"/>
          </a:p>
        </p:txBody>
      </p:sp>
    </p:spTree>
    <p:extLst>
      <p:ext uri="{BB962C8B-B14F-4D97-AF65-F5344CB8AC3E}">
        <p14:creationId xmlns:p14="http://schemas.microsoft.com/office/powerpoint/2010/main" val="1953165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r="52309" b="50875"/>
          <a:stretch/>
        </p:blipFill>
        <p:spPr>
          <a:xfrm>
            <a:off x="1504950" y="2347348"/>
            <a:ext cx="4379015" cy="4510652"/>
          </a:xfrm>
          <a:prstGeom prst="rect">
            <a:avLst/>
          </a:prstGeom>
        </p:spPr>
      </p:pic>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l="48773" b="50875"/>
          <a:stretch/>
        </p:blipFill>
        <p:spPr>
          <a:xfrm>
            <a:off x="5983356" y="2347348"/>
            <a:ext cx="4703693" cy="4510652"/>
          </a:xfrm>
          <a:prstGeom prst="rect">
            <a:avLst/>
          </a:prstGeom>
        </p:spPr>
      </p:pic>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pic>
        <p:nvPicPr>
          <p:cNvPr id="5" name="Picture 4"/>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993" b="54501"/>
          <a:stretch/>
        </p:blipFill>
        <p:spPr>
          <a:xfrm>
            <a:off x="838200" y="1690688"/>
            <a:ext cx="6096000" cy="1148407"/>
          </a:xfrm>
          <a:prstGeom prst="rect">
            <a:avLst/>
          </a:prstGeom>
        </p:spPr>
      </p:pic>
      <p:sp>
        <p:nvSpPr>
          <p:cNvPr id="8" name="Oval 7"/>
          <p:cNvSpPr/>
          <p:nvPr/>
        </p:nvSpPr>
        <p:spPr>
          <a:xfrm>
            <a:off x="3694457" y="3140765"/>
            <a:ext cx="1235352" cy="805070"/>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quot;No&quot; Symbol 8"/>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ight Arrow 9"/>
          <p:cNvSpPr/>
          <p:nvPr/>
        </p:nvSpPr>
        <p:spPr>
          <a:xfrm rot="5400000">
            <a:off x="9511748" y="4740966"/>
            <a:ext cx="417443" cy="646044"/>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33987" y="6341806"/>
            <a:ext cx="3234387" cy="584775"/>
          </a:xfrm>
          <a:prstGeom prst="rect">
            <a:avLst/>
          </a:prstGeom>
          <a:noFill/>
        </p:spPr>
        <p:txBody>
          <a:bodyPr wrap="square" rtlCol="0">
            <a:spAutoFit/>
          </a:bodyPr>
          <a:lstStyle/>
          <a:p>
            <a:r>
              <a:rPr lang="en-US" sz="1600" i="1" dirty="0"/>
              <a:t>Note: I added additional parameters to make the plots more visible</a:t>
            </a:r>
          </a:p>
        </p:txBody>
      </p:sp>
      <p:sp>
        <p:nvSpPr>
          <p:cNvPr id="3" name="TextBox 2">
            <a:extLst>
              <a:ext uri="{FF2B5EF4-FFF2-40B4-BE49-F238E27FC236}">
                <a16:creationId xmlns:a16="http://schemas.microsoft.com/office/drawing/2014/main" id="{91B6CF69-D259-413A-BAC2-C2CBF94066ED}"/>
              </a:ext>
            </a:extLst>
          </p:cNvPr>
          <p:cNvSpPr txBox="1"/>
          <p:nvPr/>
        </p:nvSpPr>
        <p:spPr>
          <a:xfrm>
            <a:off x="100484" y="3115365"/>
            <a:ext cx="1810304" cy="584775"/>
          </a:xfrm>
          <a:prstGeom prst="rect">
            <a:avLst/>
          </a:prstGeom>
          <a:noFill/>
        </p:spPr>
        <p:txBody>
          <a:bodyPr wrap="none" rtlCol="0">
            <a:spAutoFit/>
          </a:bodyPr>
          <a:lstStyle/>
          <a:p>
            <a:r>
              <a:rPr lang="en-US" sz="3200" b="1" dirty="0">
                <a:solidFill>
                  <a:srgbClr val="002060"/>
                </a:solidFill>
              </a:rPr>
              <a:t>Raw Data</a:t>
            </a:r>
          </a:p>
        </p:txBody>
      </p:sp>
    </p:spTree>
    <p:extLst>
      <p:ext uri="{BB962C8B-B14F-4D97-AF65-F5344CB8AC3E}">
        <p14:creationId xmlns:p14="http://schemas.microsoft.com/office/powerpoint/2010/main" val="733241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4950" y="2413166"/>
            <a:ext cx="4379015" cy="437901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9876" y="2347348"/>
            <a:ext cx="4510652" cy="4510652"/>
          </a:xfrm>
          <a:prstGeom prst="rect">
            <a:avLst/>
          </a:prstGeom>
        </p:spPr>
      </p:pic>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pic>
        <p:nvPicPr>
          <p:cNvPr id="5" name="Picture 4"/>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8199" y="1832083"/>
            <a:ext cx="7690183" cy="1091987"/>
          </a:xfrm>
          <a:prstGeom prst="rect">
            <a:avLst/>
          </a:prstGeom>
        </p:spPr>
      </p:pic>
      <p:sp>
        <p:nvSpPr>
          <p:cNvPr id="8" name="Oval 7"/>
          <p:cNvSpPr/>
          <p:nvPr/>
        </p:nvSpPr>
        <p:spPr>
          <a:xfrm>
            <a:off x="3503539" y="3196032"/>
            <a:ext cx="1235352" cy="913744"/>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quot;No&quot; Symbol 8"/>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ight Arrow 9"/>
          <p:cNvSpPr/>
          <p:nvPr/>
        </p:nvSpPr>
        <p:spPr>
          <a:xfrm rot="5400000">
            <a:off x="9260539" y="4761064"/>
            <a:ext cx="417443" cy="646044"/>
          </a:xfrm>
          <a:prstGeom prst="righ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BA6542E-8096-4D72-A857-C05445915809}"/>
              </a:ext>
            </a:extLst>
          </p:cNvPr>
          <p:cNvSpPr txBox="1"/>
          <p:nvPr/>
        </p:nvSpPr>
        <p:spPr>
          <a:xfrm>
            <a:off x="100484" y="3115365"/>
            <a:ext cx="1786451" cy="584775"/>
          </a:xfrm>
          <a:prstGeom prst="rect">
            <a:avLst/>
          </a:prstGeom>
          <a:noFill/>
        </p:spPr>
        <p:txBody>
          <a:bodyPr wrap="none" rtlCol="0">
            <a:spAutoFit/>
          </a:bodyPr>
          <a:lstStyle/>
          <a:p>
            <a:r>
              <a:rPr lang="en-US" sz="3200" b="1" dirty="0">
                <a:solidFill>
                  <a:srgbClr val="C00000"/>
                </a:solidFill>
              </a:rPr>
              <a:t>Residuals</a:t>
            </a:r>
          </a:p>
        </p:txBody>
      </p:sp>
    </p:spTree>
    <p:extLst>
      <p:ext uri="{BB962C8B-B14F-4D97-AF65-F5344CB8AC3E}">
        <p14:creationId xmlns:p14="http://schemas.microsoft.com/office/powerpoint/2010/main" val="394424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cstate="print">
            <a:extLst>
              <a:ext uri="{28A0092B-C50C-407E-A947-70E740481C1C}">
                <a14:useLocalDpi xmlns:a14="http://schemas.microsoft.com/office/drawing/2010/main" val="0"/>
              </a:ext>
            </a:extLst>
          </a:blip>
          <a:srcRect l="322" t="51238" r="51987" b="-363"/>
          <a:stretch/>
        </p:blipFill>
        <p:spPr>
          <a:xfrm>
            <a:off x="1504950" y="2347348"/>
            <a:ext cx="4379015" cy="4510652"/>
          </a:xfrm>
          <a:prstGeom prst="rect">
            <a:avLst/>
          </a:prstGeom>
        </p:spPr>
      </p:pic>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55134"/>
          <a:stretch/>
        </p:blipFill>
        <p:spPr>
          <a:xfrm>
            <a:off x="838199" y="1690687"/>
            <a:ext cx="6104761" cy="1186012"/>
          </a:xfrm>
          <a:prstGeom prst="rect">
            <a:avLst/>
          </a:prstGeom>
        </p:spPr>
      </p:pic>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49254" t="51239" r="-481" b="-364"/>
          <a:stretch/>
        </p:blipFill>
        <p:spPr>
          <a:xfrm>
            <a:off x="5983356" y="2347348"/>
            <a:ext cx="4703693" cy="4510652"/>
          </a:xfrm>
          <a:prstGeom prst="rect">
            <a:avLst/>
          </a:prstGeom>
        </p:spPr>
      </p:pic>
      <p:sp>
        <p:nvSpPr>
          <p:cNvPr id="11" name="TextBox 10">
            <a:extLst>
              <a:ext uri="{FF2B5EF4-FFF2-40B4-BE49-F238E27FC236}">
                <a16:creationId xmlns:a16="http://schemas.microsoft.com/office/drawing/2014/main" id="{5A327C6A-D0A7-469B-86C0-D86DD10E49AA}"/>
              </a:ext>
            </a:extLst>
          </p:cNvPr>
          <p:cNvSpPr txBox="1"/>
          <p:nvPr/>
        </p:nvSpPr>
        <p:spPr>
          <a:xfrm>
            <a:off x="100484" y="3115365"/>
            <a:ext cx="1487908" cy="1077218"/>
          </a:xfrm>
          <a:prstGeom prst="rect">
            <a:avLst/>
          </a:prstGeom>
          <a:noFill/>
        </p:spPr>
        <p:txBody>
          <a:bodyPr wrap="none" rtlCol="0">
            <a:spAutoFit/>
          </a:bodyPr>
          <a:lstStyle/>
          <a:p>
            <a:r>
              <a:rPr lang="en-US" sz="3200" b="1" dirty="0">
                <a:solidFill>
                  <a:schemeClr val="accent6">
                    <a:lumMod val="50000"/>
                  </a:schemeClr>
                </a:solidFill>
              </a:rPr>
              <a:t>Filtered</a:t>
            </a:r>
          </a:p>
          <a:p>
            <a:r>
              <a:rPr lang="en-US" sz="3200" b="1" dirty="0">
                <a:solidFill>
                  <a:schemeClr val="accent6">
                    <a:lumMod val="50000"/>
                  </a:schemeClr>
                </a:solidFill>
              </a:rPr>
              <a:t>data</a:t>
            </a:r>
          </a:p>
        </p:txBody>
      </p:sp>
    </p:spTree>
    <p:extLst>
      <p:ext uri="{BB962C8B-B14F-4D97-AF65-F5344CB8AC3E}">
        <p14:creationId xmlns:p14="http://schemas.microsoft.com/office/powerpoint/2010/main" val="3443202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4950" y="2413166"/>
            <a:ext cx="4379015" cy="4379015"/>
          </a:xfrm>
          <a:prstGeom prst="rect">
            <a:avLst/>
          </a:prstGeom>
        </p:spPr>
      </p:pic>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9876" y="2347348"/>
            <a:ext cx="4510652" cy="4510652"/>
          </a:xfrm>
          <a:prstGeom prst="rect">
            <a:avLst/>
          </a:prstGeom>
        </p:spPr>
      </p:pic>
      <p:pic>
        <p:nvPicPr>
          <p:cNvPr id="7" name="Picture 6"/>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38199" y="1816921"/>
            <a:ext cx="7831417" cy="1197584"/>
          </a:xfrm>
          <a:prstGeom prst="rect">
            <a:avLst/>
          </a:prstGeom>
        </p:spPr>
      </p:pic>
      <p:sp>
        <p:nvSpPr>
          <p:cNvPr id="10" name="TextBox 9">
            <a:extLst>
              <a:ext uri="{FF2B5EF4-FFF2-40B4-BE49-F238E27FC236}">
                <a16:creationId xmlns:a16="http://schemas.microsoft.com/office/drawing/2014/main" id="{757AF7EC-049C-4456-963B-3DFB219F417F}"/>
              </a:ext>
            </a:extLst>
          </p:cNvPr>
          <p:cNvSpPr txBox="1"/>
          <p:nvPr/>
        </p:nvSpPr>
        <p:spPr>
          <a:xfrm>
            <a:off x="100484" y="3115365"/>
            <a:ext cx="1786451" cy="584775"/>
          </a:xfrm>
          <a:prstGeom prst="rect">
            <a:avLst/>
          </a:prstGeom>
          <a:noFill/>
        </p:spPr>
        <p:txBody>
          <a:bodyPr wrap="none" rtlCol="0">
            <a:spAutoFit/>
          </a:bodyPr>
          <a:lstStyle/>
          <a:p>
            <a:r>
              <a:rPr lang="en-US" sz="3200" b="1" dirty="0">
                <a:solidFill>
                  <a:srgbClr val="E53FE5"/>
                </a:solidFill>
              </a:rPr>
              <a:t>Residuals</a:t>
            </a:r>
          </a:p>
        </p:txBody>
      </p:sp>
    </p:spTree>
    <p:extLst>
      <p:ext uri="{BB962C8B-B14F-4D97-AF65-F5344CB8AC3E}">
        <p14:creationId xmlns:p14="http://schemas.microsoft.com/office/powerpoint/2010/main" val="232247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Quality Control</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b="66909"/>
          <a:stretch/>
        </p:blipFill>
        <p:spPr>
          <a:xfrm>
            <a:off x="838200" y="1878831"/>
            <a:ext cx="8856203" cy="1999995"/>
          </a:xfrm>
          <a:prstGeom prst="rect">
            <a:avLst/>
          </a:prstGeom>
        </p:spPr>
      </p:pic>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t="32846" b="33479"/>
          <a:stretch/>
        </p:blipFill>
        <p:spPr>
          <a:xfrm>
            <a:off x="838199" y="4454013"/>
            <a:ext cx="8856203" cy="2035278"/>
          </a:xfrm>
          <a:prstGeom prst="rect">
            <a:avLst/>
          </a:prstGeom>
        </p:spPr>
      </p:pic>
      <p:sp>
        <p:nvSpPr>
          <p:cNvPr id="5" name="TextBox 4"/>
          <p:cNvSpPr txBox="1"/>
          <p:nvPr/>
        </p:nvSpPr>
        <p:spPr>
          <a:xfrm>
            <a:off x="8110084" y="2355608"/>
            <a:ext cx="2149673" cy="523220"/>
          </a:xfrm>
          <a:prstGeom prst="rect">
            <a:avLst/>
          </a:prstGeom>
          <a:noFill/>
        </p:spPr>
        <p:txBody>
          <a:bodyPr wrap="square" rtlCol="0">
            <a:spAutoFit/>
          </a:bodyPr>
          <a:lstStyle/>
          <a:p>
            <a:r>
              <a:rPr lang="en-US" sz="2800" b="1" dirty="0">
                <a:solidFill>
                  <a:schemeClr val="accent4">
                    <a:lumMod val="75000"/>
                  </a:schemeClr>
                </a:solidFill>
              </a:rPr>
              <a:t>Raw data</a:t>
            </a:r>
          </a:p>
        </p:txBody>
      </p:sp>
      <p:sp>
        <p:nvSpPr>
          <p:cNvPr id="11" name="TextBox 10"/>
          <p:cNvSpPr txBox="1"/>
          <p:nvPr/>
        </p:nvSpPr>
        <p:spPr>
          <a:xfrm>
            <a:off x="8110084" y="4963181"/>
            <a:ext cx="2149673" cy="523220"/>
          </a:xfrm>
          <a:prstGeom prst="rect">
            <a:avLst/>
          </a:prstGeom>
          <a:noFill/>
        </p:spPr>
        <p:txBody>
          <a:bodyPr wrap="square" rtlCol="0">
            <a:spAutoFit/>
          </a:bodyPr>
          <a:lstStyle/>
          <a:p>
            <a:r>
              <a:rPr lang="en-US" sz="2800" b="1" dirty="0">
                <a:solidFill>
                  <a:schemeClr val="accent4">
                    <a:lumMod val="75000"/>
                  </a:schemeClr>
                </a:solidFill>
              </a:rPr>
              <a:t>Filtered</a:t>
            </a:r>
          </a:p>
        </p:txBody>
      </p:sp>
      <p:sp>
        <p:nvSpPr>
          <p:cNvPr id="6" name="Rounded Rectangle 5"/>
          <p:cNvSpPr/>
          <p:nvPr/>
        </p:nvSpPr>
        <p:spPr>
          <a:xfrm>
            <a:off x="6096000" y="2385104"/>
            <a:ext cx="1248697" cy="372844"/>
          </a:xfrm>
          <a:prstGeom prst="round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6096000" y="4966074"/>
            <a:ext cx="1248697" cy="372844"/>
          </a:xfrm>
          <a:prstGeom prst="round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9519110" y="4229275"/>
            <a:ext cx="2559037" cy="199103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t>Note: Your p-values may be slightly different if you fit </a:t>
            </a:r>
            <a:r>
              <a:rPr lang="en-US" sz="2400" b="1" i="1" dirty="0"/>
              <a:t>variety</a:t>
            </a:r>
            <a:r>
              <a:rPr lang="en-US" sz="2400" b="1" dirty="0"/>
              <a:t> before </a:t>
            </a:r>
            <a:r>
              <a:rPr lang="en-US" sz="2400" b="1" i="1" dirty="0"/>
              <a:t>block</a:t>
            </a:r>
          </a:p>
        </p:txBody>
      </p:sp>
    </p:spTree>
    <p:extLst>
      <p:ext uri="{BB962C8B-B14F-4D97-AF65-F5344CB8AC3E}">
        <p14:creationId xmlns:p14="http://schemas.microsoft.com/office/powerpoint/2010/main" val="355132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Interactions</a:t>
            </a:r>
            <a:endParaRPr lang="en-US" dirty="0"/>
          </a:p>
        </p:txBody>
      </p:sp>
      <p:sp>
        <p:nvSpPr>
          <p:cNvPr id="3" name="Content Placeholder 2"/>
          <p:cNvSpPr>
            <a:spLocks noGrp="1"/>
          </p:cNvSpPr>
          <p:nvPr>
            <p:ph idx="1"/>
          </p:nvPr>
        </p:nvSpPr>
        <p:spPr/>
        <p:txBody>
          <a:bodyPr/>
          <a:lstStyle/>
          <a:p>
            <a:r>
              <a:rPr lang="en-US" dirty="0"/>
              <a:t>Download the dataset “14_organic.csv”, which is test of different compost and biochar amendments and their effect on organic matter at the end of the season.</a:t>
            </a:r>
          </a:p>
          <a:p>
            <a:pPr lvl="1"/>
            <a:r>
              <a:rPr lang="en-US" dirty="0"/>
              <a:t>Determine which factor(s) are significant, including the relevant interactions</a:t>
            </a:r>
          </a:p>
          <a:p>
            <a:pPr lvl="1"/>
            <a:r>
              <a:rPr lang="en-US" dirty="0"/>
              <a:t>Plot the interaction plot</a:t>
            </a:r>
          </a:p>
        </p:txBody>
      </p:sp>
    </p:spTree>
    <p:extLst>
      <p:ext uri="{BB962C8B-B14F-4D97-AF65-F5344CB8AC3E}">
        <p14:creationId xmlns:p14="http://schemas.microsoft.com/office/powerpoint/2010/main" val="6321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Interactions</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b="14923"/>
          <a:stretch/>
        </p:blipFill>
        <p:spPr>
          <a:xfrm>
            <a:off x="505351" y="1878832"/>
            <a:ext cx="11489844" cy="3080030"/>
          </a:xfrm>
          <a:prstGeom prst="rect">
            <a:avLst/>
          </a:prstGeom>
        </p:spPr>
      </p:pic>
      <p:sp>
        <p:nvSpPr>
          <p:cNvPr id="7" name="TextBox 6"/>
          <p:cNvSpPr txBox="1"/>
          <p:nvPr/>
        </p:nvSpPr>
        <p:spPr>
          <a:xfrm>
            <a:off x="8757138" y="3418847"/>
            <a:ext cx="2917915" cy="461665"/>
          </a:xfrm>
          <a:prstGeom prst="rect">
            <a:avLst/>
          </a:prstGeom>
          <a:noFill/>
        </p:spPr>
        <p:txBody>
          <a:bodyPr wrap="none" rtlCol="0">
            <a:spAutoFit/>
          </a:bodyPr>
          <a:lstStyle/>
          <a:p>
            <a:r>
              <a:rPr lang="en-US" sz="2400" b="1" dirty="0">
                <a:solidFill>
                  <a:schemeClr val="accent4">
                    <a:lumMod val="75000"/>
                  </a:schemeClr>
                </a:solidFill>
              </a:rPr>
              <a:t>Everything significant</a:t>
            </a:r>
          </a:p>
        </p:txBody>
      </p:sp>
    </p:spTree>
    <p:extLst>
      <p:ext uri="{BB962C8B-B14F-4D97-AF65-F5344CB8AC3E}">
        <p14:creationId xmlns:p14="http://schemas.microsoft.com/office/powerpoint/2010/main" val="357988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048" y="1690688"/>
            <a:ext cx="10581752" cy="5290876"/>
          </a:xfrm>
          <a:prstGeom prst="rect">
            <a:avLst/>
          </a:prstGeom>
        </p:spPr>
      </p:pic>
      <p:sp>
        <p:nvSpPr>
          <p:cNvPr id="2" name="Title 1"/>
          <p:cNvSpPr>
            <a:spLocks noGrp="1"/>
          </p:cNvSpPr>
          <p:nvPr>
            <p:ph type="title"/>
          </p:nvPr>
        </p:nvSpPr>
        <p:spPr/>
        <p:txBody>
          <a:bodyPr/>
          <a:lstStyle/>
          <a:p>
            <a:r>
              <a:rPr lang="en-US" dirty="0"/>
              <a:t>Review:</a:t>
            </a:r>
            <a:br>
              <a:rPr lang="en-US" dirty="0"/>
            </a:br>
            <a:r>
              <a:rPr lang="en-US" sz="2800" dirty="0"/>
              <a:t>Interactions</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84192" b="-620"/>
          <a:stretch/>
        </p:blipFill>
        <p:spPr>
          <a:xfrm>
            <a:off x="505351" y="1878832"/>
            <a:ext cx="11489844" cy="594737"/>
          </a:xfrm>
          <a:prstGeom prst="rect">
            <a:avLst/>
          </a:prstGeom>
        </p:spPr>
      </p:pic>
    </p:spTree>
    <p:extLst>
      <p:ext uri="{BB962C8B-B14F-4D97-AF65-F5344CB8AC3E}">
        <p14:creationId xmlns:p14="http://schemas.microsoft.com/office/powerpoint/2010/main" val="367295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last time’s materials?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946868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ANOVA reminder</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6406" r="4667" b="13293"/>
          <a:stretch/>
        </p:blipFill>
        <p:spPr>
          <a:xfrm>
            <a:off x="4695372" y="1690688"/>
            <a:ext cx="7264399" cy="4252686"/>
          </a:xfrm>
          <a:prstGeom prst="rect">
            <a:avLst/>
          </a:prstGeom>
        </p:spPr>
      </p:pic>
      <p:sp>
        <p:nvSpPr>
          <p:cNvPr id="6" name="TextBox 5"/>
          <p:cNvSpPr txBox="1"/>
          <p:nvPr/>
        </p:nvSpPr>
        <p:spPr>
          <a:xfrm>
            <a:off x="8128000" y="5923224"/>
            <a:ext cx="3594958" cy="461665"/>
          </a:xfrm>
          <a:prstGeom prst="rect">
            <a:avLst/>
          </a:prstGeom>
          <a:noFill/>
        </p:spPr>
        <p:txBody>
          <a:bodyPr wrap="none" rtlCol="0">
            <a:spAutoFit/>
          </a:bodyPr>
          <a:lstStyle/>
          <a:p>
            <a:r>
              <a:rPr lang="en-US" sz="2400" b="1" dirty="0">
                <a:solidFill>
                  <a:schemeClr val="accent5">
                    <a:lumMod val="75000"/>
                  </a:schemeClr>
                </a:solidFill>
              </a:rPr>
              <a:t>Within-treatment variance</a:t>
            </a:r>
          </a:p>
        </p:txBody>
      </p:sp>
      <p:sp>
        <p:nvSpPr>
          <p:cNvPr id="7" name="TextBox 6"/>
          <p:cNvSpPr txBox="1"/>
          <p:nvPr/>
        </p:nvSpPr>
        <p:spPr>
          <a:xfrm>
            <a:off x="5442859" y="5725660"/>
            <a:ext cx="2532742" cy="830997"/>
          </a:xfrm>
          <a:prstGeom prst="rect">
            <a:avLst/>
          </a:prstGeom>
          <a:noFill/>
        </p:spPr>
        <p:txBody>
          <a:bodyPr wrap="square" rtlCol="0">
            <a:spAutoFit/>
          </a:bodyPr>
          <a:lstStyle/>
          <a:p>
            <a:pPr algn="ctr"/>
            <a:r>
              <a:rPr lang="en-US" sz="2400" b="1" dirty="0">
                <a:solidFill>
                  <a:schemeClr val="accent4">
                    <a:lumMod val="75000"/>
                  </a:schemeClr>
                </a:solidFill>
              </a:rPr>
              <a:t>Among-treatment variance</a:t>
            </a:r>
          </a:p>
        </p:txBody>
      </p:sp>
      <p:sp>
        <p:nvSpPr>
          <p:cNvPr id="8" name="Curved Left Arrow 7"/>
          <p:cNvSpPr/>
          <p:nvPr/>
        </p:nvSpPr>
        <p:spPr>
          <a:xfrm rot="16200000">
            <a:off x="8078789" y="223383"/>
            <a:ext cx="548368" cy="2656116"/>
          </a:xfrm>
          <a:prstGeom prst="curvedLeftArrow">
            <a:avLst>
              <a:gd name="adj1" fmla="val 41137"/>
              <a:gd name="adj2" fmla="val 76013"/>
              <a:gd name="adj3" fmla="val 2500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6607629" y="797073"/>
            <a:ext cx="3770085" cy="461665"/>
          </a:xfrm>
          <a:prstGeom prst="rect">
            <a:avLst/>
          </a:prstGeom>
          <a:noFill/>
        </p:spPr>
        <p:txBody>
          <a:bodyPr wrap="square" rtlCol="0">
            <a:spAutoFit/>
          </a:bodyPr>
          <a:lstStyle/>
          <a:p>
            <a:pPr algn="ctr"/>
            <a:r>
              <a:rPr lang="en-US" sz="2400" b="1" i="1" dirty="0">
                <a:solidFill>
                  <a:schemeClr val="bg2">
                    <a:lumMod val="50000"/>
                  </a:schemeClr>
                </a:solidFill>
              </a:rPr>
              <a:t>Break apart by treatment</a:t>
            </a:r>
          </a:p>
        </p:txBody>
      </p:sp>
      <p:sp>
        <p:nvSpPr>
          <p:cNvPr id="3" name="Content Placeholder 2"/>
          <p:cNvSpPr>
            <a:spLocks noGrp="1"/>
          </p:cNvSpPr>
          <p:nvPr>
            <p:ph idx="1"/>
          </p:nvPr>
        </p:nvSpPr>
        <p:spPr>
          <a:xfrm>
            <a:off x="838200" y="1825625"/>
            <a:ext cx="5175738" cy="4110718"/>
          </a:xfrm>
        </p:spPr>
        <p:txBody>
          <a:bodyPr/>
          <a:lstStyle/>
          <a:p>
            <a:r>
              <a:rPr lang="en-US" dirty="0"/>
              <a:t>Up to now, we’ve been focusing on ANOVA to determine what is significant.</a:t>
            </a:r>
          </a:p>
        </p:txBody>
      </p:sp>
    </p:spTree>
    <p:extLst>
      <p:ext uri="{BB962C8B-B14F-4D97-AF65-F5344CB8AC3E}">
        <p14:creationId xmlns:p14="http://schemas.microsoft.com/office/powerpoint/2010/main" val="12070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Shortcomings of ANOVA</a:t>
            </a:r>
          </a:p>
        </p:txBody>
      </p:sp>
      <p:sp>
        <p:nvSpPr>
          <p:cNvPr id="3" name="Content Placeholder 2"/>
          <p:cNvSpPr>
            <a:spLocks noGrp="1"/>
          </p:cNvSpPr>
          <p:nvPr>
            <p:ph idx="1"/>
          </p:nvPr>
        </p:nvSpPr>
        <p:spPr>
          <a:xfrm>
            <a:off x="838199" y="1825625"/>
            <a:ext cx="10755923" cy="2539203"/>
          </a:xfrm>
        </p:spPr>
        <p:txBody>
          <a:bodyPr/>
          <a:lstStyle/>
          <a:p>
            <a:r>
              <a:rPr lang="en-US" dirty="0"/>
              <a:t>ANOVA works well for</a:t>
            </a:r>
          </a:p>
          <a:p>
            <a:pPr lvl="1"/>
            <a:r>
              <a:rPr lang="en-US" dirty="0"/>
              <a:t>Simple designs</a:t>
            </a:r>
          </a:p>
          <a:p>
            <a:pPr lvl="1"/>
            <a:r>
              <a:rPr lang="en-US" dirty="0"/>
              <a:t>Balanced, categorical data</a:t>
            </a:r>
          </a:p>
          <a:p>
            <a:r>
              <a:rPr lang="en-US" dirty="0"/>
              <a:t>Complex designs and missing data, however, can make ANOVA very difficult</a:t>
            </a:r>
          </a:p>
        </p:txBody>
      </p:sp>
      <p:graphicFrame>
        <p:nvGraphicFramePr>
          <p:cNvPr id="4" name="Table 3"/>
          <p:cNvGraphicFramePr>
            <a:graphicFrameLocks noGrp="1"/>
          </p:cNvGraphicFramePr>
          <p:nvPr>
            <p:extLst>
              <p:ext uri="{D42A27DB-BD31-4B8C-83A1-F6EECF244321}">
                <p14:modId xmlns:p14="http://schemas.microsoft.com/office/powerpoint/2010/main" val="3842467255"/>
              </p:ext>
            </p:extLst>
          </p:nvPr>
        </p:nvGraphicFramePr>
        <p:xfrm>
          <a:off x="838199" y="4364828"/>
          <a:ext cx="10380786" cy="2133600"/>
        </p:xfrm>
        <a:graphic>
          <a:graphicData uri="http://schemas.openxmlformats.org/drawingml/2006/table">
            <a:tbl>
              <a:tblPr firstRow="1" bandRow="1">
                <a:tableStyleId>{5C22544A-7EE6-4342-B048-85BDC9FD1C3A}</a:tableStyleId>
              </a:tblPr>
              <a:tblGrid>
                <a:gridCol w="1730131">
                  <a:extLst>
                    <a:ext uri="{9D8B030D-6E8A-4147-A177-3AD203B41FA5}">
                      <a16:colId xmlns:a16="http://schemas.microsoft.com/office/drawing/2014/main" val="20000"/>
                    </a:ext>
                  </a:extLst>
                </a:gridCol>
                <a:gridCol w="1730131">
                  <a:extLst>
                    <a:ext uri="{9D8B030D-6E8A-4147-A177-3AD203B41FA5}">
                      <a16:colId xmlns:a16="http://schemas.microsoft.com/office/drawing/2014/main" val="20001"/>
                    </a:ext>
                  </a:extLst>
                </a:gridCol>
                <a:gridCol w="1730131">
                  <a:extLst>
                    <a:ext uri="{9D8B030D-6E8A-4147-A177-3AD203B41FA5}">
                      <a16:colId xmlns:a16="http://schemas.microsoft.com/office/drawing/2014/main" val="20002"/>
                    </a:ext>
                  </a:extLst>
                </a:gridCol>
                <a:gridCol w="1730131">
                  <a:extLst>
                    <a:ext uri="{9D8B030D-6E8A-4147-A177-3AD203B41FA5}">
                      <a16:colId xmlns:a16="http://schemas.microsoft.com/office/drawing/2014/main" val="20003"/>
                    </a:ext>
                  </a:extLst>
                </a:gridCol>
                <a:gridCol w="1730131">
                  <a:extLst>
                    <a:ext uri="{9D8B030D-6E8A-4147-A177-3AD203B41FA5}">
                      <a16:colId xmlns:a16="http://schemas.microsoft.com/office/drawing/2014/main" val="20004"/>
                    </a:ext>
                  </a:extLst>
                </a:gridCol>
                <a:gridCol w="1730131">
                  <a:extLst>
                    <a:ext uri="{9D8B030D-6E8A-4147-A177-3AD203B41FA5}">
                      <a16:colId xmlns:a16="http://schemas.microsoft.com/office/drawing/2014/main" val="20005"/>
                    </a:ext>
                  </a:extLst>
                </a:gridCol>
              </a:tblGrid>
              <a:tr h="429235">
                <a:tc>
                  <a:txBody>
                    <a:bodyPr/>
                    <a:lstStyle/>
                    <a:p>
                      <a:pPr algn="r"/>
                      <a:endParaRPr lang="en-US" sz="3200" b="1" i="1" dirty="0"/>
                    </a:p>
                  </a:txBody>
                  <a:tcPr/>
                </a:tc>
                <a:tc>
                  <a:txBody>
                    <a:bodyPr/>
                    <a:lstStyle/>
                    <a:p>
                      <a:r>
                        <a:rPr lang="en-US" sz="3200" b="1" dirty="0"/>
                        <a:t>Variety 1</a:t>
                      </a:r>
                    </a:p>
                  </a:txBody>
                  <a:tcPr/>
                </a:tc>
                <a:tc>
                  <a:txBody>
                    <a:bodyPr/>
                    <a:lstStyle/>
                    <a:p>
                      <a:r>
                        <a:rPr lang="en-US" sz="3200" b="1" dirty="0"/>
                        <a:t>Variety 2</a:t>
                      </a:r>
                    </a:p>
                  </a:txBody>
                  <a:tcPr/>
                </a:tc>
                <a:tc>
                  <a:txBody>
                    <a:bodyPr/>
                    <a:lstStyle/>
                    <a:p>
                      <a:r>
                        <a:rPr lang="en-US" sz="3200" b="1" dirty="0"/>
                        <a:t>Variety 3</a:t>
                      </a:r>
                    </a:p>
                  </a:txBody>
                  <a:tcPr/>
                </a:tc>
                <a:tc>
                  <a:txBody>
                    <a:bodyPr/>
                    <a:lstStyle/>
                    <a:p>
                      <a:r>
                        <a:rPr lang="en-US" sz="3200" b="1" dirty="0"/>
                        <a:t>Variety 4</a:t>
                      </a:r>
                    </a:p>
                  </a:txBody>
                  <a:tcPr/>
                </a:tc>
                <a:tc>
                  <a:txBody>
                    <a:bodyPr/>
                    <a:lstStyle/>
                    <a:p>
                      <a:r>
                        <a:rPr lang="en-US" sz="3200" b="1" dirty="0"/>
                        <a:t>Variety 5</a:t>
                      </a:r>
                    </a:p>
                  </a:txBody>
                  <a:tcPr/>
                </a:tc>
                <a:extLst>
                  <a:ext uri="{0D108BD9-81ED-4DB2-BD59-A6C34878D82A}">
                    <a16:rowId xmlns:a16="http://schemas.microsoft.com/office/drawing/2014/main" val="10000"/>
                  </a:ext>
                </a:extLst>
              </a:tr>
              <a:tr h="867858">
                <a:tc>
                  <a:txBody>
                    <a:bodyPr/>
                    <a:lstStyle/>
                    <a:p>
                      <a:r>
                        <a:rPr lang="en-US" sz="3200" b="1" dirty="0"/>
                        <a:t>Rep1</a:t>
                      </a:r>
                    </a:p>
                    <a:p>
                      <a:r>
                        <a:rPr lang="en-US" sz="3200" b="1" dirty="0"/>
                        <a:t>Rep2</a:t>
                      </a:r>
                    </a:p>
                    <a:p>
                      <a:r>
                        <a:rPr lang="en-US" sz="3200" b="1" dirty="0"/>
                        <a:t>Rep3</a:t>
                      </a:r>
                    </a:p>
                  </a:txBody>
                  <a:tcPr/>
                </a:tc>
                <a:tc>
                  <a:txBody>
                    <a:bodyPr/>
                    <a:lstStyle/>
                    <a:p>
                      <a:r>
                        <a:rPr lang="en-US" sz="3200" b="1" dirty="0"/>
                        <a:t>296.6</a:t>
                      </a:r>
                    </a:p>
                    <a:p>
                      <a:r>
                        <a:rPr lang="en-US" sz="3200" b="1" dirty="0"/>
                        <a:t>267.3</a:t>
                      </a:r>
                    </a:p>
                    <a:p>
                      <a:r>
                        <a:rPr lang="en-US" sz="3200" b="1" dirty="0"/>
                        <a:t>292.6</a:t>
                      </a:r>
                    </a:p>
                  </a:txBody>
                  <a:tcPr/>
                </a:tc>
                <a:tc>
                  <a:txBody>
                    <a:bodyPr/>
                    <a:lstStyle/>
                    <a:p>
                      <a:r>
                        <a:rPr lang="en-US" sz="3200" b="1" dirty="0"/>
                        <a:t>330.9</a:t>
                      </a:r>
                    </a:p>
                    <a:p>
                      <a:r>
                        <a:rPr lang="en-US" sz="3200" b="1" dirty="0"/>
                        <a:t>348.8</a:t>
                      </a:r>
                    </a:p>
                    <a:p>
                      <a:r>
                        <a:rPr lang="en-US" sz="3200" b="1" dirty="0"/>
                        <a:t>345.4</a:t>
                      </a:r>
                    </a:p>
                  </a:txBody>
                  <a:tcPr/>
                </a:tc>
                <a:tc>
                  <a:txBody>
                    <a:bodyPr/>
                    <a:lstStyle/>
                    <a:p>
                      <a:r>
                        <a:rPr lang="en-US" sz="3200" b="1" dirty="0"/>
                        <a:t>302.6</a:t>
                      </a:r>
                    </a:p>
                    <a:p>
                      <a:r>
                        <a:rPr lang="en-US" sz="3200" b="1" dirty="0"/>
                        <a:t>271.0</a:t>
                      </a:r>
                    </a:p>
                    <a:p>
                      <a:r>
                        <a:rPr lang="en-US" sz="3200" b="1" dirty="0"/>
                        <a:t>288.8</a:t>
                      </a:r>
                    </a:p>
                  </a:txBody>
                  <a:tcPr/>
                </a:tc>
                <a:tc>
                  <a:txBody>
                    <a:bodyPr/>
                    <a:lstStyle/>
                    <a:p>
                      <a:r>
                        <a:rPr lang="en-US" sz="3200" b="1" dirty="0"/>
                        <a:t>304.6</a:t>
                      </a:r>
                    </a:p>
                    <a:p>
                      <a:r>
                        <a:rPr lang="en-US" sz="3200" b="1" dirty="0"/>
                        <a:t>320.3</a:t>
                      </a:r>
                    </a:p>
                    <a:p>
                      <a:r>
                        <a:rPr lang="en-US" sz="3200" b="1" dirty="0"/>
                        <a:t>294.8</a:t>
                      </a:r>
                    </a:p>
                  </a:txBody>
                  <a:tcPr/>
                </a:tc>
                <a:tc>
                  <a:txBody>
                    <a:bodyPr/>
                    <a:lstStyle/>
                    <a:p>
                      <a:r>
                        <a:rPr lang="en-US" sz="3200" b="1" dirty="0"/>
                        <a:t>280.8</a:t>
                      </a:r>
                    </a:p>
                    <a:p>
                      <a:r>
                        <a:rPr lang="en-US" sz="3200" b="1" dirty="0"/>
                        <a:t>271.3</a:t>
                      </a:r>
                    </a:p>
                    <a:p>
                      <a:r>
                        <a:rPr lang="en-US" sz="3200" b="1" dirty="0"/>
                        <a:t>276.3</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9503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Shortcomings of ANOVA</a:t>
            </a:r>
          </a:p>
        </p:txBody>
      </p:sp>
      <p:sp>
        <p:nvSpPr>
          <p:cNvPr id="3" name="Content Placeholder 2"/>
          <p:cNvSpPr>
            <a:spLocks noGrp="1"/>
          </p:cNvSpPr>
          <p:nvPr>
            <p:ph idx="1"/>
          </p:nvPr>
        </p:nvSpPr>
        <p:spPr>
          <a:xfrm>
            <a:off x="838199" y="1825625"/>
            <a:ext cx="10755923" cy="2539203"/>
          </a:xfrm>
        </p:spPr>
        <p:txBody>
          <a:bodyPr/>
          <a:lstStyle/>
          <a:p>
            <a:r>
              <a:rPr lang="en-US" dirty="0"/>
              <a:t>ANOVA works well for</a:t>
            </a:r>
          </a:p>
          <a:p>
            <a:pPr lvl="1"/>
            <a:r>
              <a:rPr lang="en-US" dirty="0"/>
              <a:t>Simple designs</a:t>
            </a:r>
          </a:p>
          <a:p>
            <a:pPr lvl="1"/>
            <a:r>
              <a:rPr lang="en-US" dirty="0"/>
              <a:t>Balanced, categorical data</a:t>
            </a:r>
          </a:p>
          <a:p>
            <a:r>
              <a:rPr lang="en-US" dirty="0"/>
              <a:t>Complex designs and missing data, however, can make ANOVA very difficult</a:t>
            </a:r>
          </a:p>
        </p:txBody>
      </p:sp>
      <p:graphicFrame>
        <p:nvGraphicFramePr>
          <p:cNvPr id="4" name="Table 3"/>
          <p:cNvGraphicFramePr>
            <a:graphicFrameLocks noGrp="1"/>
          </p:cNvGraphicFramePr>
          <p:nvPr>
            <p:extLst>
              <p:ext uri="{D42A27DB-BD31-4B8C-83A1-F6EECF244321}">
                <p14:modId xmlns:p14="http://schemas.microsoft.com/office/powerpoint/2010/main" val="1271610542"/>
              </p:ext>
            </p:extLst>
          </p:nvPr>
        </p:nvGraphicFramePr>
        <p:xfrm>
          <a:off x="838199" y="4364828"/>
          <a:ext cx="10380786" cy="2133600"/>
        </p:xfrm>
        <a:graphic>
          <a:graphicData uri="http://schemas.openxmlformats.org/drawingml/2006/table">
            <a:tbl>
              <a:tblPr firstRow="1" bandRow="1">
                <a:tableStyleId>{5C22544A-7EE6-4342-B048-85BDC9FD1C3A}</a:tableStyleId>
              </a:tblPr>
              <a:tblGrid>
                <a:gridCol w="1730131">
                  <a:extLst>
                    <a:ext uri="{9D8B030D-6E8A-4147-A177-3AD203B41FA5}">
                      <a16:colId xmlns:a16="http://schemas.microsoft.com/office/drawing/2014/main" val="20000"/>
                    </a:ext>
                  </a:extLst>
                </a:gridCol>
                <a:gridCol w="1730131">
                  <a:extLst>
                    <a:ext uri="{9D8B030D-6E8A-4147-A177-3AD203B41FA5}">
                      <a16:colId xmlns:a16="http://schemas.microsoft.com/office/drawing/2014/main" val="20001"/>
                    </a:ext>
                  </a:extLst>
                </a:gridCol>
                <a:gridCol w="1730131">
                  <a:extLst>
                    <a:ext uri="{9D8B030D-6E8A-4147-A177-3AD203B41FA5}">
                      <a16:colId xmlns:a16="http://schemas.microsoft.com/office/drawing/2014/main" val="20002"/>
                    </a:ext>
                  </a:extLst>
                </a:gridCol>
                <a:gridCol w="1730131">
                  <a:extLst>
                    <a:ext uri="{9D8B030D-6E8A-4147-A177-3AD203B41FA5}">
                      <a16:colId xmlns:a16="http://schemas.microsoft.com/office/drawing/2014/main" val="20003"/>
                    </a:ext>
                  </a:extLst>
                </a:gridCol>
                <a:gridCol w="1730131">
                  <a:extLst>
                    <a:ext uri="{9D8B030D-6E8A-4147-A177-3AD203B41FA5}">
                      <a16:colId xmlns:a16="http://schemas.microsoft.com/office/drawing/2014/main" val="20004"/>
                    </a:ext>
                  </a:extLst>
                </a:gridCol>
                <a:gridCol w="1730131">
                  <a:extLst>
                    <a:ext uri="{9D8B030D-6E8A-4147-A177-3AD203B41FA5}">
                      <a16:colId xmlns:a16="http://schemas.microsoft.com/office/drawing/2014/main" val="20005"/>
                    </a:ext>
                  </a:extLst>
                </a:gridCol>
              </a:tblGrid>
              <a:tr h="429235">
                <a:tc>
                  <a:txBody>
                    <a:bodyPr/>
                    <a:lstStyle/>
                    <a:p>
                      <a:pPr algn="r"/>
                      <a:endParaRPr lang="en-US" sz="3200" b="1" i="1" dirty="0"/>
                    </a:p>
                  </a:txBody>
                  <a:tcPr/>
                </a:tc>
                <a:tc>
                  <a:txBody>
                    <a:bodyPr/>
                    <a:lstStyle/>
                    <a:p>
                      <a:r>
                        <a:rPr lang="en-US" sz="3200" b="1" dirty="0"/>
                        <a:t>Variety 1</a:t>
                      </a:r>
                    </a:p>
                  </a:txBody>
                  <a:tcPr/>
                </a:tc>
                <a:tc>
                  <a:txBody>
                    <a:bodyPr/>
                    <a:lstStyle/>
                    <a:p>
                      <a:r>
                        <a:rPr lang="en-US" sz="3200" b="1" dirty="0"/>
                        <a:t>Variety 2</a:t>
                      </a:r>
                    </a:p>
                  </a:txBody>
                  <a:tcPr/>
                </a:tc>
                <a:tc>
                  <a:txBody>
                    <a:bodyPr/>
                    <a:lstStyle/>
                    <a:p>
                      <a:r>
                        <a:rPr lang="en-US" sz="3200" b="1" dirty="0"/>
                        <a:t>Variety 3</a:t>
                      </a:r>
                    </a:p>
                  </a:txBody>
                  <a:tcPr/>
                </a:tc>
                <a:tc>
                  <a:txBody>
                    <a:bodyPr/>
                    <a:lstStyle/>
                    <a:p>
                      <a:r>
                        <a:rPr lang="en-US" sz="3200" b="1" dirty="0"/>
                        <a:t>Variety 4</a:t>
                      </a:r>
                    </a:p>
                  </a:txBody>
                  <a:tcPr/>
                </a:tc>
                <a:tc>
                  <a:txBody>
                    <a:bodyPr/>
                    <a:lstStyle/>
                    <a:p>
                      <a:r>
                        <a:rPr lang="en-US" sz="3200" b="1" dirty="0"/>
                        <a:t>Variety 5</a:t>
                      </a:r>
                    </a:p>
                  </a:txBody>
                  <a:tcPr/>
                </a:tc>
                <a:extLst>
                  <a:ext uri="{0D108BD9-81ED-4DB2-BD59-A6C34878D82A}">
                    <a16:rowId xmlns:a16="http://schemas.microsoft.com/office/drawing/2014/main" val="10000"/>
                  </a:ext>
                </a:extLst>
              </a:tr>
              <a:tr h="867858">
                <a:tc>
                  <a:txBody>
                    <a:bodyPr/>
                    <a:lstStyle/>
                    <a:p>
                      <a:r>
                        <a:rPr lang="en-US" sz="3200" b="1" dirty="0"/>
                        <a:t>Rep1</a:t>
                      </a:r>
                    </a:p>
                    <a:p>
                      <a:r>
                        <a:rPr lang="en-US" sz="3200" b="1" dirty="0"/>
                        <a:t>Rep2</a:t>
                      </a:r>
                    </a:p>
                    <a:p>
                      <a:r>
                        <a:rPr lang="en-US" sz="3200" b="1" dirty="0"/>
                        <a:t>Rep3</a:t>
                      </a:r>
                    </a:p>
                  </a:txBody>
                  <a:tcPr/>
                </a:tc>
                <a:tc>
                  <a:txBody>
                    <a:bodyPr/>
                    <a:lstStyle/>
                    <a:p>
                      <a:r>
                        <a:rPr lang="en-US" sz="3200" b="1" dirty="0"/>
                        <a:t>296.6</a:t>
                      </a:r>
                    </a:p>
                    <a:p>
                      <a:r>
                        <a:rPr lang="en-US" sz="3200" b="1" dirty="0"/>
                        <a:t>267.3</a:t>
                      </a:r>
                    </a:p>
                    <a:p>
                      <a:r>
                        <a:rPr lang="en-US" sz="3200" b="1" dirty="0"/>
                        <a:t>292.6</a:t>
                      </a:r>
                    </a:p>
                  </a:txBody>
                  <a:tcPr/>
                </a:tc>
                <a:tc>
                  <a:txBody>
                    <a:bodyPr/>
                    <a:lstStyle/>
                    <a:p>
                      <a:r>
                        <a:rPr lang="en-US" sz="3200" b="1" dirty="0"/>
                        <a:t>330.9</a:t>
                      </a:r>
                    </a:p>
                    <a:p>
                      <a:r>
                        <a:rPr lang="en-US" sz="3200" b="1" dirty="0">
                          <a:solidFill>
                            <a:srgbClr val="FF0000"/>
                          </a:solidFill>
                        </a:rPr>
                        <a:t>NA</a:t>
                      </a:r>
                      <a:br>
                        <a:rPr lang="en-US" sz="3200" b="1" dirty="0"/>
                      </a:br>
                      <a:r>
                        <a:rPr lang="en-US" sz="3200" b="1" dirty="0"/>
                        <a:t>345.4</a:t>
                      </a:r>
                    </a:p>
                  </a:txBody>
                  <a:tcPr/>
                </a:tc>
                <a:tc>
                  <a:txBody>
                    <a:bodyPr/>
                    <a:lstStyle/>
                    <a:p>
                      <a:r>
                        <a:rPr lang="en-US" sz="3200" b="1" dirty="0"/>
                        <a:t>302.6</a:t>
                      </a:r>
                    </a:p>
                    <a:p>
                      <a:r>
                        <a:rPr lang="en-US" sz="3200" b="1" dirty="0"/>
                        <a:t>271.0</a:t>
                      </a:r>
                    </a:p>
                    <a:p>
                      <a:r>
                        <a:rPr lang="en-US" sz="3200" b="1" dirty="0"/>
                        <a:t>288.8</a:t>
                      </a:r>
                    </a:p>
                  </a:txBody>
                  <a:tcPr/>
                </a:tc>
                <a:tc>
                  <a:txBody>
                    <a:bodyPr/>
                    <a:lstStyle/>
                    <a:p>
                      <a:r>
                        <a:rPr lang="en-US" sz="3200" b="1" dirty="0">
                          <a:solidFill>
                            <a:srgbClr val="FF0000"/>
                          </a:solidFill>
                        </a:rPr>
                        <a:t>NA</a:t>
                      </a:r>
                    </a:p>
                    <a:p>
                      <a:r>
                        <a:rPr lang="en-US" sz="3200" b="1" dirty="0"/>
                        <a:t>320.3</a:t>
                      </a:r>
                    </a:p>
                    <a:p>
                      <a:r>
                        <a:rPr lang="en-US" sz="3200" b="1" dirty="0"/>
                        <a:t>294.8</a:t>
                      </a:r>
                    </a:p>
                  </a:txBody>
                  <a:tcPr/>
                </a:tc>
                <a:tc>
                  <a:txBody>
                    <a:bodyPr/>
                    <a:lstStyle/>
                    <a:p>
                      <a:r>
                        <a:rPr lang="en-US" sz="3200" b="1" dirty="0"/>
                        <a:t>280.8</a:t>
                      </a:r>
                    </a:p>
                    <a:p>
                      <a:r>
                        <a:rPr lang="en-US" sz="3200" b="1" dirty="0"/>
                        <a:t>271.3</a:t>
                      </a:r>
                    </a:p>
                    <a:p>
                      <a:r>
                        <a:rPr lang="en-US" sz="3200" b="1" dirty="0"/>
                        <a:t>276.3</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19112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 to Linear Regression</a:t>
            </a:r>
          </a:p>
        </p:txBody>
      </p:sp>
      <p:sp>
        <p:nvSpPr>
          <p:cNvPr id="3" name="Content Placeholder 2"/>
          <p:cNvSpPr>
            <a:spLocks noGrp="1"/>
          </p:cNvSpPr>
          <p:nvPr>
            <p:ph idx="1"/>
          </p:nvPr>
        </p:nvSpPr>
        <p:spPr>
          <a:xfrm>
            <a:off x="838200" y="1825625"/>
            <a:ext cx="10515600" cy="939747"/>
          </a:xfrm>
        </p:spPr>
        <p:txBody>
          <a:bodyPr/>
          <a:lstStyle/>
          <a:p>
            <a:r>
              <a:rPr lang="en-US" dirty="0"/>
              <a:t>Linear regression is another way of getting to the same answers as ANOVA</a:t>
            </a:r>
          </a:p>
        </p:txBody>
      </p:sp>
      <p:sp>
        <p:nvSpPr>
          <p:cNvPr id="4" name="Rounded Rectangle 3"/>
          <p:cNvSpPr/>
          <p:nvPr/>
        </p:nvSpPr>
        <p:spPr>
          <a:xfrm>
            <a:off x="1886438" y="3053496"/>
            <a:ext cx="3610708" cy="1765124"/>
          </a:xfrm>
          <a:prstGeom prst="roundRect">
            <a:avLst/>
          </a:prstGeom>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ANOVA</a:t>
            </a:r>
            <a:endParaRPr lang="en-US" sz="3600" b="1" dirty="0"/>
          </a:p>
          <a:p>
            <a:pPr algn="ctr"/>
            <a:r>
              <a:rPr lang="en-US" sz="2400" b="1" dirty="0"/>
              <a:t>Divide data into groups and see which groups explain the variation</a:t>
            </a:r>
          </a:p>
        </p:txBody>
      </p:sp>
      <p:sp>
        <p:nvSpPr>
          <p:cNvPr id="5" name="Rounded Rectangle 4"/>
          <p:cNvSpPr/>
          <p:nvPr/>
        </p:nvSpPr>
        <p:spPr>
          <a:xfrm>
            <a:off x="6178062" y="3053496"/>
            <a:ext cx="3610708" cy="1765124"/>
          </a:xfrm>
          <a:prstGeom prst="roundRect">
            <a:avLst/>
          </a:prstGeom>
          <a:ln w="762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200" b="1" dirty="0"/>
              <a:t>Linear Regression</a:t>
            </a:r>
          </a:p>
          <a:p>
            <a:pPr algn="ctr"/>
            <a:r>
              <a:rPr lang="en-US" sz="2400" b="1" dirty="0"/>
              <a:t>Estimate the effect of treatments and test if they differ from 0.</a:t>
            </a:r>
          </a:p>
        </p:txBody>
      </p:sp>
      <p:sp>
        <p:nvSpPr>
          <p:cNvPr id="6" name="Content Placeholder 2"/>
          <p:cNvSpPr txBox="1">
            <a:spLocks/>
          </p:cNvSpPr>
          <p:nvPr/>
        </p:nvSpPr>
        <p:spPr>
          <a:xfrm>
            <a:off x="920262" y="5190148"/>
            <a:ext cx="10515600" cy="1123566"/>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goal of both ANOVA and Linear Regression is to minimize residual variation (=error)</a:t>
            </a:r>
          </a:p>
        </p:txBody>
      </p:sp>
    </p:spTree>
    <p:extLst>
      <p:ext uri="{BB962C8B-B14F-4D97-AF65-F5344CB8AC3E}">
        <p14:creationId xmlns:p14="http://schemas.microsoft.com/office/powerpoint/2010/main" val="330467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graphicFrame>
        <p:nvGraphicFramePr>
          <p:cNvPr id="4" name="Table 3"/>
          <p:cNvGraphicFramePr>
            <a:graphicFrameLocks noGrp="1"/>
          </p:cNvGraphicFramePr>
          <p:nvPr>
            <p:extLst>
              <p:ext uri="{D42A27DB-BD31-4B8C-83A1-F6EECF244321}">
                <p14:modId xmlns:p14="http://schemas.microsoft.com/office/powerpoint/2010/main" val="1692037691"/>
              </p:ext>
            </p:extLst>
          </p:nvPr>
        </p:nvGraphicFramePr>
        <p:xfrm>
          <a:off x="1498600" y="1858486"/>
          <a:ext cx="9194800" cy="1463040"/>
        </p:xfrm>
        <a:graphic>
          <a:graphicData uri="http://schemas.openxmlformats.org/drawingml/2006/table">
            <a:tbl>
              <a:tblPr firstRow="1" bandRow="1">
                <a:tableStyleId>{7E9639D4-E3E2-4D34-9284-5A2195B3D0D7}</a:tableStyleId>
              </a:tblPr>
              <a:tblGrid>
                <a:gridCol w="4597400">
                  <a:extLst>
                    <a:ext uri="{9D8B030D-6E8A-4147-A177-3AD203B41FA5}">
                      <a16:colId xmlns:a16="http://schemas.microsoft.com/office/drawing/2014/main" val="41664012"/>
                    </a:ext>
                  </a:extLst>
                </a:gridCol>
                <a:gridCol w="4597400">
                  <a:extLst>
                    <a:ext uri="{9D8B030D-6E8A-4147-A177-3AD203B41FA5}">
                      <a16:colId xmlns:a16="http://schemas.microsoft.com/office/drawing/2014/main" val="396320396"/>
                    </a:ext>
                  </a:extLst>
                </a:gridCol>
              </a:tblGrid>
              <a:tr h="370840">
                <a:tc>
                  <a:txBody>
                    <a:bodyPr/>
                    <a:lstStyle/>
                    <a:p>
                      <a:pPr algn="ctr"/>
                      <a:r>
                        <a:rPr lang="en-US" sz="2800" b="1" dirty="0"/>
                        <a:t>ANOVA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91617"/>
                  </a:ext>
                </a:extLst>
              </a:tr>
              <a:tr h="370840">
                <a:tc>
                  <a:txBody>
                    <a:bodyPr/>
                    <a:lstStyle/>
                    <a:p>
                      <a:r>
                        <a:rPr lang="en-US" sz="2800" b="1" dirty="0"/>
                        <a:t>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Continuous &amp; 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91939"/>
                  </a:ext>
                </a:extLst>
              </a:tr>
            </a:tbl>
          </a:graphicData>
        </a:graphic>
      </p:graphicFrame>
      <p:sp>
        <p:nvSpPr>
          <p:cNvPr id="7" name="TextBox 6"/>
          <p:cNvSpPr txBox="1"/>
          <p:nvPr/>
        </p:nvSpPr>
        <p:spPr>
          <a:xfrm>
            <a:off x="1498600" y="4901798"/>
            <a:ext cx="3509679" cy="584775"/>
          </a:xfrm>
          <a:prstGeom prst="rect">
            <a:avLst/>
          </a:prstGeom>
          <a:noFill/>
        </p:spPr>
        <p:txBody>
          <a:bodyPr wrap="none" rtlCol="0">
            <a:spAutoFit/>
          </a:bodyPr>
          <a:lstStyle/>
          <a:p>
            <a:r>
              <a:rPr lang="en-US" sz="3200" b="1" dirty="0">
                <a:solidFill>
                  <a:schemeClr val="accent5">
                    <a:lumMod val="75000"/>
                  </a:schemeClr>
                </a:solidFill>
              </a:rPr>
              <a:t>Variety1, Variety2…</a:t>
            </a:r>
          </a:p>
        </p:txBody>
      </p:sp>
      <p:sp>
        <p:nvSpPr>
          <p:cNvPr id="8" name="TextBox 7"/>
          <p:cNvSpPr txBox="1"/>
          <p:nvPr/>
        </p:nvSpPr>
        <p:spPr>
          <a:xfrm>
            <a:off x="1498600" y="4291623"/>
            <a:ext cx="4455643" cy="584775"/>
          </a:xfrm>
          <a:prstGeom prst="rect">
            <a:avLst/>
          </a:prstGeom>
          <a:noFill/>
        </p:spPr>
        <p:txBody>
          <a:bodyPr wrap="none" rtlCol="0">
            <a:spAutoFit/>
          </a:bodyPr>
          <a:lstStyle/>
          <a:p>
            <a:r>
              <a:rPr lang="en-US" sz="3200" b="1" dirty="0">
                <a:solidFill>
                  <a:schemeClr val="accent5">
                    <a:lumMod val="75000"/>
                  </a:schemeClr>
                </a:solidFill>
              </a:rPr>
              <a:t>Red, Green, Blue, Black…</a:t>
            </a:r>
          </a:p>
        </p:txBody>
      </p:sp>
      <p:sp>
        <p:nvSpPr>
          <p:cNvPr id="10" name="TextBox 9"/>
          <p:cNvSpPr txBox="1"/>
          <p:nvPr/>
        </p:nvSpPr>
        <p:spPr>
          <a:xfrm>
            <a:off x="6237757" y="4901798"/>
            <a:ext cx="3509679" cy="584775"/>
          </a:xfrm>
          <a:prstGeom prst="rect">
            <a:avLst/>
          </a:prstGeom>
          <a:noFill/>
        </p:spPr>
        <p:txBody>
          <a:bodyPr wrap="none" rtlCol="0">
            <a:spAutoFit/>
          </a:bodyPr>
          <a:lstStyle/>
          <a:p>
            <a:r>
              <a:rPr lang="en-US" sz="3200" b="1" dirty="0">
                <a:solidFill>
                  <a:schemeClr val="accent5">
                    <a:lumMod val="75000"/>
                  </a:schemeClr>
                </a:solidFill>
              </a:rPr>
              <a:t>Variety1, Variety2…</a:t>
            </a:r>
          </a:p>
        </p:txBody>
      </p:sp>
      <p:sp>
        <p:nvSpPr>
          <p:cNvPr id="11" name="TextBox 10"/>
          <p:cNvSpPr txBox="1"/>
          <p:nvPr/>
        </p:nvSpPr>
        <p:spPr>
          <a:xfrm>
            <a:off x="6237757" y="4291623"/>
            <a:ext cx="4455643" cy="584775"/>
          </a:xfrm>
          <a:prstGeom prst="rect">
            <a:avLst/>
          </a:prstGeom>
          <a:noFill/>
        </p:spPr>
        <p:txBody>
          <a:bodyPr wrap="none" rtlCol="0">
            <a:spAutoFit/>
          </a:bodyPr>
          <a:lstStyle/>
          <a:p>
            <a:r>
              <a:rPr lang="en-US" sz="3200" b="1" dirty="0">
                <a:solidFill>
                  <a:schemeClr val="accent5">
                    <a:lumMod val="75000"/>
                  </a:schemeClr>
                </a:solidFill>
              </a:rPr>
              <a:t>Red, Green, Blue, Black…</a:t>
            </a:r>
          </a:p>
        </p:txBody>
      </p:sp>
      <p:sp>
        <p:nvSpPr>
          <p:cNvPr id="12" name="TextBox 11"/>
          <p:cNvSpPr txBox="1"/>
          <p:nvPr/>
        </p:nvSpPr>
        <p:spPr>
          <a:xfrm>
            <a:off x="6237757" y="5511973"/>
            <a:ext cx="3541354" cy="584775"/>
          </a:xfrm>
          <a:prstGeom prst="rect">
            <a:avLst/>
          </a:prstGeom>
          <a:noFill/>
        </p:spPr>
        <p:txBody>
          <a:bodyPr wrap="none" rtlCol="0">
            <a:spAutoFit/>
          </a:bodyPr>
          <a:lstStyle/>
          <a:p>
            <a:r>
              <a:rPr lang="en-US" sz="3200" b="1" dirty="0">
                <a:solidFill>
                  <a:schemeClr val="accent6">
                    <a:lumMod val="75000"/>
                  </a:schemeClr>
                </a:solidFill>
              </a:rPr>
              <a:t>-47, 61, 27.3, -9, 0…</a:t>
            </a:r>
          </a:p>
        </p:txBody>
      </p:sp>
      <p:sp>
        <p:nvSpPr>
          <p:cNvPr id="14" name="TextBox 13"/>
          <p:cNvSpPr txBox="1"/>
          <p:nvPr/>
        </p:nvSpPr>
        <p:spPr>
          <a:xfrm>
            <a:off x="6237756" y="6122148"/>
            <a:ext cx="4009431" cy="584775"/>
          </a:xfrm>
          <a:prstGeom prst="rect">
            <a:avLst/>
          </a:prstGeom>
          <a:noFill/>
        </p:spPr>
        <p:txBody>
          <a:bodyPr wrap="none" rtlCol="0">
            <a:spAutoFit/>
          </a:bodyPr>
          <a:lstStyle/>
          <a:p>
            <a:r>
              <a:rPr lang="en-US" sz="3200" b="1" dirty="0">
                <a:solidFill>
                  <a:schemeClr val="accent6">
                    <a:lumMod val="75000"/>
                  </a:schemeClr>
                </a:solidFill>
              </a:rPr>
              <a:t>1.27, 3.44, 1.29, 2.88…</a:t>
            </a:r>
          </a:p>
        </p:txBody>
      </p:sp>
      <p:sp>
        <p:nvSpPr>
          <p:cNvPr id="15" name="TextBox 14"/>
          <p:cNvSpPr txBox="1"/>
          <p:nvPr/>
        </p:nvSpPr>
        <p:spPr>
          <a:xfrm>
            <a:off x="0" y="3707219"/>
            <a:ext cx="2549288" cy="707886"/>
          </a:xfrm>
          <a:prstGeom prst="rect">
            <a:avLst/>
          </a:prstGeom>
          <a:noFill/>
        </p:spPr>
        <p:txBody>
          <a:bodyPr wrap="none" rtlCol="0">
            <a:spAutoFit/>
          </a:bodyPr>
          <a:lstStyle/>
          <a:p>
            <a:r>
              <a:rPr lang="en-US" sz="4000" b="1" dirty="0">
                <a:solidFill>
                  <a:schemeClr val="accent5">
                    <a:lumMod val="75000"/>
                  </a:schemeClr>
                </a:solidFill>
              </a:rPr>
              <a:t>Categorical</a:t>
            </a:r>
          </a:p>
        </p:txBody>
      </p:sp>
      <p:sp>
        <p:nvSpPr>
          <p:cNvPr id="16" name="TextBox 15"/>
          <p:cNvSpPr txBox="1"/>
          <p:nvPr/>
        </p:nvSpPr>
        <p:spPr>
          <a:xfrm>
            <a:off x="0" y="5388862"/>
            <a:ext cx="2614883" cy="707886"/>
          </a:xfrm>
          <a:prstGeom prst="rect">
            <a:avLst/>
          </a:prstGeom>
          <a:noFill/>
        </p:spPr>
        <p:txBody>
          <a:bodyPr wrap="none" rtlCol="0">
            <a:spAutoFit/>
          </a:bodyPr>
          <a:lstStyle/>
          <a:p>
            <a:r>
              <a:rPr lang="en-US" sz="4000" b="1" dirty="0">
                <a:solidFill>
                  <a:schemeClr val="accent6">
                    <a:lumMod val="75000"/>
                  </a:schemeClr>
                </a:solidFill>
              </a:rPr>
              <a:t>Continuous</a:t>
            </a:r>
          </a:p>
        </p:txBody>
      </p:sp>
    </p:spTree>
    <p:extLst>
      <p:ext uri="{BB962C8B-B14F-4D97-AF65-F5344CB8AC3E}">
        <p14:creationId xmlns:p14="http://schemas.microsoft.com/office/powerpoint/2010/main" val="236039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12" grpId="0"/>
      <p:bldP spid="14"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graphicFrame>
        <p:nvGraphicFramePr>
          <p:cNvPr id="4" name="Table 3"/>
          <p:cNvGraphicFramePr>
            <a:graphicFrameLocks noGrp="1"/>
          </p:cNvGraphicFramePr>
          <p:nvPr>
            <p:extLst>
              <p:ext uri="{D42A27DB-BD31-4B8C-83A1-F6EECF244321}">
                <p14:modId xmlns:p14="http://schemas.microsoft.com/office/powerpoint/2010/main" val="3001187889"/>
              </p:ext>
            </p:extLst>
          </p:nvPr>
        </p:nvGraphicFramePr>
        <p:xfrm>
          <a:off x="1498600" y="1858486"/>
          <a:ext cx="9194800" cy="1981200"/>
        </p:xfrm>
        <a:graphic>
          <a:graphicData uri="http://schemas.openxmlformats.org/drawingml/2006/table">
            <a:tbl>
              <a:tblPr firstRow="1" bandRow="1">
                <a:tableStyleId>{7E9639D4-E3E2-4D34-9284-5A2195B3D0D7}</a:tableStyleId>
              </a:tblPr>
              <a:tblGrid>
                <a:gridCol w="4597400">
                  <a:extLst>
                    <a:ext uri="{9D8B030D-6E8A-4147-A177-3AD203B41FA5}">
                      <a16:colId xmlns:a16="http://schemas.microsoft.com/office/drawing/2014/main" val="41664012"/>
                    </a:ext>
                  </a:extLst>
                </a:gridCol>
                <a:gridCol w="4597400">
                  <a:extLst>
                    <a:ext uri="{9D8B030D-6E8A-4147-A177-3AD203B41FA5}">
                      <a16:colId xmlns:a16="http://schemas.microsoft.com/office/drawing/2014/main" val="396320396"/>
                    </a:ext>
                  </a:extLst>
                </a:gridCol>
              </a:tblGrid>
              <a:tr h="370840">
                <a:tc>
                  <a:txBody>
                    <a:bodyPr/>
                    <a:lstStyle/>
                    <a:p>
                      <a:pPr algn="ctr"/>
                      <a:r>
                        <a:rPr lang="en-US" sz="2800" b="1" dirty="0"/>
                        <a:t>ANOVA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91617"/>
                  </a:ext>
                </a:extLst>
              </a:tr>
              <a:tr h="370840">
                <a:tc>
                  <a:txBody>
                    <a:bodyPr/>
                    <a:lstStyle/>
                    <a:p>
                      <a:r>
                        <a:rPr lang="en-US" sz="2800" b="1" dirty="0"/>
                        <a:t>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Continuous &amp; 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91939"/>
                  </a:ext>
                </a:extLst>
              </a:tr>
              <a:tr h="370840">
                <a:tc>
                  <a:txBody>
                    <a:bodyPr/>
                    <a:lstStyle/>
                    <a:p>
                      <a:r>
                        <a:rPr lang="en-US" sz="2800" b="1" dirty="0"/>
                        <a:t>Simple designs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Pretty</a:t>
                      </a:r>
                      <a:r>
                        <a:rPr lang="en-US" sz="2800" b="1" baseline="0" dirty="0"/>
                        <a:t> much any design</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959810"/>
                  </a:ext>
                </a:extLst>
              </a:tr>
            </a:tbl>
          </a:graphicData>
        </a:graphic>
      </p:graphicFrame>
      <p:sp>
        <p:nvSpPr>
          <p:cNvPr id="5" name="TextBox 4"/>
          <p:cNvSpPr txBox="1"/>
          <p:nvPr/>
        </p:nvSpPr>
        <p:spPr>
          <a:xfrm>
            <a:off x="1498600" y="4406900"/>
            <a:ext cx="4479240" cy="584775"/>
          </a:xfrm>
          <a:prstGeom prst="rect">
            <a:avLst/>
          </a:prstGeom>
          <a:noFill/>
        </p:spPr>
        <p:txBody>
          <a:bodyPr wrap="none" rtlCol="0">
            <a:spAutoFit/>
          </a:bodyPr>
          <a:lstStyle/>
          <a:p>
            <a:r>
              <a:rPr lang="en-US" sz="3200" b="1" dirty="0">
                <a:solidFill>
                  <a:schemeClr val="accent5">
                    <a:lumMod val="75000"/>
                  </a:schemeClr>
                </a:solidFill>
              </a:rPr>
              <a:t>CRD, RCBD, Latin Square</a:t>
            </a:r>
          </a:p>
        </p:txBody>
      </p:sp>
      <p:sp>
        <p:nvSpPr>
          <p:cNvPr id="6" name="TextBox 5"/>
          <p:cNvSpPr txBox="1"/>
          <p:nvPr/>
        </p:nvSpPr>
        <p:spPr>
          <a:xfrm>
            <a:off x="6214160" y="4406900"/>
            <a:ext cx="4479240" cy="584775"/>
          </a:xfrm>
          <a:prstGeom prst="rect">
            <a:avLst/>
          </a:prstGeom>
          <a:noFill/>
        </p:spPr>
        <p:txBody>
          <a:bodyPr wrap="none" rtlCol="0">
            <a:spAutoFit/>
          </a:bodyPr>
          <a:lstStyle/>
          <a:p>
            <a:r>
              <a:rPr lang="en-US" sz="3200" b="1" dirty="0">
                <a:solidFill>
                  <a:schemeClr val="accent5">
                    <a:lumMod val="75000"/>
                  </a:schemeClr>
                </a:solidFill>
              </a:rPr>
              <a:t>CRD, RCBD, Latin Square</a:t>
            </a:r>
          </a:p>
        </p:txBody>
      </p:sp>
      <p:sp>
        <p:nvSpPr>
          <p:cNvPr id="7" name="TextBox 6"/>
          <p:cNvSpPr txBox="1"/>
          <p:nvPr/>
        </p:nvSpPr>
        <p:spPr>
          <a:xfrm>
            <a:off x="6214160" y="4991675"/>
            <a:ext cx="6007607" cy="584775"/>
          </a:xfrm>
          <a:prstGeom prst="rect">
            <a:avLst/>
          </a:prstGeom>
          <a:noFill/>
        </p:spPr>
        <p:txBody>
          <a:bodyPr wrap="none" rtlCol="0">
            <a:spAutoFit/>
          </a:bodyPr>
          <a:lstStyle/>
          <a:p>
            <a:r>
              <a:rPr lang="en-US" sz="3200" b="1" dirty="0">
                <a:solidFill>
                  <a:schemeClr val="accent6">
                    <a:lumMod val="75000"/>
                  </a:schemeClr>
                </a:solidFill>
              </a:rPr>
              <a:t>Split plot, Strip plot, Augmented…</a:t>
            </a:r>
          </a:p>
        </p:txBody>
      </p:sp>
    </p:spTree>
    <p:extLst>
      <p:ext uri="{BB962C8B-B14F-4D97-AF65-F5344CB8AC3E}">
        <p14:creationId xmlns:p14="http://schemas.microsoft.com/office/powerpoint/2010/main" val="3774232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graphicFrame>
        <p:nvGraphicFramePr>
          <p:cNvPr id="4" name="Table 3"/>
          <p:cNvGraphicFramePr>
            <a:graphicFrameLocks noGrp="1"/>
          </p:cNvGraphicFramePr>
          <p:nvPr>
            <p:extLst>
              <p:ext uri="{D42A27DB-BD31-4B8C-83A1-F6EECF244321}">
                <p14:modId xmlns:p14="http://schemas.microsoft.com/office/powerpoint/2010/main" val="1973493745"/>
              </p:ext>
            </p:extLst>
          </p:nvPr>
        </p:nvGraphicFramePr>
        <p:xfrm>
          <a:off x="1498600" y="1858486"/>
          <a:ext cx="9194800" cy="2499360"/>
        </p:xfrm>
        <a:graphic>
          <a:graphicData uri="http://schemas.openxmlformats.org/drawingml/2006/table">
            <a:tbl>
              <a:tblPr firstRow="1" bandRow="1">
                <a:tableStyleId>{7E9639D4-E3E2-4D34-9284-5A2195B3D0D7}</a:tableStyleId>
              </a:tblPr>
              <a:tblGrid>
                <a:gridCol w="4597400">
                  <a:extLst>
                    <a:ext uri="{9D8B030D-6E8A-4147-A177-3AD203B41FA5}">
                      <a16:colId xmlns:a16="http://schemas.microsoft.com/office/drawing/2014/main" val="41664012"/>
                    </a:ext>
                  </a:extLst>
                </a:gridCol>
                <a:gridCol w="4597400">
                  <a:extLst>
                    <a:ext uri="{9D8B030D-6E8A-4147-A177-3AD203B41FA5}">
                      <a16:colId xmlns:a16="http://schemas.microsoft.com/office/drawing/2014/main" val="396320396"/>
                    </a:ext>
                  </a:extLst>
                </a:gridCol>
              </a:tblGrid>
              <a:tr h="370840">
                <a:tc>
                  <a:txBody>
                    <a:bodyPr/>
                    <a:lstStyle/>
                    <a:p>
                      <a:pPr algn="ctr"/>
                      <a:r>
                        <a:rPr lang="en-US" sz="2800" b="1" dirty="0"/>
                        <a:t>ANOVA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91617"/>
                  </a:ext>
                </a:extLst>
              </a:tr>
              <a:tr h="370840">
                <a:tc>
                  <a:txBody>
                    <a:bodyPr/>
                    <a:lstStyle/>
                    <a:p>
                      <a:r>
                        <a:rPr lang="en-US" sz="2800" b="1" dirty="0"/>
                        <a:t>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Continuous &amp; 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91939"/>
                  </a:ext>
                </a:extLst>
              </a:tr>
              <a:tr h="370840">
                <a:tc>
                  <a:txBody>
                    <a:bodyPr/>
                    <a:lstStyle/>
                    <a:p>
                      <a:r>
                        <a:rPr lang="en-US" sz="2800" b="1" dirty="0"/>
                        <a:t>Simple designs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Pretty</a:t>
                      </a:r>
                      <a:r>
                        <a:rPr lang="en-US" sz="2800" b="1" baseline="0" dirty="0"/>
                        <a:t> much any design</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959810"/>
                  </a:ext>
                </a:extLst>
              </a:tr>
              <a:tr h="370840">
                <a:tc>
                  <a:txBody>
                    <a:bodyPr/>
                    <a:lstStyle/>
                    <a:p>
                      <a:r>
                        <a:rPr lang="en-US" sz="2800" b="1" dirty="0"/>
                        <a:t>Fixed effects only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Fixed &amp; Random Effects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1768009"/>
                  </a:ext>
                </a:extLst>
              </a:tr>
            </a:tbl>
          </a:graphicData>
        </a:graphic>
      </p:graphicFrame>
      <p:sp>
        <p:nvSpPr>
          <p:cNvPr id="5" name="TextBox 4"/>
          <p:cNvSpPr txBox="1"/>
          <p:nvPr/>
        </p:nvSpPr>
        <p:spPr>
          <a:xfrm>
            <a:off x="2111479" y="4658851"/>
            <a:ext cx="7969041" cy="584775"/>
          </a:xfrm>
          <a:prstGeom prst="rect">
            <a:avLst/>
          </a:prstGeom>
          <a:noFill/>
        </p:spPr>
        <p:txBody>
          <a:bodyPr wrap="none" rtlCol="0">
            <a:spAutoFit/>
          </a:bodyPr>
          <a:lstStyle/>
          <a:p>
            <a:r>
              <a:rPr lang="en-US" sz="3200" b="1" dirty="0">
                <a:solidFill>
                  <a:schemeClr val="accent4">
                    <a:lumMod val="75000"/>
                  </a:schemeClr>
                </a:solidFill>
              </a:rPr>
              <a:t>(we’ll talk more about these later in the class)</a:t>
            </a:r>
          </a:p>
        </p:txBody>
      </p:sp>
    </p:spTree>
    <p:extLst>
      <p:ext uri="{BB962C8B-B14F-4D97-AF65-F5344CB8AC3E}">
        <p14:creationId xmlns:p14="http://schemas.microsoft.com/office/powerpoint/2010/main" val="233302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graphicFrame>
        <p:nvGraphicFramePr>
          <p:cNvPr id="4" name="Table 3"/>
          <p:cNvGraphicFramePr>
            <a:graphicFrameLocks noGrp="1"/>
          </p:cNvGraphicFramePr>
          <p:nvPr>
            <p:extLst>
              <p:ext uri="{D42A27DB-BD31-4B8C-83A1-F6EECF244321}">
                <p14:modId xmlns:p14="http://schemas.microsoft.com/office/powerpoint/2010/main" val="2821125527"/>
              </p:ext>
            </p:extLst>
          </p:nvPr>
        </p:nvGraphicFramePr>
        <p:xfrm>
          <a:off x="1498600" y="1858486"/>
          <a:ext cx="9194800" cy="3444240"/>
        </p:xfrm>
        <a:graphic>
          <a:graphicData uri="http://schemas.openxmlformats.org/drawingml/2006/table">
            <a:tbl>
              <a:tblPr firstRow="1" bandRow="1">
                <a:tableStyleId>{7E9639D4-E3E2-4D34-9284-5A2195B3D0D7}</a:tableStyleId>
              </a:tblPr>
              <a:tblGrid>
                <a:gridCol w="4597400">
                  <a:extLst>
                    <a:ext uri="{9D8B030D-6E8A-4147-A177-3AD203B41FA5}">
                      <a16:colId xmlns:a16="http://schemas.microsoft.com/office/drawing/2014/main" val="41664012"/>
                    </a:ext>
                  </a:extLst>
                </a:gridCol>
                <a:gridCol w="4597400">
                  <a:extLst>
                    <a:ext uri="{9D8B030D-6E8A-4147-A177-3AD203B41FA5}">
                      <a16:colId xmlns:a16="http://schemas.microsoft.com/office/drawing/2014/main" val="396320396"/>
                    </a:ext>
                  </a:extLst>
                </a:gridCol>
              </a:tblGrid>
              <a:tr h="370840">
                <a:tc>
                  <a:txBody>
                    <a:bodyPr/>
                    <a:lstStyle/>
                    <a:p>
                      <a:pPr algn="ctr"/>
                      <a:r>
                        <a:rPr lang="en-US" sz="2800" b="1" dirty="0"/>
                        <a:t>ANOVA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1" dirty="0"/>
                        <a:t>Linear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91617"/>
                  </a:ext>
                </a:extLst>
              </a:tr>
              <a:tr h="370840">
                <a:tc>
                  <a:txBody>
                    <a:bodyPr/>
                    <a:lstStyle/>
                    <a:p>
                      <a:r>
                        <a:rPr lang="en-US" sz="2800" b="1" dirty="0"/>
                        <a:t>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Continuous &amp; categorical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9791939"/>
                  </a:ext>
                </a:extLst>
              </a:tr>
              <a:tr h="370840">
                <a:tc>
                  <a:txBody>
                    <a:bodyPr/>
                    <a:lstStyle/>
                    <a:p>
                      <a:r>
                        <a:rPr lang="en-US" sz="2800" b="1" dirty="0"/>
                        <a:t>Simple designs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Pretty</a:t>
                      </a:r>
                      <a:r>
                        <a:rPr lang="en-US" sz="2800" b="1" baseline="0" dirty="0"/>
                        <a:t> much any design</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959810"/>
                  </a:ext>
                </a:extLst>
              </a:tr>
              <a:tr h="370840">
                <a:tc>
                  <a:txBody>
                    <a:bodyPr/>
                    <a:lstStyle/>
                    <a:p>
                      <a:r>
                        <a:rPr lang="en-US" sz="2800" b="1" dirty="0"/>
                        <a:t>Fixed effects only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Fixed &amp; Random Effects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1768009"/>
                  </a:ext>
                </a:extLst>
              </a:tr>
              <a:tr h="370840">
                <a:tc>
                  <a:txBody>
                    <a:bodyPr/>
                    <a:lstStyle/>
                    <a:p>
                      <a:r>
                        <a:rPr lang="en-US" sz="2800" b="1" dirty="0"/>
                        <a:t>Requires normality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dirty="0"/>
                        <a:t>Can extend to non-normal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548583"/>
                  </a:ext>
                </a:extLst>
              </a:tr>
            </a:tbl>
          </a:graphicData>
        </a:graphic>
      </p:graphicFrame>
      <p:grpSp>
        <p:nvGrpSpPr>
          <p:cNvPr id="3" name="Group 2"/>
          <p:cNvGrpSpPr/>
          <p:nvPr/>
        </p:nvGrpSpPr>
        <p:grpSpPr>
          <a:xfrm>
            <a:off x="7772400" y="5562213"/>
            <a:ext cx="4043679" cy="1058577"/>
            <a:chOff x="3610779" y="2232708"/>
            <a:chExt cx="8078301" cy="2114782"/>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3577" y="2232708"/>
              <a:ext cx="2365503" cy="211478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7178" y="2232708"/>
              <a:ext cx="2365503" cy="2114782"/>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0779" y="2232708"/>
              <a:ext cx="2365503" cy="2114782"/>
            </a:xfrm>
            <a:prstGeom prst="rect">
              <a:avLst/>
            </a:prstGeom>
          </p:spPr>
        </p:pic>
      </p:grpSp>
      <p:grpSp>
        <p:nvGrpSpPr>
          <p:cNvPr id="12" name="Group 11"/>
          <p:cNvGrpSpPr/>
          <p:nvPr/>
        </p:nvGrpSpPr>
        <p:grpSpPr>
          <a:xfrm>
            <a:off x="6342599" y="5562213"/>
            <a:ext cx="1184078" cy="1058577"/>
            <a:chOff x="2629190" y="5409813"/>
            <a:chExt cx="1184078" cy="1058577"/>
          </a:xfrm>
        </p:grpSpPr>
        <p:pic>
          <p:nvPicPr>
            <p:cNvPr id="11" name="Picture 10"/>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2629190" y="5409813"/>
              <a:ext cx="1184078" cy="1058577"/>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66710" y="5562213"/>
              <a:ext cx="1146558" cy="879275"/>
            </a:xfrm>
            <a:prstGeom prst="rect">
              <a:avLst/>
            </a:prstGeom>
          </p:spPr>
        </p:pic>
      </p:grpSp>
      <p:grpSp>
        <p:nvGrpSpPr>
          <p:cNvPr id="13" name="Group 12"/>
          <p:cNvGrpSpPr/>
          <p:nvPr/>
        </p:nvGrpSpPr>
        <p:grpSpPr>
          <a:xfrm>
            <a:off x="3189824" y="5562213"/>
            <a:ext cx="1184078" cy="1058577"/>
            <a:chOff x="2629190" y="5409813"/>
            <a:chExt cx="1184078" cy="1058577"/>
          </a:xfrm>
        </p:grpSpPr>
        <p:pic>
          <p:nvPicPr>
            <p:cNvPr id="14" name="Picture 13"/>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2629190" y="5409813"/>
              <a:ext cx="1184078" cy="1058577"/>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66710" y="5562213"/>
              <a:ext cx="1146558" cy="879275"/>
            </a:xfrm>
            <a:prstGeom prst="rect">
              <a:avLst/>
            </a:prstGeom>
          </p:spPr>
        </p:pic>
      </p:grpSp>
    </p:spTree>
    <p:extLst>
      <p:ext uri="{BB962C8B-B14F-4D97-AF65-F5344CB8AC3E}">
        <p14:creationId xmlns:p14="http://schemas.microsoft.com/office/powerpoint/2010/main" val="235757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Linear Regression versus ANOVA</a:t>
            </a:r>
          </a:p>
        </p:txBody>
      </p:sp>
      <p:sp>
        <p:nvSpPr>
          <p:cNvPr id="3" name="Content Placeholder 2"/>
          <p:cNvSpPr>
            <a:spLocks noGrp="1"/>
          </p:cNvSpPr>
          <p:nvPr>
            <p:ph idx="1"/>
          </p:nvPr>
        </p:nvSpPr>
        <p:spPr>
          <a:xfrm>
            <a:off x="800100" y="1838325"/>
            <a:ext cx="10553700" cy="4562476"/>
          </a:xfrm>
        </p:spPr>
        <p:txBody>
          <a:bodyPr/>
          <a:lstStyle/>
          <a:p>
            <a:r>
              <a:rPr lang="en-US" dirty="0"/>
              <a:t>In short, linear regression can do everything ANOVA can do, plus other stuff</a:t>
            </a:r>
          </a:p>
          <a:p>
            <a:pPr lvl="1"/>
            <a:r>
              <a:rPr lang="en-US" dirty="0"/>
              <a:t>Many statisticians actually consider ANOVA to be a special case of regression</a:t>
            </a:r>
          </a:p>
          <a:p>
            <a:pPr lvl="1"/>
            <a:r>
              <a:rPr lang="en-US" dirty="0"/>
              <a:t>The </a:t>
            </a:r>
            <a:r>
              <a:rPr lang="en-US" dirty="0" err="1"/>
              <a:t>aov</a:t>
            </a:r>
            <a:r>
              <a:rPr lang="en-US" dirty="0"/>
              <a:t>() function even uses regression under the hood, not true ANOVA</a:t>
            </a:r>
          </a:p>
          <a:p>
            <a:r>
              <a:rPr lang="en-US" dirty="0"/>
              <a:t>The focus on ANOVA for the analyses we’ve been doing is partly historical and partly because it’s more intuitive</a:t>
            </a:r>
          </a:p>
          <a:p>
            <a:pPr lvl="1"/>
            <a:r>
              <a:rPr lang="en-US" dirty="0"/>
              <a:t>Going forward, our ability to use ANOVA will drop, so we will rely on regression almost exclusively.</a:t>
            </a:r>
          </a:p>
        </p:txBody>
      </p:sp>
    </p:spTree>
    <p:extLst>
      <p:ext uri="{BB962C8B-B14F-4D97-AF65-F5344CB8AC3E}">
        <p14:creationId xmlns:p14="http://schemas.microsoft.com/office/powerpoint/2010/main" val="180622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a:t>
            </a:r>
          </a:p>
        </p:txBody>
      </p:sp>
      <p:sp>
        <p:nvSpPr>
          <p:cNvPr id="3" name="Content Placeholder 2"/>
          <p:cNvSpPr>
            <a:spLocks noGrp="1"/>
          </p:cNvSpPr>
          <p:nvPr>
            <p:ph idx="1"/>
          </p:nvPr>
        </p:nvSpPr>
        <p:spPr>
          <a:xfrm>
            <a:off x="838200" y="1825625"/>
            <a:ext cx="10909300" cy="1704653"/>
          </a:xfrm>
        </p:spPr>
        <p:txBody>
          <a:bodyPr/>
          <a:lstStyle/>
          <a:p>
            <a:r>
              <a:rPr lang="en-US" dirty="0"/>
              <a:t>The goal of linear regression is to take data and determine how well one or more variables can explain that data</a:t>
            </a:r>
          </a:p>
          <a:p>
            <a:r>
              <a:rPr lang="en-US" dirty="0"/>
              <a:t>Simple example: How well does X explain Y?</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2672" t="13363" r="7335" b="15215"/>
          <a:stretch/>
        </p:blipFill>
        <p:spPr>
          <a:xfrm>
            <a:off x="8581501" y="3412291"/>
            <a:ext cx="3490730" cy="3116723"/>
          </a:xfrm>
          <a:prstGeom prst="rect">
            <a:avLst/>
          </a:prstGeom>
          <a:ln w="28575">
            <a:solidFill>
              <a:schemeClr val="tx1"/>
            </a:solidFill>
          </a:ln>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12672" t="12672" r="7335" b="15906"/>
          <a:stretch/>
        </p:blipFill>
        <p:spPr>
          <a:xfrm>
            <a:off x="4850981" y="3412291"/>
            <a:ext cx="3490730" cy="3116723"/>
          </a:xfrm>
          <a:prstGeom prst="rect">
            <a:avLst/>
          </a:prstGeom>
          <a:ln w="28575">
            <a:solidFill>
              <a:schemeClr val="tx1"/>
            </a:solidFill>
          </a:ln>
        </p:spPr>
      </p:pic>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l="12826" t="11853" r="7181" b="16725"/>
          <a:stretch/>
        </p:blipFill>
        <p:spPr>
          <a:xfrm>
            <a:off x="1120461" y="3412291"/>
            <a:ext cx="3490730" cy="3116723"/>
          </a:xfrm>
          <a:prstGeom prst="rect">
            <a:avLst/>
          </a:prstGeom>
          <a:ln w="28575">
            <a:solidFill>
              <a:schemeClr val="tx1"/>
            </a:solidFill>
          </a:ln>
        </p:spPr>
      </p:pic>
      <p:sp>
        <p:nvSpPr>
          <p:cNvPr id="8" name="TextBox 7"/>
          <p:cNvSpPr txBox="1"/>
          <p:nvPr/>
        </p:nvSpPr>
        <p:spPr>
          <a:xfrm>
            <a:off x="2556286" y="6411025"/>
            <a:ext cx="619080" cy="584775"/>
          </a:xfrm>
          <a:prstGeom prst="rect">
            <a:avLst/>
          </a:prstGeom>
          <a:noFill/>
        </p:spPr>
        <p:txBody>
          <a:bodyPr wrap="none" rtlCol="0">
            <a:spAutoFit/>
          </a:bodyPr>
          <a:lstStyle/>
          <a:p>
            <a:r>
              <a:rPr lang="en-US" sz="3200" b="1" dirty="0"/>
              <a:t>X1</a:t>
            </a:r>
          </a:p>
        </p:txBody>
      </p:sp>
      <p:sp>
        <p:nvSpPr>
          <p:cNvPr id="9" name="TextBox 8"/>
          <p:cNvSpPr txBox="1"/>
          <p:nvPr/>
        </p:nvSpPr>
        <p:spPr>
          <a:xfrm>
            <a:off x="6286806" y="6411024"/>
            <a:ext cx="619080" cy="584775"/>
          </a:xfrm>
          <a:prstGeom prst="rect">
            <a:avLst/>
          </a:prstGeom>
          <a:noFill/>
        </p:spPr>
        <p:txBody>
          <a:bodyPr wrap="none" rtlCol="0">
            <a:spAutoFit/>
          </a:bodyPr>
          <a:lstStyle/>
          <a:p>
            <a:r>
              <a:rPr lang="en-US" sz="3200" b="1" dirty="0"/>
              <a:t>X2</a:t>
            </a:r>
          </a:p>
        </p:txBody>
      </p:sp>
      <p:sp>
        <p:nvSpPr>
          <p:cNvPr id="10" name="TextBox 9"/>
          <p:cNvSpPr txBox="1"/>
          <p:nvPr/>
        </p:nvSpPr>
        <p:spPr>
          <a:xfrm>
            <a:off x="10017326" y="6411024"/>
            <a:ext cx="619080" cy="584775"/>
          </a:xfrm>
          <a:prstGeom prst="rect">
            <a:avLst/>
          </a:prstGeom>
          <a:noFill/>
        </p:spPr>
        <p:txBody>
          <a:bodyPr wrap="none" rtlCol="0">
            <a:spAutoFit/>
          </a:bodyPr>
          <a:lstStyle/>
          <a:p>
            <a:r>
              <a:rPr lang="en-US" sz="3200" b="1" dirty="0"/>
              <a:t>X3</a:t>
            </a:r>
          </a:p>
        </p:txBody>
      </p:sp>
      <p:sp>
        <p:nvSpPr>
          <p:cNvPr id="11" name="TextBox 10"/>
          <p:cNvSpPr txBox="1"/>
          <p:nvPr/>
        </p:nvSpPr>
        <p:spPr>
          <a:xfrm>
            <a:off x="675326" y="4678264"/>
            <a:ext cx="397866" cy="584775"/>
          </a:xfrm>
          <a:prstGeom prst="rect">
            <a:avLst/>
          </a:prstGeom>
          <a:noFill/>
        </p:spPr>
        <p:txBody>
          <a:bodyPr wrap="none" rtlCol="0">
            <a:spAutoFit/>
          </a:bodyPr>
          <a:lstStyle/>
          <a:p>
            <a:r>
              <a:rPr lang="en-US" sz="3200" b="1" dirty="0"/>
              <a:t>Y</a:t>
            </a:r>
          </a:p>
        </p:txBody>
      </p:sp>
      <p:sp>
        <p:nvSpPr>
          <p:cNvPr id="13" name="Rounded Rectangle 12"/>
          <p:cNvSpPr/>
          <p:nvPr/>
        </p:nvSpPr>
        <p:spPr>
          <a:xfrm>
            <a:off x="1228580" y="3508281"/>
            <a:ext cx="1135625" cy="5107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a:t>Poor</a:t>
            </a:r>
          </a:p>
        </p:txBody>
      </p:sp>
      <p:sp>
        <p:nvSpPr>
          <p:cNvPr id="14" name="Rounded Rectangle 13"/>
          <p:cNvSpPr/>
          <p:nvPr/>
        </p:nvSpPr>
        <p:spPr>
          <a:xfrm>
            <a:off x="4960375" y="3530278"/>
            <a:ext cx="1135625" cy="5107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a:t>Okay</a:t>
            </a:r>
          </a:p>
        </p:txBody>
      </p:sp>
      <p:sp>
        <p:nvSpPr>
          <p:cNvPr id="15" name="Rounded Rectangle 14"/>
          <p:cNvSpPr/>
          <p:nvPr/>
        </p:nvSpPr>
        <p:spPr>
          <a:xfrm>
            <a:off x="8726130" y="3530278"/>
            <a:ext cx="1155289" cy="51078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200" b="1" dirty="0"/>
              <a:t>Good</a:t>
            </a:r>
          </a:p>
        </p:txBody>
      </p:sp>
    </p:spTree>
    <p:extLst>
      <p:ext uri="{BB962C8B-B14F-4D97-AF65-F5344CB8AC3E}">
        <p14:creationId xmlns:p14="http://schemas.microsoft.com/office/powerpoint/2010/main" val="470447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3" grpId="0" animBg="1"/>
      <p:bldP spid="14"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origins of regression</a:t>
            </a:r>
          </a:p>
        </p:txBody>
      </p:sp>
      <p:sp>
        <p:nvSpPr>
          <p:cNvPr id="3" name="Content Placeholder 2"/>
          <p:cNvSpPr>
            <a:spLocks noGrp="1"/>
          </p:cNvSpPr>
          <p:nvPr>
            <p:ph idx="1"/>
          </p:nvPr>
        </p:nvSpPr>
        <p:spPr>
          <a:xfrm>
            <a:off x="838200" y="1825625"/>
            <a:ext cx="5687753" cy="4110718"/>
          </a:xfrm>
        </p:spPr>
        <p:txBody>
          <a:bodyPr/>
          <a:lstStyle/>
          <a:p>
            <a:r>
              <a:rPr lang="en-US" dirty="0"/>
              <a:t>Linear regression began with genetics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4480" y="1610068"/>
            <a:ext cx="3865880" cy="5247932"/>
          </a:xfrm>
          <a:prstGeom prst="rect">
            <a:avLst/>
          </a:prstGeom>
        </p:spPr>
      </p:pic>
      <p:sp>
        <p:nvSpPr>
          <p:cNvPr id="5" name="TextBox 4"/>
          <p:cNvSpPr txBox="1"/>
          <p:nvPr/>
        </p:nvSpPr>
        <p:spPr>
          <a:xfrm>
            <a:off x="9957963" y="6519148"/>
            <a:ext cx="1842877" cy="369332"/>
          </a:xfrm>
          <a:prstGeom prst="rect">
            <a:avLst/>
          </a:prstGeom>
          <a:noFill/>
        </p:spPr>
        <p:txBody>
          <a:bodyPr wrap="none" rtlCol="0">
            <a:spAutoFit/>
          </a:bodyPr>
          <a:lstStyle/>
          <a:p>
            <a:pPr algn="ctr"/>
            <a:r>
              <a:rPr lang="en-US" b="1" i="1" dirty="0">
                <a:solidFill>
                  <a:schemeClr val="bg1"/>
                </a:solidFill>
              </a:rPr>
              <a:t>Sir Francis Galton</a:t>
            </a:r>
          </a:p>
        </p:txBody>
      </p:sp>
    </p:spTree>
    <p:extLst>
      <p:ext uri="{BB962C8B-B14F-4D97-AF65-F5344CB8AC3E}">
        <p14:creationId xmlns:p14="http://schemas.microsoft.com/office/powerpoint/2010/main" val="324842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origins of regression</a:t>
            </a:r>
          </a:p>
        </p:txBody>
      </p:sp>
      <p:sp>
        <p:nvSpPr>
          <p:cNvPr id="3" name="Content Placeholder 2"/>
          <p:cNvSpPr>
            <a:spLocks noGrp="1"/>
          </p:cNvSpPr>
          <p:nvPr>
            <p:ph idx="1"/>
          </p:nvPr>
        </p:nvSpPr>
        <p:spPr>
          <a:xfrm>
            <a:off x="838200" y="1825624"/>
            <a:ext cx="5687753" cy="4961255"/>
          </a:xfrm>
        </p:spPr>
        <p:txBody>
          <a:bodyPr/>
          <a:lstStyle/>
          <a:p>
            <a:r>
              <a:rPr lang="en-US" dirty="0"/>
              <a:t>Linear regression began with genetics</a:t>
            </a:r>
          </a:p>
          <a:p>
            <a:r>
              <a:rPr lang="en-US" dirty="0"/>
              <a:t>Galton’s observations:</a:t>
            </a:r>
          </a:p>
          <a:p>
            <a:pPr lvl="1"/>
            <a:r>
              <a:rPr lang="en-US" dirty="0"/>
              <a:t>The children of tall parents are not as tall</a:t>
            </a:r>
          </a:p>
          <a:p>
            <a:pPr lvl="1"/>
            <a:r>
              <a:rPr lang="en-US" dirty="0"/>
              <a:t>The children of short parents are not as short</a:t>
            </a:r>
          </a:p>
          <a:p>
            <a:r>
              <a:rPr lang="en-US" dirty="0"/>
              <a:t>Conclusion: Children tend to “regress” (move back) toward the mean value</a:t>
            </a:r>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6153" y="1690688"/>
            <a:ext cx="5335847" cy="4716508"/>
          </a:xfrm>
          <a:prstGeom prst="rect">
            <a:avLst/>
          </a:prstGeom>
        </p:spPr>
      </p:pic>
      <p:sp>
        <p:nvSpPr>
          <p:cNvPr id="7" name="TextBox 6"/>
          <p:cNvSpPr txBox="1"/>
          <p:nvPr/>
        </p:nvSpPr>
        <p:spPr>
          <a:xfrm>
            <a:off x="7860632" y="6407196"/>
            <a:ext cx="4331368" cy="276999"/>
          </a:xfrm>
          <a:prstGeom prst="rect">
            <a:avLst/>
          </a:prstGeom>
          <a:noFill/>
        </p:spPr>
        <p:txBody>
          <a:bodyPr wrap="square" rtlCol="0">
            <a:spAutoFit/>
          </a:bodyPr>
          <a:lstStyle/>
          <a:p>
            <a:r>
              <a:rPr lang="en-US" sz="1200" i="1" dirty="0"/>
              <a:t>Galton 1885, Regression Towards Mediocrity in Hereditary Stature</a:t>
            </a:r>
          </a:p>
        </p:txBody>
      </p:sp>
      <p:sp>
        <p:nvSpPr>
          <p:cNvPr id="4" name="Rounded Rectangle 3"/>
          <p:cNvSpPr/>
          <p:nvPr/>
        </p:nvSpPr>
        <p:spPr>
          <a:xfrm>
            <a:off x="7599680" y="3027680"/>
            <a:ext cx="2844800" cy="53848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8509000" y="5222240"/>
            <a:ext cx="2844800" cy="53848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9101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origins of regression</a:t>
            </a:r>
          </a:p>
        </p:txBody>
      </p:sp>
      <p:sp>
        <p:nvSpPr>
          <p:cNvPr id="3" name="Content Placeholder 2"/>
          <p:cNvSpPr>
            <a:spLocks noGrp="1"/>
          </p:cNvSpPr>
          <p:nvPr>
            <p:ph idx="1"/>
          </p:nvPr>
        </p:nvSpPr>
        <p:spPr>
          <a:xfrm>
            <a:off x="838200" y="1825624"/>
            <a:ext cx="5687753" cy="4961255"/>
          </a:xfrm>
        </p:spPr>
        <p:txBody>
          <a:bodyPr/>
          <a:lstStyle/>
          <a:p>
            <a:r>
              <a:rPr lang="en-US" dirty="0"/>
              <a:t>Linear regression began with genetics</a:t>
            </a:r>
          </a:p>
          <a:p>
            <a:r>
              <a:rPr lang="en-US" dirty="0"/>
              <a:t>Galton’s observations:</a:t>
            </a:r>
          </a:p>
          <a:p>
            <a:pPr lvl="1"/>
            <a:r>
              <a:rPr lang="en-US" dirty="0"/>
              <a:t>The children of tall parents are not as tall</a:t>
            </a:r>
          </a:p>
          <a:p>
            <a:pPr lvl="1"/>
            <a:r>
              <a:rPr lang="en-US" dirty="0"/>
              <a:t>The children of short parents are not as short</a:t>
            </a:r>
          </a:p>
          <a:p>
            <a:r>
              <a:rPr lang="en-US" dirty="0"/>
              <a:t>Conclusion: Children tend to “regress” (move back) toward the mean value</a:t>
            </a:r>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6153" y="1690688"/>
            <a:ext cx="5335847" cy="4716507"/>
          </a:xfrm>
          <a:prstGeom prst="rect">
            <a:avLst/>
          </a:prstGeom>
        </p:spPr>
      </p:pic>
      <p:sp>
        <p:nvSpPr>
          <p:cNvPr id="7" name="TextBox 6"/>
          <p:cNvSpPr txBox="1"/>
          <p:nvPr/>
        </p:nvSpPr>
        <p:spPr>
          <a:xfrm rot="19949716">
            <a:off x="8412182" y="4652644"/>
            <a:ext cx="2377639" cy="461665"/>
          </a:xfrm>
          <a:prstGeom prst="rect">
            <a:avLst/>
          </a:prstGeom>
          <a:noFill/>
        </p:spPr>
        <p:txBody>
          <a:bodyPr wrap="none" rtlCol="0">
            <a:spAutoFit/>
          </a:bodyPr>
          <a:lstStyle/>
          <a:p>
            <a:r>
              <a:rPr lang="en-US" sz="2400" b="1" dirty="0">
                <a:solidFill>
                  <a:srgbClr val="FF0000"/>
                </a:solidFill>
                <a:effectLst>
                  <a:glow rad="482600">
                    <a:schemeClr val="bg1">
                      <a:alpha val="89000"/>
                    </a:schemeClr>
                  </a:glow>
                </a:effectLst>
              </a:rPr>
              <a:t>“Regression” line</a:t>
            </a:r>
          </a:p>
        </p:txBody>
      </p:sp>
      <p:cxnSp>
        <p:nvCxnSpPr>
          <p:cNvPr id="5" name="Straight Connector 4"/>
          <p:cNvCxnSpPr/>
          <p:nvPr/>
        </p:nvCxnSpPr>
        <p:spPr>
          <a:xfrm flipV="1">
            <a:off x="7721600" y="3870960"/>
            <a:ext cx="4307840" cy="22047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860632" y="6407196"/>
            <a:ext cx="4331368" cy="276999"/>
          </a:xfrm>
          <a:prstGeom prst="rect">
            <a:avLst/>
          </a:prstGeom>
          <a:noFill/>
        </p:spPr>
        <p:txBody>
          <a:bodyPr wrap="square" rtlCol="0">
            <a:spAutoFit/>
          </a:bodyPr>
          <a:lstStyle/>
          <a:p>
            <a:r>
              <a:rPr lang="en-US" sz="1200" i="1" dirty="0"/>
              <a:t>Galton 1885, Regression Towards Mediocrity in Hereditary Stature</a:t>
            </a:r>
          </a:p>
        </p:txBody>
      </p:sp>
    </p:spTree>
    <p:extLst>
      <p:ext uri="{BB962C8B-B14F-4D97-AF65-F5344CB8AC3E}">
        <p14:creationId xmlns:p14="http://schemas.microsoft.com/office/powerpoint/2010/main" val="1562775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 of linear regression</a:t>
            </a:r>
          </a:p>
        </p:txBody>
      </p:sp>
      <p:sp>
        <p:nvSpPr>
          <p:cNvPr id="3" name="Content Placeholder 2"/>
          <p:cNvSpPr>
            <a:spLocks noGrp="1"/>
          </p:cNvSpPr>
          <p:nvPr>
            <p:ph idx="1"/>
          </p:nvPr>
        </p:nvSpPr>
        <p:spPr>
          <a:xfrm>
            <a:off x="838200" y="1825625"/>
            <a:ext cx="5009147" cy="4110718"/>
          </a:xfrm>
        </p:spPr>
        <p:txBody>
          <a:bodyPr/>
          <a:lstStyle/>
          <a:p>
            <a:r>
              <a:rPr lang="en-US" dirty="0"/>
              <a:t>Find the line that best summarizes a lot of data with minimal error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6299" y="1690688"/>
            <a:ext cx="7665279" cy="5060282"/>
          </a:xfrm>
          <a:prstGeom prst="rect">
            <a:avLst/>
          </a:prstGeom>
        </p:spPr>
      </p:pic>
      <p:cxnSp>
        <p:nvCxnSpPr>
          <p:cNvPr id="8" name="Straight Connector 7"/>
          <p:cNvCxnSpPr/>
          <p:nvPr/>
        </p:nvCxnSpPr>
        <p:spPr>
          <a:xfrm>
            <a:off x="8888704" y="3089861"/>
            <a:ext cx="0" cy="793958"/>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640274" y="3256006"/>
            <a:ext cx="823687" cy="461665"/>
          </a:xfrm>
          <a:prstGeom prst="rect">
            <a:avLst/>
          </a:prstGeom>
          <a:noFill/>
        </p:spPr>
        <p:txBody>
          <a:bodyPr wrap="none" rtlCol="0">
            <a:spAutoFit/>
          </a:bodyPr>
          <a:lstStyle/>
          <a:p>
            <a:r>
              <a:rPr lang="en-US" sz="2400" b="1" dirty="0">
                <a:solidFill>
                  <a:schemeClr val="accent4">
                    <a:lumMod val="75000"/>
                  </a:schemeClr>
                </a:solidFill>
              </a:rPr>
              <a:t>Error</a:t>
            </a:r>
          </a:p>
        </p:txBody>
      </p:sp>
      <p:sp>
        <p:nvSpPr>
          <p:cNvPr id="17" name="Left Brace 16"/>
          <p:cNvSpPr/>
          <p:nvPr/>
        </p:nvSpPr>
        <p:spPr>
          <a:xfrm>
            <a:off x="8597901" y="3146547"/>
            <a:ext cx="193506" cy="680584"/>
          </a:xfrm>
          <a:prstGeom prst="leftBrac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14048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3</a:t>
                      </a:r>
                    </a:p>
                  </a:txBody>
                  <a:tcPr/>
                </a:tc>
                <a:tc>
                  <a:txBody>
                    <a:bodyPr/>
                    <a:lstStyle/>
                    <a:p>
                      <a:pPr algn="ctr"/>
                      <a:r>
                        <a:rPr lang="en-US" sz="2400" dirty="0"/>
                        <a:t>10</a:t>
                      </a:r>
                    </a:p>
                  </a:txBody>
                  <a:tcPr/>
                </a:tc>
                <a:extLst>
                  <a:ext uri="{0D108BD9-81ED-4DB2-BD59-A6C34878D82A}">
                    <a16:rowId xmlns:a16="http://schemas.microsoft.com/office/drawing/2014/main" val="10001"/>
                  </a:ext>
                </a:extLst>
              </a:tr>
              <a:tr h="370840">
                <a:tc>
                  <a:txBody>
                    <a:bodyPr/>
                    <a:lstStyle/>
                    <a:p>
                      <a:pPr algn="ctr"/>
                      <a:r>
                        <a:rPr lang="en-US" sz="2400" dirty="0"/>
                        <a:t>7</a:t>
                      </a:r>
                    </a:p>
                  </a:txBody>
                  <a:tcPr/>
                </a:tc>
                <a:tc>
                  <a:txBody>
                    <a:bodyPr/>
                    <a:lstStyle/>
                    <a:p>
                      <a:pPr algn="ctr"/>
                      <a:r>
                        <a:rPr lang="en-US" sz="2400" dirty="0"/>
                        <a:t>6</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Tree>
    <p:extLst>
      <p:ext uri="{BB962C8B-B14F-4D97-AF65-F5344CB8AC3E}">
        <p14:creationId xmlns:p14="http://schemas.microsoft.com/office/powerpoint/2010/main" val="2155777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3</a:t>
                      </a:r>
                    </a:p>
                  </a:txBody>
                  <a:tcPr/>
                </a:tc>
                <a:tc>
                  <a:txBody>
                    <a:bodyPr/>
                    <a:lstStyle/>
                    <a:p>
                      <a:pPr algn="ctr"/>
                      <a:r>
                        <a:rPr lang="en-US" sz="2400" dirty="0"/>
                        <a:t>10</a:t>
                      </a:r>
                    </a:p>
                  </a:txBody>
                  <a:tcPr/>
                </a:tc>
                <a:extLst>
                  <a:ext uri="{0D108BD9-81ED-4DB2-BD59-A6C34878D82A}">
                    <a16:rowId xmlns:a16="http://schemas.microsoft.com/office/drawing/2014/main" val="10001"/>
                  </a:ext>
                </a:extLst>
              </a:tr>
              <a:tr h="370840">
                <a:tc>
                  <a:txBody>
                    <a:bodyPr/>
                    <a:lstStyle/>
                    <a:p>
                      <a:pPr algn="ctr"/>
                      <a:r>
                        <a:rPr lang="en-US" sz="2400" dirty="0"/>
                        <a:t>7</a:t>
                      </a:r>
                    </a:p>
                  </a:txBody>
                  <a:tcPr/>
                </a:tc>
                <a:tc>
                  <a:txBody>
                    <a:bodyPr/>
                    <a:lstStyle/>
                    <a:p>
                      <a:pPr algn="ctr"/>
                      <a:r>
                        <a:rPr lang="en-US" sz="2400" dirty="0"/>
                        <a:t>6</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3162300" y="5652700"/>
            <a:ext cx="558800" cy="584775"/>
          </a:xfrm>
          <a:prstGeom prst="rect">
            <a:avLst/>
          </a:prstGeom>
          <a:noFill/>
        </p:spPr>
        <p:txBody>
          <a:bodyPr wrap="square" rtlCol="0">
            <a:spAutoFit/>
          </a:bodyPr>
          <a:lstStyle/>
          <a:p>
            <a:r>
              <a:rPr lang="en-US" sz="3200" b="1" dirty="0">
                <a:solidFill>
                  <a:srgbClr val="FF0000"/>
                </a:solidFill>
              </a:rPr>
              <a:t>-1</a:t>
            </a:r>
          </a:p>
        </p:txBody>
      </p:sp>
      <p:sp>
        <p:nvSpPr>
          <p:cNvPr id="9" name="TextBox 8"/>
          <p:cNvSpPr txBox="1"/>
          <p:nvPr/>
        </p:nvSpPr>
        <p:spPr>
          <a:xfrm>
            <a:off x="4513580" y="5652700"/>
            <a:ext cx="678180" cy="584775"/>
          </a:xfrm>
          <a:prstGeom prst="rect">
            <a:avLst/>
          </a:prstGeom>
          <a:noFill/>
        </p:spPr>
        <p:txBody>
          <a:bodyPr wrap="square" rtlCol="0">
            <a:spAutoFit/>
          </a:bodyPr>
          <a:lstStyle/>
          <a:p>
            <a:r>
              <a:rPr lang="en-US" sz="3200" b="1" dirty="0">
                <a:solidFill>
                  <a:srgbClr val="FF0000"/>
                </a:solidFill>
              </a:rPr>
              <a:t>13</a:t>
            </a:r>
          </a:p>
        </p:txBody>
      </p:sp>
      <p:sp>
        <p:nvSpPr>
          <p:cNvPr id="10" name="TextBox 9"/>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
        <p:nvSpPr>
          <p:cNvPr id="11" name="TextBox 10"/>
          <p:cNvSpPr txBox="1"/>
          <p:nvPr/>
        </p:nvSpPr>
        <p:spPr>
          <a:xfrm>
            <a:off x="5256530" y="6277649"/>
            <a:ext cx="678180" cy="461665"/>
          </a:xfrm>
          <a:prstGeom prst="rect">
            <a:avLst/>
          </a:prstGeom>
          <a:noFill/>
        </p:spPr>
        <p:txBody>
          <a:bodyPr wrap="square" rtlCol="0">
            <a:spAutoFit/>
          </a:bodyPr>
          <a:lstStyle/>
          <a:p>
            <a:pPr algn="ctr"/>
            <a:r>
              <a:rPr lang="en-US" sz="2400" b="1" dirty="0">
                <a:solidFill>
                  <a:srgbClr val="FF0000"/>
                </a:solidFill>
              </a:rPr>
              <a:t>0</a:t>
            </a:r>
          </a:p>
        </p:txBody>
      </p:sp>
      <p:sp>
        <p:nvSpPr>
          <p:cNvPr id="12" name="&quot;No&quot; Symbol 11"/>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1144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Tree>
    <p:extLst>
      <p:ext uri="{BB962C8B-B14F-4D97-AF65-F5344CB8AC3E}">
        <p14:creationId xmlns:p14="http://schemas.microsoft.com/office/powerpoint/2010/main" val="78916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3073400" y="5652700"/>
            <a:ext cx="736600" cy="584775"/>
          </a:xfrm>
          <a:prstGeom prst="rect">
            <a:avLst/>
          </a:prstGeom>
          <a:noFill/>
        </p:spPr>
        <p:txBody>
          <a:bodyPr wrap="square" rtlCol="0">
            <a:spAutoFit/>
          </a:bodyPr>
          <a:lstStyle/>
          <a:p>
            <a:r>
              <a:rPr lang="en-US" sz="3200" b="1" dirty="0">
                <a:solidFill>
                  <a:srgbClr val="FF0000"/>
                </a:solidFill>
              </a:rPr>
              <a:t>0.5</a:t>
            </a:r>
          </a:p>
        </p:txBody>
      </p:sp>
      <p:sp>
        <p:nvSpPr>
          <p:cNvPr id="9" name="TextBox 8"/>
          <p:cNvSpPr txBox="1"/>
          <p:nvPr/>
        </p:nvSpPr>
        <p:spPr>
          <a:xfrm>
            <a:off x="4513580" y="5652700"/>
            <a:ext cx="678180" cy="584775"/>
          </a:xfrm>
          <a:prstGeom prst="rect">
            <a:avLst/>
          </a:prstGeom>
          <a:noFill/>
        </p:spPr>
        <p:txBody>
          <a:bodyPr wrap="square" rtlCol="0">
            <a:spAutoFit/>
          </a:bodyPr>
          <a:lstStyle/>
          <a:p>
            <a:pPr algn="ctr"/>
            <a:r>
              <a:rPr lang="en-US" sz="3200" b="1" dirty="0">
                <a:solidFill>
                  <a:srgbClr val="FF0000"/>
                </a:solidFill>
              </a:rPr>
              <a:t>3</a:t>
            </a:r>
          </a:p>
        </p:txBody>
      </p:sp>
      <p:sp>
        <p:nvSpPr>
          <p:cNvPr id="10" name="TextBox 9"/>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
        <p:nvSpPr>
          <p:cNvPr id="11" name="TextBox 10"/>
          <p:cNvSpPr txBox="1"/>
          <p:nvPr/>
        </p:nvSpPr>
        <p:spPr>
          <a:xfrm>
            <a:off x="5256530" y="6277649"/>
            <a:ext cx="678180" cy="461665"/>
          </a:xfrm>
          <a:prstGeom prst="rect">
            <a:avLst/>
          </a:prstGeom>
          <a:noFill/>
        </p:spPr>
        <p:txBody>
          <a:bodyPr wrap="square" rtlCol="0">
            <a:spAutoFit/>
          </a:bodyPr>
          <a:lstStyle/>
          <a:p>
            <a:pPr algn="ctr"/>
            <a:r>
              <a:rPr lang="en-US" sz="2400" b="1" dirty="0">
                <a:solidFill>
                  <a:srgbClr val="FF0000"/>
                </a:solidFill>
              </a:rPr>
              <a:t>0</a:t>
            </a:r>
          </a:p>
        </p:txBody>
      </p:sp>
      <p:sp>
        <p:nvSpPr>
          <p:cNvPr id="12" name="&quot;No&quot; Symbol 11"/>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50020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3004721"/>
          <a:ext cx="2682240" cy="13716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2"/>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Tree>
    <p:extLst>
      <p:ext uri="{BB962C8B-B14F-4D97-AF65-F5344CB8AC3E}">
        <p14:creationId xmlns:p14="http://schemas.microsoft.com/office/powerpoint/2010/main" val="349828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5</a:t>
                      </a:r>
                    </a:p>
                  </a:txBody>
                  <a:tcPr/>
                </a:tc>
                <a:tc>
                  <a:txBody>
                    <a:bodyPr/>
                    <a:lstStyle/>
                    <a:p>
                      <a:pPr algn="ctr"/>
                      <a:r>
                        <a:rPr lang="en-US" sz="2400" dirty="0"/>
                        <a:t>4</a:t>
                      </a:r>
                    </a:p>
                  </a:txBody>
                  <a:tcPr/>
                </a:tc>
                <a:extLst>
                  <a:ext uri="{0D108BD9-81ED-4DB2-BD59-A6C34878D82A}">
                    <a16:rowId xmlns:a16="http://schemas.microsoft.com/office/drawing/2014/main" val="10002"/>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Tree>
    <p:extLst>
      <p:ext uri="{BB962C8B-B14F-4D97-AF65-F5344CB8AC3E}">
        <p14:creationId xmlns:p14="http://schemas.microsoft.com/office/powerpoint/2010/main" val="226959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5</a:t>
                      </a:r>
                    </a:p>
                  </a:txBody>
                  <a:tcPr/>
                </a:tc>
                <a:tc>
                  <a:txBody>
                    <a:bodyPr/>
                    <a:lstStyle/>
                    <a:p>
                      <a:pPr algn="ctr"/>
                      <a:r>
                        <a:rPr lang="en-US" sz="2400" dirty="0"/>
                        <a:t>4</a:t>
                      </a:r>
                    </a:p>
                  </a:txBody>
                  <a:tcPr/>
                </a:tc>
                <a:extLst>
                  <a:ext uri="{0D108BD9-81ED-4DB2-BD59-A6C34878D82A}">
                    <a16:rowId xmlns:a16="http://schemas.microsoft.com/office/drawing/2014/main" val="10002"/>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
        <p:nvSpPr>
          <p:cNvPr id="9" name="TextBox 8"/>
          <p:cNvSpPr txBox="1"/>
          <p:nvPr/>
        </p:nvSpPr>
        <p:spPr>
          <a:xfrm>
            <a:off x="3073400" y="5652700"/>
            <a:ext cx="736600" cy="584775"/>
          </a:xfrm>
          <a:prstGeom prst="rect">
            <a:avLst/>
          </a:prstGeom>
          <a:noFill/>
        </p:spPr>
        <p:txBody>
          <a:bodyPr wrap="square" rtlCol="0">
            <a:spAutoFit/>
          </a:bodyPr>
          <a:lstStyle/>
          <a:p>
            <a:r>
              <a:rPr lang="en-US" sz="3200" b="1" dirty="0">
                <a:solidFill>
                  <a:srgbClr val="FF0000"/>
                </a:solidFill>
              </a:rPr>
              <a:t>0.5</a:t>
            </a:r>
          </a:p>
        </p:txBody>
      </p:sp>
      <p:sp>
        <p:nvSpPr>
          <p:cNvPr id="10" name="TextBox 9"/>
          <p:cNvSpPr txBox="1"/>
          <p:nvPr/>
        </p:nvSpPr>
        <p:spPr>
          <a:xfrm>
            <a:off x="4361180" y="5652700"/>
            <a:ext cx="962660" cy="584775"/>
          </a:xfrm>
          <a:prstGeom prst="rect">
            <a:avLst/>
          </a:prstGeom>
          <a:noFill/>
        </p:spPr>
        <p:txBody>
          <a:bodyPr wrap="square" rtlCol="0">
            <a:spAutoFit/>
          </a:bodyPr>
          <a:lstStyle/>
          <a:p>
            <a:pPr algn="ctr"/>
            <a:r>
              <a:rPr lang="en-US" sz="3200" b="1" dirty="0">
                <a:solidFill>
                  <a:srgbClr val="FF0000"/>
                </a:solidFill>
              </a:rPr>
              <a:t>2.5</a:t>
            </a:r>
          </a:p>
        </p:txBody>
      </p:sp>
      <p:sp>
        <p:nvSpPr>
          <p:cNvPr id="11" name="TextBox 10"/>
          <p:cNvSpPr txBox="1"/>
          <p:nvPr/>
        </p:nvSpPr>
        <p:spPr>
          <a:xfrm>
            <a:off x="5063490" y="6318289"/>
            <a:ext cx="1062990" cy="461665"/>
          </a:xfrm>
          <a:prstGeom prst="rect">
            <a:avLst/>
          </a:prstGeom>
          <a:noFill/>
        </p:spPr>
        <p:txBody>
          <a:bodyPr wrap="square" rtlCol="0">
            <a:spAutoFit/>
          </a:bodyPr>
          <a:lstStyle/>
          <a:p>
            <a:pPr algn="ctr"/>
            <a:r>
              <a:rPr lang="en-US" sz="2400" b="1" dirty="0">
                <a:solidFill>
                  <a:srgbClr val="FF0000"/>
                </a:solidFill>
              </a:rPr>
              <a:t>1.5</a:t>
            </a:r>
          </a:p>
        </p:txBody>
      </p:sp>
      <p:sp>
        <p:nvSpPr>
          <p:cNvPr id="12" name="&quot;No&quot; Symbol 11"/>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600796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5</a:t>
                      </a:r>
                    </a:p>
                  </a:txBody>
                  <a:tcPr/>
                </a:tc>
                <a:tc>
                  <a:txBody>
                    <a:bodyPr/>
                    <a:lstStyle/>
                    <a:p>
                      <a:pPr algn="ctr"/>
                      <a:r>
                        <a:rPr lang="en-US" sz="2400" dirty="0"/>
                        <a:t>4</a:t>
                      </a:r>
                    </a:p>
                  </a:txBody>
                  <a:tcPr/>
                </a:tc>
                <a:extLst>
                  <a:ext uri="{0D108BD9-81ED-4DB2-BD59-A6C34878D82A}">
                    <a16:rowId xmlns:a16="http://schemas.microsoft.com/office/drawing/2014/main" val="10002"/>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
        <p:nvSpPr>
          <p:cNvPr id="9" name="TextBox 8"/>
          <p:cNvSpPr txBox="1"/>
          <p:nvPr/>
        </p:nvSpPr>
        <p:spPr>
          <a:xfrm>
            <a:off x="3073400" y="5652700"/>
            <a:ext cx="736600" cy="584775"/>
          </a:xfrm>
          <a:prstGeom prst="rect">
            <a:avLst/>
          </a:prstGeom>
          <a:noFill/>
        </p:spPr>
        <p:txBody>
          <a:bodyPr wrap="square" rtlCol="0">
            <a:spAutoFit/>
          </a:bodyPr>
          <a:lstStyle/>
          <a:p>
            <a:r>
              <a:rPr lang="en-US" sz="3200" b="1" dirty="0">
                <a:solidFill>
                  <a:srgbClr val="FF0000"/>
                </a:solidFill>
              </a:rPr>
              <a:t>0.5</a:t>
            </a:r>
          </a:p>
        </p:txBody>
      </p:sp>
      <p:sp>
        <p:nvSpPr>
          <p:cNvPr id="10" name="TextBox 9"/>
          <p:cNvSpPr txBox="1"/>
          <p:nvPr/>
        </p:nvSpPr>
        <p:spPr>
          <a:xfrm>
            <a:off x="4361180" y="5652700"/>
            <a:ext cx="962660" cy="584775"/>
          </a:xfrm>
          <a:prstGeom prst="rect">
            <a:avLst/>
          </a:prstGeom>
          <a:noFill/>
        </p:spPr>
        <p:txBody>
          <a:bodyPr wrap="square" rtlCol="0">
            <a:spAutoFit/>
          </a:bodyPr>
          <a:lstStyle/>
          <a:p>
            <a:pPr algn="ctr"/>
            <a:r>
              <a:rPr lang="en-US" sz="3200" b="1" dirty="0">
                <a:solidFill>
                  <a:srgbClr val="FF0000"/>
                </a:solidFill>
              </a:rPr>
              <a:t>2.5</a:t>
            </a:r>
          </a:p>
        </p:txBody>
      </p:sp>
      <p:sp>
        <p:nvSpPr>
          <p:cNvPr id="11" name="TextBox 10"/>
          <p:cNvSpPr txBox="1"/>
          <p:nvPr/>
        </p:nvSpPr>
        <p:spPr>
          <a:xfrm>
            <a:off x="5063490" y="6318289"/>
            <a:ext cx="1062990" cy="461665"/>
          </a:xfrm>
          <a:prstGeom prst="rect">
            <a:avLst/>
          </a:prstGeom>
          <a:noFill/>
        </p:spPr>
        <p:txBody>
          <a:bodyPr wrap="square" rtlCol="0">
            <a:spAutoFit/>
          </a:bodyPr>
          <a:lstStyle/>
          <a:p>
            <a:pPr algn="ctr"/>
            <a:r>
              <a:rPr lang="en-US" sz="2400" b="1" dirty="0">
                <a:solidFill>
                  <a:srgbClr val="FF0000"/>
                </a:solidFill>
              </a:rPr>
              <a:t>1.5</a:t>
            </a:r>
          </a:p>
        </p:txBody>
      </p:sp>
      <p:graphicFrame>
        <p:nvGraphicFramePr>
          <p:cNvPr id="12" name="Table 11"/>
          <p:cNvGraphicFramePr>
            <a:graphicFrameLocks noGrp="1"/>
          </p:cNvGraphicFramePr>
          <p:nvPr>
            <p:extLst>
              <p:ext uri="{D42A27DB-BD31-4B8C-83A1-F6EECF244321}">
                <p14:modId xmlns:p14="http://schemas.microsoft.com/office/powerpoint/2010/main" val="1004426751"/>
              </p:ext>
            </p:extLst>
          </p:nvPr>
        </p:nvGraphicFramePr>
        <p:xfrm>
          <a:off x="448056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Y</a:t>
                      </a:r>
                      <a:r>
                        <a:rPr lang="en-US" sz="2400" baseline="0" dirty="0"/>
                        <a:t> </a:t>
                      </a:r>
                      <a:r>
                        <a:rPr lang="en-US" sz="1400" baseline="0" dirty="0"/>
                        <a:t>(predicted)</a:t>
                      </a:r>
                      <a:endParaRPr lang="en-US" sz="2400" dirty="0"/>
                    </a:p>
                  </a:txBody>
                  <a:tcPr/>
                </a:tc>
                <a:tc>
                  <a:txBody>
                    <a:bodyPr/>
                    <a:lstStyle/>
                    <a:p>
                      <a:pPr algn="ctr"/>
                      <a:r>
                        <a:rPr lang="en-US" sz="2400" dirty="0"/>
                        <a:t>Error</a:t>
                      </a:r>
                    </a:p>
                  </a:txBody>
                  <a:tcPr/>
                </a:tc>
                <a:extLst>
                  <a:ext uri="{0D108BD9-81ED-4DB2-BD59-A6C34878D82A}">
                    <a16:rowId xmlns:a16="http://schemas.microsoft.com/office/drawing/2014/main" val="10000"/>
                  </a:ext>
                </a:extLst>
              </a:tr>
              <a:tr h="370840">
                <a:tc>
                  <a:txBody>
                    <a:bodyPr/>
                    <a:lstStyle/>
                    <a:p>
                      <a:pPr algn="ctr"/>
                      <a:endParaRPr lang="en-US" sz="2400" dirty="0"/>
                    </a:p>
                  </a:txBody>
                  <a:tcPr/>
                </a:tc>
                <a:tc>
                  <a:txBody>
                    <a:bodyPr/>
                    <a:lstStyle/>
                    <a:p>
                      <a:pPr algn="ctr"/>
                      <a:endParaRPr lang="en-US" sz="2400" dirty="0"/>
                    </a:p>
                  </a:txBody>
                  <a:tcPr>
                    <a:solidFill>
                      <a:schemeClr val="bg1"/>
                    </a:solidFill>
                  </a:tcPr>
                </a:tc>
                <a:extLst>
                  <a:ext uri="{0D108BD9-81ED-4DB2-BD59-A6C34878D82A}">
                    <a16:rowId xmlns:a16="http://schemas.microsoft.com/office/drawing/2014/main" val="10001"/>
                  </a:ext>
                </a:extLst>
              </a:tr>
              <a:tr h="370840">
                <a:tc>
                  <a:txBody>
                    <a:bodyPr/>
                    <a:lstStyle/>
                    <a:p>
                      <a:pPr algn="ctr"/>
                      <a:endParaRPr lang="en-US" sz="2400" dirty="0"/>
                    </a:p>
                  </a:txBody>
                  <a:tcPr/>
                </a:tc>
                <a:tc>
                  <a:txBody>
                    <a:bodyPr/>
                    <a:lstStyle/>
                    <a:p>
                      <a:pPr algn="ctr"/>
                      <a:endParaRPr lang="en-US" sz="2400" dirty="0"/>
                    </a:p>
                  </a:txBody>
                  <a:tcPr>
                    <a:solidFill>
                      <a:schemeClr val="bg1"/>
                    </a:solidFill>
                  </a:tcPr>
                </a:tc>
                <a:extLst>
                  <a:ext uri="{0D108BD9-81ED-4DB2-BD59-A6C34878D82A}">
                    <a16:rowId xmlns:a16="http://schemas.microsoft.com/office/drawing/2014/main" val="10002"/>
                  </a:ext>
                </a:extLst>
              </a:tr>
              <a:tr h="370840">
                <a:tc>
                  <a:txBody>
                    <a:bodyPr/>
                    <a:lstStyle/>
                    <a:p>
                      <a:pPr algn="ctr"/>
                      <a:endParaRPr lang="en-US" sz="2400" dirty="0"/>
                    </a:p>
                  </a:txBody>
                  <a:tcPr/>
                </a:tc>
                <a:tc>
                  <a:txBody>
                    <a:bodyPr/>
                    <a:lstStyle/>
                    <a:p>
                      <a:pPr algn="ctr"/>
                      <a:endParaRPr lang="en-US" sz="2400" dirty="0"/>
                    </a:p>
                  </a:txBody>
                  <a:tcPr>
                    <a:solidFill>
                      <a:schemeClr val="bg1"/>
                    </a:solidFill>
                  </a:tcPr>
                </a:tc>
                <a:extLst>
                  <a:ext uri="{0D108BD9-81ED-4DB2-BD59-A6C34878D82A}">
                    <a16:rowId xmlns:a16="http://schemas.microsoft.com/office/drawing/2014/main" val="10003"/>
                  </a:ext>
                </a:extLst>
              </a:tr>
            </a:tbl>
          </a:graphicData>
        </a:graphic>
      </p:graphicFrame>
      <p:sp>
        <p:nvSpPr>
          <p:cNvPr id="13" name="&quot;No&quot; Symbol 12"/>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85883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rc 13"/>
          <p:cNvSpPr/>
          <p:nvPr/>
        </p:nvSpPr>
        <p:spPr>
          <a:xfrm>
            <a:off x="5557520" y="3234522"/>
            <a:ext cx="873760" cy="3325058"/>
          </a:xfrm>
          <a:prstGeom prst="arc">
            <a:avLst>
              <a:gd name="adj1" fmla="val 20036643"/>
              <a:gd name="adj2" fmla="val 5584118"/>
            </a:avLst>
          </a:prstGeom>
          <a:ln w="762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787202"/>
            <a:ext cx="5547558" cy="5547558"/>
          </a:xfrm>
          <a:prstGeom prst="rect">
            <a:avLst/>
          </a:prstGeom>
        </p:spPr>
      </p:pic>
      <p:sp>
        <p:nvSpPr>
          <p:cNvPr id="2" name="Title 1"/>
          <p:cNvSpPr>
            <a:spLocks noGrp="1"/>
          </p:cNvSpPr>
          <p:nvPr>
            <p:ph type="title"/>
          </p:nvPr>
        </p:nvSpPr>
        <p:spPr/>
        <p:txBody>
          <a:bodyPr/>
          <a:lstStyle/>
          <a:p>
            <a:r>
              <a:rPr lang="en-US" dirty="0"/>
              <a:t>In-class exercise:</a:t>
            </a:r>
            <a:br>
              <a:rPr lang="en-US" dirty="0"/>
            </a:br>
            <a:r>
              <a:rPr lang="en-US" sz="2800" dirty="0"/>
              <a:t>Optimal regression line</a:t>
            </a:r>
            <a:endParaRPr lang="en-US" dirty="0"/>
          </a:p>
        </p:txBody>
      </p:sp>
      <p:sp>
        <p:nvSpPr>
          <p:cNvPr id="3" name="Content Placeholder 2"/>
          <p:cNvSpPr>
            <a:spLocks noGrp="1"/>
          </p:cNvSpPr>
          <p:nvPr>
            <p:ph idx="1"/>
          </p:nvPr>
        </p:nvSpPr>
        <p:spPr>
          <a:xfrm>
            <a:off x="838200" y="1825625"/>
            <a:ext cx="5765800" cy="1029335"/>
          </a:xfrm>
        </p:spPr>
        <p:txBody>
          <a:bodyPr/>
          <a:lstStyle/>
          <a:p>
            <a:r>
              <a:rPr lang="en-US" dirty="0"/>
              <a:t>Find the regression line that best explains this data:</a:t>
            </a:r>
          </a:p>
        </p:txBody>
      </p:sp>
      <p:graphicFrame>
        <p:nvGraphicFramePr>
          <p:cNvPr id="5" name="Table 4"/>
          <p:cNvGraphicFramePr>
            <a:graphicFrameLocks noGrp="1"/>
          </p:cNvGraphicFramePr>
          <p:nvPr/>
        </p:nvGraphicFramePr>
        <p:xfrm>
          <a:off x="179832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X</a:t>
                      </a:r>
                    </a:p>
                  </a:txBody>
                  <a:tcPr/>
                </a:tc>
                <a:tc>
                  <a:txBody>
                    <a:bodyPr/>
                    <a:lstStyle/>
                    <a:p>
                      <a:pPr algn="ctr"/>
                      <a:r>
                        <a:rPr lang="en-US" sz="2400" dirty="0"/>
                        <a:t>Y</a:t>
                      </a:r>
                    </a:p>
                  </a:txBody>
                  <a:tcPr/>
                </a:tc>
                <a:extLst>
                  <a:ext uri="{0D108BD9-81ED-4DB2-BD59-A6C34878D82A}">
                    <a16:rowId xmlns:a16="http://schemas.microsoft.com/office/drawing/2014/main" val="10000"/>
                  </a:ext>
                </a:extLst>
              </a:tr>
              <a:tr h="370840">
                <a:tc>
                  <a:txBody>
                    <a:bodyPr/>
                    <a:lstStyle/>
                    <a:p>
                      <a:pPr algn="ctr"/>
                      <a:r>
                        <a:rPr lang="en-US" sz="2400" dirty="0"/>
                        <a:t>2</a:t>
                      </a:r>
                    </a:p>
                  </a:txBody>
                  <a:tcPr/>
                </a:tc>
                <a:tc>
                  <a:txBody>
                    <a:bodyPr/>
                    <a:lstStyle/>
                    <a:p>
                      <a:pPr algn="ctr"/>
                      <a:r>
                        <a:rPr lang="en-US" sz="2400" dirty="0"/>
                        <a:t>4</a:t>
                      </a:r>
                    </a:p>
                  </a:txBody>
                  <a:tcPr/>
                </a:tc>
                <a:extLst>
                  <a:ext uri="{0D108BD9-81ED-4DB2-BD59-A6C34878D82A}">
                    <a16:rowId xmlns:a16="http://schemas.microsoft.com/office/drawing/2014/main" val="10001"/>
                  </a:ext>
                </a:extLst>
              </a:tr>
              <a:tr h="370840">
                <a:tc>
                  <a:txBody>
                    <a:bodyPr/>
                    <a:lstStyle/>
                    <a:p>
                      <a:pPr algn="ctr"/>
                      <a:r>
                        <a:rPr lang="en-US" sz="2400" dirty="0"/>
                        <a:t>5</a:t>
                      </a:r>
                    </a:p>
                  </a:txBody>
                  <a:tcPr/>
                </a:tc>
                <a:tc>
                  <a:txBody>
                    <a:bodyPr/>
                    <a:lstStyle/>
                    <a:p>
                      <a:pPr algn="ctr"/>
                      <a:r>
                        <a:rPr lang="en-US" sz="2400" dirty="0"/>
                        <a:t>4</a:t>
                      </a:r>
                    </a:p>
                  </a:txBody>
                  <a:tcPr/>
                </a:tc>
                <a:extLst>
                  <a:ext uri="{0D108BD9-81ED-4DB2-BD59-A6C34878D82A}">
                    <a16:rowId xmlns:a16="http://schemas.microsoft.com/office/drawing/2014/main" val="10002"/>
                  </a:ext>
                </a:extLst>
              </a:tr>
              <a:tr h="370840">
                <a:tc>
                  <a:txBody>
                    <a:bodyPr/>
                    <a:lstStyle/>
                    <a:p>
                      <a:pPr algn="ctr"/>
                      <a:r>
                        <a:rPr lang="en-US" sz="2400" dirty="0"/>
                        <a:t>8</a:t>
                      </a:r>
                    </a:p>
                  </a:txBody>
                  <a:tcPr/>
                </a:tc>
                <a:tc>
                  <a:txBody>
                    <a:bodyPr/>
                    <a:lstStyle/>
                    <a:p>
                      <a:pPr algn="ctr"/>
                      <a:r>
                        <a:rPr lang="en-US" sz="2400" dirty="0"/>
                        <a:t>7</a:t>
                      </a:r>
                    </a:p>
                  </a:txBody>
                  <a:tcPr/>
                </a:tc>
                <a:extLst>
                  <a:ext uri="{0D108BD9-81ED-4DB2-BD59-A6C34878D82A}">
                    <a16:rowId xmlns:a16="http://schemas.microsoft.com/office/drawing/2014/main" val="10003"/>
                  </a:ext>
                </a:extLst>
              </a:tr>
            </a:tbl>
          </a:graphicData>
        </a:graphic>
      </p:graphicFrame>
      <p:sp>
        <p:nvSpPr>
          <p:cNvPr id="6" name="Content Placeholder 2"/>
          <p:cNvSpPr txBox="1">
            <a:spLocks/>
          </p:cNvSpPr>
          <p:nvPr/>
        </p:nvSpPr>
        <p:spPr>
          <a:xfrm>
            <a:off x="838200" y="4526082"/>
            <a:ext cx="5765800" cy="102933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dirty="0"/>
              <a:t>Need two parameters: slope and intercept</a:t>
            </a:r>
          </a:p>
        </p:txBody>
      </p:sp>
      <p:sp>
        <p:nvSpPr>
          <p:cNvPr id="7" name="TextBox 6"/>
          <p:cNvSpPr txBox="1"/>
          <p:nvPr/>
        </p:nvSpPr>
        <p:spPr>
          <a:xfrm>
            <a:off x="2357120" y="5621923"/>
            <a:ext cx="3647440" cy="646331"/>
          </a:xfrm>
          <a:prstGeom prst="rect">
            <a:avLst/>
          </a:prstGeom>
          <a:noFill/>
        </p:spPr>
        <p:txBody>
          <a:bodyPr wrap="square" rtlCol="0">
            <a:spAutoFit/>
          </a:bodyPr>
          <a:lstStyle/>
          <a:p>
            <a:r>
              <a:rPr lang="en-US" sz="3600" b="1" dirty="0"/>
              <a:t>Y = ___X + ___</a:t>
            </a:r>
          </a:p>
        </p:txBody>
      </p:sp>
      <p:sp>
        <p:nvSpPr>
          <p:cNvPr id="8" name="TextBox 7"/>
          <p:cNvSpPr txBox="1"/>
          <p:nvPr/>
        </p:nvSpPr>
        <p:spPr>
          <a:xfrm>
            <a:off x="2357120" y="6328748"/>
            <a:ext cx="4775200" cy="461665"/>
          </a:xfrm>
          <a:prstGeom prst="rect">
            <a:avLst/>
          </a:prstGeom>
          <a:noFill/>
        </p:spPr>
        <p:txBody>
          <a:bodyPr wrap="square" rtlCol="0">
            <a:spAutoFit/>
          </a:bodyPr>
          <a:lstStyle/>
          <a:p>
            <a:r>
              <a:rPr lang="en-US" sz="2400" b="1" dirty="0"/>
              <a:t>Sum of squared error: ____</a:t>
            </a:r>
          </a:p>
        </p:txBody>
      </p:sp>
      <p:sp>
        <p:nvSpPr>
          <p:cNvPr id="9" name="TextBox 8"/>
          <p:cNvSpPr txBox="1"/>
          <p:nvPr/>
        </p:nvSpPr>
        <p:spPr>
          <a:xfrm>
            <a:off x="3073400" y="5652700"/>
            <a:ext cx="736600" cy="584775"/>
          </a:xfrm>
          <a:prstGeom prst="rect">
            <a:avLst/>
          </a:prstGeom>
          <a:noFill/>
        </p:spPr>
        <p:txBody>
          <a:bodyPr wrap="square" rtlCol="0">
            <a:spAutoFit/>
          </a:bodyPr>
          <a:lstStyle/>
          <a:p>
            <a:r>
              <a:rPr lang="en-US" sz="3200" b="1" dirty="0">
                <a:solidFill>
                  <a:srgbClr val="FF0000"/>
                </a:solidFill>
              </a:rPr>
              <a:t>0.5</a:t>
            </a:r>
          </a:p>
        </p:txBody>
      </p:sp>
      <p:sp>
        <p:nvSpPr>
          <p:cNvPr id="10" name="TextBox 9"/>
          <p:cNvSpPr txBox="1"/>
          <p:nvPr/>
        </p:nvSpPr>
        <p:spPr>
          <a:xfrm>
            <a:off x="4361180" y="5652700"/>
            <a:ext cx="962660" cy="584775"/>
          </a:xfrm>
          <a:prstGeom prst="rect">
            <a:avLst/>
          </a:prstGeom>
          <a:noFill/>
        </p:spPr>
        <p:txBody>
          <a:bodyPr wrap="square" rtlCol="0">
            <a:spAutoFit/>
          </a:bodyPr>
          <a:lstStyle/>
          <a:p>
            <a:pPr algn="ctr"/>
            <a:r>
              <a:rPr lang="en-US" sz="3200" b="1" dirty="0">
                <a:solidFill>
                  <a:srgbClr val="FF0000"/>
                </a:solidFill>
              </a:rPr>
              <a:t>2.5</a:t>
            </a:r>
          </a:p>
        </p:txBody>
      </p:sp>
      <p:sp>
        <p:nvSpPr>
          <p:cNvPr id="11" name="TextBox 10"/>
          <p:cNvSpPr txBox="1"/>
          <p:nvPr/>
        </p:nvSpPr>
        <p:spPr>
          <a:xfrm>
            <a:off x="5063490" y="6318289"/>
            <a:ext cx="1062990" cy="461665"/>
          </a:xfrm>
          <a:prstGeom prst="rect">
            <a:avLst/>
          </a:prstGeom>
          <a:noFill/>
        </p:spPr>
        <p:txBody>
          <a:bodyPr wrap="square" rtlCol="0">
            <a:spAutoFit/>
          </a:bodyPr>
          <a:lstStyle/>
          <a:p>
            <a:pPr algn="ctr"/>
            <a:r>
              <a:rPr lang="en-US" sz="2400" b="1" dirty="0">
                <a:solidFill>
                  <a:srgbClr val="FF0000"/>
                </a:solidFill>
              </a:rPr>
              <a:t>1.5</a:t>
            </a:r>
          </a:p>
        </p:txBody>
      </p:sp>
      <p:graphicFrame>
        <p:nvGraphicFramePr>
          <p:cNvPr id="12" name="Table 11"/>
          <p:cNvGraphicFramePr>
            <a:graphicFrameLocks noGrp="1"/>
          </p:cNvGraphicFramePr>
          <p:nvPr>
            <p:extLst>
              <p:ext uri="{D42A27DB-BD31-4B8C-83A1-F6EECF244321}">
                <p14:modId xmlns:p14="http://schemas.microsoft.com/office/powerpoint/2010/main" val="3435119462"/>
              </p:ext>
            </p:extLst>
          </p:nvPr>
        </p:nvGraphicFramePr>
        <p:xfrm>
          <a:off x="4480560" y="2763054"/>
          <a:ext cx="2682240" cy="1828800"/>
        </p:xfrm>
        <a:graphic>
          <a:graphicData uri="http://schemas.openxmlformats.org/drawingml/2006/table">
            <a:tbl>
              <a:tblPr firstRow="1" bandRow="1">
                <a:tableStyleId>{7E9639D4-E3E2-4D34-9284-5A2195B3D0D7}</a:tableStyleId>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tblGrid>
              <a:tr h="370840">
                <a:tc>
                  <a:txBody>
                    <a:bodyPr/>
                    <a:lstStyle/>
                    <a:p>
                      <a:pPr algn="ctr"/>
                      <a:r>
                        <a:rPr lang="en-US" sz="2400" dirty="0"/>
                        <a:t>Y</a:t>
                      </a:r>
                      <a:r>
                        <a:rPr lang="en-US" sz="2400" baseline="0" dirty="0"/>
                        <a:t> </a:t>
                      </a:r>
                      <a:r>
                        <a:rPr lang="en-US" sz="1400" baseline="0" dirty="0"/>
                        <a:t>(predicted)</a:t>
                      </a:r>
                      <a:endParaRPr lang="en-US" sz="2400" dirty="0"/>
                    </a:p>
                  </a:txBody>
                  <a:tcPr/>
                </a:tc>
                <a:tc>
                  <a:txBody>
                    <a:bodyPr/>
                    <a:lstStyle/>
                    <a:p>
                      <a:pPr algn="ctr"/>
                      <a:r>
                        <a:rPr lang="en-US" sz="2400"/>
                        <a:t>Error</a:t>
                      </a:r>
                      <a:endParaRPr lang="en-US" sz="2400" dirty="0"/>
                    </a:p>
                  </a:txBody>
                  <a:tcPr/>
                </a:tc>
                <a:extLst>
                  <a:ext uri="{0D108BD9-81ED-4DB2-BD59-A6C34878D82A}">
                    <a16:rowId xmlns:a16="http://schemas.microsoft.com/office/drawing/2014/main" val="10000"/>
                  </a:ext>
                </a:extLst>
              </a:tr>
              <a:tr h="370840">
                <a:tc>
                  <a:txBody>
                    <a:bodyPr/>
                    <a:lstStyle/>
                    <a:p>
                      <a:pPr algn="ctr"/>
                      <a:r>
                        <a:rPr lang="en-US" sz="2400" dirty="0">
                          <a:solidFill>
                            <a:srgbClr val="FF0000"/>
                          </a:solidFill>
                        </a:rPr>
                        <a:t>3.5</a:t>
                      </a:r>
                    </a:p>
                  </a:txBody>
                  <a:tcPr>
                    <a:solidFill>
                      <a:schemeClr val="bg1"/>
                    </a:solidFill>
                  </a:tcPr>
                </a:tc>
                <a:tc>
                  <a:txBody>
                    <a:bodyPr/>
                    <a:lstStyle/>
                    <a:p>
                      <a:pPr algn="ctr"/>
                      <a:r>
                        <a:rPr lang="en-US" sz="2400">
                          <a:solidFill>
                            <a:srgbClr val="FF0000"/>
                          </a:solidFill>
                        </a:rPr>
                        <a:t>0.5</a:t>
                      </a:r>
                      <a:endParaRPr lang="en-US" sz="2400" dirty="0">
                        <a:solidFill>
                          <a:srgbClr val="FF0000"/>
                        </a:solidFill>
                      </a:endParaRPr>
                    </a:p>
                  </a:txBody>
                  <a:tcPr>
                    <a:solidFill>
                      <a:schemeClr val="bg1"/>
                    </a:solidFill>
                  </a:tcPr>
                </a:tc>
                <a:extLst>
                  <a:ext uri="{0D108BD9-81ED-4DB2-BD59-A6C34878D82A}">
                    <a16:rowId xmlns:a16="http://schemas.microsoft.com/office/drawing/2014/main" val="10001"/>
                  </a:ext>
                </a:extLst>
              </a:tr>
              <a:tr h="370840">
                <a:tc>
                  <a:txBody>
                    <a:bodyPr/>
                    <a:lstStyle/>
                    <a:p>
                      <a:pPr algn="ctr"/>
                      <a:r>
                        <a:rPr lang="en-US" sz="2400">
                          <a:solidFill>
                            <a:srgbClr val="FF0000"/>
                          </a:solidFill>
                        </a:rPr>
                        <a:t>5</a:t>
                      </a:r>
                      <a:endParaRPr lang="en-US" sz="2400" dirty="0">
                        <a:solidFill>
                          <a:srgbClr val="FF0000"/>
                        </a:solidFill>
                      </a:endParaRPr>
                    </a:p>
                  </a:txBody>
                  <a:tcPr>
                    <a:solidFill>
                      <a:schemeClr val="bg1"/>
                    </a:solidFill>
                  </a:tcPr>
                </a:tc>
                <a:tc>
                  <a:txBody>
                    <a:bodyPr/>
                    <a:lstStyle/>
                    <a:p>
                      <a:pPr algn="ctr"/>
                      <a:r>
                        <a:rPr lang="en-US" sz="2400">
                          <a:solidFill>
                            <a:srgbClr val="FF0000"/>
                          </a:solidFill>
                        </a:rPr>
                        <a:t>1</a:t>
                      </a:r>
                      <a:endParaRPr lang="en-US" sz="2400" dirty="0">
                        <a:solidFill>
                          <a:srgbClr val="FF0000"/>
                        </a:solidFill>
                      </a:endParaRPr>
                    </a:p>
                  </a:txBody>
                  <a:tcPr>
                    <a:solidFill>
                      <a:schemeClr val="bg1"/>
                    </a:solidFill>
                  </a:tcPr>
                </a:tc>
                <a:extLst>
                  <a:ext uri="{0D108BD9-81ED-4DB2-BD59-A6C34878D82A}">
                    <a16:rowId xmlns:a16="http://schemas.microsoft.com/office/drawing/2014/main" val="10002"/>
                  </a:ext>
                </a:extLst>
              </a:tr>
              <a:tr h="370840">
                <a:tc>
                  <a:txBody>
                    <a:bodyPr/>
                    <a:lstStyle/>
                    <a:p>
                      <a:pPr algn="ctr"/>
                      <a:r>
                        <a:rPr lang="en-US" sz="2400">
                          <a:solidFill>
                            <a:srgbClr val="FF0000"/>
                          </a:solidFill>
                        </a:rPr>
                        <a:t>6.5</a:t>
                      </a:r>
                      <a:endParaRPr lang="en-US" sz="2400" dirty="0">
                        <a:solidFill>
                          <a:srgbClr val="FF0000"/>
                        </a:solidFill>
                      </a:endParaRPr>
                    </a:p>
                  </a:txBody>
                  <a:tcPr>
                    <a:solidFill>
                      <a:schemeClr val="bg1"/>
                    </a:solidFill>
                  </a:tcPr>
                </a:tc>
                <a:tc>
                  <a:txBody>
                    <a:bodyPr/>
                    <a:lstStyle/>
                    <a:p>
                      <a:pPr algn="ctr"/>
                      <a:r>
                        <a:rPr lang="en-US" sz="2400" dirty="0">
                          <a:solidFill>
                            <a:srgbClr val="FF0000"/>
                          </a:solidFill>
                        </a:rPr>
                        <a:t>0.5</a:t>
                      </a:r>
                    </a:p>
                  </a:txBody>
                  <a:tcPr>
                    <a:solidFill>
                      <a:schemeClr val="bg1"/>
                    </a:solidFill>
                  </a:tcPr>
                </a:tc>
                <a:extLst>
                  <a:ext uri="{0D108BD9-81ED-4DB2-BD59-A6C34878D82A}">
                    <a16:rowId xmlns:a16="http://schemas.microsoft.com/office/drawing/2014/main" val="10003"/>
                  </a:ext>
                </a:extLst>
              </a:tr>
            </a:tbl>
          </a:graphicData>
        </a:graphic>
      </p:graphicFrame>
      <p:sp>
        <p:nvSpPr>
          <p:cNvPr id="13" name="Rounded Rectangle 12"/>
          <p:cNvSpPr/>
          <p:nvPr/>
        </p:nvSpPr>
        <p:spPr>
          <a:xfrm>
            <a:off x="5481320" y="5324584"/>
            <a:ext cx="1838960" cy="773331"/>
          </a:xfrm>
          <a:prstGeom prst="round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a:t>Square and sum to get</a:t>
            </a:r>
          </a:p>
        </p:txBody>
      </p:sp>
      <p:sp>
        <p:nvSpPr>
          <p:cNvPr id="15" name="&quot;No&quot; Symbol 14"/>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15836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Core of Linear Regression</a:t>
            </a:r>
          </a:p>
        </p:txBody>
      </p:sp>
      <p:sp>
        <p:nvSpPr>
          <p:cNvPr id="3" name="Content Placeholder 2"/>
          <p:cNvSpPr>
            <a:spLocks noGrp="1"/>
          </p:cNvSpPr>
          <p:nvPr>
            <p:ph idx="1"/>
          </p:nvPr>
        </p:nvSpPr>
        <p:spPr>
          <a:xfrm>
            <a:off x="838200" y="1825625"/>
            <a:ext cx="10515600" cy="932815"/>
          </a:xfrm>
        </p:spPr>
        <p:txBody>
          <a:bodyPr/>
          <a:lstStyle/>
          <a:p>
            <a:r>
              <a:rPr lang="en-US" dirty="0"/>
              <a:t>All basic linear regressions can be represented by a single formula:</a:t>
            </a:r>
          </a:p>
        </p:txBody>
      </p:sp>
      <p:sp>
        <p:nvSpPr>
          <p:cNvPr id="4" name="TextBox 3"/>
          <p:cNvSpPr txBox="1"/>
          <p:nvPr/>
        </p:nvSpPr>
        <p:spPr>
          <a:xfrm>
            <a:off x="4675606" y="2602832"/>
            <a:ext cx="2218877" cy="707886"/>
          </a:xfrm>
          <a:prstGeom prst="rect">
            <a:avLst/>
          </a:prstGeom>
          <a:noFill/>
        </p:spPr>
        <p:txBody>
          <a:bodyPr wrap="none" rtlCol="0">
            <a:spAutoFit/>
          </a:bodyPr>
          <a:lstStyle/>
          <a:p>
            <a:r>
              <a:rPr lang="en-US" sz="4000" b="1" dirty="0"/>
              <a:t>Y = X</a:t>
            </a:r>
            <a:r>
              <a:rPr lang="el-GR" sz="4000" b="1" dirty="0"/>
              <a:t>β</a:t>
            </a:r>
            <a:r>
              <a:rPr lang="en-US" sz="4000" b="1" dirty="0"/>
              <a:t> + </a:t>
            </a:r>
            <a:r>
              <a:rPr lang="el-GR" sz="4000" b="1" dirty="0"/>
              <a:t>ε</a:t>
            </a:r>
          </a:p>
        </p:txBody>
      </p:sp>
      <p:sp>
        <p:nvSpPr>
          <p:cNvPr id="5" name="TextBox 4"/>
          <p:cNvSpPr txBox="1"/>
          <p:nvPr/>
        </p:nvSpPr>
        <p:spPr>
          <a:xfrm>
            <a:off x="631647" y="3188700"/>
            <a:ext cx="3789114" cy="954107"/>
          </a:xfrm>
          <a:prstGeom prst="rect">
            <a:avLst/>
          </a:prstGeom>
          <a:noFill/>
        </p:spPr>
        <p:txBody>
          <a:bodyPr wrap="none" rtlCol="0">
            <a:spAutoFit/>
          </a:bodyPr>
          <a:lstStyle/>
          <a:p>
            <a:r>
              <a:rPr lang="en-US" sz="3200" b="1" dirty="0">
                <a:solidFill>
                  <a:schemeClr val="accent6">
                    <a:lumMod val="75000"/>
                  </a:schemeClr>
                </a:solidFill>
              </a:rPr>
              <a:t>Dependent variable</a:t>
            </a:r>
          </a:p>
          <a:p>
            <a:r>
              <a:rPr lang="en-US" sz="2400" dirty="0">
                <a:solidFill>
                  <a:schemeClr val="accent6">
                    <a:lumMod val="75000"/>
                  </a:schemeClr>
                </a:solidFill>
              </a:rPr>
              <a:t>The thing we want to explain</a:t>
            </a:r>
          </a:p>
        </p:txBody>
      </p:sp>
      <p:cxnSp>
        <p:nvCxnSpPr>
          <p:cNvPr id="6" name="Straight Arrow Connector 5"/>
          <p:cNvCxnSpPr/>
          <p:nvPr/>
        </p:nvCxnSpPr>
        <p:spPr>
          <a:xfrm flipV="1">
            <a:off x="4220946" y="3113476"/>
            <a:ext cx="572883" cy="251482"/>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833637" y="4397227"/>
            <a:ext cx="4284956" cy="954107"/>
          </a:xfrm>
          <a:prstGeom prst="rect">
            <a:avLst/>
          </a:prstGeom>
          <a:noFill/>
        </p:spPr>
        <p:txBody>
          <a:bodyPr wrap="none" rtlCol="0">
            <a:spAutoFit/>
          </a:bodyPr>
          <a:lstStyle/>
          <a:p>
            <a:r>
              <a:rPr lang="en-US" sz="3200" b="1" dirty="0">
                <a:solidFill>
                  <a:schemeClr val="accent5">
                    <a:lumMod val="75000"/>
                  </a:schemeClr>
                </a:solidFill>
              </a:rPr>
              <a:t>Independent variable(s)</a:t>
            </a:r>
          </a:p>
          <a:p>
            <a:r>
              <a:rPr lang="en-US" sz="2400" dirty="0">
                <a:solidFill>
                  <a:schemeClr val="accent5">
                    <a:lumMod val="75000"/>
                  </a:schemeClr>
                </a:solidFill>
              </a:rPr>
              <a:t>The things we use to explain it</a:t>
            </a:r>
          </a:p>
        </p:txBody>
      </p:sp>
      <p:cxnSp>
        <p:nvCxnSpPr>
          <p:cNvPr id="8" name="Straight Arrow Connector 7"/>
          <p:cNvCxnSpPr/>
          <p:nvPr/>
        </p:nvCxnSpPr>
        <p:spPr>
          <a:xfrm flipV="1">
            <a:off x="5303520" y="3294949"/>
            <a:ext cx="273786" cy="1042823"/>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6034506" y="3208895"/>
            <a:ext cx="625374" cy="616345"/>
          </a:xfrm>
          <a:prstGeom prst="straightConnector1">
            <a:avLst/>
          </a:prstGeom>
          <a:ln w="381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659880" y="3616441"/>
            <a:ext cx="4333046" cy="954107"/>
          </a:xfrm>
          <a:prstGeom prst="rect">
            <a:avLst/>
          </a:prstGeom>
          <a:noFill/>
        </p:spPr>
        <p:txBody>
          <a:bodyPr wrap="none" rtlCol="0">
            <a:spAutoFit/>
          </a:bodyPr>
          <a:lstStyle/>
          <a:p>
            <a:r>
              <a:rPr lang="en-US" sz="3200" b="1" dirty="0">
                <a:solidFill>
                  <a:schemeClr val="accent4">
                    <a:lumMod val="75000"/>
                  </a:schemeClr>
                </a:solidFill>
              </a:rPr>
              <a:t>Regression coefficient(s)</a:t>
            </a:r>
          </a:p>
          <a:p>
            <a:r>
              <a:rPr lang="en-US" sz="2400" dirty="0">
                <a:solidFill>
                  <a:schemeClr val="accent4">
                    <a:lumMod val="75000"/>
                  </a:schemeClr>
                </a:solidFill>
              </a:rPr>
              <a:t>How each part of X relates to Y</a:t>
            </a:r>
          </a:p>
        </p:txBody>
      </p:sp>
      <p:cxnSp>
        <p:nvCxnSpPr>
          <p:cNvPr id="13" name="Straight Arrow Connector 12"/>
          <p:cNvCxnSpPr/>
          <p:nvPr/>
        </p:nvCxnSpPr>
        <p:spPr>
          <a:xfrm flipH="1" flipV="1">
            <a:off x="6881978" y="2963795"/>
            <a:ext cx="1018579" cy="1198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940406" y="2605406"/>
            <a:ext cx="3897605" cy="954107"/>
          </a:xfrm>
          <a:prstGeom prst="rect">
            <a:avLst/>
          </a:prstGeom>
          <a:noFill/>
        </p:spPr>
        <p:txBody>
          <a:bodyPr wrap="none" rtlCol="0">
            <a:spAutoFit/>
          </a:bodyPr>
          <a:lstStyle/>
          <a:p>
            <a:r>
              <a:rPr lang="en-US" sz="3200" b="1" dirty="0">
                <a:solidFill>
                  <a:srgbClr val="C00000"/>
                </a:solidFill>
              </a:rPr>
              <a:t>Error</a:t>
            </a:r>
          </a:p>
          <a:p>
            <a:r>
              <a:rPr lang="en-US" sz="2400" dirty="0">
                <a:solidFill>
                  <a:srgbClr val="C00000"/>
                </a:solidFill>
              </a:rPr>
              <a:t>The leftovers we can’t explain</a:t>
            </a:r>
          </a:p>
        </p:txBody>
      </p:sp>
    </p:spTree>
    <p:extLst>
      <p:ext uri="{BB962C8B-B14F-4D97-AF65-F5344CB8AC3E}">
        <p14:creationId xmlns:p14="http://schemas.microsoft.com/office/powerpoint/2010/main" val="3859568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2" grpId="0"/>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Core of Linear Regression</a:t>
            </a:r>
          </a:p>
        </p:txBody>
      </p:sp>
      <p:sp>
        <p:nvSpPr>
          <p:cNvPr id="3" name="Content Placeholder 2"/>
          <p:cNvSpPr>
            <a:spLocks noGrp="1"/>
          </p:cNvSpPr>
          <p:nvPr>
            <p:ph idx="1"/>
          </p:nvPr>
        </p:nvSpPr>
        <p:spPr>
          <a:xfrm>
            <a:off x="838200" y="1825625"/>
            <a:ext cx="10515600" cy="932815"/>
          </a:xfrm>
        </p:spPr>
        <p:txBody>
          <a:bodyPr/>
          <a:lstStyle/>
          <a:p>
            <a:r>
              <a:rPr lang="en-US" dirty="0"/>
              <a:t>All basic linear regressions can be represented by a single formula:</a:t>
            </a:r>
          </a:p>
        </p:txBody>
      </p:sp>
      <p:sp>
        <p:nvSpPr>
          <p:cNvPr id="4" name="TextBox 3"/>
          <p:cNvSpPr txBox="1"/>
          <p:nvPr/>
        </p:nvSpPr>
        <p:spPr>
          <a:xfrm>
            <a:off x="4675606" y="2602832"/>
            <a:ext cx="2218877" cy="707886"/>
          </a:xfrm>
          <a:prstGeom prst="rect">
            <a:avLst/>
          </a:prstGeom>
          <a:noFill/>
        </p:spPr>
        <p:txBody>
          <a:bodyPr wrap="none" rtlCol="0">
            <a:spAutoFit/>
          </a:bodyPr>
          <a:lstStyle/>
          <a:p>
            <a:r>
              <a:rPr lang="en-US" sz="4000" b="1" dirty="0"/>
              <a:t>Y = X</a:t>
            </a:r>
            <a:r>
              <a:rPr lang="el-GR" sz="4000" b="1" dirty="0"/>
              <a:t>β</a:t>
            </a:r>
            <a:r>
              <a:rPr lang="en-US" sz="4000" b="1" dirty="0"/>
              <a:t> + </a:t>
            </a:r>
            <a:r>
              <a:rPr lang="el-GR" sz="4000" b="1" dirty="0"/>
              <a:t>ε</a:t>
            </a:r>
          </a:p>
        </p:txBody>
      </p:sp>
      <p:sp>
        <p:nvSpPr>
          <p:cNvPr id="14" name="Content Placeholder 2"/>
          <p:cNvSpPr txBox="1">
            <a:spLocks/>
          </p:cNvSpPr>
          <p:nvPr/>
        </p:nvSpPr>
        <p:spPr>
          <a:xfrm>
            <a:off x="838200" y="3418793"/>
            <a:ext cx="10515600" cy="2738167"/>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You may notice that this is very similar to the classic formula for a line:</a:t>
            </a:r>
          </a:p>
        </p:txBody>
      </p:sp>
      <p:sp>
        <p:nvSpPr>
          <p:cNvPr id="17" name="TextBox 16"/>
          <p:cNvSpPr txBox="1"/>
          <p:nvPr/>
        </p:nvSpPr>
        <p:spPr>
          <a:xfrm>
            <a:off x="4641910" y="4433933"/>
            <a:ext cx="2286267" cy="707886"/>
          </a:xfrm>
          <a:prstGeom prst="rect">
            <a:avLst/>
          </a:prstGeom>
          <a:noFill/>
        </p:spPr>
        <p:txBody>
          <a:bodyPr wrap="none" rtlCol="0">
            <a:spAutoFit/>
          </a:bodyPr>
          <a:lstStyle/>
          <a:p>
            <a:r>
              <a:rPr lang="en-US" sz="4000" dirty="0"/>
              <a:t>y = mx + b</a:t>
            </a:r>
            <a:endParaRPr lang="el-GR" sz="4000" dirty="0"/>
          </a:p>
        </p:txBody>
      </p:sp>
      <p:sp>
        <p:nvSpPr>
          <p:cNvPr id="19" name="TextBox 18"/>
          <p:cNvSpPr txBox="1"/>
          <p:nvPr/>
        </p:nvSpPr>
        <p:spPr>
          <a:xfrm>
            <a:off x="2840044" y="4848065"/>
            <a:ext cx="1927331" cy="954107"/>
          </a:xfrm>
          <a:prstGeom prst="rect">
            <a:avLst/>
          </a:prstGeom>
          <a:noFill/>
        </p:spPr>
        <p:txBody>
          <a:bodyPr wrap="square" rtlCol="0">
            <a:spAutoFit/>
          </a:bodyPr>
          <a:lstStyle/>
          <a:p>
            <a:pPr algn="ctr"/>
            <a:r>
              <a:rPr lang="en-US" sz="2800" b="1" dirty="0">
                <a:solidFill>
                  <a:schemeClr val="accent6">
                    <a:lumMod val="75000"/>
                  </a:schemeClr>
                </a:solidFill>
              </a:rPr>
              <a:t>Dependent variable</a:t>
            </a:r>
            <a:endParaRPr lang="el-GR" sz="2800" b="1" dirty="0">
              <a:solidFill>
                <a:schemeClr val="accent6">
                  <a:lumMod val="75000"/>
                </a:schemeClr>
              </a:solidFill>
            </a:endParaRPr>
          </a:p>
        </p:txBody>
      </p:sp>
      <p:sp>
        <p:nvSpPr>
          <p:cNvPr id="20" name="TextBox 19"/>
          <p:cNvSpPr txBox="1"/>
          <p:nvPr/>
        </p:nvSpPr>
        <p:spPr>
          <a:xfrm>
            <a:off x="5017066" y="4007404"/>
            <a:ext cx="1008609" cy="523220"/>
          </a:xfrm>
          <a:prstGeom prst="rect">
            <a:avLst/>
          </a:prstGeom>
          <a:noFill/>
        </p:spPr>
        <p:txBody>
          <a:bodyPr wrap="none" rtlCol="0">
            <a:spAutoFit/>
          </a:bodyPr>
          <a:lstStyle/>
          <a:p>
            <a:r>
              <a:rPr lang="en-US" sz="2800" b="1" dirty="0">
                <a:solidFill>
                  <a:schemeClr val="accent4">
                    <a:lumMod val="75000"/>
                  </a:schemeClr>
                </a:solidFill>
              </a:rPr>
              <a:t>Slope</a:t>
            </a:r>
            <a:endParaRPr lang="el-GR" sz="2800" b="1" dirty="0">
              <a:solidFill>
                <a:schemeClr val="accent4">
                  <a:lumMod val="75000"/>
                </a:schemeClr>
              </a:solidFill>
            </a:endParaRPr>
          </a:p>
        </p:txBody>
      </p:sp>
      <p:sp>
        <p:nvSpPr>
          <p:cNvPr id="21" name="TextBox 20"/>
          <p:cNvSpPr txBox="1"/>
          <p:nvPr/>
        </p:nvSpPr>
        <p:spPr>
          <a:xfrm>
            <a:off x="5017066" y="5247769"/>
            <a:ext cx="2195889" cy="954107"/>
          </a:xfrm>
          <a:prstGeom prst="rect">
            <a:avLst/>
          </a:prstGeom>
          <a:noFill/>
        </p:spPr>
        <p:txBody>
          <a:bodyPr wrap="square" rtlCol="0">
            <a:spAutoFit/>
          </a:bodyPr>
          <a:lstStyle/>
          <a:p>
            <a:pPr algn="ctr"/>
            <a:r>
              <a:rPr lang="en-US" sz="2800" b="1" dirty="0">
                <a:solidFill>
                  <a:schemeClr val="accent5">
                    <a:lumMod val="75000"/>
                  </a:schemeClr>
                </a:solidFill>
              </a:rPr>
              <a:t>Independent variable</a:t>
            </a:r>
            <a:endParaRPr lang="el-GR" sz="2800" b="1" dirty="0">
              <a:solidFill>
                <a:schemeClr val="accent5">
                  <a:lumMod val="75000"/>
                </a:schemeClr>
              </a:solidFill>
            </a:endParaRPr>
          </a:p>
        </p:txBody>
      </p:sp>
      <p:sp>
        <p:nvSpPr>
          <p:cNvPr id="22" name="TextBox 21"/>
          <p:cNvSpPr txBox="1"/>
          <p:nvPr/>
        </p:nvSpPr>
        <p:spPr>
          <a:xfrm>
            <a:off x="6842973" y="4035884"/>
            <a:ext cx="1542666" cy="523220"/>
          </a:xfrm>
          <a:prstGeom prst="rect">
            <a:avLst/>
          </a:prstGeom>
          <a:noFill/>
        </p:spPr>
        <p:txBody>
          <a:bodyPr wrap="none" rtlCol="0">
            <a:spAutoFit/>
          </a:bodyPr>
          <a:lstStyle/>
          <a:p>
            <a:r>
              <a:rPr lang="en-US" sz="2800" b="1" dirty="0">
                <a:solidFill>
                  <a:srgbClr val="C00000"/>
                </a:solidFill>
              </a:rPr>
              <a:t>Intercept</a:t>
            </a:r>
            <a:endParaRPr lang="el-GR" sz="2800" b="1" dirty="0">
              <a:solidFill>
                <a:srgbClr val="C00000"/>
              </a:solidFill>
            </a:endParaRPr>
          </a:p>
        </p:txBody>
      </p:sp>
      <p:cxnSp>
        <p:nvCxnSpPr>
          <p:cNvPr id="11" name="Straight Connector 10"/>
          <p:cNvCxnSpPr/>
          <p:nvPr/>
        </p:nvCxnSpPr>
        <p:spPr>
          <a:xfrm flipV="1">
            <a:off x="4379495" y="4900170"/>
            <a:ext cx="262415" cy="60189"/>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flipV="1">
            <a:off x="5961507" y="5056611"/>
            <a:ext cx="89336" cy="28741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flipV="1">
            <a:off x="5473245" y="4466456"/>
            <a:ext cx="93366" cy="153671"/>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6815883" y="4514582"/>
            <a:ext cx="284778" cy="153671"/>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900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Core of Linear Regression</a:t>
            </a:r>
          </a:p>
        </p:txBody>
      </p:sp>
      <p:sp>
        <p:nvSpPr>
          <p:cNvPr id="4" name="TextBox 3"/>
          <p:cNvSpPr txBox="1"/>
          <p:nvPr/>
        </p:nvSpPr>
        <p:spPr>
          <a:xfrm>
            <a:off x="1627606" y="2978956"/>
            <a:ext cx="2218877" cy="707886"/>
          </a:xfrm>
          <a:prstGeom prst="rect">
            <a:avLst/>
          </a:prstGeom>
          <a:noFill/>
        </p:spPr>
        <p:txBody>
          <a:bodyPr wrap="none" rtlCol="0">
            <a:spAutoFit/>
          </a:bodyPr>
          <a:lstStyle/>
          <a:p>
            <a:r>
              <a:rPr lang="en-US" sz="4000" b="1" dirty="0"/>
              <a:t>Y = X</a:t>
            </a:r>
            <a:r>
              <a:rPr lang="el-GR" sz="4000" b="1" dirty="0"/>
              <a:t>β</a:t>
            </a:r>
            <a:r>
              <a:rPr lang="en-US" sz="4000" b="1" dirty="0"/>
              <a:t> + </a:t>
            </a:r>
            <a:r>
              <a:rPr lang="el-GR" sz="4000" b="1" dirty="0"/>
              <a:t>ε</a:t>
            </a:r>
          </a:p>
        </p:txBody>
      </p:sp>
      <p:sp>
        <p:nvSpPr>
          <p:cNvPr id="17" name="TextBox 16"/>
          <p:cNvSpPr txBox="1"/>
          <p:nvPr/>
        </p:nvSpPr>
        <p:spPr>
          <a:xfrm>
            <a:off x="5735112" y="2970783"/>
            <a:ext cx="4868640" cy="707886"/>
          </a:xfrm>
          <a:prstGeom prst="rect">
            <a:avLst/>
          </a:prstGeom>
          <a:noFill/>
        </p:spPr>
        <p:txBody>
          <a:bodyPr wrap="none" rtlCol="0">
            <a:spAutoFit/>
          </a:bodyPr>
          <a:lstStyle/>
          <a:p>
            <a:r>
              <a:rPr lang="en-US" sz="4000" dirty="0"/>
              <a:t>y = x</a:t>
            </a:r>
            <a:r>
              <a:rPr lang="en-US" sz="4000" baseline="-25000" dirty="0"/>
              <a:t>1</a:t>
            </a:r>
            <a:r>
              <a:rPr lang="el-GR" sz="4000" dirty="0"/>
              <a:t>β</a:t>
            </a:r>
            <a:r>
              <a:rPr lang="en-US" sz="4000" baseline="-25000" dirty="0"/>
              <a:t>1</a:t>
            </a:r>
            <a:r>
              <a:rPr lang="en-US" sz="4000" dirty="0"/>
              <a:t> + x</a:t>
            </a:r>
            <a:r>
              <a:rPr lang="en-US" sz="4000" baseline="-25000" dirty="0"/>
              <a:t>2</a:t>
            </a:r>
            <a:r>
              <a:rPr lang="el-GR" sz="4000" dirty="0"/>
              <a:t>β</a:t>
            </a:r>
            <a:r>
              <a:rPr lang="en-US" sz="4000" baseline="-25000" dirty="0"/>
              <a:t>2</a:t>
            </a:r>
            <a:r>
              <a:rPr lang="en-US" sz="4000" dirty="0"/>
              <a:t> + x</a:t>
            </a:r>
            <a:r>
              <a:rPr lang="en-US" sz="4000" baseline="-25000" dirty="0"/>
              <a:t>3</a:t>
            </a:r>
            <a:r>
              <a:rPr lang="el-GR" sz="4000" dirty="0"/>
              <a:t>β</a:t>
            </a:r>
            <a:r>
              <a:rPr lang="en-US" sz="4000" baseline="-25000" dirty="0"/>
              <a:t>3</a:t>
            </a:r>
            <a:r>
              <a:rPr lang="en-US" sz="4000" dirty="0"/>
              <a:t> …</a:t>
            </a:r>
            <a:endParaRPr lang="el-GR" sz="4000" dirty="0"/>
          </a:p>
        </p:txBody>
      </p:sp>
      <p:sp>
        <p:nvSpPr>
          <p:cNvPr id="5" name="Content Placeholder 4"/>
          <p:cNvSpPr>
            <a:spLocks noGrp="1"/>
          </p:cNvSpPr>
          <p:nvPr>
            <p:ph idx="1"/>
          </p:nvPr>
        </p:nvSpPr>
        <p:spPr>
          <a:xfrm>
            <a:off x="838200" y="1825625"/>
            <a:ext cx="10515600" cy="1145158"/>
          </a:xfrm>
        </p:spPr>
        <p:txBody>
          <a:bodyPr/>
          <a:lstStyle/>
          <a:p>
            <a:r>
              <a:rPr lang="en-US" dirty="0"/>
              <a:t>This equation is actually in “matrix notation”</a:t>
            </a:r>
          </a:p>
          <a:p>
            <a:r>
              <a:rPr lang="en-US" dirty="0"/>
              <a:t>For this class, we’ll unpack it into a more familiar form:</a:t>
            </a:r>
          </a:p>
        </p:txBody>
      </p:sp>
      <p:sp>
        <p:nvSpPr>
          <p:cNvPr id="6" name="Right Arrow 5"/>
          <p:cNvSpPr/>
          <p:nvPr/>
        </p:nvSpPr>
        <p:spPr>
          <a:xfrm>
            <a:off x="4365682" y="3069362"/>
            <a:ext cx="850231" cy="584121"/>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Content Placeholder 4"/>
          <p:cNvSpPr txBox="1">
            <a:spLocks/>
          </p:cNvSpPr>
          <p:nvPr/>
        </p:nvSpPr>
        <p:spPr>
          <a:xfrm>
            <a:off x="838200" y="3970597"/>
            <a:ext cx="10515600" cy="1948939"/>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With linear regression, our goals are to:</a:t>
            </a:r>
          </a:p>
          <a:p>
            <a:pPr lvl="1"/>
            <a:r>
              <a:rPr lang="en-US" dirty="0"/>
              <a:t>Figure out what the </a:t>
            </a:r>
            <a:r>
              <a:rPr lang="el-GR" dirty="0"/>
              <a:t>β</a:t>
            </a:r>
            <a:r>
              <a:rPr lang="en-US" dirty="0"/>
              <a:t>s are</a:t>
            </a:r>
          </a:p>
          <a:p>
            <a:pPr lvl="2"/>
            <a:r>
              <a:rPr lang="en-US" dirty="0"/>
              <a:t>aka, “What are the coefficients?”</a:t>
            </a:r>
          </a:p>
          <a:p>
            <a:pPr lvl="1"/>
            <a:r>
              <a:rPr lang="en-US" dirty="0"/>
              <a:t>Make the error as small as possible</a:t>
            </a:r>
          </a:p>
        </p:txBody>
      </p:sp>
    </p:spTree>
    <p:extLst>
      <p:ext uri="{BB962C8B-B14F-4D97-AF65-F5344CB8AC3E}">
        <p14:creationId xmlns:p14="http://schemas.microsoft.com/office/powerpoint/2010/main" val="8225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
                                            <p:txEl>
                                              <p:pRg st="0" end="0"/>
                                            </p:txEl>
                                          </p:spTgt>
                                        </p:tgtEl>
                                        <p:attrNameLst>
                                          <p:attrName>style.visibility</p:attrName>
                                        </p:attrNameLst>
                                      </p:cBhvr>
                                      <p:to>
                                        <p:strVal val="visible"/>
                                      </p:to>
                                    </p:set>
                                    <p:animEffect transition="in" filter="fade">
                                      <p:cBhvr>
                                        <p:cTn id="15" dur="500"/>
                                        <p:tgtEl>
                                          <p:spTgt spid="24">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xEl>
                                              <p:pRg st="1" end="1"/>
                                            </p:txEl>
                                          </p:spTgt>
                                        </p:tgtEl>
                                        <p:attrNameLst>
                                          <p:attrName>style.visibility</p:attrName>
                                        </p:attrNameLst>
                                      </p:cBhvr>
                                      <p:to>
                                        <p:strVal val="visible"/>
                                      </p:to>
                                    </p:set>
                                    <p:animEffect transition="in" filter="fade">
                                      <p:cBhvr>
                                        <p:cTn id="18" dur="500"/>
                                        <p:tgtEl>
                                          <p:spTgt spid="24">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xEl>
                                              <p:pRg st="2" end="2"/>
                                            </p:txEl>
                                          </p:spTgt>
                                        </p:tgtEl>
                                        <p:attrNameLst>
                                          <p:attrName>style.visibility</p:attrName>
                                        </p:attrNameLst>
                                      </p:cBhvr>
                                      <p:to>
                                        <p:strVal val="visible"/>
                                      </p:to>
                                    </p:set>
                                    <p:animEffect transition="in" filter="fade">
                                      <p:cBhvr>
                                        <p:cTn id="21" dur="500"/>
                                        <p:tgtEl>
                                          <p:spTgt spid="24">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xEl>
                                              <p:pRg st="3" end="3"/>
                                            </p:txEl>
                                          </p:spTgt>
                                        </p:tgtEl>
                                        <p:attrNameLst>
                                          <p:attrName>style.visibility</p:attrName>
                                        </p:attrNameLst>
                                      </p:cBhvr>
                                      <p:to>
                                        <p:strVal val="visible"/>
                                      </p:to>
                                    </p:set>
                                    <p:animEffect transition="in" filter="fade">
                                      <p:cBhvr>
                                        <p:cTn id="24" dur="500"/>
                                        <p:tgtEl>
                                          <p:spTgt spid="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linear regression so far?</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50521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example</a:t>
            </a:r>
          </a:p>
        </p:txBody>
      </p:sp>
      <p:sp>
        <p:nvSpPr>
          <p:cNvPr id="3" name="Content Placeholder 2"/>
          <p:cNvSpPr>
            <a:spLocks noGrp="1"/>
          </p:cNvSpPr>
          <p:nvPr>
            <p:ph idx="1"/>
          </p:nvPr>
        </p:nvSpPr>
        <p:spPr>
          <a:xfrm>
            <a:off x="838200" y="1825625"/>
            <a:ext cx="6690360" cy="2456815"/>
          </a:xfrm>
        </p:spPr>
        <p:txBody>
          <a:bodyPr/>
          <a:lstStyle/>
          <a:p>
            <a:r>
              <a:rPr lang="en-US" dirty="0"/>
              <a:t>Example experiment: Switchgrass biomass production</a:t>
            </a:r>
          </a:p>
          <a:p>
            <a:r>
              <a:rPr lang="en-US" dirty="0"/>
              <a:t>A (very) tiny experiment testing how adding nitrogen fertilizer affects switchgrass growth:</a:t>
            </a:r>
          </a:p>
        </p:txBody>
      </p:sp>
      <p:graphicFrame>
        <p:nvGraphicFramePr>
          <p:cNvPr id="4" name="Table 3"/>
          <p:cNvGraphicFramePr>
            <a:graphicFrameLocks noGrp="1"/>
          </p:cNvGraphicFramePr>
          <p:nvPr/>
        </p:nvGraphicFramePr>
        <p:xfrm>
          <a:off x="2071623" y="4431665"/>
          <a:ext cx="4176777" cy="1940560"/>
        </p:xfrm>
        <a:graphic>
          <a:graphicData uri="http://schemas.openxmlformats.org/drawingml/2006/table">
            <a:tbl>
              <a:tblPr firstRow="1" bandRow="1">
                <a:tableStyleId>{7E9639D4-E3E2-4D34-9284-5A2195B3D0D7}</a:tableStyleId>
              </a:tblPr>
              <a:tblGrid>
                <a:gridCol w="1392259">
                  <a:extLst>
                    <a:ext uri="{9D8B030D-6E8A-4147-A177-3AD203B41FA5}">
                      <a16:colId xmlns:a16="http://schemas.microsoft.com/office/drawing/2014/main" val="2147723078"/>
                    </a:ext>
                  </a:extLst>
                </a:gridCol>
                <a:gridCol w="1392259">
                  <a:extLst>
                    <a:ext uri="{9D8B030D-6E8A-4147-A177-3AD203B41FA5}">
                      <a16:colId xmlns:a16="http://schemas.microsoft.com/office/drawing/2014/main" val="206900781"/>
                    </a:ext>
                  </a:extLst>
                </a:gridCol>
                <a:gridCol w="1392259">
                  <a:extLst>
                    <a:ext uri="{9D8B030D-6E8A-4147-A177-3AD203B41FA5}">
                      <a16:colId xmlns:a16="http://schemas.microsoft.com/office/drawing/2014/main" val="2377252828"/>
                    </a:ext>
                  </a:extLst>
                </a:gridCol>
              </a:tblGrid>
              <a:tr h="370840">
                <a:tc>
                  <a:txBody>
                    <a:bodyPr/>
                    <a:lstStyle/>
                    <a:p>
                      <a:pPr algn="ctr"/>
                      <a:r>
                        <a:rPr lang="en-US" sz="2400" dirty="0"/>
                        <a:t>Plot</a:t>
                      </a:r>
                    </a:p>
                  </a:txBody>
                  <a:tcPr/>
                </a:tc>
                <a:tc>
                  <a:txBody>
                    <a:bodyPr/>
                    <a:lstStyle/>
                    <a:p>
                      <a:pPr algn="ctr"/>
                      <a:r>
                        <a:rPr lang="en-US" sz="2400" dirty="0"/>
                        <a:t>Biomass</a:t>
                      </a:r>
                    </a:p>
                  </a:txBody>
                  <a:tcPr/>
                </a:tc>
                <a:tc>
                  <a:txBody>
                    <a:bodyPr/>
                    <a:lstStyle/>
                    <a:p>
                      <a:pPr algn="ctr"/>
                      <a:r>
                        <a:rPr lang="en-US" sz="2400" dirty="0"/>
                        <a:t>Nitrogen</a:t>
                      </a:r>
                    </a:p>
                  </a:txBody>
                  <a:tcPr/>
                </a:tc>
                <a:extLst>
                  <a:ext uri="{0D108BD9-81ED-4DB2-BD59-A6C34878D82A}">
                    <a16:rowId xmlns:a16="http://schemas.microsoft.com/office/drawing/2014/main" val="3722080856"/>
                  </a:ext>
                </a:extLst>
              </a:tr>
              <a:tr h="370840">
                <a:tc>
                  <a:txBody>
                    <a:bodyPr/>
                    <a:lstStyle/>
                    <a:p>
                      <a:pPr algn="ctr"/>
                      <a:r>
                        <a:rPr lang="en-US" b="1" dirty="0"/>
                        <a:t>001</a:t>
                      </a:r>
                    </a:p>
                  </a:txBody>
                  <a:tcPr/>
                </a:tc>
                <a:tc>
                  <a:txBody>
                    <a:bodyPr/>
                    <a:lstStyle/>
                    <a:p>
                      <a:pPr algn="ctr"/>
                      <a:r>
                        <a:rPr lang="en-US" b="1" dirty="0"/>
                        <a:t>17.6</a:t>
                      </a:r>
                    </a:p>
                  </a:txBody>
                  <a:tcPr/>
                </a:tc>
                <a:tc>
                  <a:txBody>
                    <a:bodyPr/>
                    <a:lstStyle/>
                    <a:p>
                      <a:pPr algn="ctr"/>
                      <a:r>
                        <a:rPr lang="en-US" b="1" dirty="0"/>
                        <a:t>10</a:t>
                      </a:r>
                    </a:p>
                  </a:txBody>
                  <a:tcPr/>
                </a:tc>
                <a:extLst>
                  <a:ext uri="{0D108BD9-81ED-4DB2-BD59-A6C34878D82A}">
                    <a16:rowId xmlns:a16="http://schemas.microsoft.com/office/drawing/2014/main" val="2954024607"/>
                  </a:ext>
                </a:extLst>
              </a:tr>
              <a:tr h="370840">
                <a:tc>
                  <a:txBody>
                    <a:bodyPr/>
                    <a:lstStyle/>
                    <a:p>
                      <a:pPr algn="ctr"/>
                      <a:r>
                        <a:rPr lang="en-US" b="1" dirty="0"/>
                        <a:t>002</a:t>
                      </a:r>
                    </a:p>
                  </a:txBody>
                  <a:tcPr/>
                </a:tc>
                <a:tc>
                  <a:txBody>
                    <a:bodyPr/>
                    <a:lstStyle/>
                    <a:p>
                      <a:pPr algn="ctr"/>
                      <a:r>
                        <a:rPr lang="en-US" b="1" dirty="0"/>
                        <a:t>14.3</a:t>
                      </a:r>
                    </a:p>
                  </a:txBody>
                  <a:tcPr/>
                </a:tc>
                <a:tc>
                  <a:txBody>
                    <a:bodyPr/>
                    <a:lstStyle/>
                    <a:p>
                      <a:pPr algn="ctr"/>
                      <a:r>
                        <a:rPr lang="en-US" b="1" dirty="0"/>
                        <a:t>5</a:t>
                      </a:r>
                    </a:p>
                  </a:txBody>
                  <a:tcPr/>
                </a:tc>
                <a:extLst>
                  <a:ext uri="{0D108BD9-81ED-4DB2-BD59-A6C34878D82A}">
                    <a16:rowId xmlns:a16="http://schemas.microsoft.com/office/drawing/2014/main" val="2219459742"/>
                  </a:ext>
                </a:extLst>
              </a:tr>
              <a:tr h="370840">
                <a:tc>
                  <a:txBody>
                    <a:bodyPr/>
                    <a:lstStyle/>
                    <a:p>
                      <a:pPr algn="ctr"/>
                      <a:r>
                        <a:rPr lang="en-US" b="1" dirty="0"/>
                        <a:t>003</a:t>
                      </a:r>
                    </a:p>
                  </a:txBody>
                  <a:tcPr/>
                </a:tc>
                <a:tc>
                  <a:txBody>
                    <a:bodyPr/>
                    <a:lstStyle/>
                    <a:p>
                      <a:pPr algn="ctr"/>
                      <a:r>
                        <a:rPr lang="en-US" b="1" dirty="0"/>
                        <a:t>18.9</a:t>
                      </a:r>
                    </a:p>
                  </a:txBody>
                  <a:tcPr/>
                </a:tc>
                <a:tc>
                  <a:txBody>
                    <a:bodyPr/>
                    <a:lstStyle/>
                    <a:p>
                      <a:pPr algn="ctr"/>
                      <a:r>
                        <a:rPr lang="en-US" b="1" dirty="0"/>
                        <a:t>10</a:t>
                      </a:r>
                    </a:p>
                  </a:txBody>
                  <a:tcPr/>
                </a:tc>
                <a:extLst>
                  <a:ext uri="{0D108BD9-81ED-4DB2-BD59-A6C34878D82A}">
                    <a16:rowId xmlns:a16="http://schemas.microsoft.com/office/drawing/2014/main" val="1095262974"/>
                  </a:ext>
                </a:extLst>
              </a:tr>
              <a:tr h="370840">
                <a:tc>
                  <a:txBody>
                    <a:bodyPr/>
                    <a:lstStyle/>
                    <a:p>
                      <a:pPr algn="ctr"/>
                      <a:r>
                        <a:rPr lang="en-US" b="1" dirty="0"/>
                        <a:t>004</a:t>
                      </a:r>
                    </a:p>
                  </a:txBody>
                  <a:tcPr/>
                </a:tc>
                <a:tc>
                  <a:txBody>
                    <a:bodyPr/>
                    <a:lstStyle/>
                    <a:p>
                      <a:pPr algn="ctr"/>
                      <a:r>
                        <a:rPr lang="en-US" b="1" dirty="0"/>
                        <a:t>12.6</a:t>
                      </a:r>
                    </a:p>
                  </a:txBody>
                  <a:tcPr/>
                </a:tc>
                <a:tc>
                  <a:txBody>
                    <a:bodyPr/>
                    <a:lstStyle/>
                    <a:p>
                      <a:pPr algn="ctr"/>
                      <a:r>
                        <a:rPr lang="en-US" b="1" dirty="0"/>
                        <a:t>5</a:t>
                      </a:r>
                    </a:p>
                  </a:txBody>
                  <a:tcPr/>
                </a:tc>
                <a:extLst>
                  <a:ext uri="{0D108BD9-81ED-4DB2-BD59-A6C34878D82A}">
                    <a16:rowId xmlns:a16="http://schemas.microsoft.com/office/drawing/2014/main" val="3951348955"/>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9100" y="1498599"/>
            <a:ext cx="3655219" cy="4873625"/>
          </a:xfrm>
          <a:prstGeom prst="rect">
            <a:avLst/>
          </a:prstGeom>
          <a:ln w="76200">
            <a:solidFill>
              <a:schemeClr val="tx1"/>
            </a:solidFill>
          </a:ln>
        </p:spPr>
      </p:pic>
    </p:spTree>
    <p:extLst>
      <p:ext uri="{BB962C8B-B14F-4D97-AF65-F5344CB8AC3E}">
        <p14:creationId xmlns:p14="http://schemas.microsoft.com/office/powerpoint/2010/main" val="2683165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example</a:t>
            </a:r>
          </a:p>
        </p:txBody>
      </p:sp>
      <p:sp>
        <p:nvSpPr>
          <p:cNvPr id="3" name="Content Placeholder 2"/>
          <p:cNvSpPr>
            <a:spLocks noGrp="1"/>
          </p:cNvSpPr>
          <p:nvPr>
            <p:ph idx="1"/>
          </p:nvPr>
        </p:nvSpPr>
        <p:spPr>
          <a:xfrm>
            <a:off x="838200" y="1825624"/>
            <a:ext cx="10515600" cy="4300855"/>
          </a:xfrm>
        </p:spPr>
        <p:txBody>
          <a:bodyPr/>
          <a:lstStyle/>
          <a:p>
            <a:r>
              <a:rPr lang="en-US" dirty="0"/>
              <a:t>So, let’s unpack this data:</a:t>
            </a:r>
          </a:p>
          <a:p>
            <a:pPr lvl="1"/>
            <a:r>
              <a:rPr lang="en-US" dirty="0"/>
              <a:t>What is the dependent variable?</a:t>
            </a:r>
          </a:p>
          <a:p>
            <a:pPr lvl="1"/>
            <a:r>
              <a:rPr lang="en-US" dirty="0"/>
              <a:t>What is/are the independent variable(s)?</a:t>
            </a:r>
          </a:p>
          <a:p>
            <a:r>
              <a:rPr lang="en-US" dirty="0"/>
              <a:t>Our assumption is that there is a </a:t>
            </a:r>
            <a:r>
              <a:rPr lang="en-US" u="sng" dirty="0"/>
              <a:t>linear</a:t>
            </a:r>
            <a:r>
              <a:rPr lang="en-US" dirty="0"/>
              <a:t> </a:t>
            </a:r>
            <a:br>
              <a:rPr lang="en-US" dirty="0"/>
            </a:br>
            <a:r>
              <a:rPr lang="en-US" dirty="0"/>
              <a:t>relationship between nitrogen applied </a:t>
            </a:r>
            <a:br>
              <a:rPr lang="en-US" dirty="0"/>
            </a:br>
            <a:r>
              <a:rPr lang="en-US" dirty="0"/>
              <a:t>and biomass produced</a:t>
            </a:r>
          </a:p>
          <a:p>
            <a:pPr lvl="1"/>
            <a:r>
              <a:rPr lang="en-US" dirty="0"/>
              <a:t>That is, y = </a:t>
            </a:r>
            <a:r>
              <a:rPr lang="el-GR" dirty="0"/>
              <a:t>β</a:t>
            </a:r>
            <a:r>
              <a:rPr lang="en-US" dirty="0"/>
              <a:t>x + </a:t>
            </a:r>
            <a:r>
              <a:rPr lang="el-GR" dirty="0"/>
              <a:t>ε</a:t>
            </a:r>
            <a:r>
              <a:rPr lang="en-US" dirty="0"/>
              <a:t>, not </a:t>
            </a:r>
            <a:r>
              <a:rPr lang="el-GR" dirty="0"/>
              <a:t>β</a:t>
            </a:r>
            <a:r>
              <a:rPr lang="en-US" dirty="0"/>
              <a:t>x</a:t>
            </a:r>
            <a:r>
              <a:rPr lang="en-US" baseline="30000" dirty="0"/>
              <a:t>2</a:t>
            </a:r>
            <a:r>
              <a:rPr lang="en-US" dirty="0"/>
              <a:t>, </a:t>
            </a:r>
            <a:r>
              <a:rPr lang="el-GR" dirty="0"/>
              <a:t>β</a:t>
            </a:r>
            <a:r>
              <a:rPr lang="en-US" dirty="0"/>
              <a:t>x</a:t>
            </a:r>
            <a:r>
              <a:rPr lang="en-US" baseline="30000" dirty="0"/>
              <a:t>3</a:t>
            </a:r>
            <a:r>
              <a:rPr lang="en-US" dirty="0"/>
              <a:t>, or the like</a:t>
            </a:r>
          </a:p>
          <a:p>
            <a:pPr lvl="1"/>
            <a:r>
              <a:rPr lang="en-US" dirty="0"/>
              <a:t>Quadratic, cubic, and other regression can be done, but usually isn’t.</a:t>
            </a:r>
            <a:endParaRPr lang="el-GR" dirty="0"/>
          </a:p>
          <a:p>
            <a:pPr lvl="1"/>
            <a:endParaRPr lang="en-US" dirty="0"/>
          </a:p>
        </p:txBody>
      </p:sp>
      <p:graphicFrame>
        <p:nvGraphicFramePr>
          <p:cNvPr id="4" name="Table 3"/>
          <p:cNvGraphicFramePr>
            <a:graphicFrameLocks noGrp="1"/>
          </p:cNvGraphicFramePr>
          <p:nvPr/>
        </p:nvGraphicFramePr>
        <p:xfrm>
          <a:off x="8015223" y="1690688"/>
          <a:ext cx="4176777" cy="1940560"/>
        </p:xfrm>
        <a:graphic>
          <a:graphicData uri="http://schemas.openxmlformats.org/drawingml/2006/table">
            <a:tbl>
              <a:tblPr firstRow="1" bandRow="1">
                <a:tableStyleId>{7E9639D4-E3E2-4D34-9284-5A2195B3D0D7}</a:tableStyleId>
              </a:tblPr>
              <a:tblGrid>
                <a:gridCol w="1392259">
                  <a:extLst>
                    <a:ext uri="{9D8B030D-6E8A-4147-A177-3AD203B41FA5}">
                      <a16:colId xmlns:a16="http://schemas.microsoft.com/office/drawing/2014/main" val="2147723078"/>
                    </a:ext>
                  </a:extLst>
                </a:gridCol>
                <a:gridCol w="1392259">
                  <a:extLst>
                    <a:ext uri="{9D8B030D-6E8A-4147-A177-3AD203B41FA5}">
                      <a16:colId xmlns:a16="http://schemas.microsoft.com/office/drawing/2014/main" val="206900781"/>
                    </a:ext>
                  </a:extLst>
                </a:gridCol>
                <a:gridCol w="1392259">
                  <a:extLst>
                    <a:ext uri="{9D8B030D-6E8A-4147-A177-3AD203B41FA5}">
                      <a16:colId xmlns:a16="http://schemas.microsoft.com/office/drawing/2014/main" val="2377252828"/>
                    </a:ext>
                  </a:extLst>
                </a:gridCol>
              </a:tblGrid>
              <a:tr h="370840">
                <a:tc>
                  <a:txBody>
                    <a:bodyPr/>
                    <a:lstStyle/>
                    <a:p>
                      <a:pPr algn="ctr"/>
                      <a:r>
                        <a:rPr lang="en-US" sz="2400" dirty="0"/>
                        <a:t>Plot</a:t>
                      </a:r>
                    </a:p>
                  </a:txBody>
                  <a:tcPr/>
                </a:tc>
                <a:tc>
                  <a:txBody>
                    <a:bodyPr/>
                    <a:lstStyle/>
                    <a:p>
                      <a:pPr algn="ctr"/>
                      <a:r>
                        <a:rPr lang="en-US" sz="2400" dirty="0"/>
                        <a:t>Biomass</a:t>
                      </a:r>
                    </a:p>
                  </a:txBody>
                  <a:tcPr/>
                </a:tc>
                <a:tc>
                  <a:txBody>
                    <a:bodyPr/>
                    <a:lstStyle/>
                    <a:p>
                      <a:pPr algn="ctr"/>
                      <a:r>
                        <a:rPr lang="en-US" sz="2400" dirty="0"/>
                        <a:t>Nitrogen</a:t>
                      </a:r>
                    </a:p>
                  </a:txBody>
                  <a:tcPr/>
                </a:tc>
                <a:extLst>
                  <a:ext uri="{0D108BD9-81ED-4DB2-BD59-A6C34878D82A}">
                    <a16:rowId xmlns:a16="http://schemas.microsoft.com/office/drawing/2014/main" val="3722080856"/>
                  </a:ext>
                </a:extLst>
              </a:tr>
              <a:tr h="370840">
                <a:tc>
                  <a:txBody>
                    <a:bodyPr/>
                    <a:lstStyle/>
                    <a:p>
                      <a:pPr algn="ctr"/>
                      <a:r>
                        <a:rPr lang="en-US" b="1" dirty="0"/>
                        <a:t>001</a:t>
                      </a:r>
                    </a:p>
                  </a:txBody>
                  <a:tcPr/>
                </a:tc>
                <a:tc>
                  <a:txBody>
                    <a:bodyPr/>
                    <a:lstStyle/>
                    <a:p>
                      <a:pPr algn="ctr"/>
                      <a:r>
                        <a:rPr lang="en-US" b="1" dirty="0"/>
                        <a:t>17.6</a:t>
                      </a:r>
                    </a:p>
                  </a:txBody>
                  <a:tcPr/>
                </a:tc>
                <a:tc>
                  <a:txBody>
                    <a:bodyPr/>
                    <a:lstStyle/>
                    <a:p>
                      <a:pPr algn="ctr"/>
                      <a:r>
                        <a:rPr lang="en-US" b="1" dirty="0"/>
                        <a:t>10</a:t>
                      </a:r>
                    </a:p>
                  </a:txBody>
                  <a:tcPr/>
                </a:tc>
                <a:extLst>
                  <a:ext uri="{0D108BD9-81ED-4DB2-BD59-A6C34878D82A}">
                    <a16:rowId xmlns:a16="http://schemas.microsoft.com/office/drawing/2014/main" val="2954024607"/>
                  </a:ext>
                </a:extLst>
              </a:tr>
              <a:tr h="370840">
                <a:tc>
                  <a:txBody>
                    <a:bodyPr/>
                    <a:lstStyle/>
                    <a:p>
                      <a:pPr algn="ctr"/>
                      <a:r>
                        <a:rPr lang="en-US" b="1" dirty="0"/>
                        <a:t>002</a:t>
                      </a:r>
                    </a:p>
                  </a:txBody>
                  <a:tcPr/>
                </a:tc>
                <a:tc>
                  <a:txBody>
                    <a:bodyPr/>
                    <a:lstStyle/>
                    <a:p>
                      <a:pPr algn="ctr"/>
                      <a:r>
                        <a:rPr lang="en-US" b="1" dirty="0"/>
                        <a:t>14.3</a:t>
                      </a:r>
                    </a:p>
                  </a:txBody>
                  <a:tcPr/>
                </a:tc>
                <a:tc>
                  <a:txBody>
                    <a:bodyPr/>
                    <a:lstStyle/>
                    <a:p>
                      <a:pPr algn="ctr"/>
                      <a:r>
                        <a:rPr lang="en-US" b="1" dirty="0"/>
                        <a:t>5</a:t>
                      </a:r>
                    </a:p>
                  </a:txBody>
                  <a:tcPr/>
                </a:tc>
                <a:extLst>
                  <a:ext uri="{0D108BD9-81ED-4DB2-BD59-A6C34878D82A}">
                    <a16:rowId xmlns:a16="http://schemas.microsoft.com/office/drawing/2014/main" val="2219459742"/>
                  </a:ext>
                </a:extLst>
              </a:tr>
              <a:tr h="370840">
                <a:tc>
                  <a:txBody>
                    <a:bodyPr/>
                    <a:lstStyle/>
                    <a:p>
                      <a:pPr algn="ctr"/>
                      <a:r>
                        <a:rPr lang="en-US" b="1" dirty="0"/>
                        <a:t>003</a:t>
                      </a:r>
                    </a:p>
                  </a:txBody>
                  <a:tcPr/>
                </a:tc>
                <a:tc>
                  <a:txBody>
                    <a:bodyPr/>
                    <a:lstStyle/>
                    <a:p>
                      <a:pPr algn="ctr"/>
                      <a:r>
                        <a:rPr lang="en-US" b="1" dirty="0"/>
                        <a:t>18.9</a:t>
                      </a:r>
                    </a:p>
                  </a:txBody>
                  <a:tcPr/>
                </a:tc>
                <a:tc>
                  <a:txBody>
                    <a:bodyPr/>
                    <a:lstStyle/>
                    <a:p>
                      <a:pPr algn="ctr"/>
                      <a:r>
                        <a:rPr lang="en-US" b="1" dirty="0"/>
                        <a:t>10</a:t>
                      </a:r>
                    </a:p>
                  </a:txBody>
                  <a:tcPr/>
                </a:tc>
                <a:extLst>
                  <a:ext uri="{0D108BD9-81ED-4DB2-BD59-A6C34878D82A}">
                    <a16:rowId xmlns:a16="http://schemas.microsoft.com/office/drawing/2014/main" val="1095262974"/>
                  </a:ext>
                </a:extLst>
              </a:tr>
              <a:tr h="370840">
                <a:tc>
                  <a:txBody>
                    <a:bodyPr/>
                    <a:lstStyle/>
                    <a:p>
                      <a:pPr algn="ctr"/>
                      <a:r>
                        <a:rPr lang="en-US" b="1" dirty="0"/>
                        <a:t>004</a:t>
                      </a:r>
                    </a:p>
                  </a:txBody>
                  <a:tcPr/>
                </a:tc>
                <a:tc>
                  <a:txBody>
                    <a:bodyPr/>
                    <a:lstStyle/>
                    <a:p>
                      <a:pPr algn="ctr"/>
                      <a:r>
                        <a:rPr lang="en-US" b="1" dirty="0"/>
                        <a:t>12.6</a:t>
                      </a:r>
                    </a:p>
                  </a:txBody>
                  <a:tcPr/>
                </a:tc>
                <a:tc>
                  <a:txBody>
                    <a:bodyPr/>
                    <a:lstStyle/>
                    <a:p>
                      <a:pPr algn="ctr"/>
                      <a:r>
                        <a:rPr lang="en-US" b="1" dirty="0"/>
                        <a:t>5</a:t>
                      </a:r>
                    </a:p>
                  </a:txBody>
                  <a:tcPr/>
                </a:tc>
                <a:extLst>
                  <a:ext uri="{0D108BD9-81ED-4DB2-BD59-A6C34878D82A}">
                    <a16:rowId xmlns:a16="http://schemas.microsoft.com/office/drawing/2014/main" val="3951348955"/>
                  </a:ext>
                </a:extLst>
              </a:tr>
            </a:tbl>
          </a:graphicData>
        </a:graphic>
      </p:graphicFrame>
      <p:sp>
        <p:nvSpPr>
          <p:cNvPr id="5" name="Rounded Rectangle 4"/>
          <p:cNvSpPr/>
          <p:nvPr/>
        </p:nvSpPr>
        <p:spPr>
          <a:xfrm>
            <a:off x="9434956" y="1543665"/>
            <a:ext cx="1309244" cy="2220616"/>
          </a:xfrm>
          <a:prstGeom prst="roundRect">
            <a:avLst/>
          </a:prstGeom>
          <a:no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6" name="Rounded Rectangle 5"/>
          <p:cNvSpPr/>
          <p:nvPr/>
        </p:nvSpPr>
        <p:spPr>
          <a:xfrm>
            <a:off x="10819612" y="1543665"/>
            <a:ext cx="1341907" cy="2220616"/>
          </a:xfrm>
          <a:prstGeom prst="roundRect">
            <a:avLst/>
          </a:prstGeom>
          <a:noFill/>
          <a:ln w="762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9298583" y="1095990"/>
            <a:ext cx="1610056" cy="461665"/>
          </a:xfrm>
          <a:prstGeom prst="rect">
            <a:avLst/>
          </a:prstGeom>
          <a:noFill/>
        </p:spPr>
        <p:txBody>
          <a:bodyPr wrap="none" rtlCol="0">
            <a:spAutoFit/>
          </a:bodyPr>
          <a:lstStyle/>
          <a:p>
            <a:r>
              <a:rPr lang="en-US" sz="2400" b="1" dirty="0">
                <a:solidFill>
                  <a:schemeClr val="accent5">
                    <a:lumMod val="75000"/>
                  </a:schemeClr>
                </a:solidFill>
              </a:rPr>
              <a:t>Dependent</a:t>
            </a:r>
          </a:p>
        </p:txBody>
      </p:sp>
      <p:sp>
        <p:nvSpPr>
          <p:cNvPr id="8" name="TextBox 7"/>
          <p:cNvSpPr txBox="1"/>
          <p:nvPr/>
        </p:nvSpPr>
        <p:spPr>
          <a:xfrm>
            <a:off x="10439767" y="3778271"/>
            <a:ext cx="1828065" cy="461665"/>
          </a:xfrm>
          <a:prstGeom prst="rect">
            <a:avLst/>
          </a:prstGeom>
          <a:noFill/>
        </p:spPr>
        <p:txBody>
          <a:bodyPr wrap="none" rtlCol="0">
            <a:spAutoFit/>
          </a:bodyPr>
          <a:lstStyle/>
          <a:p>
            <a:r>
              <a:rPr lang="en-US" sz="2400" b="1" dirty="0">
                <a:solidFill>
                  <a:schemeClr val="accent6">
                    <a:lumMod val="50000"/>
                  </a:schemeClr>
                </a:solidFill>
              </a:rPr>
              <a:t>Independent</a:t>
            </a:r>
          </a:p>
        </p:txBody>
      </p:sp>
    </p:spTree>
    <p:extLst>
      <p:ext uri="{BB962C8B-B14F-4D97-AF65-F5344CB8AC3E}">
        <p14:creationId xmlns:p14="http://schemas.microsoft.com/office/powerpoint/2010/main" val="159515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1" y="469904"/>
            <a:ext cx="6248400" cy="6248400"/>
          </a:xfrm>
          <a:prstGeom prst="rect">
            <a:avLst/>
          </a:prstGeom>
        </p:spPr>
      </p:pic>
      <p:sp>
        <p:nvSpPr>
          <p:cNvPr id="2" name="Title 1"/>
          <p:cNvSpPr>
            <a:spLocks noGrp="1"/>
          </p:cNvSpPr>
          <p:nvPr>
            <p:ph type="title"/>
          </p:nvPr>
        </p:nvSpPr>
        <p:spPr/>
        <p:txBody>
          <a:bodyPr/>
          <a:lstStyle/>
          <a:p>
            <a:r>
              <a:rPr lang="en-US" dirty="0"/>
              <a:t>Linear regression example</a:t>
            </a:r>
          </a:p>
        </p:txBody>
      </p:sp>
      <p:graphicFrame>
        <p:nvGraphicFramePr>
          <p:cNvPr id="5" name="Table 4"/>
          <p:cNvGraphicFramePr>
            <a:graphicFrameLocks noGrp="1"/>
          </p:cNvGraphicFramePr>
          <p:nvPr>
            <p:extLst>
              <p:ext uri="{D42A27DB-BD31-4B8C-83A1-F6EECF244321}">
                <p14:modId xmlns:p14="http://schemas.microsoft.com/office/powerpoint/2010/main" val="3820211120"/>
              </p:ext>
            </p:extLst>
          </p:nvPr>
        </p:nvGraphicFramePr>
        <p:xfrm>
          <a:off x="838200" y="1690688"/>
          <a:ext cx="4635501" cy="2370004"/>
        </p:xfrm>
        <a:graphic>
          <a:graphicData uri="http://schemas.openxmlformats.org/drawingml/2006/table">
            <a:tbl>
              <a:tblPr firstRow="1" bandRow="1">
                <a:tableStyleId>{7E9639D4-E3E2-4D34-9284-5A2195B3D0D7}</a:tableStyleId>
              </a:tblPr>
              <a:tblGrid>
                <a:gridCol w="1545167">
                  <a:extLst>
                    <a:ext uri="{9D8B030D-6E8A-4147-A177-3AD203B41FA5}">
                      <a16:colId xmlns:a16="http://schemas.microsoft.com/office/drawing/2014/main" val="2147723078"/>
                    </a:ext>
                  </a:extLst>
                </a:gridCol>
                <a:gridCol w="1545167">
                  <a:extLst>
                    <a:ext uri="{9D8B030D-6E8A-4147-A177-3AD203B41FA5}">
                      <a16:colId xmlns:a16="http://schemas.microsoft.com/office/drawing/2014/main" val="206900781"/>
                    </a:ext>
                  </a:extLst>
                </a:gridCol>
                <a:gridCol w="1545167">
                  <a:extLst>
                    <a:ext uri="{9D8B030D-6E8A-4147-A177-3AD203B41FA5}">
                      <a16:colId xmlns:a16="http://schemas.microsoft.com/office/drawing/2014/main" val="2377252828"/>
                    </a:ext>
                  </a:extLst>
                </a:gridCol>
              </a:tblGrid>
              <a:tr h="541204">
                <a:tc>
                  <a:txBody>
                    <a:bodyPr/>
                    <a:lstStyle/>
                    <a:p>
                      <a:pPr algn="ctr"/>
                      <a:r>
                        <a:rPr lang="en-US" sz="2800" dirty="0"/>
                        <a:t>Plot</a:t>
                      </a:r>
                    </a:p>
                  </a:txBody>
                  <a:tcPr/>
                </a:tc>
                <a:tc>
                  <a:txBody>
                    <a:bodyPr/>
                    <a:lstStyle/>
                    <a:p>
                      <a:pPr algn="ctr"/>
                      <a:r>
                        <a:rPr lang="en-US" sz="2800" dirty="0"/>
                        <a:t>Biomass</a:t>
                      </a:r>
                    </a:p>
                  </a:txBody>
                  <a:tcPr/>
                </a:tc>
                <a:tc>
                  <a:txBody>
                    <a:bodyPr/>
                    <a:lstStyle/>
                    <a:p>
                      <a:pPr algn="ctr"/>
                      <a:r>
                        <a:rPr lang="en-US" sz="2800" dirty="0"/>
                        <a:t>Nitrogen</a:t>
                      </a:r>
                    </a:p>
                  </a:txBody>
                  <a:tcPr/>
                </a:tc>
                <a:extLst>
                  <a:ext uri="{0D108BD9-81ED-4DB2-BD59-A6C34878D82A}">
                    <a16:rowId xmlns:a16="http://schemas.microsoft.com/office/drawing/2014/main" val="3722080856"/>
                  </a:ext>
                </a:extLst>
              </a:tr>
              <a:tr h="438977">
                <a:tc>
                  <a:txBody>
                    <a:bodyPr/>
                    <a:lstStyle/>
                    <a:p>
                      <a:pPr algn="ctr"/>
                      <a:r>
                        <a:rPr lang="en-US" sz="2400" b="1" dirty="0"/>
                        <a:t>001</a:t>
                      </a:r>
                    </a:p>
                  </a:txBody>
                  <a:tcPr/>
                </a:tc>
                <a:tc>
                  <a:txBody>
                    <a:bodyPr/>
                    <a:lstStyle/>
                    <a:p>
                      <a:pPr algn="ctr"/>
                      <a:r>
                        <a:rPr lang="en-US" sz="2400" b="1" dirty="0"/>
                        <a:t>17.6</a:t>
                      </a:r>
                    </a:p>
                  </a:txBody>
                  <a:tcPr/>
                </a:tc>
                <a:tc>
                  <a:txBody>
                    <a:bodyPr/>
                    <a:lstStyle/>
                    <a:p>
                      <a:pPr algn="ctr"/>
                      <a:r>
                        <a:rPr lang="en-US" sz="2400" b="1" dirty="0"/>
                        <a:t>10</a:t>
                      </a:r>
                    </a:p>
                  </a:txBody>
                  <a:tcPr/>
                </a:tc>
                <a:extLst>
                  <a:ext uri="{0D108BD9-81ED-4DB2-BD59-A6C34878D82A}">
                    <a16:rowId xmlns:a16="http://schemas.microsoft.com/office/drawing/2014/main" val="2954024607"/>
                  </a:ext>
                </a:extLst>
              </a:tr>
              <a:tr h="438977">
                <a:tc>
                  <a:txBody>
                    <a:bodyPr/>
                    <a:lstStyle/>
                    <a:p>
                      <a:pPr algn="ctr"/>
                      <a:r>
                        <a:rPr lang="en-US" sz="2400" b="1" dirty="0"/>
                        <a:t>002</a:t>
                      </a:r>
                    </a:p>
                  </a:txBody>
                  <a:tcPr/>
                </a:tc>
                <a:tc>
                  <a:txBody>
                    <a:bodyPr/>
                    <a:lstStyle/>
                    <a:p>
                      <a:pPr algn="ctr"/>
                      <a:r>
                        <a:rPr lang="en-US" sz="2400" b="1" dirty="0"/>
                        <a:t>14.3</a:t>
                      </a:r>
                    </a:p>
                  </a:txBody>
                  <a:tcPr/>
                </a:tc>
                <a:tc>
                  <a:txBody>
                    <a:bodyPr/>
                    <a:lstStyle/>
                    <a:p>
                      <a:pPr algn="ctr"/>
                      <a:r>
                        <a:rPr lang="en-US" sz="2400" b="1" dirty="0"/>
                        <a:t>5</a:t>
                      </a:r>
                    </a:p>
                  </a:txBody>
                  <a:tcPr/>
                </a:tc>
                <a:extLst>
                  <a:ext uri="{0D108BD9-81ED-4DB2-BD59-A6C34878D82A}">
                    <a16:rowId xmlns:a16="http://schemas.microsoft.com/office/drawing/2014/main" val="2219459742"/>
                  </a:ext>
                </a:extLst>
              </a:tr>
              <a:tr h="438977">
                <a:tc>
                  <a:txBody>
                    <a:bodyPr/>
                    <a:lstStyle/>
                    <a:p>
                      <a:pPr algn="ctr"/>
                      <a:r>
                        <a:rPr lang="en-US" sz="2400" b="1" dirty="0"/>
                        <a:t>003</a:t>
                      </a:r>
                    </a:p>
                  </a:txBody>
                  <a:tcPr/>
                </a:tc>
                <a:tc>
                  <a:txBody>
                    <a:bodyPr/>
                    <a:lstStyle/>
                    <a:p>
                      <a:pPr algn="ctr"/>
                      <a:r>
                        <a:rPr lang="en-US" sz="2400" b="1" dirty="0"/>
                        <a:t>18.9</a:t>
                      </a:r>
                    </a:p>
                  </a:txBody>
                  <a:tcPr/>
                </a:tc>
                <a:tc>
                  <a:txBody>
                    <a:bodyPr/>
                    <a:lstStyle/>
                    <a:p>
                      <a:pPr algn="ctr"/>
                      <a:r>
                        <a:rPr lang="en-US" sz="2400" b="1" dirty="0"/>
                        <a:t>10</a:t>
                      </a:r>
                    </a:p>
                  </a:txBody>
                  <a:tcPr/>
                </a:tc>
                <a:extLst>
                  <a:ext uri="{0D108BD9-81ED-4DB2-BD59-A6C34878D82A}">
                    <a16:rowId xmlns:a16="http://schemas.microsoft.com/office/drawing/2014/main" val="1095262974"/>
                  </a:ext>
                </a:extLst>
              </a:tr>
              <a:tr h="438977">
                <a:tc>
                  <a:txBody>
                    <a:bodyPr/>
                    <a:lstStyle/>
                    <a:p>
                      <a:pPr algn="ctr"/>
                      <a:r>
                        <a:rPr lang="en-US" sz="2400" b="1" dirty="0"/>
                        <a:t>004</a:t>
                      </a:r>
                    </a:p>
                  </a:txBody>
                  <a:tcPr/>
                </a:tc>
                <a:tc>
                  <a:txBody>
                    <a:bodyPr/>
                    <a:lstStyle/>
                    <a:p>
                      <a:pPr algn="ctr"/>
                      <a:r>
                        <a:rPr lang="en-US" sz="2400" b="1" dirty="0"/>
                        <a:t>12.6</a:t>
                      </a:r>
                    </a:p>
                  </a:txBody>
                  <a:tcPr/>
                </a:tc>
                <a:tc>
                  <a:txBody>
                    <a:bodyPr/>
                    <a:lstStyle/>
                    <a:p>
                      <a:pPr algn="ctr"/>
                      <a:r>
                        <a:rPr lang="en-US" sz="2400" b="1" dirty="0"/>
                        <a:t>5</a:t>
                      </a:r>
                    </a:p>
                  </a:txBody>
                  <a:tcPr/>
                </a:tc>
                <a:extLst>
                  <a:ext uri="{0D108BD9-81ED-4DB2-BD59-A6C34878D82A}">
                    <a16:rowId xmlns:a16="http://schemas.microsoft.com/office/drawing/2014/main" val="3951348955"/>
                  </a:ext>
                </a:extLst>
              </a:tr>
            </a:tbl>
          </a:graphicData>
        </a:graphic>
      </p:graphicFrame>
      <p:sp>
        <p:nvSpPr>
          <p:cNvPr id="10" name="Content Placeholder 2"/>
          <p:cNvSpPr>
            <a:spLocks noGrp="1"/>
          </p:cNvSpPr>
          <p:nvPr>
            <p:ph idx="1"/>
          </p:nvPr>
        </p:nvSpPr>
        <p:spPr>
          <a:xfrm>
            <a:off x="838200" y="4559300"/>
            <a:ext cx="5105401" cy="1567179"/>
          </a:xfrm>
        </p:spPr>
        <p:txBody>
          <a:bodyPr/>
          <a:lstStyle/>
          <a:p>
            <a:r>
              <a:rPr lang="en-US" dirty="0"/>
              <a:t>So, how to find the line?</a:t>
            </a:r>
          </a:p>
        </p:txBody>
      </p:sp>
    </p:spTree>
    <p:extLst>
      <p:ext uri="{BB962C8B-B14F-4D97-AF65-F5344CB8AC3E}">
        <p14:creationId xmlns:p14="http://schemas.microsoft.com/office/powerpoint/2010/main" val="364688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5299" y="2279649"/>
            <a:ext cx="4000501" cy="400050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5300" y="2279649"/>
            <a:ext cx="4000501" cy="4000501"/>
          </a:xfrm>
          <a:prstGeom prst="rect">
            <a:avLst/>
          </a:prstGeom>
        </p:spPr>
      </p:pic>
      <p:sp>
        <p:nvSpPr>
          <p:cNvPr id="2" name="Title 1"/>
          <p:cNvSpPr>
            <a:spLocks noGrp="1"/>
          </p:cNvSpPr>
          <p:nvPr>
            <p:ph type="title"/>
          </p:nvPr>
        </p:nvSpPr>
        <p:spPr/>
        <p:txBody>
          <a:bodyPr/>
          <a:lstStyle/>
          <a:p>
            <a:r>
              <a:rPr lang="en-US" dirty="0"/>
              <a:t>Finding the regression line</a:t>
            </a:r>
          </a:p>
        </p:txBody>
      </p:sp>
      <p:graphicFrame>
        <p:nvGraphicFramePr>
          <p:cNvPr id="5" name="Table 4"/>
          <p:cNvGraphicFramePr>
            <a:graphicFrameLocks noGrp="1"/>
          </p:cNvGraphicFramePr>
          <p:nvPr>
            <p:extLst>
              <p:ext uri="{D42A27DB-BD31-4B8C-83A1-F6EECF244321}">
                <p14:modId xmlns:p14="http://schemas.microsoft.com/office/powerpoint/2010/main" val="4155034718"/>
              </p:ext>
            </p:extLst>
          </p:nvPr>
        </p:nvGraphicFramePr>
        <p:xfrm>
          <a:off x="825500" y="3258819"/>
          <a:ext cx="4038600" cy="2042160"/>
        </p:xfrm>
        <a:graphic>
          <a:graphicData uri="http://schemas.openxmlformats.org/drawingml/2006/table">
            <a:tbl>
              <a:tblPr firstRow="1" bandRow="1">
                <a:tableStyleId>{7E9639D4-E3E2-4D34-9284-5A2195B3D0D7}</a:tableStyleId>
              </a:tblPr>
              <a:tblGrid>
                <a:gridCol w="1346200">
                  <a:extLst>
                    <a:ext uri="{9D8B030D-6E8A-4147-A177-3AD203B41FA5}">
                      <a16:colId xmlns:a16="http://schemas.microsoft.com/office/drawing/2014/main" val="2147723078"/>
                    </a:ext>
                  </a:extLst>
                </a:gridCol>
                <a:gridCol w="1346200">
                  <a:extLst>
                    <a:ext uri="{9D8B030D-6E8A-4147-A177-3AD203B41FA5}">
                      <a16:colId xmlns:a16="http://schemas.microsoft.com/office/drawing/2014/main" val="206900781"/>
                    </a:ext>
                  </a:extLst>
                </a:gridCol>
                <a:gridCol w="1346200">
                  <a:extLst>
                    <a:ext uri="{9D8B030D-6E8A-4147-A177-3AD203B41FA5}">
                      <a16:colId xmlns:a16="http://schemas.microsoft.com/office/drawing/2014/main" val="2377252828"/>
                    </a:ext>
                  </a:extLst>
                </a:gridCol>
              </a:tblGrid>
              <a:tr h="439470">
                <a:tc>
                  <a:txBody>
                    <a:bodyPr/>
                    <a:lstStyle/>
                    <a:p>
                      <a:pPr algn="ctr"/>
                      <a:r>
                        <a:rPr lang="en-US" sz="2400" dirty="0"/>
                        <a:t>Plot</a:t>
                      </a:r>
                    </a:p>
                  </a:txBody>
                  <a:tcPr/>
                </a:tc>
                <a:tc>
                  <a:txBody>
                    <a:bodyPr/>
                    <a:lstStyle/>
                    <a:p>
                      <a:pPr algn="ctr"/>
                      <a:r>
                        <a:rPr lang="en-US" sz="2400" dirty="0"/>
                        <a:t>Biomass</a:t>
                      </a:r>
                    </a:p>
                  </a:txBody>
                  <a:tcPr/>
                </a:tc>
                <a:tc>
                  <a:txBody>
                    <a:bodyPr/>
                    <a:lstStyle/>
                    <a:p>
                      <a:pPr algn="ctr"/>
                      <a:r>
                        <a:rPr lang="en-US" sz="2400" dirty="0"/>
                        <a:t>Nitrogen</a:t>
                      </a:r>
                    </a:p>
                  </a:txBody>
                  <a:tcPr/>
                </a:tc>
                <a:extLst>
                  <a:ext uri="{0D108BD9-81ED-4DB2-BD59-A6C34878D82A}">
                    <a16:rowId xmlns:a16="http://schemas.microsoft.com/office/drawing/2014/main" val="3722080856"/>
                  </a:ext>
                </a:extLst>
              </a:tr>
              <a:tr h="356459">
                <a:tc>
                  <a:txBody>
                    <a:bodyPr/>
                    <a:lstStyle/>
                    <a:p>
                      <a:pPr algn="ctr"/>
                      <a:r>
                        <a:rPr lang="en-US" sz="2000" b="1" dirty="0"/>
                        <a:t>001</a:t>
                      </a:r>
                    </a:p>
                  </a:txBody>
                  <a:tcPr/>
                </a:tc>
                <a:tc>
                  <a:txBody>
                    <a:bodyPr/>
                    <a:lstStyle/>
                    <a:p>
                      <a:pPr algn="ctr"/>
                      <a:r>
                        <a:rPr lang="en-US" sz="2000" b="1" dirty="0"/>
                        <a:t>17.6</a:t>
                      </a:r>
                    </a:p>
                  </a:txBody>
                  <a:tcPr/>
                </a:tc>
                <a:tc>
                  <a:txBody>
                    <a:bodyPr/>
                    <a:lstStyle/>
                    <a:p>
                      <a:pPr algn="ctr"/>
                      <a:r>
                        <a:rPr lang="en-US" sz="2000" b="1" dirty="0"/>
                        <a:t>10</a:t>
                      </a:r>
                    </a:p>
                  </a:txBody>
                  <a:tcPr/>
                </a:tc>
                <a:extLst>
                  <a:ext uri="{0D108BD9-81ED-4DB2-BD59-A6C34878D82A}">
                    <a16:rowId xmlns:a16="http://schemas.microsoft.com/office/drawing/2014/main" val="2954024607"/>
                  </a:ext>
                </a:extLst>
              </a:tr>
              <a:tr h="356459">
                <a:tc>
                  <a:txBody>
                    <a:bodyPr/>
                    <a:lstStyle/>
                    <a:p>
                      <a:pPr algn="ctr"/>
                      <a:r>
                        <a:rPr lang="en-US" sz="2000" b="1" dirty="0"/>
                        <a:t>002</a:t>
                      </a:r>
                    </a:p>
                  </a:txBody>
                  <a:tcPr/>
                </a:tc>
                <a:tc>
                  <a:txBody>
                    <a:bodyPr/>
                    <a:lstStyle/>
                    <a:p>
                      <a:pPr algn="ctr"/>
                      <a:r>
                        <a:rPr lang="en-US" sz="2000" b="1" dirty="0"/>
                        <a:t>14.3</a:t>
                      </a:r>
                    </a:p>
                  </a:txBody>
                  <a:tcPr/>
                </a:tc>
                <a:tc>
                  <a:txBody>
                    <a:bodyPr/>
                    <a:lstStyle/>
                    <a:p>
                      <a:pPr algn="ctr"/>
                      <a:r>
                        <a:rPr lang="en-US" sz="2000" b="1" dirty="0"/>
                        <a:t>5</a:t>
                      </a:r>
                    </a:p>
                  </a:txBody>
                  <a:tcPr/>
                </a:tc>
                <a:extLst>
                  <a:ext uri="{0D108BD9-81ED-4DB2-BD59-A6C34878D82A}">
                    <a16:rowId xmlns:a16="http://schemas.microsoft.com/office/drawing/2014/main" val="2219459742"/>
                  </a:ext>
                </a:extLst>
              </a:tr>
              <a:tr h="356459">
                <a:tc>
                  <a:txBody>
                    <a:bodyPr/>
                    <a:lstStyle/>
                    <a:p>
                      <a:pPr algn="ctr"/>
                      <a:r>
                        <a:rPr lang="en-US" sz="2000" b="1" dirty="0"/>
                        <a:t>003</a:t>
                      </a:r>
                    </a:p>
                  </a:txBody>
                  <a:tcPr/>
                </a:tc>
                <a:tc>
                  <a:txBody>
                    <a:bodyPr/>
                    <a:lstStyle/>
                    <a:p>
                      <a:pPr algn="ctr"/>
                      <a:r>
                        <a:rPr lang="en-US" sz="2000" b="1" dirty="0"/>
                        <a:t>18.9</a:t>
                      </a:r>
                    </a:p>
                  </a:txBody>
                  <a:tcPr/>
                </a:tc>
                <a:tc>
                  <a:txBody>
                    <a:bodyPr/>
                    <a:lstStyle/>
                    <a:p>
                      <a:pPr algn="ctr"/>
                      <a:r>
                        <a:rPr lang="en-US" sz="2000" b="1" dirty="0"/>
                        <a:t>10</a:t>
                      </a:r>
                    </a:p>
                  </a:txBody>
                  <a:tcPr/>
                </a:tc>
                <a:extLst>
                  <a:ext uri="{0D108BD9-81ED-4DB2-BD59-A6C34878D82A}">
                    <a16:rowId xmlns:a16="http://schemas.microsoft.com/office/drawing/2014/main" val="1095262974"/>
                  </a:ext>
                </a:extLst>
              </a:tr>
              <a:tr h="356459">
                <a:tc>
                  <a:txBody>
                    <a:bodyPr/>
                    <a:lstStyle/>
                    <a:p>
                      <a:pPr algn="ctr"/>
                      <a:r>
                        <a:rPr lang="en-US" sz="2000" b="1" dirty="0"/>
                        <a:t>004</a:t>
                      </a:r>
                    </a:p>
                  </a:txBody>
                  <a:tcPr/>
                </a:tc>
                <a:tc>
                  <a:txBody>
                    <a:bodyPr/>
                    <a:lstStyle/>
                    <a:p>
                      <a:pPr algn="ctr"/>
                      <a:r>
                        <a:rPr lang="en-US" sz="2000" b="1" dirty="0"/>
                        <a:t>12.6</a:t>
                      </a:r>
                    </a:p>
                  </a:txBody>
                  <a:tcPr/>
                </a:tc>
                <a:tc>
                  <a:txBody>
                    <a:bodyPr/>
                    <a:lstStyle/>
                    <a:p>
                      <a:pPr algn="ctr"/>
                      <a:r>
                        <a:rPr lang="en-US" sz="2000" b="1" dirty="0"/>
                        <a:t>5</a:t>
                      </a:r>
                    </a:p>
                  </a:txBody>
                  <a:tcPr/>
                </a:tc>
                <a:extLst>
                  <a:ext uri="{0D108BD9-81ED-4DB2-BD59-A6C34878D82A}">
                    <a16:rowId xmlns:a16="http://schemas.microsoft.com/office/drawing/2014/main" val="3951348955"/>
                  </a:ext>
                </a:extLst>
              </a:tr>
            </a:tbl>
          </a:graphicData>
        </a:graphic>
      </p:graphicFrame>
      <p:sp>
        <p:nvSpPr>
          <p:cNvPr id="10" name="Content Placeholder 2"/>
          <p:cNvSpPr>
            <a:spLocks noGrp="1"/>
          </p:cNvSpPr>
          <p:nvPr>
            <p:ph idx="1"/>
          </p:nvPr>
        </p:nvSpPr>
        <p:spPr>
          <a:xfrm>
            <a:off x="838200" y="1690689"/>
            <a:ext cx="10515600" cy="1027114"/>
          </a:xfrm>
        </p:spPr>
        <p:txBody>
          <a:bodyPr/>
          <a:lstStyle/>
          <a:p>
            <a:r>
              <a:rPr lang="en-US" dirty="0"/>
              <a:t>Finding the regression line involves using matrix algebra, which is outside the scope of this class</a:t>
            </a:r>
          </a:p>
        </p:txBody>
      </p:sp>
      <p:grpSp>
        <p:nvGrpSpPr>
          <p:cNvPr id="7" name="Group 6"/>
          <p:cNvGrpSpPr/>
          <p:nvPr/>
        </p:nvGrpSpPr>
        <p:grpSpPr>
          <a:xfrm>
            <a:off x="5054600" y="3752849"/>
            <a:ext cx="2908300" cy="1054100"/>
            <a:chOff x="4876800" y="3752850"/>
            <a:chExt cx="2908300" cy="1054100"/>
          </a:xfrm>
        </p:grpSpPr>
        <p:sp>
          <p:nvSpPr>
            <p:cNvPr id="3" name="Right Arrow 2"/>
            <p:cNvSpPr/>
            <p:nvPr/>
          </p:nvSpPr>
          <p:spPr>
            <a:xfrm>
              <a:off x="4876800" y="3848100"/>
              <a:ext cx="2908300" cy="8636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ounded Rectangle 5"/>
            <p:cNvSpPr/>
            <p:nvPr/>
          </p:nvSpPr>
          <p:spPr>
            <a:xfrm>
              <a:off x="5257800" y="3752850"/>
              <a:ext cx="1778000" cy="10541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800" b="1" dirty="0"/>
                <a:t>Matrix Algebra!</a:t>
              </a:r>
            </a:p>
          </p:txBody>
        </p:sp>
      </p:grpSp>
      <p:sp>
        <p:nvSpPr>
          <p:cNvPr id="8" name="TextBox 7"/>
          <p:cNvSpPr txBox="1"/>
          <p:nvPr/>
        </p:nvSpPr>
        <p:spPr>
          <a:xfrm>
            <a:off x="9220200" y="4049066"/>
            <a:ext cx="2348720" cy="461665"/>
          </a:xfrm>
          <a:prstGeom prst="rect">
            <a:avLst/>
          </a:prstGeom>
          <a:noFill/>
        </p:spPr>
        <p:txBody>
          <a:bodyPr wrap="none" rtlCol="0">
            <a:spAutoFit/>
          </a:bodyPr>
          <a:lstStyle/>
          <a:p>
            <a:r>
              <a:rPr lang="en-US" sz="2400" b="1" dirty="0">
                <a:solidFill>
                  <a:srgbClr val="C00000"/>
                </a:solidFill>
              </a:rPr>
              <a:t>b = 0.96*n + 8.65</a:t>
            </a:r>
          </a:p>
        </p:txBody>
      </p:sp>
    </p:spTree>
    <p:extLst>
      <p:ext uri="{BB962C8B-B14F-4D97-AF65-F5344CB8AC3E}">
        <p14:creationId xmlns:p14="http://schemas.microsoft.com/office/powerpoint/2010/main" val="1505270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in R</a:t>
            </a:r>
          </a:p>
        </p:txBody>
      </p:sp>
      <p:sp>
        <p:nvSpPr>
          <p:cNvPr id="3" name="Content Placeholder 2"/>
          <p:cNvSpPr>
            <a:spLocks noGrp="1"/>
          </p:cNvSpPr>
          <p:nvPr>
            <p:ph idx="1"/>
          </p:nvPr>
        </p:nvSpPr>
        <p:spPr>
          <a:xfrm>
            <a:off x="838200" y="1825625"/>
            <a:ext cx="10515600" cy="1069975"/>
          </a:xfrm>
        </p:spPr>
        <p:txBody>
          <a:bodyPr/>
          <a:lstStyle/>
          <a:p>
            <a:r>
              <a:rPr lang="en-US" dirty="0"/>
              <a:t>Basic linear regression in R is done by the function lm():</a:t>
            </a:r>
          </a:p>
        </p:txBody>
      </p:sp>
      <p:pic>
        <p:nvPicPr>
          <p:cNvPr id="4" name="Picture 2" descr="https://developer.r-project.org/Logo/Rlogo-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r="23053" b="95159"/>
          <a:stretch/>
        </p:blipFill>
        <p:spPr>
          <a:xfrm>
            <a:off x="1458410" y="3940390"/>
            <a:ext cx="8187332" cy="341994"/>
          </a:xfrm>
          <a:prstGeom prst="rect">
            <a:avLst/>
          </a:prstGeom>
        </p:spPr>
      </p:pic>
      <p:sp>
        <p:nvSpPr>
          <p:cNvPr id="8" name="TextBox 7"/>
          <p:cNvSpPr txBox="1"/>
          <p:nvPr/>
        </p:nvSpPr>
        <p:spPr>
          <a:xfrm>
            <a:off x="3184870" y="4602642"/>
            <a:ext cx="2043316" cy="584775"/>
          </a:xfrm>
          <a:prstGeom prst="rect">
            <a:avLst/>
          </a:prstGeom>
          <a:noFill/>
        </p:spPr>
        <p:txBody>
          <a:bodyPr wrap="none" rtlCol="0">
            <a:spAutoFit/>
          </a:bodyPr>
          <a:lstStyle/>
          <a:p>
            <a:r>
              <a:rPr lang="en-US" sz="3200" b="1" dirty="0">
                <a:solidFill>
                  <a:schemeClr val="accent6"/>
                </a:solidFill>
              </a:rPr>
              <a:t>Call to lm()</a:t>
            </a:r>
          </a:p>
        </p:txBody>
      </p:sp>
      <p:cxnSp>
        <p:nvCxnSpPr>
          <p:cNvPr id="9" name="Straight Connector 8"/>
          <p:cNvCxnSpPr/>
          <p:nvPr/>
        </p:nvCxnSpPr>
        <p:spPr>
          <a:xfrm flipV="1">
            <a:off x="3886392" y="4309579"/>
            <a:ext cx="0" cy="293063"/>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Left Brace 9"/>
          <p:cNvSpPr/>
          <p:nvPr/>
        </p:nvSpPr>
        <p:spPr>
          <a:xfrm rot="5400000">
            <a:off x="5395912" y="2148666"/>
            <a:ext cx="402121" cy="3001027"/>
          </a:xfrm>
          <a:prstGeom prst="leftBrace">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6205377" y="4734387"/>
            <a:ext cx="4186760" cy="1323439"/>
          </a:xfrm>
          <a:prstGeom prst="rect">
            <a:avLst/>
          </a:prstGeom>
          <a:noFill/>
        </p:spPr>
        <p:txBody>
          <a:bodyPr wrap="square" rtlCol="0">
            <a:spAutoFit/>
          </a:bodyPr>
          <a:lstStyle/>
          <a:p>
            <a:pPr algn="ctr"/>
            <a:r>
              <a:rPr lang="en-US" sz="3200" b="1" dirty="0">
                <a:solidFill>
                  <a:schemeClr val="accent2"/>
                </a:solidFill>
              </a:rPr>
              <a:t>Source of data</a:t>
            </a:r>
          </a:p>
          <a:p>
            <a:pPr algn="ctr"/>
            <a:r>
              <a:rPr lang="en-US" sz="2400" b="1" dirty="0">
                <a:solidFill>
                  <a:schemeClr val="accent2"/>
                </a:solidFill>
              </a:rPr>
              <a:t>(if not given, looks for variables in the local environment)</a:t>
            </a:r>
          </a:p>
        </p:txBody>
      </p:sp>
      <p:sp>
        <p:nvSpPr>
          <p:cNvPr id="12" name="Left Brace 11"/>
          <p:cNvSpPr/>
          <p:nvPr/>
        </p:nvSpPr>
        <p:spPr>
          <a:xfrm rot="16200000">
            <a:off x="8277242" y="3555049"/>
            <a:ext cx="358416" cy="1867478"/>
          </a:xfrm>
          <a:prstGeom prst="lef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455400" y="4837022"/>
            <a:ext cx="3017005" cy="1077218"/>
          </a:xfrm>
          <a:prstGeom prst="rect">
            <a:avLst/>
          </a:prstGeom>
          <a:noFill/>
        </p:spPr>
        <p:txBody>
          <a:bodyPr wrap="square" rtlCol="0">
            <a:spAutoFit/>
          </a:bodyPr>
          <a:lstStyle/>
          <a:p>
            <a:pPr algn="ctr"/>
            <a:r>
              <a:rPr lang="en-US" sz="3200" b="1" dirty="0">
                <a:solidFill>
                  <a:srgbClr val="7030A0"/>
                </a:solidFill>
              </a:rPr>
              <a:t>Variable to capture result</a:t>
            </a:r>
          </a:p>
        </p:txBody>
      </p:sp>
      <p:cxnSp>
        <p:nvCxnSpPr>
          <p:cNvPr id="14" name="Straight Connector 13"/>
          <p:cNvCxnSpPr/>
          <p:nvPr/>
        </p:nvCxnSpPr>
        <p:spPr>
          <a:xfrm flipV="1">
            <a:off x="1463040" y="4314468"/>
            <a:ext cx="744639" cy="49751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886392" y="2717067"/>
            <a:ext cx="3636316" cy="584775"/>
          </a:xfrm>
          <a:prstGeom prst="rect">
            <a:avLst/>
          </a:prstGeom>
          <a:noFill/>
        </p:spPr>
        <p:txBody>
          <a:bodyPr wrap="none" rtlCol="0">
            <a:spAutoFit/>
          </a:bodyPr>
          <a:lstStyle/>
          <a:p>
            <a:r>
              <a:rPr lang="en-US" sz="3200" b="1" dirty="0">
                <a:solidFill>
                  <a:schemeClr val="accent5"/>
                </a:solidFill>
              </a:rPr>
              <a:t>Regression Equation</a:t>
            </a:r>
          </a:p>
        </p:txBody>
      </p:sp>
    </p:spTree>
    <p:extLst>
      <p:ext uri="{BB962C8B-B14F-4D97-AF65-F5344CB8AC3E}">
        <p14:creationId xmlns:p14="http://schemas.microsoft.com/office/powerpoint/2010/main" val="308307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p:bldP spid="12" grpId="0" animBg="1"/>
      <p:bldP spid="13" grpId="0"/>
      <p:bldP spid="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R output</a:t>
            </a:r>
          </a:p>
        </p:txBody>
      </p:sp>
      <p:sp>
        <p:nvSpPr>
          <p:cNvPr id="3" name="Content Placeholder 2"/>
          <p:cNvSpPr>
            <a:spLocks noGrp="1"/>
          </p:cNvSpPr>
          <p:nvPr>
            <p:ph idx="1"/>
          </p:nvPr>
        </p:nvSpPr>
        <p:spPr>
          <a:xfrm>
            <a:off x="838200" y="1716548"/>
            <a:ext cx="10515600" cy="1071604"/>
          </a:xfrm>
        </p:spPr>
        <p:txBody>
          <a:bodyPr/>
          <a:lstStyle/>
          <a:p>
            <a:r>
              <a:rPr lang="en-US" dirty="0"/>
              <a:t>When running a linear regression, the output of the regression itself isn’t very informative</a:t>
            </a:r>
          </a:p>
        </p:txBody>
      </p:sp>
      <p:pic>
        <p:nvPicPr>
          <p:cNvPr id="13" name="Picture 2" descr="https://developer.r-project.org/Logo/Rlogo-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5830" y="3001599"/>
            <a:ext cx="8459696" cy="3011197"/>
          </a:xfrm>
          <a:prstGeom prst="rect">
            <a:avLst/>
          </a:prstGeom>
          <a:ln w="38100">
            <a:solidFill>
              <a:schemeClr val="tx1"/>
            </a:solidFill>
          </a:ln>
        </p:spPr>
      </p:pic>
      <p:sp>
        <p:nvSpPr>
          <p:cNvPr id="5" name="TextBox 4"/>
          <p:cNvSpPr txBox="1"/>
          <p:nvPr/>
        </p:nvSpPr>
        <p:spPr>
          <a:xfrm>
            <a:off x="-28196" y="3789290"/>
            <a:ext cx="2076915" cy="523220"/>
          </a:xfrm>
          <a:prstGeom prst="rect">
            <a:avLst/>
          </a:prstGeom>
          <a:noFill/>
        </p:spPr>
        <p:txBody>
          <a:bodyPr wrap="square" rtlCol="0">
            <a:spAutoFit/>
          </a:bodyPr>
          <a:lstStyle/>
          <a:p>
            <a:pPr algn="ctr"/>
            <a:r>
              <a:rPr lang="en-US" sz="2800" b="1" dirty="0">
                <a:solidFill>
                  <a:schemeClr val="accent5"/>
                </a:solidFill>
              </a:rPr>
              <a:t>Function call</a:t>
            </a:r>
          </a:p>
        </p:txBody>
      </p:sp>
      <p:sp>
        <p:nvSpPr>
          <p:cNvPr id="11" name="TextBox 10"/>
          <p:cNvSpPr txBox="1"/>
          <p:nvPr/>
        </p:nvSpPr>
        <p:spPr>
          <a:xfrm>
            <a:off x="109919" y="4820152"/>
            <a:ext cx="1938800" cy="523220"/>
          </a:xfrm>
          <a:prstGeom prst="rect">
            <a:avLst/>
          </a:prstGeom>
          <a:noFill/>
        </p:spPr>
        <p:txBody>
          <a:bodyPr wrap="none" rtlCol="0">
            <a:spAutoFit/>
          </a:bodyPr>
          <a:lstStyle/>
          <a:p>
            <a:r>
              <a:rPr lang="en-US" sz="2800" b="1" dirty="0">
                <a:solidFill>
                  <a:schemeClr val="accent5"/>
                </a:solidFill>
              </a:rPr>
              <a:t>Coefficients</a:t>
            </a:r>
            <a:endParaRPr lang="en-US" sz="3200" b="1" dirty="0">
              <a:solidFill>
                <a:schemeClr val="accent5"/>
              </a:solidFill>
            </a:endParaRPr>
          </a:p>
        </p:txBody>
      </p:sp>
    </p:spTree>
    <p:extLst>
      <p:ext uri="{BB962C8B-B14F-4D97-AF65-F5344CB8AC3E}">
        <p14:creationId xmlns:p14="http://schemas.microsoft.com/office/powerpoint/2010/main" val="152057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R output</a:t>
            </a:r>
          </a:p>
        </p:txBody>
      </p:sp>
      <p:sp>
        <p:nvSpPr>
          <p:cNvPr id="3" name="Content Placeholder 2"/>
          <p:cNvSpPr>
            <a:spLocks noGrp="1"/>
          </p:cNvSpPr>
          <p:nvPr>
            <p:ph idx="1"/>
          </p:nvPr>
        </p:nvSpPr>
        <p:spPr>
          <a:xfrm>
            <a:off x="838201" y="1716547"/>
            <a:ext cx="3617686" cy="4834724"/>
          </a:xfrm>
        </p:spPr>
        <p:txBody>
          <a:bodyPr/>
          <a:lstStyle/>
          <a:p>
            <a:r>
              <a:rPr lang="en-US" dirty="0"/>
              <a:t>Just as with </a:t>
            </a:r>
            <a:r>
              <a:rPr lang="en-US" dirty="0" err="1"/>
              <a:t>aov</a:t>
            </a:r>
            <a:r>
              <a:rPr lang="en-US" dirty="0"/>
              <a:t>(), you get much better information by calling summary() on the model</a:t>
            </a:r>
          </a:p>
        </p:txBody>
      </p:sp>
      <p:pic>
        <p:nvPicPr>
          <p:cNvPr id="13" name="Picture 2" descr="https://developer.r-project.org/Logo/Rlogo-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4" r="224" b="1006"/>
          <a:stretch/>
        </p:blipFill>
        <p:spPr>
          <a:xfrm>
            <a:off x="4675106" y="1690688"/>
            <a:ext cx="7515876" cy="4950745"/>
          </a:xfrm>
          <a:prstGeom prst="rect">
            <a:avLst/>
          </a:prstGeom>
          <a:ln w="28575">
            <a:solidFill>
              <a:schemeClr val="tx1"/>
            </a:solidFill>
          </a:ln>
        </p:spPr>
      </p:pic>
    </p:spTree>
    <p:extLst>
      <p:ext uri="{BB962C8B-B14F-4D97-AF65-F5344CB8AC3E}">
        <p14:creationId xmlns:p14="http://schemas.microsoft.com/office/powerpoint/2010/main" val="1369875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l="1" t="14623" r="4978" b="1006"/>
          <a:stretch/>
        </p:blipFill>
        <p:spPr>
          <a:xfrm>
            <a:off x="3299506" y="1494971"/>
            <a:ext cx="8921524" cy="5259343"/>
          </a:xfrm>
          <a:prstGeom prst="rect">
            <a:avLst/>
          </a:prstGeom>
          <a:ln w="28575">
            <a:solidFill>
              <a:schemeClr val="tx1"/>
            </a:solidFill>
          </a:ln>
        </p:spPr>
      </p:pic>
      <p:sp>
        <p:nvSpPr>
          <p:cNvPr id="2" name="Title 1"/>
          <p:cNvSpPr>
            <a:spLocks noGrp="1"/>
          </p:cNvSpPr>
          <p:nvPr>
            <p:ph type="title"/>
          </p:nvPr>
        </p:nvSpPr>
        <p:spPr/>
        <p:txBody>
          <a:bodyPr/>
          <a:lstStyle/>
          <a:p>
            <a:r>
              <a:rPr lang="en-US" dirty="0"/>
              <a:t>Anatomy of the model summary</a:t>
            </a:r>
          </a:p>
        </p:txBody>
      </p:sp>
      <p:pic>
        <p:nvPicPr>
          <p:cNvPr id="13" name="Picture 2" descr="https://developer.r-project.org/Logo/Rlogo-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1030395" y="1442713"/>
            <a:ext cx="2076915" cy="523220"/>
          </a:xfrm>
          <a:prstGeom prst="rect">
            <a:avLst/>
          </a:prstGeom>
          <a:noFill/>
        </p:spPr>
        <p:txBody>
          <a:bodyPr wrap="square" rtlCol="0">
            <a:spAutoFit/>
          </a:bodyPr>
          <a:lstStyle/>
          <a:p>
            <a:pPr algn="ctr"/>
            <a:r>
              <a:rPr lang="en-US" sz="2800" b="1" dirty="0">
                <a:solidFill>
                  <a:schemeClr val="accent5"/>
                </a:solidFill>
              </a:rPr>
              <a:t>Function call</a:t>
            </a:r>
          </a:p>
        </p:txBody>
      </p:sp>
      <p:sp>
        <p:nvSpPr>
          <p:cNvPr id="7" name="Rectangle 6"/>
          <p:cNvSpPr/>
          <p:nvPr/>
        </p:nvSpPr>
        <p:spPr>
          <a:xfrm>
            <a:off x="3299505" y="1520889"/>
            <a:ext cx="8921525" cy="574129"/>
          </a:xfrm>
          <a:prstGeom prst="rect">
            <a:avLst/>
          </a:prstGeom>
          <a:solidFill>
            <a:srgbClr val="5B9BD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30395" y="2297178"/>
            <a:ext cx="2076915" cy="523220"/>
          </a:xfrm>
          <a:prstGeom prst="rect">
            <a:avLst/>
          </a:prstGeom>
          <a:noFill/>
        </p:spPr>
        <p:txBody>
          <a:bodyPr wrap="square" rtlCol="0">
            <a:spAutoFit/>
          </a:bodyPr>
          <a:lstStyle/>
          <a:p>
            <a:pPr algn="ctr"/>
            <a:r>
              <a:rPr lang="en-US" sz="2800" b="1" dirty="0">
                <a:solidFill>
                  <a:schemeClr val="accent5"/>
                </a:solidFill>
              </a:rPr>
              <a:t>Residuals</a:t>
            </a:r>
          </a:p>
        </p:txBody>
      </p:sp>
      <p:sp>
        <p:nvSpPr>
          <p:cNvPr id="11" name="Rectangle 10"/>
          <p:cNvSpPr/>
          <p:nvPr/>
        </p:nvSpPr>
        <p:spPr>
          <a:xfrm>
            <a:off x="3299505" y="2326205"/>
            <a:ext cx="8921525" cy="984703"/>
          </a:xfrm>
          <a:prstGeom prst="rect">
            <a:avLst/>
          </a:prstGeom>
          <a:solidFill>
            <a:srgbClr val="5B9BD5">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030395" y="3321737"/>
            <a:ext cx="2076915" cy="954107"/>
          </a:xfrm>
          <a:prstGeom prst="rect">
            <a:avLst/>
          </a:prstGeom>
          <a:noFill/>
        </p:spPr>
        <p:txBody>
          <a:bodyPr wrap="square" rtlCol="0">
            <a:spAutoFit/>
          </a:bodyPr>
          <a:lstStyle/>
          <a:p>
            <a:pPr algn="ctr"/>
            <a:r>
              <a:rPr lang="en-US" sz="2800" b="1" dirty="0">
                <a:solidFill>
                  <a:schemeClr val="accent6"/>
                </a:solidFill>
              </a:rPr>
              <a:t>Coefficient information</a:t>
            </a:r>
          </a:p>
        </p:txBody>
      </p:sp>
      <p:sp>
        <p:nvSpPr>
          <p:cNvPr id="14" name="Rectangle 13"/>
          <p:cNvSpPr/>
          <p:nvPr/>
        </p:nvSpPr>
        <p:spPr>
          <a:xfrm>
            <a:off x="3299505" y="3321737"/>
            <a:ext cx="8984983" cy="2315134"/>
          </a:xfrm>
          <a:prstGeom prst="rect">
            <a:avLst/>
          </a:prstGeom>
          <a:solidFill>
            <a:srgbClr val="6AE34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126492" y="5759272"/>
            <a:ext cx="2076915" cy="954107"/>
          </a:xfrm>
          <a:prstGeom prst="rect">
            <a:avLst/>
          </a:prstGeom>
          <a:noFill/>
        </p:spPr>
        <p:txBody>
          <a:bodyPr wrap="square" rtlCol="0">
            <a:spAutoFit/>
          </a:bodyPr>
          <a:lstStyle/>
          <a:p>
            <a:pPr algn="ctr"/>
            <a:r>
              <a:rPr lang="en-US" sz="2800" b="1" dirty="0">
                <a:solidFill>
                  <a:srgbClr val="7030A0"/>
                </a:solidFill>
              </a:rPr>
              <a:t>Model information</a:t>
            </a:r>
          </a:p>
        </p:txBody>
      </p:sp>
      <p:sp>
        <p:nvSpPr>
          <p:cNvPr id="16" name="Rectangle 15"/>
          <p:cNvSpPr/>
          <p:nvPr/>
        </p:nvSpPr>
        <p:spPr>
          <a:xfrm>
            <a:off x="3299505" y="5786001"/>
            <a:ext cx="8984983" cy="928457"/>
          </a:xfrm>
          <a:prstGeom prst="rect">
            <a:avLst/>
          </a:prstGeom>
          <a:solidFill>
            <a:srgbClr val="CA41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7337252" y="2341609"/>
            <a:ext cx="3655423" cy="830997"/>
          </a:xfrm>
          <a:prstGeom prst="rect">
            <a:avLst/>
          </a:prstGeom>
          <a:noFill/>
        </p:spPr>
        <p:txBody>
          <a:bodyPr wrap="square" rtlCol="0">
            <a:spAutoFit/>
          </a:bodyPr>
          <a:lstStyle/>
          <a:p>
            <a:pPr algn="ctr"/>
            <a:r>
              <a:rPr lang="en-US" sz="2400" b="1" dirty="0">
                <a:solidFill>
                  <a:schemeClr val="accent5"/>
                </a:solidFill>
              </a:rPr>
              <a:t>Note: with lots of data, you get quantiles instead</a:t>
            </a:r>
          </a:p>
        </p:txBody>
      </p:sp>
    </p:spTree>
    <p:extLst>
      <p:ext uri="{BB962C8B-B14F-4D97-AF65-F5344CB8AC3E}">
        <p14:creationId xmlns:p14="http://schemas.microsoft.com/office/powerpoint/2010/main" val="2297611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animBg="1"/>
      <p:bldP spid="10" grpId="0"/>
      <p:bldP spid="11" grpId="0" animBg="1"/>
      <p:bldP spid="12" grpId="0"/>
      <p:bldP spid="14" grpId="0" animBg="1"/>
      <p:bldP spid="15" grpId="0"/>
      <p:bldP spid="16" grpId="0" animBg="1"/>
      <p:bldP spid="1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p:cNvPicPr>
            <a:picLocks noChangeAspect="1"/>
          </p:cNvPicPr>
          <p:nvPr/>
        </p:nvPicPr>
        <p:blipFill rotWithShape="1">
          <a:blip r:embed="rId3">
            <a:extLst>
              <a:ext uri="{28A0092B-C50C-407E-A947-70E740481C1C}">
                <a14:useLocalDpi xmlns:a14="http://schemas.microsoft.com/office/drawing/2010/main" val="0"/>
              </a:ext>
            </a:extLst>
          </a:blip>
          <a:srcRect l="310" t="48852" r="31" b="20727"/>
          <a:stretch/>
        </p:blipFill>
        <p:spPr>
          <a:xfrm>
            <a:off x="1935960" y="2947385"/>
            <a:ext cx="10021409" cy="2031015"/>
          </a:xfrm>
          <a:prstGeom prst="rect">
            <a:avLst/>
          </a:prstGeom>
          <a:ln w="28575">
            <a:solidFill>
              <a:schemeClr val="tx1"/>
            </a:solidFill>
          </a:ln>
        </p:spPr>
      </p:pic>
      <p:sp>
        <p:nvSpPr>
          <p:cNvPr id="2" name="Title 1"/>
          <p:cNvSpPr>
            <a:spLocks noGrp="1"/>
          </p:cNvSpPr>
          <p:nvPr>
            <p:ph type="title"/>
          </p:nvPr>
        </p:nvSpPr>
        <p:spPr/>
        <p:txBody>
          <a:bodyPr/>
          <a:lstStyle/>
          <a:p>
            <a:r>
              <a:rPr lang="en-US" dirty="0"/>
              <a:t>Anatomy of the coefficient summary</a:t>
            </a:r>
          </a:p>
        </p:txBody>
      </p:sp>
      <p:pic>
        <p:nvPicPr>
          <p:cNvPr id="13" name="Picture 2" descr="https://developer.r-project.org/Logo/Rlogo-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1828800" y="1889128"/>
            <a:ext cx="2076915" cy="954107"/>
          </a:xfrm>
          <a:prstGeom prst="rect">
            <a:avLst/>
          </a:prstGeom>
          <a:noFill/>
        </p:spPr>
        <p:txBody>
          <a:bodyPr wrap="square" rtlCol="0">
            <a:spAutoFit/>
          </a:bodyPr>
          <a:lstStyle/>
          <a:p>
            <a:pPr algn="ctr"/>
            <a:r>
              <a:rPr lang="en-US" sz="2800" b="1" dirty="0">
                <a:solidFill>
                  <a:srgbClr val="7030A0"/>
                </a:solidFill>
              </a:rPr>
              <a:t>Coefficient names</a:t>
            </a:r>
          </a:p>
        </p:txBody>
      </p:sp>
      <p:sp>
        <p:nvSpPr>
          <p:cNvPr id="17" name="TextBox 16"/>
          <p:cNvSpPr txBox="1"/>
          <p:nvPr/>
        </p:nvSpPr>
        <p:spPr>
          <a:xfrm>
            <a:off x="3472983" y="1916160"/>
            <a:ext cx="2076915" cy="954107"/>
          </a:xfrm>
          <a:prstGeom prst="rect">
            <a:avLst/>
          </a:prstGeom>
          <a:noFill/>
        </p:spPr>
        <p:txBody>
          <a:bodyPr wrap="square" rtlCol="0">
            <a:spAutoFit/>
          </a:bodyPr>
          <a:lstStyle/>
          <a:p>
            <a:pPr algn="ctr"/>
            <a:r>
              <a:rPr lang="en-US" sz="2800" b="1" dirty="0">
                <a:solidFill>
                  <a:schemeClr val="accent6"/>
                </a:solidFill>
              </a:rPr>
              <a:t>Estimated value (=</a:t>
            </a:r>
            <a:r>
              <a:rPr lang="en-US" sz="2800" b="1" dirty="0">
                <a:solidFill>
                  <a:schemeClr val="accent6"/>
                </a:solidFill>
                <a:latin typeface="Symbol" panose="05050102010706020507" pitchFamily="18" charset="2"/>
              </a:rPr>
              <a:t>b)</a:t>
            </a:r>
          </a:p>
        </p:txBody>
      </p:sp>
      <p:sp>
        <p:nvSpPr>
          <p:cNvPr id="18" name="Rectangle 17"/>
          <p:cNvSpPr/>
          <p:nvPr/>
        </p:nvSpPr>
        <p:spPr>
          <a:xfrm>
            <a:off x="1909823" y="3585029"/>
            <a:ext cx="1865864" cy="1077697"/>
          </a:xfrm>
          <a:prstGeom prst="rect">
            <a:avLst/>
          </a:prstGeom>
          <a:solidFill>
            <a:srgbClr val="CA41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775687" y="3259326"/>
            <a:ext cx="1556421" cy="1397012"/>
          </a:xfrm>
          <a:prstGeom prst="rect">
            <a:avLst/>
          </a:prstGeom>
          <a:solidFill>
            <a:srgbClr val="47E94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5332109" y="3265714"/>
            <a:ext cx="1670576" cy="1397012"/>
          </a:xfrm>
          <a:prstGeom prst="rect">
            <a:avLst/>
          </a:prstGeom>
          <a:solidFill>
            <a:srgbClr val="5180D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5478019" y="2138674"/>
            <a:ext cx="1254666" cy="523220"/>
          </a:xfrm>
          <a:prstGeom prst="rect">
            <a:avLst/>
          </a:prstGeom>
          <a:noFill/>
        </p:spPr>
        <p:txBody>
          <a:bodyPr wrap="square" rtlCol="0">
            <a:spAutoFit/>
          </a:bodyPr>
          <a:lstStyle/>
          <a:p>
            <a:pPr algn="ctr"/>
            <a:r>
              <a:rPr lang="en-US" sz="2800" b="1" dirty="0">
                <a:solidFill>
                  <a:schemeClr val="accent5"/>
                </a:solidFill>
              </a:rPr>
              <a:t>SE (</a:t>
            </a:r>
            <a:r>
              <a:rPr lang="en-US" sz="2800" b="1" dirty="0">
                <a:solidFill>
                  <a:schemeClr val="accent5"/>
                </a:solidFill>
                <a:latin typeface="Symbol" panose="05050102010706020507" pitchFamily="18" charset="2"/>
              </a:rPr>
              <a:t>b</a:t>
            </a:r>
            <a:r>
              <a:rPr lang="en-US" sz="2800" b="1" dirty="0">
                <a:solidFill>
                  <a:schemeClr val="accent5"/>
                </a:solidFill>
              </a:rPr>
              <a:t>)</a:t>
            </a:r>
            <a:endParaRPr lang="en-US" sz="2800" b="1" dirty="0">
              <a:solidFill>
                <a:schemeClr val="accent5"/>
              </a:solidFill>
              <a:latin typeface="Symbol" panose="05050102010706020507" pitchFamily="18" charset="2"/>
            </a:endParaRPr>
          </a:p>
        </p:txBody>
      </p:sp>
      <p:sp>
        <p:nvSpPr>
          <p:cNvPr id="23" name="Rectangle 22"/>
          <p:cNvSpPr/>
          <p:nvPr/>
        </p:nvSpPr>
        <p:spPr>
          <a:xfrm>
            <a:off x="7002684" y="3265714"/>
            <a:ext cx="1290951" cy="1397012"/>
          </a:xfrm>
          <a:prstGeom prst="rect">
            <a:avLst/>
          </a:prstGeom>
          <a:solidFill>
            <a:srgbClr val="E3D14D">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24" name="TextBox 23"/>
          <p:cNvSpPr txBox="1"/>
          <p:nvPr/>
        </p:nvSpPr>
        <p:spPr>
          <a:xfrm>
            <a:off x="6976326" y="2108883"/>
            <a:ext cx="1254666" cy="523220"/>
          </a:xfrm>
          <a:prstGeom prst="rect">
            <a:avLst/>
          </a:prstGeom>
          <a:noFill/>
        </p:spPr>
        <p:txBody>
          <a:bodyPr wrap="square" rtlCol="0">
            <a:spAutoFit/>
          </a:bodyPr>
          <a:lstStyle/>
          <a:p>
            <a:pPr algn="ctr"/>
            <a:r>
              <a:rPr lang="en-US" sz="2800" b="1" dirty="0">
                <a:solidFill>
                  <a:schemeClr val="accent4">
                    <a:lumMod val="75000"/>
                  </a:schemeClr>
                </a:solidFill>
              </a:rPr>
              <a:t>t score</a:t>
            </a:r>
            <a:endParaRPr lang="en-US" sz="2800" b="1" dirty="0">
              <a:solidFill>
                <a:schemeClr val="accent4">
                  <a:lumMod val="75000"/>
                </a:schemeClr>
              </a:solidFill>
              <a:latin typeface="Symbol" panose="05050102010706020507" pitchFamily="18" charset="2"/>
            </a:endParaRPr>
          </a:p>
        </p:txBody>
      </p:sp>
      <p:sp>
        <p:nvSpPr>
          <p:cNvPr id="25" name="Rectangle 24"/>
          <p:cNvSpPr/>
          <p:nvPr/>
        </p:nvSpPr>
        <p:spPr>
          <a:xfrm>
            <a:off x="8293635" y="3259326"/>
            <a:ext cx="1490792" cy="1397012"/>
          </a:xfrm>
          <a:prstGeom prst="rect">
            <a:avLst/>
          </a:prstGeom>
          <a:solidFill>
            <a:srgbClr val="FE3232">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8368479" y="2131603"/>
            <a:ext cx="1341103" cy="523220"/>
          </a:xfrm>
          <a:prstGeom prst="rect">
            <a:avLst/>
          </a:prstGeom>
          <a:noFill/>
        </p:spPr>
        <p:txBody>
          <a:bodyPr wrap="square" rtlCol="0">
            <a:spAutoFit/>
          </a:bodyPr>
          <a:lstStyle/>
          <a:p>
            <a:pPr algn="ctr"/>
            <a:r>
              <a:rPr lang="en-US" sz="2800" b="1" dirty="0">
                <a:solidFill>
                  <a:srgbClr val="C00000"/>
                </a:solidFill>
              </a:rPr>
              <a:t>p-value</a:t>
            </a:r>
            <a:endParaRPr lang="en-US" sz="2800" b="1" dirty="0">
              <a:solidFill>
                <a:srgbClr val="C00000"/>
              </a:solidFill>
              <a:latin typeface="Symbol" panose="05050102010706020507" pitchFamily="18" charset="2"/>
            </a:endParaRPr>
          </a:p>
        </p:txBody>
      </p:sp>
      <p:sp>
        <p:nvSpPr>
          <p:cNvPr id="27" name="Rectangle 26"/>
          <p:cNvSpPr/>
          <p:nvPr/>
        </p:nvSpPr>
        <p:spPr>
          <a:xfrm>
            <a:off x="9784428" y="3280064"/>
            <a:ext cx="341582" cy="1547831"/>
          </a:xfrm>
          <a:prstGeom prst="rect">
            <a:avLst/>
          </a:prstGeom>
          <a:solidFill>
            <a:srgbClr val="48CDE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9709582" y="1916160"/>
            <a:ext cx="2049142" cy="954107"/>
          </a:xfrm>
          <a:prstGeom prst="rect">
            <a:avLst/>
          </a:prstGeom>
          <a:noFill/>
        </p:spPr>
        <p:txBody>
          <a:bodyPr wrap="square" rtlCol="0">
            <a:spAutoFit/>
          </a:bodyPr>
          <a:lstStyle/>
          <a:p>
            <a:pPr algn="ctr"/>
            <a:r>
              <a:rPr lang="en-US" sz="2800" b="1" dirty="0">
                <a:solidFill>
                  <a:srgbClr val="00B0F0"/>
                </a:solidFill>
              </a:rPr>
              <a:t>Significance codes</a:t>
            </a:r>
            <a:endParaRPr lang="en-US" sz="2800" b="1" dirty="0">
              <a:solidFill>
                <a:srgbClr val="00B0F0"/>
              </a:solidFill>
              <a:latin typeface="Symbol" panose="05050102010706020507" pitchFamily="18" charset="2"/>
            </a:endParaRPr>
          </a:p>
        </p:txBody>
      </p:sp>
      <p:sp>
        <p:nvSpPr>
          <p:cNvPr id="29" name="Rectangle 28"/>
          <p:cNvSpPr/>
          <p:nvPr/>
        </p:nvSpPr>
        <p:spPr>
          <a:xfrm>
            <a:off x="1935959" y="4656338"/>
            <a:ext cx="10021409" cy="297789"/>
          </a:xfrm>
          <a:prstGeom prst="rect">
            <a:avLst/>
          </a:prstGeom>
          <a:solidFill>
            <a:srgbClr val="48CDE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138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8" grpId="0" animBg="1"/>
      <p:bldP spid="20" grpId="0" animBg="1"/>
      <p:bldP spid="21" grpId="0" animBg="1"/>
      <p:bldP spid="22" grpId="0"/>
      <p:bldP spid="23" grpId="0" animBg="1"/>
      <p:bldP spid="24" grpId="0"/>
      <p:bldP spid="25" grpId="0" animBg="1"/>
      <p:bldP spid="26" grpId="0"/>
      <p:bldP spid="27" grpId="0" animBg="1"/>
      <p:bldP spid="28" grpId="0"/>
      <p:bldP spid="2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l="310" t="83838" r="441" b="944"/>
          <a:stretch/>
        </p:blipFill>
        <p:spPr>
          <a:xfrm>
            <a:off x="1055948" y="2351552"/>
            <a:ext cx="9980269" cy="1016000"/>
          </a:xfrm>
          <a:prstGeom prst="rect">
            <a:avLst/>
          </a:prstGeom>
          <a:ln w="28575">
            <a:solidFill>
              <a:schemeClr val="tx1"/>
            </a:solidFill>
          </a:ln>
        </p:spPr>
      </p:pic>
      <p:sp>
        <p:nvSpPr>
          <p:cNvPr id="2" name="Title 1"/>
          <p:cNvSpPr>
            <a:spLocks noGrp="1"/>
          </p:cNvSpPr>
          <p:nvPr>
            <p:ph type="title"/>
          </p:nvPr>
        </p:nvSpPr>
        <p:spPr/>
        <p:txBody>
          <a:bodyPr/>
          <a:lstStyle/>
          <a:p>
            <a:r>
              <a:rPr lang="en-US" dirty="0"/>
              <a:t>Anatomy of the model summary</a:t>
            </a:r>
          </a:p>
        </p:txBody>
      </p:sp>
      <p:pic>
        <p:nvPicPr>
          <p:cNvPr id="13" name="Picture 2" descr="https://developer.r-project.org/Logo/Rlogo-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992675" y="182562"/>
            <a:ext cx="964695" cy="73183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1291309" y="4777238"/>
            <a:ext cx="6637350" cy="646331"/>
          </a:xfrm>
          <a:prstGeom prst="rect">
            <a:avLst/>
          </a:prstGeom>
          <a:noFill/>
        </p:spPr>
        <p:txBody>
          <a:bodyPr wrap="square" rtlCol="0">
            <a:spAutoFit/>
          </a:bodyPr>
          <a:lstStyle/>
          <a:p>
            <a:r>
              <a:rPr lang="en-US" sz="3600" b="1" dirty="0">
                <a:solidFill>
                  <a:srgbClr val="7030A0"/>
                </a:solidFill>
              </a:rPr>
              <a:t>Model significance values</a:t>
            </a:r>
          </a:p>
        </p:txBody>
      </p:sp>
      <p:sp>
        <p:nvSpPr>
          <p:cNvPr id="17" name="Rectangle 16"/>
          <p:cNvSpPr/>
          <p:nvPr/>
        </p:nvSpPr>
        <p:spPr>
          <a:xfrm>
            <a:off x="1042806" y="2975471"/>
            <a:ext cx="9993411" cy="384923"/>
          </a:xfrm>
          <a:prstGeom prst="rect">
            <a:avLst/>
          </a:prstGeom>
          <a:solidFill>
            <a:srgbClr val="CA41E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1291309" y="4282503"/>
            <a:ext cx="6637350" cy="646331"/>
          </a:xfrm>
          <a:prstGeom prst="rect">
            <a:avLst/>
          </a:prstGeom>
          <a:noFill/>
        </p:spPr>
        <p:txBody>
          <a:bodyPr wrap="square" rtlCol="0">
            <a:spAutoFit/>
          </a:bodyPr>
          <a:lstStyle/>
          <a:p>
            <a:r>
              <a:rPr lang="en-US" sz="3600" b="1" dirty="0">
                <a:solidFill>
                  <a:schemeClr val="accent6"/>
                </a:solidFill>
              </a:rPr>
              <a:t>Measures of model fit</a:t>
            </a:r>
          </a:p>
        </p:txBody>
      </p:sp>
      <p:sp>
        <p:nvSpPr>
          <p:cNvPr id="20" name="Rectangle 19"/>
          <p:cNvSpPr/>
          <p:nvPr/>
        </p:nvSpPr>
        <p:spPr>
          <a:xfrm>
            <a:off x="1042807" y="2661868"/>
            <a:ext cx="9993410" cy="325326"/>
          </a:xfrm>
          <a:prstGeom prst="rect">
            <a:avLst/>
          </a:prstGeom>
          <a:solidFill>
            <a:srgbClr val="47E94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042807" y="2348264"/>
            <a:ext cx="9993410" cy="325326"/>
          </a:xfrm>
          <a:prstGeom prst="rect">
            <a:avLst/>
          </a:prstGeom>
          <a:solidFill>
            <a:srgbClr val="48ABE8">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1291309" y="3787767"/>
            <a:ext cx="6637350" cy="646331"/>
          </a:xfrm>
          <a:prstGeom prst="rect">
            <a:avLst/>
          </a:prstGeom>
          <a:noFill/>
        </p:spPr>
        <p:txBody>
          <a:bodyPr wrap="square" rtlCol="0">
            <a:spAutoFit/>
          </a:bodyPr>
          <a:lstStyle/>
          <a:p>
            <a:r>
              <a:rPr lang="en-US" sz="3600" b="1" dirty="0">
                <a:solidFill>
                  <a:schemeClr val="accent5"/>
                </a:solidFill>
              </a:rPr>
              <a:t>Estimated residual variance</a:t>
            </a:r>
          </a:p>
        </p:txBody>
      </p:sp>
    </p:spTree>
    <p:extLst>
      <p:ext uri="{BB962C8B-B14F-4D97-AF65-F5344CB8AC3E}">
        <p14:creationId xmlns:p14="http://schemas.microsoft.com/office/powerpoint/2010/main" val="2879815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animBg="1"/>
      <p:bldP spid="19" grpId="0"/>
      <p:bldP spid="20" grpId="0" animBg="1"/>
      <p:bldP spid="21" grpId="0" animBg="1"/>
      <p:bldP spid="2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aov</a:t>
            </a:r>
            <a:r>
              <a:rPr lang="en-US" dirty="0"/>
              <a:t>() versus lm()</a:t>
            </a:r>
          </a:p>
        </p:txBody>
      </p:sp>
      <p:sp>
        <p:nvSpPr>
          <p:cNvPr id="3" name="Content Placeholder 2"/>
          <p:cNvSpPr>
            <a:spLocks noGrp="1"/>
          </p:cNvSpPr>
          <p:nvPr>
            <p:ph idx="1"/>
          </p:nvPr>
        </p:nvSpPr>
        <p:spPr>
          <a:xfrm>
            <a:off x="838200" y="1825625"/>
            <a:ext cx="10515600" cy="577606"/>
          </a:xfrm>
        </p:spPr>
        <p:txBody>
          <a:bodyPr/>
          <a:lstStyle/>
          <a:p>
            <a:r>
              <a:rPr lang="en-US" dirty="0"/>
              <a:t>Compare output of </a:t>
            </a:r>
            <a:r>
              <a:rPr lang="en-US" dirty="0" err="1"/>
              <a:t>aov</a:t>
            </a:r>
            <a:r>
              <a:rPr lang="en-US" dirty="0"/>
              <a:t>() and lm():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5899" y="4654061"/>
            <a:ext cx="9065052" cy="1852247"/>
          </a:xfrm>
          <a:prstGeom prst="rect">
            <a:avLst/>
          </a:prstGeom>
          <a:ln w="28575">
            <a:solidFill>
              <a:schemeClr val="tx1"/>
            </a:solidFill>
          </a:ln>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310" t="48852" r="31" b="20727"/>
          <a:stretch/>
        </p:blipFill>
        <p:spPr>
          <a:xfrm>
            <a:off x="2615899" y="2538168"/>
            <a:ext cx="8993785" cy="1822749"/>
          </a:xfrm>
          <a:prstGeom prst="rect">
            <a:avLst/>
          </a:prstGeom>
          <a:ln w="28575">
            <a:solidFill>
              <a:schemeClr val="tx1"/>
            </a:solidFill>
          </a:ln>
        </p:spPr>
      </p:pic>
      <p:sp>
        <p:nvSpPr>
          <p:cNvPr id="6" name="TextBox 5"/>
          <p:cNvSpPr txBox="1"/>
          <p:nvPr/>
        </p:nvSpPr>
        <p:spPr>
          <a:xfrm>
            <a:off x="1653776" y="2403231"/>
            <a:ext cx="962123" cy="646331"/>
          </a:xfrm>
          <a:prstGeom prst="rect">
            <a:avLst/>
          </a:prstGeom>
          <a:noFill/>
        </p:spPr>
        <p:txBody>
          <a:bodyPr wrap="none" rtlCol="0">
            <a:spAutoFit/>
          </a:bodyPr>
          <a:lstStyle/>
          <a:p>
            <a:r>
              <a:rPr lang="en-US" sz="3600" b="1" dirty="0"/>
              <a:t>lm()</a:t>
            </a:r>
          </a:p>
        </p:txBody>
      </p:sp>
      <p:sp>
        <p:nvSpPr>
          <p:cNvPr id="7" name="TextBox 6"/>
          <p:cNvSpPr txBox="1"/>
          <p:nvPr/>
        </p:nvSpPr>
        <p:spPr>
          <a:xfrm>
            <a:off x="1449939" y="4495854"/>
            <a:ext cx="1165960" cy="646331"/>
          </a:xfrm>
          <a:prstGeom prst="rect">
            <a:avLst/>
          </a:prstGeom>
          <a:noFill/>
        </p:spPr>
        <p:txBody>
          <a:bodyPr wrap="none" rtlCol="0">
            <a:spAutoFit/>
          </a:bodyPr>
          <a:lstStyle/>
          <a:p>
            <a:r>
              <a:rPr lang="en-US" sz="3600" b="1" dirty="0" err="1"/>
              <a:t>aov</a:t>
            </a:r>
            <a:r>
              <a:rPr lang="en-US" sz="3600" b="1" dirty="0"/>
              <a:t>()</a:t>
            </a:r>
          </a:p>
        </p:txBody>
      </p:sp>
      <p:sp>
        <p:nvSpPr>
          <p:cNvPr id="8" name="Rounded Rectangle 7"/>
          <p:cNvSpPr/>
          <p:nvPr/>
        </p:nvSpPr>
        <p:spPr>
          <a:xfrm>
            <a:off x="8616462" y="3434862"/>
            <a:ext cx="1348153" cy="328246"/>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8065477" y="5263661"/>
            <a:ext cx="1348153" cy="328246"/>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629970" y="5714198"/>
            <a:ext cx="4050981" cy="461665"/>
          </a:xfrm>
          <a:prstGeom prst="rect">
            <a:avLst/>
          </a:prstGeom>
          <a:noFill/>
        </p:spPr>
        <p:txBody>
          <a:bodyPr wrap="none" rtlCol="0">
            <a:spAutoFit/>
          </a:bodyPr>
          <a:lstStyle/>
          <a:p>
            <a:r>
              <a:rPr lang="en-US" sz="2400" b="1" dirty="0">
                <a:solidFill>
                  <a:srgbClr val="C00000"/>
                </a:solidFill>
              </a:rPr>
              <a:t>Identical p-values for Nitrogen</a:t>
            </a:r>
          </a:p>
        </p:txBody>
      </p:sp>
    </p:spTree>
    <p:extLst>
      <p:ext uri="{BB962C8B-B14F-4D97-AF65-F5344CB8AC3E}">
        <p14:creationId xmlns:p14="http://schemas.microsoft.com/office/powerpoint/2010/main" val="48456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Linear regression in R</a:t>
            </a:r>
            <a:endParaRPr lang="en-US" dirty="0"/>
          </a:p>
        </p:txBody>
      </p:sp>
      <p:sp>
        <p:nvSpPr>
          <p:cNvPr id="3" name="Content Placeholder 2"/>
          <p:cNvSpPr>
            <a:spLocks noGrp="1"/>
          </p:cNvSpPr>
          <p:nvPr>
            <p:ph idx="1"/>
          </p:nvPr>
        </p:nvSpPr>
        <p:spPr/>
        <p:txBody>
          <a:bodyPr/>
          <a:lstStyle/>
          <a:p>
            <a:r>
              <a:rPr lang="en-US" dirty="0"/>
              <a:t>Download “14_yield.csv” from </a:t>
            </a:r>
            <a:r>
              <a:rPr lang="en-US" dirty="0" err="1"/>
              <a:t>eLC</a:t>
            </a:r>
            <a:endParaRPr lang="en-US" dirty="0"/>
          </a:p>
          <a:p>
            <a:r>
              <a:rPr lang="en-US" dirty="0"/>
              <a:t>Load the data into R and run a linear regression, treating yield as a function of block, p, and n.</a:t>
            </a:r>
          </a:p>
          <a:p>
            <a:pPr lvl="1"/>
            <a:r>
              <a:rPr lang="en-US" dirty="0"/>
              <a:t>Is the model significant overall?</a:t>
            </a:r>
          </a:p>
          <a:p>
            <a:pPr lvl="1"/>
            <a:r>
              <a:rPr lang="en-US" dirty="0"/>
              <a:t>Which variable(s) are significantly associated with yield in this data?</a:t>
            </a:r>
          </a:p>
        </p:txBody>
      </p:sp>
    </p:spTree>
    <p:extLst>
      <p:ext uri="{BB962C8B-B14F-4D97-AF65-F5344CB8AC3E}">
        <p14:creationId xmlns:p14="http://schemas.microsoft.com/office/powerpoint/2010/main" val="2157846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Linear regression in R</a:t>
            </a:r>
            <a:endParaRPr lang="en-US" dirty="0"/>
          </a:p>
        </p:txBody>
      </p:sp>
      <p:grpSp>
        <p:nvGrpSpPr>
          <p:cNvPr id="7" name="Group 6"/>
          <p:cNvGrpSpPr/>
          <p:nvPr/>
        </p:nvGrpSpPr>
        <p:grpSpPr>
          <a:xfrm>
            <a:off x="1530699" y="1620350"/>
            <a:ext cx="8484157" cy="5216526"/>
            <a:chOff x="1530700" y="1690688"/>
            <a:chExt cx="6621858" cy="4071482"/>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84315"/>
            <a:stretch/>
          </p:blipFill>
          <p:spPr>
            <a:xfrm>
              <a:off x="1530701" y="1690688"/>
              <a:ext cx="6621857" cy="911835"/>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44140" b="3680"/>
            <a:stretch/>
          </p:blipFill>
          <p:spPr>
            <a:xfrm>
              <a:off x="1530700" y="2728685"/>
              <a:ext cx="6621857" cy="3033485"/>
            </a:xfrm>
            <a:prstGeom prst="rect">
              <a:avLst/>
            </a:prstGeom>
          </p:spPr>
        </p:pic>
      </p:grpSp>
      <p:sp>
        <p:nvSpPr>
          <p:cNvPr id="8" name="TextBox 7"/>
          <p:cNvSpPr txBox="1"/>
          <p:nvPr/>
        </p:nvSpPr>
        <p:spPr>
          <a:xfrm>
            <a:off x="1530699" y="2480123"/>
            <a:ext cx="439544" cy="523220"/>
          </a:xfrm>
          <a:prstGeom prst="rect">
            <a:avLst/>
          </a:prstGeom>
          <a:noFill/>
        </p:spPr>
        <p:txBody>
          <a:bodyPr wrap="none" rtlCol="0">
            <a:spAutoFit/>
          </a:bodyPr>
          <a:lstStyle/>
          <a:p>
            <a:r>
              <a:rPr lang="en-US" sz="2800" b="1" dirty="0"/>
              <a:t>…</a:t>
            </a:r>
          </a:p>
        </p:txBody>
      </p:sp>
      <p:sp>
        <p:nvSpPr>
          <p:cNvPr id="9" name="&quot;No&quot; Symbol 8"/>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9030116" y="6426103"/>
            <a:ext cx="3071034" cy="523220"/>
          </a:xfrm>
          <a:prstGeom prst="rect">
            <a:avLst/>
          </a:prstGeom>
          <a:noFill/>
        </p:spPr>
        <p:txBody>
          <a:bodyPr wrap="none" rtlCol="0">
            <a:spAutoFit/>
          </a:bodyPr>
          <a:lstStyle/>
          <a:p>
            <a:r>
              <a:rPr lang="en-US" sz="2800" b="1" dirty="0">
                <a:solidFill>
                  <a:schemeClr val="accent4">
                    <a:lumMod val="75000"/>
                  </a:schemeClr>
                </a:solidFill>
              </a:rPr>
              <a:t>Model is significant</a:t>
            </a:r>
          </a:p>
        </p:txBody>
      </p:sp>
      <p:sp>
        <p:nvSpPr>
          <p:cNvPr id="11" name="Rounded Rectangle 10"/>
          <p:cNvSpPr/>
          <p:nvPr/>
        </p:nvSpPr>
        <p:spPr>
          <a:xfrm>
            <a:off x="6271846" y="6518031"/>
            <a:ext cx="2743200" cy="318845"/>
          </a:xfrm>
          <a:prstGeom prst="roundRect">
            <a:avLst/>
          </a:prstGeom>
          <a:noFill/>
          <a:ln w="571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8924161" y="4587772"/>
            <a:ext cx="3198120" cy="523220"/>
          </a:xfrm>
          <a:prstGeom prst="rect">
            <a:avLst/>
          </a:prstGeom>
          <a:noFill/>
        </p:spPr>
        <p:txBody>
          <a:bodyPr wrap="none" rtlCol="0">
            <a:spAutoFit/>
          </a:bodyPr>
          <a:lstStyle/>
          <a:p>
            <a:r>
              <a:rPr lang="en-US" sz="2800" b="1" dirty="0">
                <a:solidFill>
                  <a:srgbClr val="7030A0"/>
                </a:solidFill>
              </a:rPr>
              <a:t>N &amp; P are significant</a:t>
            </a:r>
          </a:p>
        </p:txBody>
      </p:sp>
      <p:sp>
        <p:nvSpPr>
          <p:cNvPr id="13" name="Rounded Rectangle 12"/>
          <p:cNvSpPr/>
          <p:nvPr/>
        </p:nvSpPr>
        <p:spPr>
          <a:xfrm>
            <a:off x="6834554" y="4611060"/>
            <a:ext cx="1828800" cy="499932"/>
          </a:xfrm>
          <a:prstGeom prst="round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8663354" y="3372177"/>
            <a:ext cx="3331841" cy="707886"/>
          </a:xfrm>
          <a:prstGeom prst="rect">
            <a:avLst/>
          </a:prstGeom>
          <a:noFill/>
        </p:spPr>
        <p:txBody>
          <a:bodyPr wrap="square" rtlCol="0">
            <a:spAutoFit/>
          </a:bodyPr>
          <a:lstStyle/>
          <a:p>
            <a:r>
              <a:rPr lang="en-US" sz="2000" b="1" dirty="0">
                <a:solidFill>
                  <a:schemeClr val="accent2">
                    <a:lumMod val="75000"/>
                  </a:schemeClr>
                </a:solidFill>
              </a:rPr>
              <a:t>Intercept is almost always significant but can be ignored</a:t>
            </a:r>
          </a:p>
        </p:txBody>
      </p:sp>
      <p:sp>
        <p:nvSpPr>
          <p:cNvPr id="15" name="Rounded Rectangle 14"/>
          <p:cNvSpPr/>
          <p:nvPr/>
        </p:nvSpPr>
        <p:spPr>
          <a:xfrm>
            <a:off x="6834554" y="3476154"/>
            <a:ext cx="1828800" cy="310400"/>
          </a:xfrm>
          <a:prstGeom prst="round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5754" y="3695290"/>
            <a:ext cx="1724717" cy="1631216"/>
          </a:xfrm>
          <a:prstGeom prst="rect">
            <a:avLst/>
          </a:prstGeom>
          <a:noFill/>
        </p:spPr>
        <p:txBody>
          <a:bodyPr wrap="square" rtlCol="0">
            <a:spAutoFit/>
          </a:bodyPr>
          <a:lstStyle/>
          <a:p>
            <a:r>
              <a:rPr lang="en-US" sz="2000" b="1" dirty="0">
                <a:solidFill>
                  <a:schemeClr val="accent6">
                    <a:lumMod val="75000"/>
                  </a:schemeClr>
                </a:solidFill>
              </a:rPr>
              <a:t>Notice what happened to the factor; more on this later.</a:t>
            </a:r>
          </a:p>
        </p:txBody>
      </p:sp>
      <p:sp>
        <p:nvSpPr>
          <p:cNvPr id="17" name="Rounded Rectangle 16"/>
          <p:cNvSpPr/>
          <p:nvPr/>
        </p:nvSpPr>
        <p:spPr>
          <a:xfrm>
            <a:off x="1530699" y="3769662"/>
            <a:ext cx="1599363" cy="818109"/>
          </a:xfrm>
          <a:prstGeom prst="roundRect">
            <a:avLst/>
          </a:prstGeom>
          <a:solidFill>
            <a:srgbClr val="548235">
              <a:alpha val="25098"/>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5874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13" grpId="0" animBg="1"/>
      <p:bldP spid="14" grpId="0"/>
      <p:bldP spid="15" grpId="0" animBg="1"/>
      <p:bldP spid="16" grpId="0"/>
      <p:bldP spid="1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linear regression in R?</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3624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ANOVA with linear regression</a:t>
            </a:r>
          </a:p>
        </p:txBody>
      </p:sp>
      <p:sp>
        <p:nvSpPr>
          <p:cNvPr id="3" name="Content Placeholder 2"/>
          <p:cNvSpPr>
            <a:spLocks noGrp="1"/>
          </p:cNvSpPr>
          <p:nvPr>
            <p:ph idx="1"/>
          </p:nvPr>
        </p:nvSpPr>
        <p:spPr>
          <a:xfrm>
            <a:off x="838200" y="1825625"/>
            <a:ext cx="10515600" cy="1492006"/>
          </a:xfrm>
        </p:spPr>
        <p:txBody>
          <a:bodyPr/>
          <a:lstStyle/>
          <a:p>
            <a:r>
              <a:rPr lang="en-US" dirty="0"/>
              <a:t>Even though linear regression tells us what is significant, we sometimes still want to know about variation explained.</a:t>
            </a:r>
          </a:p>
          <a:p>
            <a:r>
              <a:rPr lang="en-US" dirty="0"/>
              <a:t>For this, we use </a:t>
            </a:r>
            <a:r>
              <a:rPr lang="en-US" dirty="0" err="1"/>
              <a:t>anova</a:t>
            </a:r>
            <a:r>
              <a:rPr lang="en-US" dirty="0"/>
              <a:t>() on the model output.</a:t>
            </a:r>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37202"/>
          <a:stretch/>
        </p:blipFill>
        <p:spPr>
          <a:xfrm>
            <a:off x="1476971" y="3317631"/>
            <a:ext cx="10541390" cy="3451469"/>
          </a:xfrm>
          <a:prstGeom prst="rect">
            <a:avLst/>
          </a:prstGeom>
        </p:spPr>
      </p:pic>
    </p:spTree>
    <p:extLst>
      <p:ext uri="{BB962C8B-B14F-4D97-AF65-F5344CB8AC3E}">
        <p14:creationId xmlns:p14="http://schemas.microsoft.com/office/powerpoint/2010/main" val="184549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ANOVA with linear regression</a:t>
            </a:r>
          </a:p>
        </p:txBody>
      </p:sp>
      <p:sp>
        <p:nvSpPr>
          <p:cNvPr id="3" name="Content Placeholder 2"/>
          <p:cNvSpPr>
            <a:spLocks noGrp="1"/>
          </p:cNvSpPr>
          <p:nvPr>
            <p:ph idx="1"/>
          </p:nvPr>
        </p:nvSpPr>
        <p:spPr>
          <a:xfrm>
            <a:off x="838200" y="1825625"/>
            <a:ext cx="10515600" cy="2274427"/>
          </a:xfrm>
        </p:spPr>
        <p:txBody>
          <a:bodyPr/>
          <a:lstStyle/>
          <a:p>
            <a:r>
              <a:rPr lang="en-US" dirty="0"/>
              <a:t>Even though linear regression tells us what is significant, we sometimes still want to know about variation explained.</a:t>
            </a:r>
          </a:p>
          <a:p>
            <a:r>
              <a:rPr lang="en-US" dirty="0"/>
              <a:t>For this, we use </a:t>
            </a:r>
            <a:r>
              <a:rPr lang="en-US" dirty="0" err="1"/>
              <a:t>anova</a:t>
            </a:r>
            <a:r>
              <a:rPr lang="en-US" dirty="0"/>
              <a:t>() on the model output.</a:t>
            </a:r>
          </a:p>
          <a:p>
            <a:r>
              <a:rPr lang="en-US" dirty="0"/>
              <a:t>This output is basically identical to </a:t>
            </a:r>
            <a:r>
              <a:rPr lang="en-US" dirty="0" err="1"/>
              <a:t>aov</a:t>
            </a:r>
            <a:r>
              <a:rPr lang="en-US" dirty="0"/>
              <a:t>():</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1133"/>
          <a:stretch/>
        </p:blipFill>
        <p:spPr>
          <a:xfrm>
            <a:off x="1150030" y="4363671"/>
            <a:ext cx="10528753" cy="2376341"/>
          </a:xfrm>
          <a:prstGeom prst="rect">
            <a:avLst/>
          </a:prstGeom>
        </p:spPr>
      </p:pic>
    </p:spTree>
    <p:extLst>
      <p:ext uri="{BB962C8B-B14F-4D97-AF65-F5344CB8AC3E}">
        <p14:creationId xmlns:p14="http://schemas.microsoft.com/office/powerpoint/2010/main" val="56298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why two methods?</a:t>
            </a:r>
          </a:p>
        </p:txBody>
      </p:sp>
      <p:sp>
        <p:nvSpPr>
          <p:cNvPr id="3" name="Content Placeholder 2"/>
          <p:cNvSpPr>
            <a:spLocks noGrp="1"/>
          </p:cNvSpPr>
          <p:nvPr>
            <p:ph idx="1"/>
          </p:nvPr>
        </p:nvSpPr>
        <p:spPr/>
        <p:txBody>
          <a:bodyPr/>
          <a:lstStyle/>
          <a:p>
            <a:r>
              <a:rPr lang="en-US" dirty="0"/>
              <a:t>To be honest, I don’t know why both </a:t>
            </a:r>
            <a:r>
              <a:rPr lang="en-US" dirty="0" err="1"/>
              <a:t>aov</a:t>
            </a:r>
            <a:r>
              <a:rPr lang="en-US" dirty="0"/>
              <a:t>() and </a:t>
            </a:r>
            <a:r>
              <a:rPr lang="en-US" dirty="0" err="1"/>
              <a:t>anova</a:t>
            </a:r>
            <a:r>
              <a:rPr lang="en-US" dirty="0"/>
              <a:t>() exist in R</a:t>
            </a:r>
          </a:p>
          <a:p>
            <a:pPr lvl="1"/>
            <a:r>
              <a:rPr lang="en-US" dirty="0"/>
              <a:t>Probably someone just wanted it that way</a:t>
            </a:r>
          </a:p>
          <a:p>
            <a:r>
              <a:rPr lang="en-US" dirty="0"/>
              <a:t>In practice, </a:t>
            </a:r>
            <a:r>
              <a:rPr lang="en-US" dirty="0" err="1"/>
              <a:t>aov</a:t>
            </a:r>
            <a:r>
              <a:rPr lang="en-US" dirty="0"/>
              <a:t>() actually calls lm() under the hood, so the difference is minor</a:t>
            </a:r>
          </a:p>
          <a:p>
            <a:r>
              <a:rPr lang="en-US" dirty="0"/>
              <a:t>The important thing is that lm() is much more versatile, so we will be using it from here on</a:t>
            </a:r>
          </a:p>
          <a:p>
            <a:pPr lvl="1"/>
            <a:r>
              <a:rPr lang="en-US" dirty="0"/>
              <a:t>I didn’t introduce it earlier because I already felt I was front-loading a lot of abstract statistics</a:t>
            </a:r>
          </a:p>
        </p:txBody>
      </p:sp>
    </p:spTree>
    <p:extLst>
      <p:ext uri="{BB962C8B-B14F-4D97-AF65-F5344CB8AC3E}">
        <p14:creationId xmlns:p14="http://schemas.microsoft.com/office/powerpoint/2010/main" val="32364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variables</a:t>
            </a:r>
          </a:p>
        </p:txBody>
      </p:sp>
      <p:sp>
        <p:nvSpPr>
          <p:cNvPr id="3" name="Content Placeholder 2"/>
          <p:cNvSpPr>
            <a:spLocks noGrp="1"/>
          </p:cNvSpPr>
          <p:nvPr>
            <p:ph idx="1"/>
          </p:nvPr>
        </p:nvSpPr>
        <p:spPr>
          <a:xfrm>
            <a:off x="838200" y="1825625"/>
            <a:ext cx="10515600" cy="765187"/>
          </a:xfrm>
        </p:spPr>
        <p:txBody>
          <a:bodyPr/>
          <a:lstStyle/>
          <a:p>
            <a:r>
              <a:rPr lang="en-US" dirty="0"/>
              <a:t>In the practice, you saw that lm() splits factors apart:</a:t>
            </a:r>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42770" r="66333" b="25518"/>
          <a:stretch/>
        </p:blipFill>
        <p:spPr>
          <a:xfrm>
            <a:off x="7657141" y="2590812"/>
            <a:ext cx="3840466" cy="3175807"/>
          </a:xfrm>
          <a:prstGeom prst="rect">
            <a:avLst/>
          </a:prstGeom>
        </p:spPr>
      </p:pic>
      <p:sp>
        <p:nvSpPr>
          <p:cNvPr id="7" name="Rounded Rectangle 6"/>
          <p:cNvSpPr/>
          <p:nvPr/>
        </p:nvSpPr>
        <p:spPr>
          <a:xfrm>
            <a:off x="7657141" y="3880984"/>
            <a:ext cx="2194782" cy="1074474"/>
          </a:xfrm>
          <a:prstGeom prst="roundRect">
            <a:avLst/>
          </a:prstGeom>
          <a:solidFill>
            <a:schemeClr val="accent5">
              <a:lumMod val="75000"/>
              <a:alpha val="25098"/>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657141" y="4946731"/>
            <a:ext cx="2194782" cy="819888"/>
          </a:xfrm>
          <a:prstGeom prst="roundRect">
            <a:avLst/>
          </a:prstGeom>
          <a:solidFill>
            <a:srgbClr val="548235">
              <a:alpha val="25098"/>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105434" y="3708984"/>
            <a:ext cx="1551707" cy="646331"/>
          </a:xfrm>
          <a:prstGeom prst="rect">
            <a:avLst/>
          </a:prstGeom>
          <a:noFill/>
        </p:spPr>
        <p:txBody>
          <a:bodyPr wrap="none" rtlCol="0">
            <a:spAutoFit/>
          </a:bodyPr>
          <a:lstStyle/>
          <a:p>
            <a:r>
              <a:rPr lang="en-US" sz="3600" b="1" dirty="0">
                <a:solidFill>
                  <a:schemeClr val="accent5">
                    <a:lumMod val="75000"/>
                  </a:schemeClr>
                </a:solidFill>
              </a:rPr>
              <a:t>Factors</a:t>
            </a:r>
          </a:p>
        </p:txBody>
      </p:sp>
      <p:sp>
        <p:nvSpPr>
          <p:cNvPr id="14" name="TextBox 13"/>
          <p:cNvSpPr txBox="1"/>
          <p:nvPr/>
        </p:nvSpPr>
        <p:spPr>
          <a:xfrm>
            <a:off x="5283863" y="4805377"/>
            <a:ext cx="2373278" cy="646331"/>
          </a:xfrm>
          <a:prstGeom prst="rect">
            <a:avLst/>
          </a:prstGeom>
          <a:noFill/>
        </p:spPr>
        <p:txBody>
          <a:bodyPr wrap="none" rtlCol="0">
            <a:spAutoFit/>
          </a:bodyPr>
          <a:lstStyle/>
          <a:p>
            <a:r>
              <a:rPr lang="en-US" sz="3600" b="1" dirty="0">
                <a:solidFill>
                  <a:schemeClr val="accent6">
                    <a:lumMod val="75000"/>
                  </a:schemeClr>
                </a:solidFill>
              </a:rPr>
              <a:t>Continuous</a:t>
            </a:r>
          </a:p>
        </p:txBody>
      </p:sp>
      <p:sp>
        <p:nvSpPr>
          <p:cNvPr id="15" name="Content Placeholder 2"/>
          <p:cNvSpPr txBox="1">
            <a:spLocks/>
          </p:cNvSpPr>
          <p:nvPr/>
        </p:nvSpPr>
        <p:spPr>
          <a:xfrm>
            <a:off x="838200" y="2513404"/>
            <a:ext cx="4301856" cy="3592428"/>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is because of how linear regression treats factors under the hood</a:t>
            </a:r>
          </a:p>
          <a:p>
            <a:pPr lvl="1"/>
            <a:r>
              <a:rPr lang="en-US" dirty="0"/>
              <a:t>It’s also related to why factors use n-1 DOF</a:t>
            </a:r>
          </a:p>
        </p:txBody>
      </p:sp>
    </p:spTree>
    <p:extLst>
      <p:ext uri="{BB962C8B-B14F-4D97-AF65-F5344CB8AC3E}">
        <p14:creationId xmlns:p14="http://schemas.microsoft.com/office/powerpoint/2010/main" val="1777342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p:bldP spid="14" grpId="0"/>
      <p:bldP spid="1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&amp; factors</a:t>
            </a:r>
          </a:p>
        </p:txBody>
      </p:sp>
      <p:sp>
        <p:nvSpPr>
          <p:cNvPr id="3" name="Content Placeholder 2"/>
          <p:cNvSpPr>
            <a:spLocks noGrp="1"/>
          </p:cNvSpPr>
          <p:nvPr>
            <p:ph idx="1"/>
          </p:nvPr>
        </p:nvSpPr>
        <p:spPr/>
        <p:txBody>
          <a:bodyPr/>
          <a:lstStyle/>
          <a:p>
            <a:r>
              <a:rPr lang="en-US" dirty="0"/>
              <a:t>Technically, linear regression can only handle continuous variables</a:t>
            </a:r>
          </a:p>
          <a:p>
            <a:r>
              <a:rPr lang="en-US" u="sng" dirty="0"/>
              <a:t>However, </a:t>
            </a:r>
            <a:r>
              <a:rPr lang="en-US" dirty="0"/>
              <a:t>there’s an easy workaround by splitting one factor into a group of “indicator” variables</a:t>
            </a:r>
          </a:p>
        </p:txBody>
      </p:sp>
    </p:spTree>
    <p:extLst>
      <p:ext uri="{BB962C8B-B14F-4D97-AF65-F5344CB8AC3E}">
        <p14:creationId xmlns:p14="http://schemas.microsoft.com/office/powerpoint/2010/main" val="3243740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&amp; factors</a:t>
            </a:r>
          </a:p>
        </p:txBody>
      </p:sp>
      <p:sp>
        <p:nvSpPr>
          <p:cNvPr id="3" name="Content Placeholder 2"/>
          <p:cNvSpPr>
            <a:spLocks noGrp="1"/>
          </p:cNvSpPr>
          <p:nvPr>
            <p:ph idx="1"/>
          </p:nvPr>
        </p:nvSpPr>
        <p:spPr>
          <a:xfrm>
            <a:off x="6676379" y="1904470"/>
            <a:ext cx="4953191" cy="4110718"/>
          </a:xfrm>
        </p:spPr>
        <p:txBody>
          <a:bodyPr/>
          <a:lstStyle/>
          <a:p>
            <a:r>
              <a:rPr lang="en-US" dirty="0"/>
              <a:t>Linear regression deals with categories by making a set of “indicator variables” that can only take two values:</a:t>
            </a:r>
          </a:p>
          <a:p>
            <a:pPr lvl="1"/>
            <a:r>
              <a:rPr lang="en-US" dirty="0"/>
              <a:t>1 means “is part of this category”</a:t>
            </a:r>
          </a:p>
          <a:p>
            <a:pPr lvl="1"/>
            <a:r>
              <a:rPr lang="en-US" dirty="0"/>
              <a:t>0 means “is not part of this category”</a:t>
            </a:r>
          </a:p>
        </p:txBody>
      </p:sp>
      <p:sp>
        <p:nvSpPr>
          <p:cNvPr id="11" name="TextBox 10"/>
          <p:cNvSpPr txBox="1"/>
          <p:nvPr/>
        </p:nvSpPr>
        <p:spPr>
          <a:xfrm>
            <a:off x="344715" y="1904470"/>
            <a:ext cx="2775953" cy="4031873"/>
          </a:xfrm>
          <a:prstGeom prst="rect">
            <a:avLst/>
          </a:prstGeom>
          <a:noFill/>
        </p:spPr>
        <p:txBody>
          <a:bodyPr wrap="none" rtlCol="0">
            <a:spAutoFit/>
          </a:bodyPr>
          <a:lstStyle/>
          <a:p>
            <a:r>
              <a:rPr lang="en-US" sz="3200" b="1" dirty="0"/>
              <a:t>Maturity group</a:t>
            </a:r>
          </a:p>
          <a:p>
            <a:pPr algn="ctr"/>
            <a:r>
              <a:rPr lang="en-US" sz="3200" dirty="0"/>
              <a:t>early</a:t>
            </a:r>
          </a:p>
          <a:p>
            <a:pPr algn="ctr"/>
            <a:r>
              <a:rPr lang="en-US" sz="3200" dirty="0"/>
              <a:t>early</a:t>
            </a:r>
          </a:p>
          <a:p>
            <a:pPr algn="ctr"/>
            <a:r>
              <a:rPr lang="en-US" sz="3200" dirty="0"/>
              <a:t>early</a:t>
            </a:r>
          </a:p>
          <a:p>
            <a:pPr algn="ctr"/>
            <a:r>
              <a:rPr lang="en-US" sz="3200" dirty="0"/>
              <a:t>middle</a:t>
            </a:r>
          </a:p>
          <a:p>
            <a:pPr algn="ctr"/>
            <a:r>
              <a:rPr lang="en-US" sz="3200" dirty="0"/>
              <a:t>…</a:t>
            </a:r>
          </a:p>
          <a:p>
            <a:pPr algn="ctr"/>
            <a:r>
              <a:rPr lang="en-US" sz="3200" dirty="0"/>
              <a:t>late</a:t>
            </a:r>
          </a:p>
          <a:p>
            <a:pPr algn="ctr"/>
            <a:r>
              <a:rPr lang="en-US" sz="3200" dirty="0"/>
              <a:t>late</a:t>
            </a:r>
            <a:endParaRPr lang="en-US" sz="2800" dirty="0"/>
          </a:p>
        </p:txBody>
      </p:sp>
      <p:sp>
        <p:nvSpPr>
          <p:cNvPr id="13" name="Right Arrow 12"/>
          <p:cNvSpPr/>
          <p:nvPr/>
        </p:nvSpPr>
        <p:spPr>
          <a:xfrm>
            <a:off x="2561868" y="3507523"/>
            <a:ext cx="747389" cy="8257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nvGraphicFramePr>
        <p:xfrm>
          <a:off x="3425276" y="1904470"/>
          <a:ext cx="3135084" cy="4031872"/>
        </p:xfrm>
        <a:graphic>
          <a:graphicData uri="http://schemas.openxmlformats.org/drawingml/2006/table">
            <a:tbl>
              <a:tblPr firstRow="1" bandRow="1">
                <a:tableStyleId>{7E9639D4-E3E2-4D34-9284-5A2195B3D0D7}</a:tableStyleId>
              </a:tblPr>
              <a:tblGrid>
                <a:gridCol w="943524">
                  <a:extLst>
                    <a:ext uri="{9D8B030D-6E8A-4147-A177-3AD203B41FA5}">
                      <a16:colId xmlns:a16="http://schemas.microsoft.com/office/drawing/2014/main" val="20000"/>
                    </a:ext>
                  </a:extLst>
                </a:gridCol>
                <a:gridCol w="1204686">
                  <a:extLst>
                    <a:ext uri="{9D8B030D-6E8A-4147-A177-3AD203B41FA5}">
                      <a16:colId xmlns:a16="http://schemas.microsoft.com/office/drawing/2014/main" val="20001"/>
                    </a:ext>
                  </a:extLst>
                </a:gridCol>
                <a:gridCol w="986874">
                  <a:extLst>
                    <a:ext uri="{9D8B030D-6E8A-4147-A177-3AD203B41FA5}">
                      <a16:colId xmlns:a16="http://schemas.microsoft.com/office/drawing/2014/main" val="20002"/>
                    </a:ext>
                  </a:extLst>
                </a:gridCol>
              </a:tblGrid>
              <a:tr h="503984">
                <a:tc>
                  <a:txBody>
                    <a:bodyPr/>
                    <a:lstStyle/>
                    <a:p>
                      <a:pPr algn="ctr"/>
                      <a:r>
                        <a:rPr lang="en-US" sz="2400" b="1" dirty="0"/>
                        <a:t>Early</a:t>
                      </a:r>
                    </a:p>
                  </a:txBody>
                  <a:tcPr/>
                </a:tc>
                <a:tc>
                  <a:txBody>
                    <a:bodyPr/>
                    <a:lstStyle/>
                    <a:p>
                      <a:pPr algn="ctr"/>
                      <a:r>
                        <a:rPr lang="en-US" sz="2400" b="1" dirty="0"/>
                        <a:t>Middle</a:t>
                      </a:r>
                    </a:p>
                  </a:txBody>
                  <a:tcPr/>
                </a:tc>
                <a:tc>
                  <a:txBody>
                    <a:bodyPr/>
                    <a:lstStyle/>
                    <a:p>
                      <a:pPr algn="ctr"/>
                      <a:r>
                        <a:rPr lang="en-US" sz="2400" b="1" dirty="0"/>
                        <a:t>Late</a:t>
                      </a:r>
                    </a:p>
                  </a:txBody>
                  <a:tcPr/>
                </a:tc>
                <a:extLst>
                  <a:ext uri="{0D108BD9-81ED-4DB2-BD59-A6C34878D82A}">
                    <a16:rowId xmlns:a16="http://schemas.microsoft.com/office/drawing/2014/main" val="10000"/>
                  </a:ext>
                </a:extLst>
              </a:tr>
              <a:tr h="503984">
                <a:tc>
                  <a:txBody>
                    <a:bodyPr/>
                    <a:lstStyle/>
                    <a:p>
                      <a:pPr algn="ctr"/>
                      <a:r>
                        <a:rPr lang="en-US" sz="2400" b="1" dirty="0"/>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1"/>
                  </a:ext>
                </a:extLst>
              </a:tr>
              <a:tr h="503984">
                <a:tc>
                  <a:txBody>
                    <a:bodyPr/>
                    <a:lstStyle/>
                    <a:p>
                      <a:pPr algn="ctr"/>
                      <a:r>
                        <a:rPr lang="en-US" sz="2400" b="1" dirty="0"/>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503984">
                <a:tc>
                  <a:txBody>
                    <a:bodyPr/>
                    <a:lstStyle/>
                    <a:p>
                      <a:pPr algn="ctr"/>
                      <a:r>
                        <a:rPr lang="en-US" sz="2400" b="1" dirty="0"/>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3"/>
                  </a:ext>
                </a:extLst>
              </a:tr>
              <a:tr h="503984">
                <a:tc>
                  <a:txBody>
                    <a:bodyPr/>
                    <a:lstStyle/>
                    <a:p>
                      <a:pPr algn="ctr"/>
                      <a:r>
                        <a:rPr lang="en-US" sz="2400" b="1" dirty="0"/>
                        <a:t>0</a:t>
                      </a:r>
                    </a:p>
                  </a:txBody>
                  <a:tcPr/>
                </a:tc>
                <a:tc>
                  <a:txBody>
                    <a:bodyPr/>
                    <a:lstStyle/>
                    <a:p>
                      <a:pPr algn="ctr"/>
                      <a:r>
                        <a:rPr lang="en-US" sz="2400" b="1" dirty="0"/>
                        <a:t>1</a:t>
                      </a:r>
                    </a:p>
                  </a:txBody>
                  <a:tcPr/>
                </a:tc>
                <a:tc>
                  <a:txBody>
                    <a:bodyPr/>
                    <a:lstStyle/>
                    <a:p>
                      <a:pPr algn="ctr"/>
                      <a:r>
                        <a:rPr lang="en-US" sz="2400" b="1" dirty="0"/>
                        <a:t>0</a:t>
                      </a:r>
                    </a:p>
                  </a:txBody>
                  <a:tcPr/>
                </a:tc>
                <a:extLst>
                  <a:ext uri="{0D108BD9-81ED-4DB2-BD59-A6C34878D82A}">
                    <a16:rowId xmlns:a16="http://schemas.microsoft.com/office/drawing/2014/main" val="10004"/>
                  </a:ext>
                </a:extLst>
              </a:tr>
              <a:tr h="503984">
                <a:tc>
                  <a:txBody>
                    <a:bodyPr/>
                    <a:lstStyle/>
                    <a:p>
                      <a:pPr algn="ctr"/>
                      <a:r>
                        <a:rPr lang="en-US" sz="2400" b="1" dirty="0"/>
                        <a:t>…</a:t>
                      </a:r>
                    </a:p>
                  </a:txBody>
                  <a:tcPr/>
                </a:tc>
                <a:tc>
                  <a:txBody>
                    <a:bodyPr/>
                    <a:lstStyle/>
                    <a:p>
                      <a:pPr algn="ctr"/>
                      <a:r>
                        <a:rPr lang="en-US" sz="2400" b="1" dirty="0"/>
                        <a:t>…</a:t>
                      </a:r>
                    </a:p>
                  </a:txBody>
                  <a:tcPr/>
                </a:tc>
                <a:tc>
                  <a:txBody>
                    <a:bodyPr/>
                    <a:lstStyle/>
                    <a:p>
                      <a:pPr algn="ctr"/>
                      <a:r>
                        <a:rPr lang="en-US" sz="2400" b="1" dirty="0"/>
                        <a:t>…</a:t>
                      </a:r>
                    </a:p>
                  </a:txBody>
                  <a:tcPr/>
                </a:tc>
                <a:extLst>
                  <a:ext uri="{0D108BD9-81ED-4DB2-BD59-A6C34878D82A}">
                    <a16:rowId xmlns:a16="http://schemas.microsoft.com/office/drawing/2014/main" val="10005"/>
                  </a:ext>
                </a:extLst>
              </a:tr>
              <a:tr h="503984">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a:t>
                      </a:r>
                    </a:p>
                  </a:txBody>
                  <a:tcPr/>
                </a:tc>
                <a:extLst>
                  <a:ext uri="{0D108BD9-81ED-4DB2-BD59-A6C34878D82A}">
                    <a16:rowId xmlns:a16="http://schemas.microsoft.com/office/drawing/2014/main" val="10006"/>
                  </a:ext>
                </a:extLst>
              </a:tr>
              <a:tr h="503984">
                <a:tc>
                  <a:txBody>
                    <a:bodyPr/>
                    <a:lstStyle/>
                    <a:p>
                      <a:pPr algn="ctr"/>
                      <a:r>
                        <a:rPr lang="en-US" sz="2400" b="1" dirty="0"/>
                        <a:t>0</a:t>
                      </a:r>
                    </a:p>
                  </a:txBody>
                  <a:tcPr/>
                </a:tc>
                <a:tc>
                  <a:txBody>
                    <a:bodyPr/>
                    <a:lstStyle/>
                    <a:p>
                      <a:pPr algn="ctr"/>
                      <a:r>
                        <a:rPr lang="en-US" sz="2400" b="1" dirty="0"/>
                        <a:t>0</a:t>
                      </a:r>
                    </a:p>
                  </a:txBody>
                  <a:tcPr/>
                </a:tc>
                <a:tc>
                  <a:txBody>
                    <a:bodyPr/>
                    <a:lstStyle/>
                    <a:p>
                      <a:pPr algn="ctr"/>
                      <a:r>
                        <a:rPr lang="en-US" sz="2400" b="1" dirty="0"/>
                        <a:t>1</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35127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&amp; factors</a:t>
            </a:r>
          </a:p>
        </p:txBody>
      </p:sp>
      <p:sp>
        <p:nvSpPr>
          <p:cNvPr id="3" name="Content Placeholder 2"/>
          <p:cNvSpPr>
            <a:spLocks noGrp="1"/>
          </p:cNvSpPr>
          <p:nvPr>
            <p:ph idx="1"/>
          </p:nvPr>
        </p:nvSpPr>
        <p:spPr>
          <a:xfrm>
            <a:off x="6676379" y="1904470"/>
            <a:ext cx="4953191" cy="4110718"/>
          </a:xfrm>
        </p:spPr>
        <p:txBody>
          <a:bodyPr/>
          <a:lstStyle/>
          <a:p>
            <a:r>
              <a:rPr lang="en-US" dirty="0"/>
              <a:t>DOF comes into play here: n categories can be specified with (n-1) variables</a:t>
            </a:r>
          </a:p>
          <a:p>
            <a:r>
              <a:rPr lang="en-US" dirty="0"/>
              <a:t>You can drop any category; R usually drops the first.</a:t>
            </a:r>
          </a:p>
        </p:txBody>
      </p:sp>
      <p:sp>
        <p:nvSpPr>
          <p:cNvPr id="11" name="TextBox 10"/>
          <p:cNvSpPr txBox="1"/>
          <p:nvPr/>
        </p:nvSpPr>
        <p:spPr>
          <a:xfrm>
            <a:off x="344715" y="1904470"/>
            <a:ext cx="2775953" cy="4031873"/>
          </a:xfrm>
          <a:prstGeom prst="rect">
            <a:avLst/>
          </a:prstGeom>
          <a:noFill/>
        </p:spPr>
        <p:txBody>
          <a:bodyPr wrap="none" rtlCol="0">
            <a:spAutoFit/>
          </a:bodyPr>
          <a:lstStyle/>
          <a:p>
            <a:r>
              <a:rPr lang="en-US" sz="3200" b="1" dirty="0"/>
              <a:t>Maturity group</a:t>
            </a:r>
          </a:p>
          <a:p>
            <a:pPr algn="ctr"/>
            <a:r>
              <a:rPr lang="en-US" sz="3200" dirty="0"/>
              <a:t>early</a:t>
            </a:r>
          </a:p>
          <a:p>
            <a:pPr algn="ctr"/>
            <a:r>
              <a:rPr lang="en-US" sz="3200" dirty="0"/>
              <a:t>early</a:t>
            </a:r>
          </a:p>
          <a:p>
            <a:pPr algn="ctr"/>
            <a:r>
              <a:rPr lang="en-US" sz="3200" dirty="0"/>
              <a:t>early</a:t>
            </a:r>
          </a:p>
          <a:p>
            <a:pPr algn="ctr"/>
            <a:r>
              <a:rPr lang="en-US" sz="3200" dirty="0"/>
              <a:t>middle</a:t>
            </a:r>
          </a:p>
          <a:p>
            <a:pPr algn="ctr"/>
            <a:r>
              <a:rPr lang="en-US" sz="3200" dirty="0"/>
              <a:t>…</a:t>
            </a:r>
          </a:p>
          <a:p>
            <a:pPr algn="ctr"/>
            <a:r>
              <a:rPr lang="en-US" sz="3200" dirty="0"/>
              <a:t>late</a:t>
            </a:r>
          </a:p>
          <a:p>
            <a:pPr algn="ctr"/>
            <a:r>
              <a:rPr lang="en-US" sz="3200" dirty="0"/>
              <a:t>late</a:t>
            </a:r>
            <a:endParaRPr lang="en-US" sz="2800" dirty="0"/>
          </a:p>
        </p:txBody>
      </p:sp>
      <p:sp>
        <p:nvSpPr>
          <p:cNvPr id="13" name="Right Arrow 12"/>
          <p:cNvSpPr/>
          <p:nvPr/>
        </p:nvSpPr>
        <p:spPr>
          <a:xfrm>
            <a:off x="2561868" y="3507523"/>
            <a:ext cx="747389" cy="8257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147328949"/>
              </p:ext>
            </p:extLst>
          </p:nvPr>
        </p:nvGraphicFramePr>
        <p:xfrm>
          <a:off x="3425276" y="1904470"/>
          <a:ext cx="3135084" cy="4031872"/>
        </p:xfrm>
        <a:graphic>
          <a:graphicData uri="http://schemas.openxmlformats.org/drawingml/2006/table">
            <a:tbl>
              <a:tblPr firstRow="1" bandRow="1">
                <a:tableStyleId>{7E9639D4-E3E2-4D34-9284-5A2195B3D0D7}</a:tableStyleId>
              </a:tblPr>
              <a:tblGrid>
                <a:gridCol w="943524">
                  <a:extLst>
                    <a:ext uri="{9D8B030D-6E8A-4147-A177-3AD203B41FA5}">
                      <a16:colId xmlns:a16="http://schemas.microsoft.com/office/drawing/2014/main" val="20000"/>
                    </a:ext>
                  </a:extLst>
                </a:gridCol>
                <a:gridCol w="1204686">
                  <a:extLst>
                    <a:ext uri="{9D8B030D-6E8A-4147-A177-3AD203B41FA5}">
                      <a16:colId xmlns:a16="http://schemas.microsoft.com/office/drawing/2014/main" val="20001"/>
                    </a:ext>
                  </a:extLst>
                </a:gridCol>
                <a:gridCol w="986874">
                  <a:extLst>
                    <a:ext uri="{9D8B030D-6E8A-4147-A177-3AD203B41FA5}">
                      <a16:colId xmlns:a16="http://schemas.microsoft.com/office/drawing/2014/main" val="20002"/>
                    </a:ext>
                  </a:extLst>
                </a:gridCol>
              </a:tblGrid>
              <a:tr h="503984">
                <a:tc>
                  <a:txBody>
                    <a:bodyPr/>
                    <a:lstStyle/>
                    <a:p>
                      <a:pPr algn="ctr"/>
                      <a:r>
                        <a:rPr lang="en-US" sz="2400" b="1" dirty="0"/>
                        <a:t>Early</a:t>
                      </a:r>
                    </a:p>
                  </a:txBody>
                  <a:tcPr>
                    <a:solidFill>
                      <a:schemeClr val="bg1">
                        <a:lumMod val="65000"/>
                      </a:schemeClr>
                    </a:solidFill>
                  </a:tcPr>
                </a:tc>
                <a:tc>
                  <a:txBody>
                    <a:bodyPr/>
                    <a:lstStyle/>
                    <a:p>
                      <a:pPr algn="ctr"/>
                      <a:r>
                        <a:rPr lang="en-US" sz="2400" b="1" dirty="0"/>
                        <a:t>Middle</a:t>
                      </a:r>
                    </a:p>
                  </a:txBody>
                  <a:tcPr/>
                </a:tc>
                <a:tc>
                  <a:txBody>
                    <a:bodyPr/>
                    <a:lstStyle/>
                    <a:p>
                      <a:pPr algn="ctr"/>
                      <a:r>
                        <a:rPr lang="en-US" sz="2400" b="1" dirty="0"/>
                        <a:t>Late</a:t>
                      </a:r>
                    </a:p>
                  </a:txBody>
                  <a:tcPr/>
                </a:tc>
                <a:extLst>
                  <a:ext uri="{0D108BD9-81ED-4DB2-BD59-A6C34878D82A}">
                    <a16:rowId xmlns:a16="http://schemas.microsoft.com/office/drawing/2014/main" val="10000"/>
                  </a:ext>
                </a:extLst>
              </a:tr>
              <a:tr h="503984">
                <a:tc>
                  <a:txBody>
                    <a:bodyPr/>
                    <a:lstStyle/>
                    <a:p>
                      <a:pPr algn="ctr"/>
                      <a:r>
                        <a:rPr lang="en-US" sz="2400" b="1" dirty="0">
                          <a:solidFill>
                            <a:schemeClr val="bg1">
                              <a:lumMod val="65000"/>
                            </a:schemeClr>
                          </a:solidFill>
                        </a:rPr>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1"/>
                  </a:ext>
                </a:extLst>
              </a:tr>
              <a:tr h="503984">
                <a:tc>
                  <a:txBody>
                    <a:bodyPr/>
                    <a:lstStyle/>
                    <a:p>
                      <a:pPr algn="ctr"/>
                      <a:r>
                        <a:rPr lang="en-US" sz="2400" b="1" dirty="0">
                          <a:solidFill>
                            <a:schemeClr val="bg1">
                              <a:lumMod val="65000"/>
                            </a:schemeClr>
                          </a:solidFill>
                        </a:rPr>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2"/>
                  </a:ext>
                </a:extLst>
              </a:tr>
              <a:tr h="503984">
                <a:tc>
                  <a:txBody>
                    <a:bodyPr/>
                    <a:lstStyle/>
                    <a:p>
                      <a:pPr algn="ctr"/>
                      <a:r>
                        <a:rPr lang="en-US" sz="2400" b="1" dirty="0">
                          <a:solidFill>
                            <a:schemeClr val="bg1">
                              <a:lumMod val="65000"/>
                            </a:schemeClr>
                          </a:solidFill>
                        </a:rPr>
                        <a:t>1</a:t>
                      </a:r>
                    </a:p>
                  </a:txBody>
                  <a:tcPr/>
                </a:tc>
                <a:tc>
                  <a:txBody>
                    <a:bodyPr/>
                    <a:lstStyle/>
                    <a:p>
                      <a:pPr algn="ctr"/>
                      <a:r>
                        <a:rPr lang="en-US" sz="2400" b="1" dirty="0"/>
                        <a:t>0</a:t>
                      </a:r>
                    </a:p>
                  </a:txBody>
                  <a:tcPr/>
                </a:tc>
                <a:tc>
                  <a:txBody>
                    <a:bodyPr/>
                    <a:lstStyle/>
                    <a:p>
                      <a:pPr algn="ctr"/>
                      <a:r>
                        <a:rPr lang="en-US" sz="2400" b="1" dirty="0"/>
                        <a:t>0</a:t>
                      </a:r>
                    </a:p>
                  </a:txBody>
                  <a:tcPr/>
                </a:tc>
                <a:extLst>
                  <a:ext uri="{0D108BD9-81ED-4DB2-BD59-A6C34878D82A}">
                    <a16:rowId xmlns:a16="http://schemas.microsoft.com/office/drawing/2014/main" val="10003"/>
                  </a:ext>
                </a:extLst>
              </a:tr>
              <a:tr h="503984">
                <a:tc>
                  <a:txBody>
                    <a:bodyPr/>
                    <a:lstStyle/>
                    <a:p>
                      <a:pPr algn="ctr"/>
                      <a:r>
                        <a:rPr lang="en-US" sz="2400" b="1" dirty="0">
                          <a:solidFill>
                            <a:schemeClr val="bg1">
                              <a:lumMod val="65000"/>
                            </a:schemeClr>
                          </a:solidFill>
                        </a:rPr>
                        <a:t>0</a:t>
                      </a:r>
                    </a:p>
                  </a:txBody>
                  <a:tcPr/>
                </a:tc>
                <a:tc>
                  <a:txBody>
                    <a:bodyPr/>
                    <a:lstStyle/>
                    <a:p>
                      <a:pPr algn="ctr"/>
                      <a:r>
                        <a:rPr lang="en-US" sz="2400" b="1" dirty="0"/>
                        <a:t>1</a:t>
                      </a:r>
                    </a:p>
                  </a:txBody>
                  <a:tcPr/>
                </a:tc>
                <a:tc>
                  <a:txBody>
                    <a:bodyPr/>
                    <a:lstStyle/>
                    <a:p>
                      <a:pPr algn="ctr"/>
                      <a:r>
                        <a:rPr lang="en-US" sz="2400" b="1" dirty="0"/>
                        <a:t>0</a:t>
                      </a:r>
                    </a:p>
                  </a:txBody>
                  <a:tcPr/>
                </a:tc>
                <a:extLst>
                  <a:ext uri="{0D108BD9-81ED-4DB2-BD59-A6C34878D82A}">
                    <a16:rowId xmlns:a16="http://schemas.microsoft.com/office/drawing/2014/main" val="10004"/>
                  </a:ext>
                </a:extLst>
              </a:tr>
              <a:tr h="503984">
                <a:tc>
                  <a:txBody>
                    <a:bodyPr/>
                    <a:lstStyle/>
                    <a:p>
                      <a:pPr algn="ctr"/>
                      <a:r>
                        <a:rPr lang="en-US" sz="2400" b="1" dirty="0">
                          <a:solidFill>
                            <a:schemeClr val="bg1">
                              <a:lumMod val="65000"/>
                            </a:schemeClr>
                          </a:solidFill>
                        </a:rPr>
                        <a:t>…</a:t>
                      </a:r>
                    </a:p>
                  </a:txBody>
                  <a:tcPr/>
                </a:tc>
                <a:tc>
                  <a:txBody>
                    <a:bodyPr/>
                    <a:lstStyle/>
                    <a:p>
                      <a:pPr algn="ctr"/>
                      <a:r>
                        <a:rPr lang="en-US" sz="2400" b="1" dirty="0"/>
                        <a:t>…</a:t>
                      </a:r>
                    </a:p>
                  </a:txBody>
                  <a:tcPr/>
                </a:tc>
                <a:tc>
                  <a:txBody>
                    <a:bodyPr/>
                    <a:lstStyle/>
                    <a:p>
                      <a:pPr algn="ctr"/>
                      <a:r>
                        <a:rPr lang="en-US" sz="2400" b="1" dirty="0"/>
                        <a:t>…</a:t>
                      </a:r>
                    </a:p>
                  </a:txBody>
                  <a:tcPr/>
                </a:tc>
                <a:extLst>
                  <a:ext uri="{0D108BD9-81ED-4DB2-BD59-A6C34878D82A}">
                    <a16:rowId xmlns:a16="http://schemas.microsoft.com/office/drawing/2014/main" val="10005"/>
                  </a:ext>
                </a:extLst>
              </a:tr>
              <a:tr h="503984">
                <a:tc>
                  <a:txBody>
                    <a:bodyPr/>
                    <a:lstStyle/>
                    <a:p>
                      <a:pPr algn="ctr"/>
                      <a:r>
                        <a:rPr lang="en-US" sz="2400" b="1" dirty="0">
                          <a:solidFill>
                            <a:schemeClr val="bg1">
                              <a:lumMod val="65000"/>
                            </a:schemeClr>
                          </a:solidFill>
                        </a:rPr>
                        <a:t>0</a:t>
                      </a:r>
                    </a:p>
                  </a:txBody>
                  <a:tcPr/>
                </a:tc>
                <a:tc>
                  <a:txBody>
                    <a:bodyPr/>
                    <a:lstStyle/>
                    <a:p>
                      <a:pPr algn="ctr"/>
                      <a:r>
                        <a:rPr lang="en-US" sz="2400" b="1" dirty="0"/>
                        <a:t>0</a:t>
                      </a:r>
                    </a:p>
                  </a:txBody>
                  <a:tcPr/>
                </a:tc>
                <a:tc>
                  <a:txBody>
                    <a:bodyPr/>
                    <a:lstStyle/>
                    <a:p>
                      <a:pPr algn="ctr"/>
                      <a:r>
                        <a:rPr lang="en-US" sz="2400" b="1" dirty="0"/>
                        <a:t>1</a:t>
                      </a:r>
                    </a:p>
                  </a:txBody>
                  <a:tcPr/>
                </a:tc>
                <a:extLst>
                  <a:ext uri="{0D108BD9-81ED-4DB2-BD59-A6C34878D82A}">
                    <a16:rowId xmlns:a16="http://schemas.microsoft.com/office/drawing/2014/main" val="10006"/>
                  </a:ext>
                </a:extLst>
              </a:tr>
              <a:tr h="503984">
                <a:tc>
                  <a:txBody>
                    <a:bodyPr/>
                    <a:lstStyle/>
                    <a:p>
                      <a:pPr algn="ctr"/>
                      <a:r>
                        <a:rPr lang="en-US" sz="2400" b="1" dirty="0">
                          <a:solidFill>
                            <a:schemeClr val="bg1">
                              <a:lumMod val="65000"/>
                            </a:schemeClr>
                          </a:solidFill>
                        </a:rPr>
                        <a:t>0</a:t>
                      </a:r>
                    </a:p>
                  </a:txBody>
                  <a:tcPr/>
                </a:tc>
                <a:tc>
                  <a:txBody>
                    <a:bodyPr/>
                    <a:lstStyle/>
                    <a:p>
                      <a:pPr algn="ctr"/>
                      <a:r>
                        <a:rPr lang="en-US" sz="2400" b="1" dirty="0"/>
                        <a:t>0</a:t>
                      </a:r>
                    </a:p>
                  </a:txBody>
                  <a:tcPr/>
                </a:tc>
                <a:tc>
                  <a:txBody>
                    <a:bodyPr/>
                    <a:lstStyle/>
                    <a:p>
                      <a:pPr algn="ctr"/>
                      <a:r>
                        <a:rPr lang="en-US" sz="2400" b="1" dirty="0"/>
                        <a:t>1</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91836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7" name="TextBox 6"/>
          <p:cNvSpPr txBox="1"/>
          <p:nvPr/>
        </p:nvSpPr>
        <p:spPr>
          <a:xfrm>
            <a:off x="2400252" y="2558823"/>
            <a:ext cx="1965603" cy="4031873"/>
          </a:xfrm>
          <a:prstGeom prst="rect">
            <a:avLst/>
          </a:prstGeom>
          <a:noFill/>
        </p:spPr>
        <p:txBody>
          <a:bodyPr wrap="none" rtlCol="0">
            <a:spAutoFit/>
          </a:bodyPr>
          <a:lstStyle/>
          <a:p>
            <a:pPr algn="ctr"/>
            <a:r>
              <a:rPr lang="en-US" sz="3200" b="1" dirty="0"/>
              <a:t>Coloration</a:t>
            </a:r>
          </a:p>
          <a:p>
            <a:pPr algn="ctr"/>
            <a:r>
              <a:rPr lang="en-US" sz="3200" dirty="0"/>
              <a:t>Red</a:t>
            </a:r>
          </a:p>
          <a:p>
            <a:pPr algn="ctr"/>
            <a:r>
              <a:rPr lang="en-US" sz="3200" dirty="0"/>
              <a:t>Yellow</a:t>
            </a:r>
          </a:p>
          <a:p>
            <a:pPr algn="ctr"/>
            <a:r>
              <a:rPr lang="en-US" sz="3200" dirty="0"/>
              <a:t>Orange</a:t>
            </a:r>
          </a:p>
          <a:p>
            <a:pPr algn="ctr"/>
            <a:r>
              <a:rPr lang="en-US" sz="3200" dirty="0"/>
              <a:t>Yellow</a:t>
            </a:r>
          </a:p>
          <a:p>
            <a:pPr algn="ctr"/>
            <a:r>
              <a:rPr lang="en-US" sz="3200" dirty="0"/>
              <a:t>Orange</a:t>
            </a:r>
          </a:p>
          <a:p>
            <a:pPr algn="ctr"/>
            <a:r>
              <a:rPr lang="en-US" sz="3200" dirty="0"/>
              <a:t>Orange</a:t>
            </a:r>
          </a:p>
          <a:p>
            <a:pPr algn="ctr"/>
            <a:r>
              <a:rPr lang="en-US" sz="3200" dirty="0"/>
              <a:t>Red</a:t>
            </a:r>
            <a:endParaRPr lang="en-US" sz="28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80205" y="3502827"/>
            <a:ext cx="4089854" cy="2355757"/>
          </a:xfrm>
          <a:prstGeom prst="rect">
            <a:avLst/>
          </a:prstGeom>
          <a:effectLst>
            <a:softEdge rad="63500"/>
          </a:effectLst>
        </p:spPr>
      </p:pic>
    </p:spTree>
    <p:extLst>
      <p:ext uri="{BB962C8B-B14F-4D97-AF65-F5344CB8AC3E}">
        <p14:creationId xmlns:p14="http://schemas.microsoft.com/office/powerpoint/2010/main" val="1999646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400252" y="2558823"/>
            <a:ext cx="1965603" cy="4031873"/>
          </a:xfrm>
          <a:prstGeom prst="rect">
            <a:avLst/>
          </a:prstGeom>
          <a:noFill/>
        </p:spPr>
        <p:txBody>
          <a:bodyPr wrap="none" rtlCol="0">
            <a:spAutoFit/>
          </a:bodyPr>
          <a:lstStyle/>
          <a:p>
            <a:pPr algn="ctr"/>
            <a:r>
              <a:rPr lang="en-US" sz="3200" b="1" dirty="0"/>
              <a:t>Coloration</a:t>
            </a:r>
          </a:p>
          <a:p>
            <a:pPr algn="ctr"/>
            <a:r>
              <a:rPr lang="en-US" sz="3200" dirty="0"/>
              <a:t>Red</a:t>
            </a:r>
          </a:p>
          <a:p>
            <a:pPr algn="ctr"/>
            <a:r>
              <a:rPr lang="en-US" sz="3200" dirty="0"/>
              <a:t>Yellow</a:t>
            </a:r>
          </a:p>
          <a:p>
            <a:pPr algn="ctr"/>
            <a:r>
              <a:rPr lang="en-US" sz="3200" dirty="0"/>
              <a:t>Orange</a:t>
            </a:r>
          </a:p>
          <a:p>
            <a:pPr algn="ctr"/>
            <a:r>
              <a:rPr lang="en-US" sz="3200" dirty="0"/>
              <a:t>Yellow</a:t>
            </a:r>
          </a:p>
          <a:p>
            <a:pPr algn="ctr"/>
            <a:r>
              <a:rPr lang="en-US" sz="3200" dirty="0"/>
              <a:t>Orange</a:t>
            </a:r>
          </a:p>
          <a:p>
            <a:pPr algn="ctr"/>
            <a:r>
              <a:rPr lang="en-US" sz="3200" dirty="0"/>
              <a:t>Orange</a:t>
            </a:r>
          </a:p>
          <a:p>
            <a:pPr algn="ctr"/>
            <a:r>
              <a:rPr lang="en-US" sz="3200" dirty="0"/>
              <a:t>Red</a:t>
            </a:r>
            <a:endParaRPr lang="en-US" sz="2800" dirty="0"/>
          </a:p>
        </p:txBody>
      </p:sp>
      <p:sp>
        <p:nvSpPr>
          <p:cNvPr id="6" name="TextBox 5"/>
          <p:cNvSpPr txBox="1"/>
          <p:nvPr/>
        </p:nvSpPr>
        <p:spPr>
          <a:xfrm>
            <a:off x="5939036" y="2558823"/>
            <a:ext cx="835870" cy="4031873"/>
          </a:xfrm>
          <a:prstGeom prst="rect">
            <a:avLst/>
          </a:prstGeom>
          <a:noFill/>
        </p:spPr>
        <p:txBody>
          <a:bodyPr wrap="none" rtlCol="0">
            <a:spAutoFit/>
          </a:bodyPr>
          <a:lstStyle/>
          <a:p>
            <a:pPr algn="ctr"/>
            <a:r>
              <a:rPr lang="en-US" sz="3200" b="1" dirty="0">
                <a:solidFill>
                  <a:schemeClr val="bg1">
                    <a:lumMod val="65000"/>
                  </a:schemeClr>
                </a:solidFill>
              </a:rPr>
              <a:t>Red</a:t>
            </a:r>
          </a:p>
          <a:p>
            <a:pPr algn="ctr"/>
            <a:r>
              <a:rPr lang="en-US" sz="3200" dirty="0">
                <a:solidFill>
                  <a:schemeClr val="bg1">
                    <a:lumMod val="65000"/>
                  </a:schemeClr>
                </a:solidFill>
              </a:rPr>
              <a:t>1</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1</a:t>
            </a:r>
            <a:endParaRPr lang="en-US" sz="2800" dirty="0">
              <a:solidFill>
                <a:schemeClr val="bg1">
                  <a:lumMod val="65000"/>
                </a:schemeClr>
              </a:solidFill>
            </a:endParaRPr>
          </a:p>
        </p:txBody>
      </p:sp>
      <p:sp>
        <p:nvSpPr>
          <p:cNvPr id="7" name="TextBox 6"/>
          <p:cNvSpPr txBox="1"/>
          <p:nvPr/>
        </p:nvSpPr>
        <p:spPr>
          <a:xfrm>
            <a:off x="6913498" y="2558823"/>
            <a:ext cx="1416734" cy="4031873"/>
          </a:xfrm>
          <a:prstGeom prst="rect">
            <a:avLst/>
          </a:prstGeom>
          <a:noFill/>
        </p:spPr>
        <p:txBody>
          <a:bodyPr wrap="none" rtlCol="0">
            <a:spAutoFit/>
          </a:bodyPr>
          <a:lstStyle/>
          <a:p>
            <a:pPr algn="ctr"/>
            <a:r>
              <a:rPr lang="en-US" sz="3200" b="1" dirty="0"/>
              <a:t>Orange</a:t>
            </a:r>
          </a:p>
          <a:p>
            <a:pPr algn="ctr"/>
            <a:r>
              <a:rPr lang="en-US" sz="3200" dirty="0"/>
              <a:t>0</a:t>
            </a:r>
          </a:p>
          <a:p>
            <a:pPr algn="ctr"/>
            <a:r>
              <a:rPr lang="en-US" sz="3200" dirty="0"/>
              <a:t>0</a:t>
            </a:r>
          </a:p>
          <a:p>
            <a:pPr algn="ctr"/>
            <a:r>
              <a:rPr lang="en-US" sz="3200" dirty="0"/>
              <a:t>1</a:t>
            </a:r>
          </a:p>
          <a:p>
            <a:pPr algn="ctr"/>
            <a:r>
              <a:rPr lang="en-US" sz="3200" dirty="0"/>
              <a:t>0</a:t>
            </a:r>
          </a:p>
          <a:p>
            <a:pPr algn="ctr"/>
            <a:r>
              <a:rPr lang="en-US" sz="3200" dirty="0"/>
              <a:t>1</a:t>
            </a:r>
          </a:p>
          <a:p>
            <a:pPr algn="ctr"/>
            <a:r>
              <a:rPr lang="en-US" sz="3200" dirty="0"/>
              <a:t>1</a:t>
            </a:r>
          </a:p>
          <a:p>
            <a:pPr algn="ctr"/>
            <a:r>
              <a:rPr lang="en-US" sz="3200" dirty="0"/>
              <a:t>0</a:t>
            </a:r>
            <a:endParaRPr lang="en-US" sz="2800" dirty="0"/>
          </a:p>
        </p:txBody>
      </p:sp>
      <p:sp>
        <p:nvSpPr>
          <p:cNvPr id="8" name="TextBox 7"/>
          <p:cNvSpPr txBox="1"/>
          <p:nvPr/>
        </p:nvSpPr>
        <p:spPr>
          <a:xfrm>
            <a:off x="8468825" y="2558823"/>
            <a:ext cx="1300292" cy="4031873"/>
          </a:xfrm>
          <a:prstGeom prst="rect">
            <a:avLst/>
          </a:prstGeom>
          <a:noFill/>
        </p:spPr>
        <p:txBody>
          <a:bodyPr wrap="none" rtlCol="0">
            <a:spAutoFit/>
          </a:bodyPr>
          <a:lstStyle/>
          <a:p>
            <a:pPr algn="ctr"/>
            <a:r>
              <a:rPr lang="en-US" sz="3200" b="1" dirty="0"/>
              <a:t>Yellow</a:t>
            </a:r>
          </a:p>
          <a:p>
            <a:pPr algn="ctr"/>
            <a:r>
              <a:rPr lang="en-US" sz="3200" dirty="0"/>
              <a:t>0</a:t>
            </a:r>
          </a:p>
          <a:p>
            <a:pPr algn="ctr"/>
            <a:r>
              <a:rPr lang="en-US" sz="3200" dirty="0"/>
              <a:t>1</a:t>
            </a:r>
          </a:p>
          <a:p>
            <a:pPr algn="ctr"/>
            <a:r>
              <a:rPr lang="en-US" sz="3200" dirty="0"/>
              <a:t>0</a:t>
            </a:r>
          </a:p>
          <a:p>
            <a:pPr algn="ctr"/>
            <a:r>
              <a:rPr lang="en-US" sz="3200" dirty="0"/>
              <a:t>1</a:t>
            </a:r>
          </a:p>
          <a:p>
            <a:pPr algn="ctr"/>
            <a:r>
              <a:rPr lang="en-US" sz="3200" dirty="0"/>
              <a:t>0</a:t>
            </a:r>
          </a:p>
          <a:p>
            <a:pPr algn="ctr"/>
            <a:r>
              <a:rPr lang="en-US" sz="3200" dirty="0"/>
              <a:t>0</a:t>
            </a:r>
          </a:p>
          <a:p>
            <a:pPr algn="ctr"/>
            <a:r>
              <a:rPr lang="en-US" sz="3200" dirty="0"/>
              <a:t>0</a:t>
            </a:r>
            <a:endParaRPr lang="en-US" sz="280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80205" y="3502827"/>
            <a:ext cx="4089854" cy="2355757"/>
          </a:xfrm>
          <a:prstGeom prst="rect">
            <a:avLst/>
          </a:prstGeom>
          <a:effectLst>
            <a:softEdge rad="63500"/>
          </a:effectLst>
        </p:spPr>
      </p:pic>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5192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512751" y="2558823"/>
            <a:ext cx="1740605" cy="4031873"/>
          </a:xfrm>
          <a:prstGeom prst="rect">
            <a:avLst/>
          </a:prstGeom>
          <a:noFill/>
        </p:spPr>
        <p:txBody>
          <a:bodyPr wrap="none" rtlCol="0">
            <a:spAutoFit/>
          </a:bodyPr>
          <a:lstStyle/>
          <a:p>
            <a:pPr algn="ctr"/>
            <a:r>
              <a:rPr lang="en-US" sz="3200" b="1" dirty="0"/>
              <a:t>Plant Sex</a:t>
            </a:r>
          </a:p>
          <a:p>
            <a:pPr algn="ctr"/>
            <a:r>
              <a:rPr lang="en-US" sz="3200" dirty="0"/>
              <a:t>Male</a:t>
            </a:r>
          </a:p>
          <a:p>
            <a:pPr algn="ctr"/>
            <a:r>
              <a:rPr lang="en-US" sz="3200" dirty="0"/>
              <a:t>Male</a:t>
            </a:r>
          </a:p>
          <a:p>
            <a:pPr algn="ctr"/>
            <a:r>
              <a:rPr lang="en-US" sz="3200" dirty="0"/>
              <a:t>Female</a:t>
            </a:r>
          </a:p>
          <a:p>
            <a:pPr algn="ctr"/>
            <a:r>
              <a:rPr lang="en-US" sz="3200" dirty="0"/>
              <a:t>Male</a:t>
            </a:r>
          </a:p>
          <a:p>
            <a:pPr algn="ctr"/>
            <a:r>
              <a:rPr lang="en-US" sz="3200" dirty="0"/>
              <a:t>Female</a:t>
            </a:r>
          </a:p>
          <a:p>
            <a:pPr algn="ctr"/>
            <a:r>
              <a:rPr lang="en-US" sz="3200" dirty="0"/>
              <a:t>Female</a:t>
            </a:r>
          </a:p>
          <a:p>
            <a:pPr algn="ctr"/>
            <a:r>
              <a:rPr lang="en-US" sz="3200" dirty="0"/>
              <a:t>Female</a:t>
            </a:r>
            <a:endParaRPr lang="en-US" sz="28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5074" t="12352" r="18976" b="19943"/>
          <a:stretch/>
        </p:blipFill>
        <p:spPr>
          <a:xfrm>
            <a:off x="203199" y="4637510"/>
            <a:ext cx="2173443" cy="1676656"/>
          </a:xfrm>
          <a:prstGeom prst="rect">
            <a:avLst/>
          </a:prstGeom>
          <a:effectLst>
            <a:softEdge rad="63500"/>
          </a:effectLst>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35347" t="14435" r="29714" b="24729"/>
          <a:stretch/>
        </p:blipFill>
        <p:spPr>
          <a:xfrm rot="5400000">
            <a:off x="459356" y="2734540"/>
            <a:ext cx="1661132" cy="2173443"/>
          </a:xfrm>
          <a:prstGeom prst="rect">
            <a:avLst/>
          </a:prstGeom>
          <a:effectLst>
            <a:softEdge rad="63500"/>
          </a:effectLst>
        </p:spPr>
      </p:pic>
      <p:sp>
        <p:nvSpPr>
          <p:cNvPr id="7" name="TextBox 6"/>
          <p:cNvSpPr txBox="1"/>
          <p:nvPr/>
        </p:nvSpPr>
        <p:spPr>
          <a:xfrm>
            <a:off x="925407" y="6008944"/>
            <a:ext cx="1438535" cy="276999"/>
          </a:xfrm>
          <a:prstGeom prst="rect">
            <a:avLst/>
          </a:prstGeom>
          <a:solidFill>
            <a:srgbClr val="000000">
              <a:alpha val="20000"/>
            </a:srgbClr>
          </a:solidFill>
          <a:effectLst>
            <a:softEdge rad="63500"/>
          </a:effectLst>
        </p:spPr>
        <p:txBody>
          <a:bodyPr wrap="none" rtlCol="0">
            <a:spAutoFit/>
          </a:bodyPr>
          <a:lstStyle/>
          <a:p>
            <a:r>
              <a:rPr lang="en-US" sz="1200" i="1" dirty="0">
                <a:solidFill>
                  <a:schemeClr val="bg1">
                    <a:lumMod val="95000"/>
                  </a:schemeClr>
                </a:solidFill>
              </a:rPr>
              <a:t>CarolinaNature.com</a:t>
            </a:r>
          </a:p>
        </p:txBody>
      </p:sp>
    </p:spTree>
    <p:extLst>
      <p:ext uri="{BB962C8B-B14F-4D97-AF65-F5344CB8AC3E}">
        <p14:creationId xmlns:p14="http://schemas.microsoft.com/office/powerpoint/2010/main" val="365048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512751" y="2558823"/>
            <a:ext cx="1740605" cy="4031873"/>
          </a:xfrm>
          <a:prstGeom prst="rect">
            <a:avLst/>
          </a:prstGeom>
          <a:noFill/>
        </p:spPr>
        <p:txBody>
          <a:bodyPr wrap="none" rtlCol="0">
            <a:spAutoFit/>
          </a:bodyPr>
          <a:lstStyle/>
          <a:p>
            <a:pPr algn="ctr"/>
            <a:r>
              <a:rPr lang="en-US" sz="3200" b="1" dirty="0"/>
              <a:t>Plant Sex</a:t>
            </a:r>
          </a:p>
          <a:p>
            <a:pPr algn="ctr"/>
            <a:r>
              <a:rPr lang="en-US" sz="3200" dirty="0"/>
              <a:t>Male</a:t>
            </a:r>
          </a:p>
          <a:p>
            <a:pPr algn="ctr"/>
            <a:r>
              <a:rPr lang="en-US" sz="3200" dirty="0"/>
              <a:t>Male</a:t>
            </a:r>
          </a:p>
          <a:p>
            <a:pPr algn="ctr"/>
            <a:r>
              <a:rPr lang="en-US" sz="3200" dirty="0"/>
              <a:t>Female</a:t>
            </a:r>
          </a:p>
          <a:p>
            <a:pPr algn="ctr"/>
            <a:r>
              <a:rPr lang="en-US" sz="3200" dirty="0"/>
              <a:t>Male</a:t>
            </a:r>
          </a:p>
          <a:p>
            <a:pPr algn="ctr"/>
            <a:r>
              <a:rPr lang="en-US" sz="3200" dirty="0"/>
              <a:t>Female</a:t>
            </a:r>
          </a:p>
          <a:p>
            <a:pPr algn="ctr"/>
            <a:r>
              <a:rPr lang="en-US" sz="3200" dirty="0"/>
              <a:t>Female</a:t>
            </a:r>
          </a:p>
          <a:p>
            <a:pPr algn="ctr"/>
            <a:r>
              <a:rPr lang="en-US" sz="3200" dirty="0"/>
              <a:t>Female</a:t>
            </a:r>
            <a:endParaRPr lang="en-US" sz="2800" dirty="0"/>
          </a:p>
        </p:txBody>
      </p:sp>
      <p:sp>
        <p:nvSpPr>
          <p:cNvPr id="9" name="TextBox 8"/>
          <p:cNvSpPr txBox="1"/>
          <p:nvPr/>
        </p:nvSpPr>
        <p:spPr>
          <a:xfrm>
            <a:off x="5830225" y="2558823"/>
            <a:ext cx="1053494" cy="4031873"/>
          </a:xfrm>
          <a:prstGeom prst="rect">
            <a:avLst/>
          </a:prstGeom>
          <a:noFill/>
        </p:spPr>
        <p:txBody>
          <a:bodyPr wrap="none" rtlCol="0">
            <a:spAutoFit/>
          </a:bodyPr>
          <a:lstStyle/>
          <a:p>
            <a:pPr algn="ctr"/>
            <a:r>
              <a:rPr lang="en-US" sz="3200" b="1" dirty="0">
                <a:solidFill>
                  <a:schemeClr val="bg1">
                    <a:lumMod val="65000"/>
                  </a:schemeClr>
                </a:solidFill>
              </a:rPr>
              <a:t>Male</a:t>
            </a:r>
          </a:p>
          <a:p>
            <a:pPr algn="ctr"/>
            <a:r>
              <a:rPr lang="en-US" sz="3200" dirty="0">
                <a:solidFill>
                  <a:schemeClr val="bg1">
                    <a:lumMod val="65000"/>
                  </a:schemeClr>
                </a:solidFill>
              </a:rPr>
              <a:t>1</a:t>
            </a:r>
          </a:p>
          <a:p>
            <a:pPr algn="ctr"/>
            <a:r>
              <a:rPr lang="en-US" sz="3200" dirty="0">
                <a:solidFill>
                  <a:schemeClr val="bg1">
                    <a:lumMod val="65000"/>
                  </a:schemeClr>
                </a:solidFill>
              </a:rPr>
              <a:t>1</a:t>
            </a:r>
          </a:p>
          <a:p>
            <a:pPr algn="ctr"/>
            <a:r>
              <a:rPr lang="en-US" sz="3200" dirty="0">
                <a:solidFill>
                  <a:schemeClr val="bg1">
                    <a:lumMod val="65000"/>
                  </a:schemeClr>
                </a:solidFill>
              </a:rPr>
              <a:t>0</a:t>
            </a:r>
          </a:p>
          <a:p>
            <a:pPr algn="ctr"/>
            <a:r>
              <a:rPr lang="en-US" sz="3200" dirty="0">
                <a:solidFill>
                  <a:schemeClr val="bg1">
                    <a:lumMod val="65000"/>
                  </a:schemeClr>
                </a:solidFill>
              </a:rPr>
              <a:t>1</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0</a:t>
            </a:r>
            <a:endParaRPr lang="en-US" sz="2800" dirty="0">
              <a:solidFill>
                <a:schemeClr val="bg1">
                  <a:lumMod val="65000"/>
                </a:schemeClr>
              </a:solidFill>
            </a:endParaRPr>
          </a:p>
        </p:txBody>
      </p:sp>
      <p:sp>
        <p:nvSpPr>
          <p:cNvPr id="10" name="TextBox 9"/>
          <p:cNvSpPr txBox="1"/>
          <p:nvPr/>
        </p:nvSpPr>
        <p:spPr>
          <a:xfrm>
            <a:off x="6912986" y="2558823"/>
            <a:ext cx="1417760" cy="4031873"/>
          </a:xfrm>
          <a:prstGeom prst="rect">
            <a:avLst/>
          </a:prstGeom>
          <a:noFill/>
        </p:spPr>
        <p:txBody>
          <a:bodyPr wrap="none" rtlCol="0">
            <a:spAutoFit/>
          </a:bodyPr>
          <a:lstStyle/>
          <a:p>
            <a:pPr algn="ctr"/>
            <a:r>
              <a:rPr lang="en-US" sz="3200" b="1" dirty="0"/>
              <a:t>Female</a:t>
            </a:r>
          </a:p>
          <a:p>
            <a:pPr algn="ctr"/>
            <a:r>
              <a:rPr lang="en-US" sz="3200" dirty="0"/>
              <a:t>0</a:t>
            </a:r>
          </a:p>
          <a:p>
            <a:pPr algn="ctr"/>
            <a:r>
              <a:rPr lang="en-US" sz="3200" dirty="0"/>
              <a:t>0</a:t>
            </a:r>
          </a:p>
          <a:p>
            <a:pPr algn="ctr"/>
            <a:r>
              <a:rPr lang="en-US" sz="3200" dirty="0"/>
              <a:t>1</a:t>
            </a:r>
          </a:p>
          <a:p>
            <a:pPr algn="ctr"/>
            <a:r>
              <a:rPr lang="en-US" sz="3200" dirty="0"/>
              <a:t>0</a:t>
            </a:r>
          </a:p>
          <a:p>
            <a:pPr algn="ctr"/>
            <a:r>
              <a:rPr lang="en-US" sz="3200" dirty="0"/>
              <a:t>1</a:t>
            </a:r>
          </a:p>
          <a:p>
            <a:pPr algn="ctr"/>
            <a:r>
              <a:rPr lang="en-US" sz="3200" dirty="0"/>
              <a:t>1</a:t>
            </a:r>
          </a:p>
          <a:p>
            <a:pPr algn="ctr"/>
            <a:r>
              <a:rPr lang="en-US" sz="3200" dirty="0"/>
              <a:t>1</a:t>
            </a:r>
            <a:endParaRPr lang="en-US" sz="280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15074" t="12352" r="18976" b="19943"/>
          <a:stretch/>
        </p:blipFill>
        <p:spPr>
          <a:xfrm>
            <a:off x="203199" y="4637510"/>
            <a:ext cx="2173443" cy="1676656"/>
          </a:xfrm>
          <a:prstGeom prst="rect">
            <a:avLst/>
          </a:prstGeom>
          <a:effectLst>
            <a:softEdge rad="63500"/>
          </a:effectLst>
        </p:spPr>
      </p:pic>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l="35347" t="14435" r="29714" b="24729"/>
          <a:stretch/>
        </p:blipFill>
        <p:spPr>
          <a:xfrm rot="5400000">
            <a:off x="459356" y="2734540"/>
            <a:ext cx="1661132" cy="2173443"/>
          </a:xfrm>
          <a:prstGeom prst="rect">
            <a:avLst/>
          </a:prstGeom>
          <a:effectLst>
            <a:softEdge rad="63500"/>
          </a:effectLst>
        </p:spPr>
      </p:pic>
      <p:sp>
        <p:nvSpPr>
          <p:cNvPr id="13" name="TextBox 12"/>
          <p:cNvSpPr txBox="1"/>
          <p:nvPr/>
        </p:nvSpPr>
        <p:spPr>
          <a:xfrm>
            <a:off x="925407" y="6008944"/>
            <a:ext cx="1438535" cy="276999"/>
          </a:xfrm>
          <a:prstGeom prst="rect">
            <a:avLst/>
          </a:prstGeom>
          <a:solidFill>
            <a:srgbClr val="000000">
              <a:alpha val="20000"/>
            </a:srgbClr>
          </a:solidFill>
          <a:effectLst>
            <a:softEdge rad="63500"/>
          </a:effectLst>
        </p:spPr>
        <p:txBody>
          <a:bodyPr wrap="none" rtlCol="0">
            <a:spAutoFit/>
          </a:bodyPr>
          <a:lstStyle/>
          <a:p>
            <a:r>
              <a:rPr lang="en-US" sz="1200" i="1" dirty="0">
                <a:solidFill>
                  <a:schemeClr val="bg1">
                    <a:lumMod val="95000"/>
                  </a:schemeClr>
                </a:solidFill>
              </a:rPr>
              <a:t>CarolinaNature.com</a:t>
            </a:r>
          </a:p>
        </p:txBody>
      </p:sp>
      <p:sp>
        <p:nvSpPr>
          <p:cNvPr id="14" name="&quot;No&quot; Symbol 1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92840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499093" y="2558823"/>
            <a:ext cx="1285928" cy="4031873"/>
          </a:xfrm>
          <a:prstGeom prst="rect">
            <a:avLst/>
          </a:prstGeom>
          <a:noFill/>
        </p:spPr>
        <p:txBody>
          <a:bodyPr wrap="none" rtlCol="0">
            <a:spAutoFit/>
          </a:bodyPr>
          <a:lstStyle/>
          <a:p>
            <a:pPr algn="ctr"/>
            <a:r>
              <a:rPr lang="en-US" sz="3200" b="1" dirty="0"/>
              <a:t>Block</a:t>
            </a:r>
          </a:p>
          <a:p>
            <a:pPr algn="ctr"/>
            <a:r>
              <a:rPr lang="en-US" sz="3200" dirty="0"/>
              <a:t>Block1</a:t>
            </a:r>
          </a:p>
          <a:p>
            <a:pPr algn="ctr"/>
            <a:r>
              <a:rPr lang="en-US" sz="3200" dirty="0"/>
              <a:t>Block2</a:t>
            </a:r>
          </a:p>
          <a:p>
            <a:pPr algn="ctr"/>
            <a:r>
              <a:rPr lang="en-US" sz="3200" dirty="0"/>
              <a:t>Block3</a:t>
            </a:r>
          </a:p>
          <a:p>
            <a:pPr algn="ctr"/>
            <a:r>
              <a:rPr lang="en-US" sz="3200" dirty="0"/>
              <a:t>Block4</a:t>
            </a:r>
          </a:p>
          <a:p>
            <a:pPr algn="ctr"/>
            <a:r>
              <a:rPr lang="en-US" sz="3200" dirty="0"/>
              <a:t>Block5</a:t>
            </a:r>
          </a:p>
          <a:p>
            <a:pPr algn="ctr"/>
            <a:r>
              <a:rPr lang="en-US" sz="3200" dirty="0"/>
              <a:t>Block6</a:t>
            </a:r>
          </a:p>
          <a:p>
            <a:pPr algn="ctr"/>
            <a:r>
              <a:rPr lang="en-US" sz="3200" dirty="0"/>
              <a:t>Block7</a:t>
            </a:r>
            <a:endParaRPr lang="en-US" sz="28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29" r="60002"/>
          <a:stretch/>
        </p:blipFill>
        <p:spPr>
          <a:xfrm>
            <a:off x="159236" y="2971799"/>
            <a:ext cx="2177823" cy="3021995"/>
          </a:xfrm>
          <a:prstGeom prst="rect">
            <a:avLst/>
          </a:prstGeom>
          <a:effectLst>
            <a:softEdge rad="63500"/>
          </a:effectLst>
        </p:spPr>
      </p:pic>
      <p:sp>
        <p:nvSpPr>
          <p:cNvPr id="13" name="TextBox 12"/>
          <p:cNvSpPr txBox="1"/>
          <p:nvPr/>
        </p:nvSpPr>
        <p:spPr>
          <a:xfrm>
            <a:off x="1235283" y="5716795"/>
            <a:ext cx="1101776" cy="276999"/>
          </a:xfrm>
          <a:prstGeom prst="rect">
            <a:avLst/>
          </a:prstGeom>
          <a:solidFill>
            <a:srgbClr val="000000">
              <a:alpha val="20000"/>
            </a:srgbClr>
          </a:solidFill>
          <a:effectLst>
            <a:softEdge rad="63500"/>
          </a:effectLst>
        </p:spPr>
        <p:txBody>
          <a:bodyPr wrap="none" rtlCol="0">
            <a:spAutoFit/>
          </a:bodyPr>
          <a:lstStyle/>
          <a:p>
            <a:r>
              <a:rPr lang="en-US" sz="1200" i="1" dirty="0">
                <a:solidFill>
                  <a:schemeClr val="bg1">
                    <a:lumMod val="95000"/>
                  </a:schemeClr>
                </a:solidFill>
              </a:rPr>
              <a:t>PlantTape.com</a:t>
            </a:r>
          </a:p>
        </p:txBody>
      </p:sp>
    </p:spTree>
    <p:extLst>
      <p:ext uri="{BB962C8B-B14F-4D97-AF65-F5344CB8AC3E}">
        <p14:creationId xmlns:p14="http://schemas.microsoft.com/office/powerpoint/2010/main" val="109940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Indicator variables</a:t>
            </a:r>
            <a:endParaRPr lang="en-US" dirty="0"/>
          </a:p>
        </p:txBody>
      </p:sp>
      <p:sp>
        <p:nvSpPr>
          <p:cNvPr id="3" name="Content Placeholder 2"/>
          <p:cNvSpPr>
            <a:spLocks noGrp="1"/>
          </p:cNvSpPr>
          <p:nvPr>
            <p:ph idx="1"/>
          </p:nvPr>
        </p:nvSpPr>
        <p:spPr>
          <a:xfrm>
            <a:off x="838200" y="1825625"/>
            <a:ext cx="10515600" cy="598261"/>
          </a:xfrm>
        </p:spPr>
        <p:txBody>
          <a:bodyPr/>
          <a:lstStyle/>
          <a:p>
            <a:r>
              <a:rPr lang="en-US" dirty="0"/>
              <a:t>Turn the following into a set of indicator variables:</a:t>
            </a:r>
          </a:p>
        </p:txBody>
      </p:sp>
      <p:sp>
        <p:nvSpPr>
          <p:cNvPr id="5" name="TextBox 4"/>
          <p:cNvSpPr txBox="1"/>
          <p:nvPr/>
        </p:nvSpPr>
        <p:spPr>
          <a:xfrm>
            <a:off x="2499093" y="2558823"/>
            <a:ext cx="1285928" cy="4031873"/>
          </a:xfrm>
          <a:prstGeom prst="rect">
            <a:avLst/>
          </a:prstGeom>
          <a:noFill/>
        </p:spPr>
        <p:txBody>
          <a:bodyPr wrap="none" rtlCol="0">
            <a:spAutoFit/>
          </a:bodyPr>
          <a:lstStyle/>
          <a:p>
            <a:pPr algn="ctr"/>
            <a:r>
              <a:rPr lang="en-US" sz="3200" b="1" dirty="0"/>
              <a:t>Block</a:t>
            </a:r>
          </a:p>
          <a:p>
            <a:pPr algn="ctr"/>
            <a:r>
              <a:rPr lang="en-US" sz="3200" dirty="0"/>
              <a:t>Block1</a:t>
            </a:r>
          </a:p>
          <a:p>
            <a:pPr algn="ctr"/>
            <a:r>
              <a:rPr lang="en-US" sz="3200" dirty="0"/>
              <a:t>Block2</a:t>
            </a:r>
          </a:p>
          <a:p>
            <a:pPr algn="ctr"/>
            <a:r>
              <a:rPr lang="en-US" sz="3200" dirty="0"/>
              <a:t>Block3</a:t>
            </a:r>
          </a:p>
          <a:p>
            <a:pPr algn="ctr"/>
            <a:r>
              <a:rPr lang="en-US" sz="3200" dirty="0"/>
              <a:t>Block4</a:t>
            </a:r>
          </a:p>
          <a:p>
            <a:pPr algn="ctr"/>
            <a:r>
              <a:rPr lang="en-US" sz="3200" dirty="0"/>
              <a:t>Block5</a:t>
            </a:r>
          </a:p>
          <a:p>
            <a:pPr algn="ctr"/>
            <a:r>
              <a:rPr lang="en-US" sz="3200" dirty="0"/>
              <a:t>Block6</a:t>
            </a:r>
          </a:p>
          <a:p>
            <a:pPr algn="ctr"/>
            <a:r>
              <a:rPr lang="en-US" sz="3200" dirty="0"/>
              <a:t>Block7</a:t>
            </a:r>
            <a:endParaRPr lang="en-US" sz="2800" dirty="0"/>
          </a:p>
        </p:txBody>
      </p:sp>
      <p:sp>
        <p:nvSpPr>
          <p:cNvPr id="6" name="TextBox 5"/>
          <p:cNvSpPr txBox="1"/>
          <p:nvPr/>
        </p:nvSpPr>
        <p:spPr>
          <a:xfrm>
            <a:off x="5354124" y="2558822"/>
            <a:ext cx="623889" cy="4031873"/>
          </a:xfrm>
          <a:prstGeom prst="rect">
            <a:avLst/>
          </a:prstGeom>
          <a:noFill/>
        </p:spPr>
        <p:txBody>
          <a:bodyPr wrap="none" rtlCol="0">
            <a:spAutoFit/>
          </a:bodyPr>
          <a:lstStyle/>
          <a:p>
            <a:pPr algn="ctr"/>
            <a:r>
              <a:rPr lang="en-US" sz="3200" b="1" dirty="0">
                <a:solidFill>
                  <a:schemeClr val="bg1">
                    <a:lumMod val="65000"/>
                  </a:schemeClr>
                </a:solidFill>
              </a:rPr>
              <a:t>B1</a:t>
            </a:r>
          </a:p>
          <a:p>
            <a:pPr algn="ctr"/>
            <a:r>
              <a:rPr lang="en-US" sz="3200" dirty="0">
                <a:solidFill>
                  <a:schemeClr val="bg1">
                    <a:lumMod val="65000"/>
                  </a:schemeClr>
                </a:solidFill>
              </a:rPr>
              <a:t>1</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0</a:t>
            </a:r>
          </a:p>
          <a:p>
            <a:pPr algn="ctr"/>
            <a:r>
              <a:rPr lang="en-US" sz="3200" dirty="0">
                <a:solidFill>
                  <a:schemeClr val="bg1">
                    <a:lumMod val="65000"/>
                  </a:schemeClr>
                </a:solidFill>
              </a:rPr>
              <a:t>0</a:t>
            </a:r>
            <a:endParaRPr lang="en-US" sz="2800" dirty="0">
              <a:solidFill>
                <a:schemeClr val="bg1">
                  <a:lumMod val="65000"/>
                </a:schemeClr>
              </a:solidFill>
            </a:endParaRPr>
          </a:p>
        </p:txBody>
      </p:sp>
      <p:sp>
        <p:nvSpPr>
          <p:cNvPr id="7" name="TextBox 6"/>
          <p:cNvSpPr txBox="1"/>
          <p:nvPr/>
        </p:nvSpPr>
        <p:spPr>
          <a:xfrm>
            <a:off x="6302079" y="2558822"/>
            <a:ext cx="623889" cy="4031873"/>
          </a:xfrm>
          <a:prstGeom prst="rect">
            <a:avLst/>
          </a:prstGeom>
          <a:noFill/>
        </p:spPr>
        <p:txBody>
          <a:bodyPr wrap="none" rtlCol="0">
            <a:spAutoFit/>
          </a:bodyPr>
          <a:lstStyle/>
          <a:p>
            <a:pPr algn="ctr"/>
            <a:r>
              <a:rPr lang="en-US" sz="3200" b="1" dirty="0"/>
              <a:t>B2</a:t>
            </a:r>
          </a:p>
          <a:p>
            <a:pPr algn="ctr"/>
            <a:r>
              <a:rPr lang="en-US" sz="3200" dirty="0"/>
              <a:t>0</a:t>
            </a:r>
          </a:p>
          <a:p>
            <a:pPr algn="ctr"/>
            <a:r>
              <a:rPr lang="en-US" sz="3200" dirty="0"/>
              <a:t>1</a:t>
            </a:r>
          </a:p>
          <a:p>
            <a:pPr algn="ctr"/>
            <a:r>
              <a:rPr lang="en-US" sz="3200" dirty="0"/>
              <a:t>0</a:t>
            </a:r>
          </a:p>
          <a:p>
            <a:pPr algn="ctr"/>
            <a:r>
              <a:rPr lang="en-US" sz="3200" dirty="0"/>
              <a:t>0</a:t>
            </a:r>
          </a:p>
          <a:p>
            <a:pPr algn="ctr"/>
            <a:r>
              <a:rPr lang="en-US" sz="3200" dirty="0"/>
              <a:t>0</a:t>
            </a:r>
          </a:p>
          <a:p>
            <a:pPr algn="ctr"/>
            <a:r>
              <a:rPr lang="en-US" sz="3200" dirty="0"/>
              <a:t>0</a:t>
            </a:r>
          </a:p>
          <a:p>
            <a:pPr algn="ctr"/>
            <a:r>
              <a:rPr lang="en-US" sz="3200" dirty="0"/>
              <a:t>0</a:t>
            </a:r>
            <a:endParaRPr lang="en-US" sz="2800" dirty="0"/>
          </a:p>
        </p:txBody>
      </p:sp>
      <p:sp>
        <p:nvSpPr>
          <p:cNvPr id="8" name="TextBox 7"/>
          <p:cNvSpPr txBox="1"/>
          <p:nvPr/>
        </p:nvSpPr>
        <p:spPr>
          <a:xfrm>
            <a:off x="8197989" y="2558822"/>
            <a:ext cx="623889" cy="4031873"/>
          </a:xfrm>
          <a:prstGeom prst="rect">
            <a:avLst/>
          </a:prstGeom>
          <a:noFill/>
        </p:spPr>
        <p:txBody>
          <a:bodyPr wrap="none" rtlCol="0">
            <a:spAutoFit/>
          </a:bodyPr>
          <a:lstStyle/>
          <a:p>
            <a:pPr algn="ctr"/>
            <a:r>
              <a:rPr lang="en-US" sz="3200" b="1" dirty="0"/>
              <a:t>B4</a:t>
            </a:r>
          </a:p>
          <a:p>
            <a:pPr algn="ctr"/>
            <a:r>
              <a:rPr lang="en-US" sz="3200" dirty="0"/>
              <a:t>0</a:t>
            </a:r>
          </a:p>
          <a:p>
            <a:pPr algn="ctr"/>
            <a:r>
              <a:rPr lang="en-US" sz="3200" dirty="0"/>
              <a:t>0</a:t>
            </a:r>
          </a:p>
          <a:p>
            <a:pPr algn="ctr"/>
            <a:r>
              <a:rPr lang="en-US" sz="3200" dirty="0"/>
              <a:t>0</a:t>
            </a:r>
          </a:p>
          <a:p>
            <a:pPr algn="ctr"/>
            <a:r>
              <a:rPr lang="en-US" sz="3200" dirty="0"/>
              <a:t>1</a:t>
            </a:r>
          </a:p>
          <a:p>
            <a:pPr algn="ctr"/>
            <a:r>
              <a:rPr lang="en-US" sz="3200" dirty="0"/>
              <a:t>0</a:t>
            </a:r>
          </a:p>
          <a:p>
            <a:pPr algn="ctr"/>
            <a:r>
              <a:rPr lang="en-US" sz="3200" dirty="0"/>
              <a:t>0</a:t>
            </a:r>
          </a:p>
          <a:p>
            <a:pPr algn="ctr"/>
            <a:r>
              <a:rPr lang="en-US" sz="3200" dirty="0"/>
              <a:t>0</a:t>
            </a:r>
            <a:endParaRPr lang="en-US" sz="2800" dirty="0"/>
          </a:p>
        </p:txBody>
      </p:sp>
      <p:sp>
        <p:nvSpPr>
          <p:cNvPr id="9" name="TextBox 8"/>
          <p:cNvSpPr txBox="1"/>
          <p:nvPr/>
        </p:nvSpPr>
        <p:spPr>
          <a:xfrm>
            <a:off x="9145944" y="2558822"/>
            <a:ext cx="623889" cy="4031873"/>
          </a:xfrm>
          <a:prstGeom prst="rect">
            <a:avLst/>
          </a:prstGeom>
          <a:noFill/>
        </p:spPr>
        <p:txBody>
          <a:bodyPr wrap="none" rtlCol="0">
            <a:spAutoFit/>
          </a:bodyPr>
          <a:lstStyle/>
          <a:p>
            <a:pPr algn="ctr"/>
            <a:r>
              <a:rPr lang="en-US" sz="3200" b="1" dirty="0"/>
              <a:t>B5</a:t>
            </a:r>
          </a:p>
          <a:p>
            <a:pPr algn="ctr"/>
            <a:r>
              <a:rPr lang="en-US" sz="3200" dirty="0"/>
              <a:t>0</a:t>
            </a:r>
          </a:p>
          <a:p>
            <a:pPr algn="ctr"/>
            <a:r>
              <a:rPr lang="en-US" sz="3200" dirty="0"/>
              <a:t>0</a:t>
            </a:r>
          </a:p>
          <a:p>
            <a:pPr algn="ctr"/>
            <a:r>
              <a:rPr lang="en-US" sz="3200" dirty="0"/>
              <a:t>0</a:t>
            </a:r>
          </a:p>
          <a:p>
            <a:pPr algn="ctr"/>
            <a:r>
              <a:rPr lang="en-US" sz="3200" dirty="0"/>
              <a:t>0</a:t>
            </a:r>
          </a:p>
          <a:p>
            <a:pPr algn="ctr"/>
            <a:r>
              <a:rPr lang="en-US" sz="3200" dirty="0"/>
              <a:t>1</a:t>
            </a:r>
          </a:p>
          <a:p>
            <a:pPr algn="ctr"/>
            <a:r>
              <a:rPr lang="en-US" sz="3200" dirty="0"/>
              <a:t>0</a:t>
            </a:r>
          </a:p>
          <a:p>
            <a:pPr algn="ctr"/>
            <a:r>
              <a:rPr lang="en-US" sz="3200" dirty="0"/>
              <a:t>0</a:t>
            </a:r>
            <a:endParaRPr lang="en-US" sz="2800" dirty="0"/>
          </a:p>
        </p:txBody>
      </p:sp>
      <p:sp>
        <p:nvSpPr>
          <p:cNvPr id="10" name="TextBox 9"/>
          <p:cNvSpPr txBox="1"/>
          <p:nvPr/>
        </p:nvSpPr>
        <p:spPr>
          <a:xfrm>
            <a:off x="10093899" y="2558822"/>
            <a:ext cx="623889" cy="4031873"/>
          </a:xfrm>
          <a:prstGeom prst="rect">
            <a:avLst/>
          </a:prstGeom>
          <a:noFill/>
        </p:spPr>
        <p:txBody>
          <a:bodyPr wrap="none" rtlCol="0">
            <a:spAutoFit/>
          </a:bodyPr>
          <a:lstStyle/>
          <a:p>
            <a:pPr algn="ctr"/>
            <a:r>
              <a:rPr lang="en-US" sz="3200" b="1" dirty="0"/>
              <a:t>B6</a:t>
            </a:r>
          </a:p>
          <a:p>
            <a:pPr algn="ctr"/>
            <a:r>
              <a:rPr lang="en-US" sz="3200" dirty="0"/>
              <a:t>0</a:t>
            </a:r>
          </a:p>
          <a:p>
            <a:pPr algn="ctr"/>
            <a:r>
              <a:rPr lang="en-US" sz="3200" dirty="0"/>
              <a:t>0</a:t>
            </a:r>
          </a:p>
          <a:p>
            <a:pPr algn="ctr"/>
            <a:r>
              <a:rPr lang="en-US" sz="3200" dirty="0"/>
              <a:t>0</a:t>
            </a:r>
          </a:p>
          <a:p>
            <a:pPr algn="ctr"/>
            <a:r>
              <a:rPr lang="en-US" sz="3200" dirty="0"/>
              <a:t>0</a:t>
            </a:r>
          </a:p>
          <a:p>
            <a:pPr algn="ctr"/>
            <a:r>
              <a:rPr lang="en-US" sz="3200" dirty="0"/>
              <a:t>0</a:t>
            </a:r>
          </a:p>
          <a:p>
            <a:pPr algn="ctr"/>
            <a:r>
              <a:rPr lang="en-US" sz="3200" dirty="0"/>
              <a:t>1</a:t>
            </a:r>
          </a:p>
          <a:p>
            <a:pPr algn="ctr"/>
            <a:r>
              <a:rPr lang="en-US" sz="3200" dirty="0"/>
              <a:t>0</a:t>
            </a:r>
            <a:endParaRPr lang="en-US" sz="2800" dirty="0"/>
          </a:p>
        </p:txBody>
      </p:sp>
      <p:sp>
        <p:nvSpPr>
          <p:cNvPr id="11" name="TextBox 10"/>
          <p:cNvSpPr txBox="1"/>
          <p:nvPr/>
        </p:nvSpPr>
        <p:spPr>
          <a:xfrm>
            <a:off x="11041855" y="2558822"/>
            <a:ext cx="623889" cy="4031873"/>
          </a:xfrm>
          <a:prstGeom prst="rect">
            <a:avLst/>
          </a:prstGeom>
          <a:noFill/>
        </p:spPr>
        <p:txBody>
          <a:bodyPr wrap="none" rtlCol="0">
            <a:spAutoFit/>
          </a:bodyPr>
          <a:lstStyle/>
          <a:p>
            <a:pPr algn="ctr"/>
            <a:r>
              <a:rPr lang="en-US" sz="3200" b="1" dirty="0"/>
              <a:t>B7</a:t>
            </a:r>
          </a:p>
          <a:p>
            <a:pPr algn="ctr"/>
            <a:r>
              <a:rPr lang="en-US" sz="3200" dirty="0"/>
              <a:t>0</a:t>
            </a:r>
          </a:p>
          <a:p>
            <a:pPr algn="ctr"/>
            <a:r>
              <a:rPr lang="en-US" sz="3200" dirty="0"/>
              <a:t>0</a:t>
            </a:r>
          </a:p>
          <a:p>
            <a:pPr algn="ctr"/>
            <a:r>
              <a:rPr lang="en-US" sz="3200" dirty="0"/>
              <a:t>0</a:t>
            </a:r>
          </a:p>
          <a:p>
            <a:pPr algn="ctr"/>
            <a:r>
              <a:rPr lang="en-US" sz="3200" dirty="0"/>
              <a:t>0</a:t>
            </a:r>
          </a:p>
          <a:p>
            <a:pPr algn="ctr"/>
            <a:r>
              <a:rPr lang="en-US" sz="3200" dirty="0"/>
              <a:t>0</a:t>
            </a:r>
          </a:p>
          <a:p>
            <a:pPr algn="ctr"/>
            <a:r>
              <a:rPr lang="en-US" sz="3200" dirty="0"/>
              <a:t>0</a:t>
            </a:r>
          </a:p>
          <a:p>
            <a:pPr algn="ctr"/>
            <a:r>
              <a:rPr lang="en-US" sz="3200" dirty="0"/>
              <a:t>1</a:t>
            </a:r>
            <a:endParaRPr lang="en-US" sz="2800" dirty="0"/>
          </a:p>
        </p:txBody>
      </p:sp>
      <p:sp>
        <p:nvSpPr>
          <p:cNvPr id="12" name="TextBox 11"/>
          <p:cNvSpPr txBox="1"/>
          <p:nvPr/>
        </p:nvSpPr>
        <p:spPr>
          <a:xfrm>
            <a:off x="7250034" y="2558822"/>
            <a:ext cx="623889" cy="4031873"/>
          </a:xfrm>
          <a:prstGeom prst="rect">
            <a:avLst/>
          </a:prstGeom>
          <a:noFill/>
        </p:spPr>
        <p:txBody>
          <a:bodyPr wrap="none" rtlCol="0">
            <a:spAutoFit/>
          </a:bodyPr>
          <a:lstStyle/>
          <a:p>
            <a:pPr algn="ctr"/>
            <a:r>
              <a:rPr lang="en-US" sz="3200" b="1" dirty="0"/>
              <a:t>B3</a:t>
            </a:r>
          </a:p>
          <a:p>
            <a:pPr algn="ctr"/>
            <a:r>
              <a:rPr lang="en-US" sz="3200" dirty="0"/>
              <a:t>0</a:t>
            </a:r>
          </a:p>
          <a:p>
            <a:pPr algn="ctr"/>
            <a:r>
              <a:rPr lang="en-US" sz="3200" dirty="0"/>
              <a:t>0</a:t>
            </a:r>
          </a:p>
          <a:p>
            <a:pPr algn="ctr"/>
            <a:r>
              <a:rPr lang="en-US" sz="3200" dirty="0"/>
              <a:t>1</a:t>
            </a:r>
          </a:p>
          <a:p>
            <a:pPr algn="ctr"/>
            <a:r>
              <a:rPr lang="en-US" sz="3200" dirty="0"/>
              <a:t>0</a:t>
            </a:r>
          </a:p>
          <a:p>
            <a:pPr algn="ctr"/>
            <a:r>
              <a:rPr lang="en-US" sz="3200" dirty="0"/>
              <a:t>0</a:t>
            </a:r>
          </a:p>
          <a:p>
            <a:pPr algn="ctr"/>
            <a:r>
              <a:rPr lang="en-US" sz="3200" dirty="0"/>
              <a:t>0</a:t>
            </a:r>
          </a:p>
          <a:p>
            <a:pPr algn="ctr"/>
            <a:r>
              <a:rPr lang="en-US" sz="3200" dirty="0"/>
              <a:t>0</a:t>
            </a:r>
            <a:endParaRPr lang="en-US" sz="2800" dirty="0"/>
          </a:p>
        </p:txBody>
      </p:sp>
      <p:pic>
        <p:nvPicPr>
          <p:cNvPr id="13" name="Picture 12"/>
          <p:cNvPicPr>
            <a:picLocks noChangeAspect="1"/>
          </p:cNvPicPr>
          <p:nvPr/>
        </p:nvPicPr>
        <p:blipFill rotWithShape="1">
          <a:blip r:embed="rId2">
            <a:extLst>
              <a:ext uri="{28A0092B-C50C-407E-A947-70E740481C1C}">
                <a14:useLocalDpi xmlns:a14="http://schemas.microsoft.com/office/drawing/2010/main" val="0"/>
              </a:ext>
            </a:extLst>
          </a:blip>
          <a:srcRect l="-529" r="60002"/>
          <a:stretch/>
        </p:blipFill>
        <p:spPr>
          <a:xfrm>
            <a:off x="159236" y="2971799"/>
            <a:ext cx="2177823" cy="3021995"/>
          </a:xfrm>
          <a:prstGeom prst="rect">
            <a:avLst/>
          </a:prstGeom>
          <a:effectLst>
            <a:softEdge rad="63500"/>
          </a:effectLst>
        </p:spPr>
      </p:pic>
      <p:sp>
        <p:nvSpPr>
          <p:cNvPr id="15" name="TextBox 14"/>
          <p:cNvSpPr txBox="1"/>
          <p:nvPr/>
        </p:nvSpPr>
        <p:spPr>
          <a:xfrm>
            <a:off x="1235283" y="5716795"/>
            <a:ext cx="1101776" cy="276999"/>
          </a:xfrm>
          <a:prstGeom prst="rect">
            <a:avLst/>
          </a:prstGeom>
          <a:solidFill>
            <a:srgbClr val="000000">
              <a:alpha val="20000"/>
            </a:srgbClr>
          </a:solidFill>
          <a:effectLst>
            <a:softEdge rad="63500"/>
          </a:effectLst>
        </p:spPr>
        <p:txBody>
          <a:bodyPr wrap="none" rtlCol="0">
            <a:spAutoFit/>
          </a:bodyPr>
          <a:lstStyle/>
          <a:p>
            <a:r>
              <a:rPr lang="en-US" sz="1200" i="1" dirty="0">
                <a:solidFill>
                  <a:schemeClr val="bg1">
                    <a:lumMod val="95000"/>
                  </a:schemeClr>
                </a:solidFill>
              </a:rPr>
              <a:t>PlantTape.com</a:t>
            </a:r>
          </a:p>
        </p:txBody>
      </p:sp>
      <p:sp>
        <p:nvSpPr>
          <p:cNvPr id="14" name="&quot;No&quot; Symbol 1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61114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indicator variables?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2094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4542</TotalTime>
  <Words>3025</Words>
  <Application>Microsoft Office PowerPoint</Application>
  <PresentationFormat>Widescreen</PresentationFormat>
  <Paragraphs>766</Paragraphs>
  <Slides>68</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Arial</vt:lpstr>
      <vt:lpstr>Calibri</vt:lpstr>
      <vt:lpstr>Calibri Light</vt:lpstr>
      <vt:lpstr>Symbol</vt:lpstr>
      <vt:lpstr>Office Theme</vt:lpstr>
      <vt:lpstr>CRSS (PBGG) 8010: Research Methods and Design in Crop Science</vt:lpstr>
      <vt:lpstr>Lecture outline</vt:lpstr>
      <vt:lpstr>Administrative Stuff</vt:lpstr>
      <vt:lpstr>Review: Quality Control</vt:lpstr>
      <vt:lpstr>Review: Quality Control</vt:lpstr>
      <vt:lpstr>Review: Quality Control</vt:lpstr>
      <vt:lpstr>Review: Quality Control</vt:lpstr>
      <vt:lpstr>Review: Quality Control</vt:lpstr>
      <vt:lpstr>Review: Quality Control</vt:lpstr>
      <vt:lpstr>Review: Interactions</vt:lpstr>
      <vt:lpstr>Review: Interactions</vt:lpstr>
      <vt:lpstr>Review: Interactions</vt:lpstr>
      <vt:lpstr>Questions on last time’s materials?</vt:lpstr>
      <vt:lpstr>ANOVA reminder</vt:lpstr>
      <vt:lpstr>Shortcomings of ANOVA</vt:lpstr>
      <vt:lpstr>Shortcomings of ANOVA</vt:lpstr>
      <vt:lpstr>On to Linear Regression</vt:lpstr>
      <vt:lpstr>Linear Regression versus ANOVA</vt:lpstr>
      <vt:lpstr>Linear Regression versus ANOVA</vt:lpstr>
      <vt:lpstr>Linear Regression versus ANOVA</vt:lpstr>
      <vt:lpstr>Linear Regression versus ANOVA</vt:lpstr>
      <vt:lpstr>Linear Regression versus ANOVA</vt:lpstr>
      <vt:lpstr>Linear Regression</vt:lpstr>
      <vt:lpstr>The origins of regression</vt:lpstr>
      <vt:lpstr>The origins of regression</vt:lpstr>
      <vt:lpstr>The origins of regression</vt:lpstr>
      <vt:lpstr>Goal of linear regression</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In-class exercise: Optimal regression line</vt:lpstr>
      <vt:lpstr>The Core of Linear Regression</vt:lpstr>
      <vt:lpstr>The Core of Linear Regression</vt:lpstr>
      <vt:lpstr>The Core of Linear Regression</vt:lpstr>
      <vt:lpstr>Questions on linear regression so far?</vt:lpstr>
      <vt:lpstr>Linear regression example</vt:lpstr>
      <vt:lpstr>Linear regression example</vt:lpstr>
      <vt:lpstr>Linear regression example</vt:lpstr>
      <vt:lpstr>Finding the regression line</vt:lpstr>
      <vt:lpstr>Linear regression in R</vt:lpstr>
      <vt:lpstr>Interpreting R output</vt:lpstr>
      <vt:lpstr>Interpreting R output</vt:lpstr>
      <vt:lpstr>Anatomy of the model summary</vt:lpstr>
      <vt:lpstr>Anatomy of the coefficient summary</vt:lpstr>
      <vt:lpstr>Anatomy of the model summary</vt:lpstr>
      <vt:lpstr>aov() versus lm()</vt:lpstr>
      <vt:lpstr>In-class exercise: Linear regression in R</vt:lpstr>
      <vt:lpstr>In-class exercise: Linear regression in R</vt:lpstr>
      <vt:lpstr>Questions on linear regression in R?</vt:lpstr>
      <vt:lpstr>ANOVA with linear regression</vt:lpstr>
      <vt:lpstr>ANOVA with linear regression</vt:lpstr>
      <vt:lpstr>So why two methods?</vt:lpstr>
      <vt:lpstr>Linear regression variables</vt:lpstr>
      <vt:lpstr>Linear regression &amp; factors</vt:lpstr>
      <vt:lpstr>Linear regression &amp; factors</vt:lpstr>
      <vt:lpstr>Linear regression &amp; factors</vt:lpstr>
      <vt:lpstr>In-class exercise: Indicator variables</vt:lpstr>
      <vt:lpstr>In-class exercise: Indicator variables</vt:lpstr>
      <vt:lpstr>In-class exercise: Indicator variables</vt:lpstr>
      <vt:lpstr>In-class exercise: Indicator variables</vt:lpstr>
      <vt:lpstr>In-class exercise: Indicator variables</vt:lpstr>
      <vt:lpstr>In-class exercise: Indicator variables</vt:lpstr>
      <vt:lpstr>Questions on indicator variables?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CRSS (PBGG) 8010: Research Methods and Experimental Design for Agriculture</dc:title>
  <dc:creator>Jason Wallace</dc:creator>
  <cp:lastModifiedBy>Jason Wallace</cp:lastModifiedBy>
  <cp:revision>461</cp:revision>
  <dcterms:created xsi:type="dcterms:W3CDTF">2016-05-27T18:28:23Z</dcterms:created>
  <dcterms:modified xsi:type="dcterms:W3CDTF">2026-10-05T15:53:49Z</dcterms:modified>
</cp:coreProperties>
</file>