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75"/>
  </p:notesMasterIdLst>
  <p:sldIdLst>
    <p:sldId id="256" r:id="rId5"/>
    <p:sldId id="257" r:id="rId6"/>
    <p:sldId id="597" r:id="rId7"/>
    <p:sldId id="404" r:id="rId8"/>
    <p:sldId id="595" r:id="rId9"/>
    <p:sldId id="596" r:id="rId10"/>
    <p:sldId id="590" r:id="rId11"/>
    <p:sldId id="422" r:id="rId12"/>
    <p:sldId id="423" r:id="rId13"/>
    <p:sldId id="424" r:id="rId14"/>
    <p:sldId id="425" r:id="rId15"/>
    <p:sldId id="426" r:id="rId16"/>
    <p:sldId id="427" r:id="rId17"/>
    <p:sldId id="428" r:id="rId18"/>
    <p:sldId id="429" r:id="rId19"/>
    <p:sldId id="430" r:id="rId20"/>
    <p:sldId id="431" r:id="rId21"/>
    <p:sldId id="432" r:id="rId22"/>
    <p:sldId id="433" r:id="rId23"/>
    <p:sldId id="434" r:id="rId24"/>
    <p:sldId id="600" r:id="rId25"/>
    <p:sldId id="435" r:id="rId26"/>
    <p:sldId id="436" r:id="rId27"/>
    <p:sldId id="437" r:id="rId28"/>
    <p:sldId id="438" r:id="rId29"/>
    <p:sldId id="439" r:id="rId30"/>
    <p:sldId id="503" r:id="rId31"/>
    <p:sldId id="443" r:id="rId32"/>
    <p:sldId id="483" r:id="rId33"/>
    <p:sldId id="484" r:id="rId34"/>
    <p:sldId id="519" r:id="rId35"/>
    <p:sldId id="504" r:id="rId36"/>
    <p:sldId id="505" r:id="rId37"/>
    <p:sldId id="506" r:id="rId38"/>
    <p:sldId id="507" r:id="rId39"/>
    <p:sldId id="508" r:id="rId40"/>
    <p:sldId id="509" r:id="rId41"/>
    <p:sldId id="510" r:id="rId42"/>
    <p:sldId id="511" r:id="rId43"/>
    <p:sldId id="587" r:id="rId44"/>
    <p:sldId id="530" r:id="rId45"/>
    <p:sldId id="531" r:id="rId46"/>
    <p:sldId id="532" r:id="rId47"/>
    <p:sldId id="533" r:id="rId48"/>
    <p:sldId id="534" r:id="rId49"/>
    <p:sldId id="535" r:id="rId50"/>
    <p:sldId id="536" r:id="rId51"/>
    <p:sldId id="537" r:id="rId52"/>
    <p:sldId id="538" r:id="rId53"/>
    <p:sldId id="539" r:id="rId54"/>
    <p:sldId id="540" r:id="rId55"/>
    <p:sldId id="541" r:id="rId56"/>
    <p:sldId id="542" r:id="rId57"/>
    <p:sldId id="543" r:id="rId58"/>
    <p:sldId id="599" r:id="rId59"/>
    <p:sldId id="512" r:id="rId60"/>
    <p:sldId id="513" r:id="rId61"/>
    <p:sldId id="586" r:id="rId62"/>
    <p:sldId id="598" r:id="rId63"/>
    <p:sldId id="571" r:id="rId64"/>
    <p:sldId id="574" r:id="rId65"/>
    <p:sldId id="591" r:id="rId66"/>
    <p:sldId id="577" r:id="rId67"/>
    <p:sldId id="576" r:id="rId68"/>
    <p:sldId id="575" r:id="rId69"/>
    <p:sldId id="573" r:id="rId70"/>
    <p:sldId id="592" r:id="rId71"/>
    <p:sldId id="593" r:id="rId72"/>
    <p:sldId id="594" r:id="rId73"/>
    <p:sldId id="557" r:id="rId7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48235"/>
    <a:srgbClr val="FFFFFF"/>
    <a:srgbClr val="FFD966"/>
    <a:srgbClr val="99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267" autoAdjust="0"/>
    <p:restoredTop sz="81435" autoAdjust="0"/>
  </p:normalViewPr>
  <p:slideViewPr>
    <p:cSldViewPr snapToGrid="0">
      <p:cViewPr varScale="1">
        <p:scale>
          <a:sx n="93" d="100"/>
          <a:sy n="93" d="100"/>
        </p:scale>
        <p:origin x="156" y="84"/>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79"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son Wallace" userId="c5651a97-8562-4697-884b-9f20f4d7aab1" providerId="ADAL" clId="{2B2BA112-D84B-4CE1-A59D-E515025F0AB7}"/>
    <pc:docChg chg="custSel addSld delSld modSld sldOrd">
      <pc:chgData name="Jason Wallace" userId="c5651a97-8562-4697-884b-9f20f4d7aab1" providerId="ADAL" clId="{2B2BA112-D84B-4CE1-A59D-E515025F0AB7}" dt="2025-10-07T17:24:30.920" v="978"/>
      <pc:docMkLst>
        <pc:docMk/>
      </pc:docMkLst>
      <pc:sldChg chg="delSp modSp mod">
        <pc:chgData name="Jason Wallace" userId="c5651a97-8562-4697-884b-9f20f4d7aab1" providerId="ADAL" clId="{2B2BA112-D84B-4CE1-A59D-E515025F0AB7}" dt="2025-10-07T17:08:56.315" v="811" actId="20577"/>
        <pc:sldMkLst>
          <pc:docMk/>
          <pc:sldMk cId="1611978263" sldId="256"/>
        </pc:sldMkLst>
        <pc:spChg chg="mod">
          <ac:chgData name="Jason Wallace" userId="c5651a97-8562-4697-884b-9f20f4d7aab1" providerId="ADAL" clId="{2B2BA112-D84B-4CE1-A59D-E515025F0AB7}" dt="2025-10-07T17:08:56.315" v="811" actId="20577"/>
          <ac:spMkLst>
            <pc:docMk/>
            <pc:sldMk cId="1611978263" sldId="256"/>
            <ac:spMk id="3" creationId="{00000000-0000-0000-0000-000000000000}"/>
          </ac:spMkLst>
        </pc:spChg>
        <pc:spChg chg="del">
          <ac:chgData name="Jason Wallace" userId="c5651a97-8562-4697-884b-9f20f4d7aab1" providerId="ADAL" clId="{2B2BA112-D84B-4CE1-A59D-E515025F0AB7}" dt="2025-10-07T17:01:06.409" v="661" actId="478"/>
          <ac:spMkLst>
            <pc:docMk/>
            <pc:sldMk cId="1611978263" sldId="256"/>
            <ac:spMk id="7" creationId="{F35E3F81-4589-4314-B2FF-496579C0DE1F}"/>
          </ac:spMkLst>
        </pc:spChg>
        <pc:spChg chg="del">
          <ac:chgData name="Jason Wallace" userId="c5651a97-8562-4697-884b-9f20f4d7aab1" providerId="ADAL" clId="{2B2BA112-D84B-4CE1-A59D-E515025F0AB7}" dt="2025-10-06T21:02:32.068" v="660" actId="478"/>
          <ac:spMkLst>
            <pc:docMk/>
            <pc:sldMk cId="1611978263" sldId="256"/>
            <ac:spMk id="10" creationId="{CDC7B560-791B-457C-B4EE-3B9DE216AD62}"/>
          </ac:spMkLst>
        </pc:spChg>
      </pc:sldChg>
      <pc:sldChg chg="modSp mod">
        <pc:chgData name="Jason Wallace" userId="c5651a97-8562-4697-884b-9f20f4d7aab1" providerId="ADAL" clId="{2B2BA112-D84B-4CE1-A59D-E515025F0AB7}" dt="2025-10-07T17:09:14.526" v="815" actId="6549"/>
        <pc:sldMkLst>
          <pc:docMk/>
          <pc:sldMk cId="1195176568" sldId="257"/>
        </pc:sldMkLst>
        <pc:spChg chg="mod">
          <ac:chgData name="Jason Wallace" userId="c5651a97-8562-4697-884b-9f20f4d7aab1" providerId="ADAL" clId="{2B2BA112-D84B-4CE1-A59D-E515025F0AB7}" dt="2025-10-07T17:09:14.526" v="815" actId="6549"/>
          <ac:spMkLst>
            <pc:docMk/>
            <pc:sldMk cId="1195176568" sldId="257"/>
            <ac:spMk id="3" creationId="{00000000-0000-0000-0000-000000000000}"/>
          </ac:spMkLst>
        </pc:spChg>
      </pc:sldChg>
      <pc:sldChg chg="add">
        <pc:chgData name="Jason Wallace" userId="c5651a97-8562-4697-884b-9f20f4d7aab1" providerId="ADAL" clId="{2B2BA112-D84B-4CE1-A59D-E515025F0AB7}" dt="2025-10-07T17:02:55.845" v="697"/>
        <pc:sldMkLst>
          <pc:docMk/>
          <pc:sldMk cId="1142131811" sldId="422"/>
        </pc:sldMkLst>
      </pc:sldChg>
      <pc:sldChg chg="del">
        <pc:chgData name="Jason Wallace" userId="c5651a97-8562-4697-884b-9f20f4d7aab1" providerId="ADAL" clId="{2B2BA112-D84B-4CE1-A59D-E515025F0AB7}" dt="2025-10-07T17:02:48.184" v="696" actId="2696"/>
        <pc:sldMkLst>
          <pc:docMk/>
          <pc:sldMk cId="2592881198" sldId="422"/>
        </pc:sldMkLst>
      </pc:sldChg>
      <pc:sldChg chg="del">
        <pc:chgData name="Jason Wallace" userId="c5651a97-8562-4697-884b-9f20f4d7aab1" providerId="ADAL" clId="{2B2BA112-D84B-4CE1-A59D-E515025F0AB7}" dt="2025-10-07T17:02:48.184" v="696" actId="2696"/>
        <pc:sldMkLst>
          <pc:docMk/>
          <pc:sldMk cId="516781918" sldId="423"/>
        </pc:sldMkLst>
      </pc:sldChg>
      <pc:sldChg chg="add">
        <pc:chgData name="Jason Wallace" userId="c5651a97-8562-4697-884b-9f20f4d7aab1" providerId="ADAL" clId="{2B2BA112-D84B-4CE1-A59D-E515025F0AB7}" dt="2025-10-07T17:02:55.845" v="697"/>
        <pc:sldMkLst>
          <pc:docMk/>
          <pc:sldMk cId="1893555209" sldId="423"/>
        </pc:sldMkLst>
      </pc:sldChg>
      <pc:sldChg chg="add">
        <pc:chgData name="Jason Wallace" userId="c5651a97-8562-4697-884b-9f20f4d7aab1" providerId="ADAL" clId="{2B2BA112-D84B-4CE1-A59D-E515025F0AB7}" dt="2025-10-07T17:02:55.845" v="697"/>
        <pc:sldMkLst>
          <pc:docMk/>
          <pc:sldMk cId="2770690769" sldId="424"/>
        </pc:sldMkLst>
      </pc:sldChg>
      <pc:sldChg chg="del">
        <pc:chgData name="Jason Wallace" userId="c5651a97-8562-4697-884b-9f20f4d7aab1" providerId="ADAL" clId="{2B2BA112-D84B-4CE1-A59D-E515025F0AB7}" dt="2025-10-07T17:02:48.184" v="696" actId="2696"/>
        <pc:sldMkLst>
          <pc:docMk/>
          <pc:sldMk cId="3150096881" sldId="424"/>
        </pc:sldMkLst>
      </pc:sldChg>
      <pc:sldChg chg="del">
        <pc:chgData name="Jason Wallace" userId="c5651a97-8562-4697-884b-9f20f4d7aab1" providerId="ADAL" clId="{2B2BA112-D84B-4CE1-A59D-E515025F0AB7}" dt="2025-10-07T17:02:48.184" v="696" actId="2696"/>
        <pc:sldMkLst>
          <pc:docMk/>
          <pc:sldMk cId="2054510921" sldId="425"/>
        </pc:sldMkLst>
      </pc:sldChg>
      <pc:sldChg chg="add">
        <pc:chgData name="Jason Wallace" userId="c5651a97-8562-4697-884b-9f20f4d7aab1" providerId="ADAL" clId="{2B2BA112-D84B-4CE1-A59D-E515025F0AB7}" dt="2025-10-07T17:02:55.845" v="697"/>
        <pc:sldMkLst>
          <pc:docMk/>
          <pc:sldMk cId="2789802175" sldId="425"/>
        </pc:sldMkLst>
      </pc:sldChg>
      <pc:sldChg chg="del">
        <pc:chgData name="Jason Wallace" userId="c5651a97-8562-4697-884b-9f20f4d7aab1" providerId="ADAL" clId="{2B2BA112-D84B-4CE1-A59D-E515025F0AB7}" dt="2025-10-07T17:02:48.184" v="696" actId="2696"/>
        <pc:sldMkLst>
          <pc:docMk/>
          <pc:sldMk cId="1548820379" sldId="426"/>
        </pc:sldMkLst>
      </pc:sldChg>
      <pc:sldChg chg="add">
        <pc:chgData name="Jason Wallace" userId="c5651a97-8562-4697-884b-9f20f4d7aab1" providerId="ADAL" clId="{2B2BA112-D84B-4CE1-A59D-E515025F0AB7}" dt="2025-10-07T17:02:55.845" v="697"/>
        <pc:sldMkLst>
          <pc:docMk/>
          <pc:sldMk cId="3045577980" sldId="426"/>
        </pc:sldMkLst>
      </pc:sldChg>
      <pc:sldChg chg="add">
        <pc:chgData name="Jason Wallace" userId="c5651a97-8562-4697-884b-9f20f4d7aab1" providerId="ADAL" clId="{2B2BA112-D84B-4CE1-A59D-E515025F0AB7}" dt="2025-10-07T17:02:55.845" v="697"/>
        <pc:sldMkLst>
          <pc:docMk/>
          <pc:sldMk cId="1219693991" sldId="427"/>
        </pc:sldMkLst>
      </pc:sldChg>
      <pc:sldChg chg="del">
        <pc:chgData name="Jason Wallace" userId="c5651a97-8562-4697-884b-9f20f4d7aab1" providerId="ADAL" clId="{2B2BA112-D84B-4CE1-A59D-E515025F0AB7}" dt="2025-10-07T17:02:48.184" v="696" actId="2696"/>
        <pc:sldMkLst>
          <pc:docMk/>
          <pc:sldMk cId="2714150062" sldId="427"/>
        </pc:sldMkLst>
      </pc:sldChg>
      <pc:sldChg chg="del">
        <pc:chgData name="Jason Wallace" userId="c5651a97-8562-4697-884b-9f20f4d7aab1" providerId="ADAL" clId="{2B2BA112-D84B-4CE1-A59D-E515025F0AB7}" dt="2025-10-07T17:02:48.184" v="696" actId="2696"/>
        <pc:sldMkLst>
          <pc:docMk/>
          <pc:sldMk cId="2002291548" sldId="428"/>
        </pc:sldMkLst>
      </pc:sldChg>
      <pc:sldChg chg="add">
        <pc:chgData name="Jason Wallace" userId="c5651a97-8562-4697-884b-9f20f4d7aab1" providerId="ADAL" clId="{2B2BA112-D84B-4CE1-A59D-E515025F0AB7}" dt="2025-10-07T17:02:55.845" v="697"/>
        <pc:sldMkLst>
          <pc:docMk/>
          <pc:sldMk cId="3527648684" sldId="428"/>
        </pc:sldMkLst>
      </pc:sldChg>
      <pc:sldChg chg="del">
        <pc:chgData name="Jason Wallace" userId="c5651a97-8562-4697-884b-9f20f4d7aab1" providerId="ADAL" clId="{2B2BA112-D84B-4CE1-A59D-E515025F0AB7}" dt="2025-10-07T17:02:48.184" v="696" actId="2696"/>
        <pc:sldMkLst>
          <pc:docMk/>
          <pc:sldMk cId="124184145" sldId="429"/>
        </pc:sldMkLst>
      </pc:sldChg>
      <pc:sldChg chg="add">
        <pc:chgData name="Jason Wallace" userId="c5651a97-8562-4697-884b-9f20f4d7aab1" providerId="ADAL" clId="{2B2BA112-D84B-4CE1-A59D-E515025F0AB7}" dt="2025-10-07T17:02:55.845" v="697"/>
        <pc:sldMkLst>
          <pc:docMk/>
          <pc:sldMk cId="2441428344" sldId="429"/>
        </pc:sldMkLst>
      </pc:sldChg>
      <pc:sldChg chg="add">
        <pc:chgData name="Jason Wallace" userId="c5651a97-8562-4697-884b-9f20f4d7aab1" providerId="ADAL" clId="{2B2BA112-D84B-4CE1-A59D-E515025F0AB7}" dt="2025-10-07T17:02:55.845" v="697"/>
        <pc:sldMkLst>
          <pc:docMk/>
          <pc:sldMk cId="283325269" sldId="430"/>
        </pc:sldMkLst>
      </pc:sldChg>
      <pc:sldChg chg="del">
        <pc:chgData name="Jason Wallace" userId="c5651a97-8562-4697-884b-9f20f4d7aab1" providerId="ADAL" clId="{2B2BA112-D84B-4CE1-A59D-E515025F0AB7}" dt="2025-10-07T17:02:48.184" v="696" actId="2696"/>
        <pc:sldMkLst>
          <pc:docMk/>
          <pc:sldMk cId="1390726196" sldId="430"/>
        </pc:sldMkLst>
      </pc:sldChg>
      <pc:sldChg chg="add">
        <pc:chgData name="Jason Wallace" userId="c5651a97-8562-4697-884b-9f20f4d7aab1" providerId="ADAL" clId="{2B2BA112-D84B-4CE1-A59D-E515025F0AB7}" dt="2025-10-07T17:02:55.845" v="697"/>
        <pc:sldMkLst>
          <pc:docMk/>
          <pc:sldMk cId="3889057569" sldId="431"/>
        </pc:sldMkLst>
      </pc:sldChg>
      <pc:sldChg chg="del">
        <pc:chgData name="Jason Wallace" userId="c5651a97-8562-4697-884b-9f20f4d7aab1" providerId="ADAL" clId="{2B2BA112-D84B-4CE1-A59D-E515025F0AB7}" dt="2025-10-07T17:02:48.184" v="696" actId="2696"/>
        <pc:sldMkLst>
          <pc:docMk/>
          <pc:sldMk cId="4202230443" sldId="431"/>
        </pc:sldMkLst>
      </pc:sldChg>
      <pc:sldChg chg="del">
        <pc:chgData name="Jason Wallace" userId="c5651a97-8562-4697-884b-9f20f4d7aab1" providerId="ADAL" clId="{2B2BA112-D84B-4CE1-A59D-E515025F0AB7}" dt="2025-10-07T17:02:48.184" v="696" actId="2696"/>
        <pc:sldMkLst>
          <pc:docMk/>
          <pc:sldMk cId="128198556" sldId="432"/>
        </pc:sldMkLst>
      </pc:sldChg>
      <pc:sldChg chg="add">
        <pc:chgData name="Jason Wallace" userId="c5651a97-8562-4697-884b-9f20f4d7aab1" providerId="ADAL" clId="{2B2BA112-D84B-4CE1-A59D-E515025F0AB7}" dt="2025-10-07T17:02:55.845" v="697"/>
        <pc:sldMkLst>
          <pc:docMk/>
          <pc:sldMk cId="3973966540" sldId="432"/>
        </pc:sldMkLst>
      </pc:sldChg>
      <pc:sldChg chg="del">
        <pc:chgData name="Jason Wallace" userId="c5651a97-8562-4697-884b-9f20f4d7aab1" providerId="ADAL" clId="{2B2BA112-D84B-4CE1-A59D-E515025F0AB7}" dt="2025-10-07T17:02:48.184" v="696" actId="2696"/>
        <pc:sldMkLst>
          <pc:docMk/>
          <pc:sldMk cId="2925749282" sldId="433"/>
        </pc:sldMkLst>
      </pc:sldChg>
      <pc:sldChg chg="add">
        <pc:chgData name="Jason Wallace" userId="c5651a97-8562-4697-884b-9f20f4d7aab1" providerId="ADAL" clId="{2B2BA112-D84B-4CE1-A59D-E515025F0AB7}" dt="2025-10-07T17:02:55.845" v="697"/>
        <pc:sldMkLst>
          <pc:docMk/>
          <pc:sldMk cId="3337851835" sldId="433"/>
        </pc:sldMkLst>
      </pc:sldChg>
      <pc:sldChg chg="del">
        <pc:chgData name="Jason Wallace" userId="c5651a97-8562-4697-884b-9f20f4d7aab1" providerId="ADAL" clId="{2B2BA112-D84B-4CE1-A59D-E515025F0AB7}" dt="2025-10-07T17:02:48.184" v="696" actId="2696"/>
        <pc:sldMkLst>
          <pc:docMk/>
          <pc:sldMk cId="397805077" sldId="434"/>
        </pc:sldMkLst>
      </pc:sldChg>
      <pc:sldChg chg="add">
        <pc:chgData name="Jason Wallace" userId="c5651a97-8562-4697-884b-9f20f4d7aab1" providerId="ADAL" clId="{2B2BA112-D84B-4CE1-A59D-E515025F0AB7}" dt="2025-10-07T17:02:55.845" v="697"/>
        <pc:sldMkLst>
          <pc:docMk/>
          <pc:sldMk cId="799633548" sldId="434"/>
        </pc:sldMkLst>
      </pc:sldChg>
      <pc:sldChg chg="del">
        <pc:chgData name="Jason Wallace" userId="c5651a97-8562-4697-884b-9f20f4d7aab1" providerId="ADAL" clId="{2B2BA112-D84B-4CE1-A59D-E515025F0AB7}" dt="2025-10-07T17:02:48.184" v="696" actId="2696"/>
        <pc:sldMkLst>
          <pc:docMk/>
          <pc:sldMk cId="3352965009" sldId="435"/>
        </pc:sldMkLst>
      </pc:sldChg>
      <pc:sldChg chg="addSp delSp modSp add mod">
        <pc:chgData name="Jason Wallace" userId="c5651a97-8562-4697-884b-9f20f4d7aab1" providerId="ADAL" clId="{2B2BA112-D84B-4CE1-A59D-E515025F0AB7}" dt="2025-10-07T17:05:50.068" v="790"/>
        <pc:sldMkLst>
          <pc:docMk/>
          <pc:sldMk cId="3573522131" sldId="435"/>
        </pc:sldMkLst>
        <pc:spChg chg="del">
          <ac:chgData name="Jason Wallace" userId="c5651a97-8562-4697-884b-9f20f4d7aab1" providerId="ADAL" clId="{2B2BA112-D84B-4CE1-A59D-E515025F0AB7}" dt="2025-10-07T17:05:35.333" v="788" actId="478"/>
          <ac:spMkLst>
            <pc:docMk/>
            <pc:sldMk cId="3573522131" sldId="435"/>
            <ac:spMk id="3" creationId="{00000000-0000-0000-0000-000000000000}"/>
          </ac:spMkLst>
        </pc:spChg>
        <pc:spChg chg="add mod">
          <ac:chgData name="Jason Wallace" userId="c5651a97-8562-4697-884b-9f20f4d7aab1" providerId="ADAL" clId="{2B2BA112-D84B-4CE1-A59D-E515025F0AB7}" dt="2025-10-07T17:04:00.568" v="701"/>
          <ac:spMkLst>
            <pc:docMk/>
            <pc:sldMk cId="3573522131" sldId="435"/>
            <ac:spMk id="15" creationId="{9B52AB58-D41A-440B-8BBA-531E4F09CFCB}"/>
          </ac:spMkLst>
        </pc:spChg>
        <pc:spChg chg="add mod">
          <ac:chgData name="Jason Wallace" userId="c5651a97-8562-4697-884b-9f20f4d7aab1" providerId="ADAL" clId="{2B2BA112-D84B-4CE1-A59D-E515025F0AB7}" dt="2025-10-07T17:05:50.068" v="790"/>
          <ac:spMkLst>
            <pc:docMk/>
            <pc:sldMk cId="3573522131" sldId="435"/>
            <ac:spMk id="16" creationId="{F0D2197F-7497-4191-9C8B-590131D4A39D}"/>
          </ac:spMkLst>
        </pc:spChg>
        <pc:graphicFrameChg chg="modGraphic">
          <ac:chgData name="Jason Wallace" userId="c5651a97-8562-4697-884b-9f20f4d7aab1" providerId="ADAL" clId="{2B2BA112-D84B-4CE1-A59D-E515025F0AB7}" dt="2025-10-07T17:05:41.502" v="789" actId="207"/>
          <ac:graphicFrameMkLst>
            <pc:docMk/>
            <pc:sldMk cId="3573522131" sldId="435"/>
            <ac:graphicFrameMk id="12" creationId="{00000000-0000-0000-0000-000000000000}"/>
          </ac:graphicFrameMkLst>
        </pc:graphicFrameChg>
      </pc:sldChg>
      <pc:sldChg chg="del">
        <pc:chgData name="Jason Wallace" userId="c5651a97-8562-4697-884b-9f20f4d7aab1" providerId="ADAL" clId="{2B2BA112-D84B-4CE1-A59D-E515025F0AB7}" dt="2025-10-07T17:02:48.184" v="696" actId="2696"/>
        <pc:sldMkLst>
          <pc:docMk/>
          <pc:sldMk cId="657462767" sldId="436"/>
        </pc:sldMkLst>
      </pc:sldChg>
      <pc:sldChg chg="addSp modSp add">
        <pc:chgData name="Jason Wallace" userId="c5651a97-8562-4697-884b-9f20f4d7aab1" providerId="ADAL" clId="{2B2BA112-D84B-4CE1-A59D-E515025F0AB7}" dt="2025-10-07T17:04:02.536" v="702"/>
        <pc:sldMkLst>
          <pc:docMk/>
          <pc:sldMk cId="2341926624" sldId="436"/>
        </pc:sldMkLst>
        <pc:spChg chg="add mod">
          <ac:chgData name="Jason Wallace" userId="c5651a97-8562-4697-884b-9f20f4d7aab1" providerId="ADAL" clId="{2B2BA112-D84B-4CE1-A59D-E515025F0AB7}" dt="2025-10-07T17:04:02.536" v="702"/>
          <ac:spMkLst>
            <pc:docMk/>
            <pc:sldMk cId="2341926624" sldId="436"/>
            <ac:spMk id="17" creationId="{A152D744-E2E5-4C12-89DF-1EE4C628809D}"/>
          </ac:spMkLst>
        </pc:spChg>
      </pc:sldChg>
      <pc:sldChg chg="del">
        <pc:chgData name="Jason Wallace" userId="c5651a97-8562-4697-884b-9f20f4d7aab1" providerId="ADAL" clId="{2B2BA112-D84B-4CE1-A59D-E515025F0AB7}" dt="2025-10-07T17:02:48.184" v="696" actId="2696"/>
        <pc:sldMkLst>
          <pc:docMk/>
          <pc:sldMk cId="31688486" sldId="437"/>
        </pc:sldMkLst>
      </pc:sldChg>
      <pc:sldChg chg="addSp modSp add">
        <pc:chgData name="Jason Wallace" userId="c5651a97-8562-4697-884b-9f20f4d7aab1" providerId="ADAL" clId="{2B2BA112-D84B-4CE1-A59D-E515025F0AB7}" dt="2025-10-07T17:04:04.967" v="703"/>
        <pc:sldMkLst>
          <pc:docMk/>
          <pc:sldMk cId="1573315799" sldId="437"/>
        </pc:sldMkLst>
        <pc:spChg chg="add mod">
          <ac:chgData name="Jason Wallace" userId="c5651a97-8562-4697-884b-9f20f4d7aab1" providerId="ADAL" clId="{2B2BA112-D84B-4CE1-A59D-E515025F0AB7}" dt="2025-10-07T17:04:04.967" v="703"/>
          <ac:spMkLst>
            <pc:docMk/>
            <pc:sldMk cId="1573315799" sldId="437"/>
            <ac:spMk id="17" creationId="{F7D4EDBD-2C27-4CA5-A268-57DB2065D7AC}"/>
          </ac:spMkLst>
        </pc:spChg>
      </pc:sldChg>
      <pc:sldChg chg="del">
        <pc:chgData name="Jason Wallace" userId="c5651a97-8562-4697-884b-9f20f4d7aab1" providerId="ADAL" clId="{2B2BA112-D84B-4CE1-A59D-E515025F0AB7}" dt="2025-10-07T17:02:48.184" v="696" actId="2696"/>
        <pc:sldMkLst>
          <pc:docMk/>
          <pc:sldMk cId="1691691596" sldId="438"/>
        </pc:sldMkLst>
      </pc:sldChg>
      <pc:sldChg chg="addSp modSp add">
        <pc:chgData name="Jason Wallace" userId="c5651a97-8562-4697-884b-9f20f4d7aab1" providerId="ADAL" clId="{2B2BA112-D84B-4CE1-A59D-E515025F0AB7}" dt="2025-10-07T17:04:06.098" v="704"/>
        <pc:sldMkLst>
          <pc:docMk/>
          <pc:sldMk cId="2464334004" sldId="438"/>
        </pc:sldMkLst>
        <pc:spChg chg="add mod">
          <ac:chgData name="Jason Wallace" userId="c5651a97-8562-4697-884b-9f20f4d7aab1" providerId="ADAL" clId="{2B2BA112-D84B-4CE1-A59D-E515025F0AB7}" dt="2025-10-07T17:04:06.098" v="704"/>
          <ac:spMkLst>
            <pc:docMk/>
            <pc:sldMk cId="2464334004" sldId="438"/>
            <ac:spMk id="18" creationId="{03E3BE10-186C-4EBC-B254-5E3CC5EF4ABA}"/>
          </ac:spMkLst>
        </pc:spChg>
      </pc:sldChg>
      <pc:sldChg chg="addSp modSp add">
        <pc:chgData name="Jason Wallace" userId="c5651a97-8562-4697-884b-9f20f4d7aab1" providerId="ADAL" clId="{2B2BA112-D84B-4CE1-A59D-E515025F0AB7}" dt="2025-10-07T17:04:08.748" v="705"/>
        <pc:sldMkLst>
          <pc:docMk/>
          <pc:sldMk cId="598844998" sldId="439"/>
        </pc:sldMkLst>
        <pc:spChg chg="add mod">
          <ac:chgData name="Jason Wallace" userId="c5651a97-8562-4697-884b-9f20f4d7aab1" providerId="ADAL" clId="{2B2BA112-D84B-4CE1-A59D-E515025F0AB7}" dt="2025-10-07T17:04:08.748" v="705"/>
          <ac:spMkLst>
            <pc:docMk/>
            <pc:sldMk cId="598844998" sldId="439"/>
            <ac:spMk id="13" creationId="{2335AF68-B460-46DA-803B-44F2E1560D1E}"/>
          </ac:spMkLst>
        </pc:spChg>
      </pc:sldChg>
      <pc:sldChg chg="del">
        <pc:chgData name="Jason Wallace" userId="c5651a97-8562-4697-884b-9f20f4d7aab1" providerId="ADAL" clId="{2B2BA112-D84B-4CE1-A59D-E515025F0AB7}" dt="2025-10-07T17:02:48.184" v="696" actId="2696"/>
        <pc:sldMkLst>
          <pc:docMk/>
          <pc:sldMk cId="3647277441" sldId="439"/>
        </pc:sldMkLst>
      </pc:sldChg>
      <pc:sldChg chg="add del">
        <pc:chgData name="Jason Wallace" userId="c5651a97-8562-4697-884b-9f20f4d7aab1" providerId="ADAL" clId="{2B2BA112-D84B-4CE1-A59D-E515025F0AB7}" dt="2025-10-07T17:09:36.178" v="816" actId="2696"/>
        <pc:sldMkLst>
          <pc:docMk/>
          <pc:sldMk cId="976130311" sldId="443"/>
        </pc:sldMkLst>
      </pc:sldChg>
      <pc:sldChg chg="add">
        <pc:chgData name="Jason Wallace" userId="c5651a97-8562-4697-884b-9f20f4d7aab1" providerId="ADAL" clId="{2B2BA112-D84B-4CE1-A59D-E515025F0AB7}" dt="2025-10-07T17:11:30.671" v="823"/>
        <pc:sldMkLst>
          <pc:docMk/>
          <pc:sldMk cId="1010808369" sldId="443"/>
        </pc:sldMkLst>
      </pc:sldChg>
      <pc:sldChg chg="del">
        <pc:chgData name="Jason Wallace" userId="c5651a97-8562-4697-884b-9f20f4d7aab1" providerId="ADAL" clId="{2B2BA112-D84B-4CE1-A59D-E515025F0AB7}" dt="2025-10-07T17:03:04.801" v="698" actId="2696"/>
        <pc:sldMkLst>
          <pc:docMk/>
          <pc:sldMk cId="2664249908" sldId="443"/>
        </pc:sldMkLst>
      </pc:sldChg>
      <pc:sldChg chg="add del ord">
        <pc:chgData name="Jason Wallace" userId="c5651a97-8562-4697-884b-9f20f4d7aab1" providerId="ADAL" clId="{2B2BA112-D84B-4CE1-A59D-E515025F0AB7}" dt="2025-10-07T17:11:24.693" v="822" actId="2696"/>
        <pc:sldMkLst>
          <pc:docMk/>
          <pc:sldMk cId="2803445080" sldId="443"/>
        </pc:sldMkLst>
      </pc:sldChg>
      <pc:sldChg chg="add del">
        <pc:chgData name="Jason Wallace" userId="c5651a97-8562-4697-884b-9f20f4d7aab1" providerId="ADAL" clId="{2B2BA112-D84B-4CE1-A59D-E515025F0AB7}" dt="2025-10-07T17:09:36.178" v="816" actId="2696"/>
        <pc:sldMkLst>
          <pc:docMk/>
          <pc:sldMk cId="2868662406" sldId="483"/>
        </pc:sldMkLst>
      </pc:sldChg>
      <pc:sldChg chg="add del">
        <pc:chgData name="Jason Wallace" userId="c5651a97-8562-4697-884b-9f20f4d7aab1" providerId="ADAL" clId="{2B2BA112-D84B-4CE1-A59D-E515025F0AB7}" dt="2025-10-07T17:11:24.693" v="822" actId="2696"/>
        <pc:sldMkLst>
          <pc:docMk/>
          <pc:sldMk cId="3100324093" sldId="483"/>
        </pc:sldMkLst>
      </pc:sldChg>
      <pc:sldChg chg="add">
        <pc:chgData name="Jason Wallace" userId="c5651a97-8562-4697-884b-9f20f4d7aab1" providerId="ADAL" clId="{2B2BA112-D84B-4CE1-A59D-E515025F0AB7}" dt="2025-10-07T17:11:30.671" v="823"/>
        <pc:sldMkLst>
          <pc:docMk/>
          <pc:sldMk cId="3364948537" sldId="483"/>
        </pc:sldMkLst>
      </pc:sldChg>
      <pc:sldChg chg="del">
        <pc:chgData name="Jason Wallace" userId="c5651a97-8562-4697-884b-9f20f4d7aab1" providerId="ADAL" clId="{2B2BA112-D84B-4CE1-A59D-E515025F0AB7}" dt="2025-10-07T17:03:04.801" v="698" actId="2696"/>
        <pc:sldMkLst>
          <pc:docMk/>
          <pc:sldMk cId="3656313549" sldId="483"/>
        </pc:sldMkLst>
      </pc:sldChg>
      <pc:sldChg chg="del">
        <pc:chgData name="Jason Wallace" userId="c5651a97-8562-4697-884b-9f20f4d7aab1" providerId="ADAL" clId="{2B2BA112-D84B-4CE1-A59D-E515025F0AB7}" dt="2025-10-07T17:03:04.801" v="698" actId="2696"/>
        <pc:sldMkLst>
          <pc:docMk/>
          <pc:sldMk cId="205412979" sldId="484"/>
        </pc:sldMkLst>
      </pc:sldChg>
      <pc:sldChg chg="add">
        <pc:chgData name="Jason Wallace" userId="c5651a97-8562-4697-884b-9f20f4d7aab1" providerId="ADAL" clId="{2B2BA112-D84B-4CE1-A59D-E515025F0AB7}" dt="2025-10-07T17:11:30.671" v="823"/>
        <pc:sldMkLst>
          <pc:docMk/>
          <pc:sldMk cId="862763815" sldId="484"/>
        </pc:sldMkLst>
      </pc:sldChg>
      <pc:sldChg chg="add del">
        <pc:chgData name="Jason Wallace" userId="c5651a97-8562-4697-884b-9f20f4d7aab1" providerId="ADAL" clId="{2B2BA112-D84B-4CE1-A59D-E515025F0AB7}" dt="2025-10-07T17:09:36.178" v="816" actId="2696"/>
        <pc:sldMkLst>
          <pc:docMk/>
          <pc:sldMk cId="2109913808" sldId="484"/>
        </pc:sldMkLst>
      </pc:sldChg>
      <pc:sldChg chg="add del">
        <pc:chgData name="Jason Wallace" userId="c5651a97-8562-4697-884b-9f20f4d7aab1" providerId="ADAL" clId="{2B2BA112-D84B-4CE1-A59D-E515025F0AB7}" dt="2025-10-07T17:11:24.693" v="822" actId="2696"/>
        <pc:sldMkLst>
          <pc:docMk/>
          <pc:sldMk cId="3801897439" sldId="484"/>
        </pc:sldMkLst>
      </pc:sldChg>
      <pc:sldChg chg="del">
        <pc:chgData name="Jason Wallace" userId="c5651a97-8562-4697-884b-9f20f4d7aab1" providerId="ADAL" clId="{2B2BA112-D84B-4CE1-A59D-E515025F0AB7}" dt="2025-10-07T17:02:48.184" v="696" actId="2696"/>
        <pc:sldMkLst>
          <pc:docMk/>
          <pc:sldMk cId="669175611" sldId="503"/>
        </pc:sldMkLst>
      </pc:sldChg>
      <pc:sldChg chg="add">
        <pc:chgData name="Jason Wallace" userId="c5651a97-8562-4697-884b-9f20f4d7aab1" providerId="ADAL" clId="{2B2BA112-D84B-4CE1-A59D-E515025F0AB7}" dt="2025-10-07T17:02:55.845" v="697"/>
        <pc:sldMkLst>
          <pc:docMk/>
          <pc:sldMk cId="1645373864" sldId="503"/>
        </pc:sldMkLst>
      </pc:sldChg>
      <pc:sldChg chg="addSp modSp mod modAnim">
        <pc:chgData name="Jason Wallace" userId="c5651a97-8562-4697-884b-9f20f4d7aab1" providerId="ADAL" clId="{2B2BA112-D84B-4CE1-A59D-E515025F0AB7}" dt="2025-10-07T17:17:48.524" v="860"/>
        <pc:sldMkLst>
          <pc:docMk/>
          <pc:sldMk cId="1768797509" sldId="505"/>
        </pc:sldMkLst>
        <pc:spChg chg="add mod">
          <ac:chgData name="Jason Wallace" userId="c5651a97-8562-4697-884b-9f20f4d7aab1" providerId="ADAL" clId="{2B2BA112-D84B-4CE1-A59D-E515025F0AB7}" dt="2025-10-07T17:17:25.983" v="859" actId="1076"/>
          <ac:spMkLst>
            <pc:docMk/>
            <pc:sldMk cId="1768797509" sldId="505"/>
            <ac:spMk id="4" creationId="{3A102638-5AEB-49A8-B4D1-E884C071FC0D}"/>
          </ac:spMkLst>
        </pc:spChg>
        <pc:spChg chg="add mod">
          <ac:chgData name="Jason Wallace" userId="c5651a97-8562-4697-884b-9f20f4d7aab1" providerId="ADAL" clId="{2B2BA112-D84B-4CE1-A59D-E515025F0AB7}" dt="2025-10-07T17:17:09.825" v="851" actId="208"/>
          <ac:spMkLst>
            <pc:docMk/>
            <pc:sldMk cId="1768797509" sldId="505"/>
            <ac:spMk id="5" creationId="{7FD54D65-432B-4E86-9F28-DFAC42EBFE86}"/>
          </ac:spMkLst>
        </pc:spChg>
      </pc:sldChg>
      <pc:sldChg chg="modNotesTx">
        <pc:chgData name="Jason Wallace" userId="c5651a97-8562-4697-884b-9f20f4d7aab1" providerId="ADAL" clId="{2B2BA112-D84B-4CE1-A59D-E515025F0AB7}" dt="2025-10-07T17:19:17.085" v="975" actId="20577"/>
        <pc:sldMkLst>
          <pc:docMk/>
          <pc:sldMk cId="2398127980" sldId="507"/>
        </pc:sldMkLst>
      </pc:sldChg>
      <pc:sldChg chg="add">
        <pc:chgData name="Jason Wallace" userId="c5651a97-8562-4697-884b-9f20f4d7aab1" providerId="ADAL" clId="{2B2BA112-D84B-4CE1-A59D-E515025F0AB7}" dt="2025-10-07T17:01:27.841" v="663"/>
        <pc:sldMkLst>
          <pc:docMk/>
          <pc:sldMk cId="2807864065" sldId="512"/>
        </pc:sldMkLst>
      </pc:sldChg>
      <pc:sldChg chg="del">
        <pc:chgData name="Jason Wallace" userId="c5651a97-8562-4697-884b-9f20f4d7aab1" providerId="ADAL" clId="{2B2BA112-D84B-4CE1-A59D-E515025F0AB7}" dt="2025-10-07T17:01:19.977" v="662" actId="2696"/>
        <pc:sldMkLst>
          <pc:docMk/>
          <pc:sldMk cId="3023504758" sldId="512"/>
        </pc:sldMkLst>
      </pc:sldChg>
      <pc:sldChg chg="del">
        <pc:chgData name="Jason Wallace" userId="c5651a97-8562-4697-884b-9f20f4d7aab1" providerId="ADAL" clId="{2B2BA112-D84B-4CE1-A59D-E515025F0AB7}" dt="2025-10-07T17:01:19.977" v="662" actId="2696"/>
        <pc:sldMkLst>
          <pc:docMk/>
          <pc:sldMk cId="1911843738" sldId="513"/>
        </pc:sldMkLst>
      </pc:sldChg>
      <pc:sldChg chg="add">
        <pc:chgData name="Jason Wallace" userId="c5651a97-8562-4697-884b-9f20f4d7aab1" providerId="ADAL" clId="{2B2BA112-D84B-4CE1-A59D-E515025F0AB7}" dt="2025-10-07T17:01:27.841" v="663"/>
        <pc:sldMkLst>
          <pc:docMk/>
          <pc:sldMk cId="2333385827" sldId="513"/>
        </pc:sldMkLst>
      </pc:sldChg>
      <pc:sldChg chg="del">
        <pc:chgData name="Jason Wallace" userId="c5651a97-8562-4697-884b-9f20f4d7aab1" providerId="ADAL" clId="{2B2BA112-D84B-4CE1-A59D-E515025F0AB7}" dt="2025-10-07T17:03:04.801" v="698" actId="2696"/>
        <pc:sldMkLst>
          <pc:docMk/>
          <pc:sldMk cId="555276378" sldId="519"/>
        </pc:sldMkLst>
      </pc:sldChg>
      <pc:sldChg chg="add del">
        <pc:chgData name="Jason Wallace" userId="c5651a97-8562-4697-884b-9f20f4d7aab1" providerId="ADAL" clId="{2B2BA112-D84B-4CE1-A59D-E515025F0AB7}" dt="2025-10-07T17:09:36.178" v="816" actId="2696"/>
        <pc:sldMkLst>
          <pc:docMk/>
          <pc:sldMk cId="2001474950" sldId="519"/>
        </pc:sldMkLst>
      </pc:sldChg>
      <pc:sldChg chg="add">
        <pc:chgData name="Jason Wallace" userId="c5651a97-8562-4697-884b-9f20f4d7aab1" providerId="ADAL" clId="{2B2BA112-D84B-4CE1-A59D-E515025F0AB7}" dt="2025-10-07T17:11:30.671" v="823"/>
        <pc:sldMkLst>
          <pc:docMk/>
          <pc:sldMk cId="3488252249" sldId="519"/>
        </pc:sldMkLst>
      </pc:sldChg>
      <pc:sldChg chg="add del">
        <pc:chgData name="Jason Wallace" userId="c5651a97-8562-4697-884b-9f20f4d7aab1" providerId="ADAL" clId="{2B2BA112-D84B-4CE1-A59D-E515025F0AB7}" dt="2025-10-07T17:11:24.693" v="822" actId="2696"/>
        <pc:sldMkLst>
          <pc:docMk/>
          <pc:sldMk cId="3919115848" sldId="519"/>
        </pc:sldMkLst>
      </pc:sldChg>
      <pc:sldChg chg="modAnim">
        <pc:chgData name="Jason Wallace" userId="c5651a97-8562-4697-884b-9f20f4d7aab1" providerId="ADAL" clId="{2B2BA112-D84B-4CE1-A59D-E515025F0AB7}" dt="2025-10-07T17:21:40.566" v="976"/>
        <pc:sldMkLst>
          <pc:docMk/>
          <pc:sldMk cId="709298566" sldId="534"/>
        </pc:sldMkLst>
      </pc:sldChg>
      <pc:sldChg chg="addSp modSp mod">
        <pc:chgData name="Jason Wallace" userId="c5651a97-8562-4697-884b-9f20f4d7aab1" providerId="ADAL" clId="{2B2BA112-D84B-4CE1-A59D-E515025F0AB7}" dt="2025-10-06T20:38:02.818" v="70" actId="1076"/>
        <pc:sldMkLst>
          <pc:docMk/>
          <pc:sldMk cId="989340391" sldId="595"/>
        </pc:sldMkLst>
        <pc:spChg chg="add mod">
          <ac:chgData name="Jason Wallace" userId="c5651a97-8562-4697-884b-9f20f4d7aab1" providerId="ADAL" clId="{2B2BA112-D84B-4CE1-A59D-E515025F0AB7}" dt="2025-10-06T20:38:02.818" v="70" actId="1076"/>
          <ac:spMkLst>
            <pc:docMk/>
            <pc:sldMk cId="989340391" sldId="595"/>
            <ac:spMk id="3" creationId="{343CC3CD-C941-46F4-A75E-53198F01965B}"/>
          </ac:spMkLst>
        </pc:spChg>
      </pc:sldChg>
      <pc:sldChg chg="modSp modAnim">
        <pc:chgData name="Jason Wallace" userId="c5651a97-8562-4697-884b-9f20f4d7aab1" providerId="ADAL" clId="{2B2BA112-D84B-4CE1-A59D-E515025F0AB7}" dt="2025-10-06T20:35:08.672" v="2" actId="20577"/>
        <pc:sldMkLst>
          <pc:docMk/>
          <pc:sldMk cId="1572097032" sldId="597"/>
        </pc:sldMkLst>
        <pc:spChg chg="mod">
          <ac:chgData name="Jason Wallace" userId="c5651a97-8562-4697-884b-9f20f4d7aab1" providerId="ADAL" clId="{2B2BA112-D84B-4CE1-A59D-E515025F0AB7}" dt="2025-10-06T20:35:08.672" v="2" actId="20577"/>
          <ac:spMkLst>
            <pc:docMk/>
            <pc:sldMk cId="1572097032" sldId="597"/>
            <ac:spMk id="3" creationId="{00000000-0000-0000-0000-000000000000}"/>
          </ac:spMkLst>
        </pc:spChg>
      </pc:sldChg>
      <pc:sldChg chg="modSp add mod modTransition modNotesTx">
        <pc:chgData name="Jason Wallace" userId="c5651a97-8562-4697-884b-9f20f4d7aab1" providerId="ADAL" clId="{2B2BA112-D84B-4CE1-A59D-E515025F0AB7}" dt="2025-10-07T17:24:30.920" v="978"/>
        <pc:sldMkLst>
          <pc:docMk/>
          <pc:sldMk cId="1428895246" sldId="598"/>
        </pc:sldMkLst>
        <pc:spChg chg="mod">
          <ac:chgData name="Jason Wallace" userId="c5651a97-8562-4697-884b-9f20f4d7aab1" providerId="ADAL" clId="{2B2BA112-D84B-4CE1-A59D-E515025F0AB7}" dt="2025-10-06T20:54:38.501" v="583" actId="6549"/>
          <ac:spMkLst>
            <pc:docMk/>
            <pc:sldMk cId="1428895246" sldId="598"/>
            <ac:spMk id="2" creationId="{B7A7A9F8-148C-4280-A436-D01AD6E44700}"/>
          </ac:spMkLst>
        </pc:spChg>
      </pc:sldChg>
      <pc:sldChg chg="addSp modSp new del mod modAnim modNotesTx">
        <pc:chgData name="Jason Wallace" userId="c5651a97-8562-4697-884b-9f20f4d7aab1" providerId="ADAL" clId="{2B2BA112-D84B-4CE1-A59D-E515025F0AB7}" dt="2025-10-06T20:54:21.222" v="561" actId="2696"/>
        <pc:sldMkLst>
          <pc:docMk/>
          <pc:sldMk cId="1913396887" sldId="598"/>
        </pc:sldMkLst>
        <pc:spChg chg="mod">
          <ac:chgData name="Jason Wallace" userId="c5651a97-8562-4697-884b-9f20f4d7aab1" providerId="ADAL" clId="{2B2BA112-D84B-4CE1-A59D-E515025F0AB7}" dt="2025-10-06T20:42:41.565" v="96" actId="20577"/>
          <ac:spMkLst>
            <pc:docMk/>
            <pc:sldMk cId="1913396887" sldId="598"/>
            <ac:spMk id="2" creationId="{B7A7A9F8-148C-4280-A436-D01AD6E44700}"/>
          </ac:spMkLst>
        </pc:spChg>
        <pc:spChg chg="mod">
          <ac:chgData name="Jason Wallace" userId="c5651a97-8562-4697-884b-9f20f4d7aab1" providerId="ADAL" clId="{2B2BA112-D84B-4CE1-A59D-E515025F0AB7}" dt="2025-10-06T20:53:26.197" v="560" actId="20577"/>
          <ac:spMkLst>
            <pc:docMk/>
            <pc:sldMk cId="1913396887" sldId="598"/>
            <ac:spMk id="3" creationId="{839B67C8-04EF-4140-B8FE-E656172CEDBD}"/>
          </ac:spMkLst>
        </pc:spChg>
        <pc:picChg chg="add mod">
          <ac:chgData name="Jason Wallace" userId="c5651a97-8562-4697-884b-9f20f4d7aab1" providerId="ADAL" clId="{2B2BA112-D84B-4CE1-A59D-E515025F0AB7}" dt="2025-10-06T20:47:04.327" v="214" actId="1076"/>
          <ac:picMkLst>
            <pc:docMk/>
            <pc:sldMk cId="1913396887" sldId="598"/>
            <ac:picMk id="5" creationId="{8A38BA84-1358-4683-852E-AB136D117926}"/>
          </ac:picMkLst>
        </pc:picChg>
        <pc:picChg chg="add mod">
          <ac:chgData name="Jason Wallace" userId="c5651a97-8562-4697-884b-9f20f4d7aab1" providerId="ADAL" clId="{2B2BA112-D84B-4CE1-A59D-E515025F0AB7}" dt="2025-10-06T20:46:58.688" v="213" actId="1076"/>
          <ac:picMkLst>
            <pc:docMk/>
            <pc:sldMk cId="1913396887" sldId="598"/>
            <ac:picMk id="7" creationId="{6295CD56-50EB-4D8C-AAD9-A2A4CEB30D2A}"/>
          </ac:picMkLst>
        </pc:picChg>
      </pc:sldChg>
      <pc:sldChg chg="modSp new mod modTransition">
        <pc:chgData name="Jason Wallace" userId="c5651a97-8562-4697-884b-9f20f4d7aab1" providerId="ADAL" clId="{2B2BA112-D84B-4CE1-A59D-E515025F0AB7}" dt="2025-10-07T17:23:28.402" v="977"/>
        <pc:sldMkLst>
          <pc:docMk/>
          <pc:sldMk cId="1639355829" sldId="599"/>
        </pc:sldMkLst>
        <pc:spChg chg="mod">
          <ac:chgData name="Jason Wallace" userId="c5651a97-8562-4697-884b-9f20f4d7aab1" providerId="ADAL" clId="{2B2BA112-D84B-4CE1-A59D-E515025F0AB7}" dt="2025-10-07T17:01:50.807" v="695" actId="20577"/>
          <ac:spMkLst>
            <pc:docMk/>
            <pc:sldMk cId="1639355829" sldId="599"/>
            <ac:spMk id="2" creationId="{7328BAD3-C1F2-4778-9C86-B64AAE3B8D55}"/>
          </ac:spMkLst>
        </pc:spChg>
      </pc:sldChg>
      <pc:sldChg chg="delSp modSp add mod">
        <pc:chgData name="Jason Wallace" userId="c5651a97-8562-4697-884b-9f20f4d7aab1" providerId="ADAL" clId="{2B2BA112-D84B-4CE1-A59D-E515025F0AB7}" dt="2025-10-07T17:04:55.639" v="787" actId="6549"/>
        <pc:sldMkLst>
          <pc:docMk/>
          <pc:sldMk cId="849654423" sldId="600"/>
        </pc:sldMkLst>
        <pc:spChg chg="mod">
          <ac:chgData name="Jason Wallace" userId="c5651a97-8562-4697-884b-9f20f4d7aab1" providerId="ADAL" clId="{2B2BA112-D84B-4CE1-A59D-E515025F0AB7}" dt="2025-10-07T17:04:55.639" v="787" actId="6549"/>
          <ac:spMkLst>
            <pc:docMk/>
            <pc:sldMk cId="849654423" sldId="600"/>
            <ac:spMk id="2" creationId="{00000000-0000-0000-0000-000000000000}"/>
          </ac:spMkLst>
        </pc:spChg>
        <pc:spChg chg="del">
          <ac:chgData name="Jason Wallace" userId="c5651a97-8562-4697-884b-9f20f4d7aab1" providerId="ADAL" clId="{2B2BA112-D84B-4CE1-A59D-E515025F0AB7}" dt="2025-10-07T17:04:28.703" v="745" actId="478"/>
          <ac:spMkLst>
            <pc:docMk/>
            <pc:sldMk cId="849654423" sldId="600"/>
            <ac:spMk id="11" creationId="{00000000-0000-0000-0000-000000000000}"/>
          </ac:spMkLst>
        </pc:spChg>
        <pc:spChg chg="mod">
          <ac:chgData name="Jason Wallace" userId="c5651a97-8562-4697-884b-9f20f4d7aab1" providerId="ADAL" clId="{2B2BA112-D84B-4CE1-A59D-E515025F0AB7}" dt="2025-10-07T17:04:44.264" v="783" actId="207"/>
          <ac:spMkLst>
            <pc:docMk/>
            <pc:sldMk cId="849654423" sldId="600"/>
            <ac:spMk id="1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9FA04D-5C42-4D62-A2E3-69462FD4FA81}" type="datetimeFigureOut">
              <a:rPr lang="en-US" smtClean="0"/>
              <a:t>10/7/2026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5FD8CC-2567-4E8B-88B6-FED9D8364B0E}" type="slidenum">
              <a:rPr lang="en-US" smtClean="0"/>
              <a:t>‹#›</a:t>
            </a:fld>
            <a:endParaRPr lang="en-US"/>
          </a:p>
        </p:txBody>
      </p:sp>
    </p:spTree>
    <p:extLst>
      <p:ext uri="{BB962C8B-B14F-4D97-AF65-F5344CB8AC3E}">
        <p14:creationId xmlns:p14="http://schemas.microsoft.com/office/powerpoint/2010/main" val="21111917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1</a:t>
            </a:fld>
            <a:endParaRPr lang="en-US"/>
          </a:p>
        </p:txBody>
      </p:sp>
    </p:spTree>
    <p:extLst>
      <p:ext uri="{BB962C8B-B14F-4D97-AF65-F5344CB8AC3E}">
        <p14:creationId xmlns:p14="http://schemas.microsoft.com/office/powerpoint/2010/main" val="21944407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5FD8CC-2567-4E8B-88B6-FED9D8364B0E}" type="slidenum">
              <a:rPr lang="en-US" smtClean="0"/>
              <a:t>4</a:t>
            </a:fld>
            <a:endParaRPr lang="en-US"/>
          </a:p>
        </p:txBody>
      </p:sp>
    </p:spTree>
    <p:extLst>
      <p:ext uri="{BB962C8B-B14F-4D97-AF65-F5344CB8AC3E}">
        <p14:creationId xmlns:p14="http://schemas.microsoft.com/office/powerpoint/2010/main" val="31818607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 is of George Box</a:t>
            </a:r>
          </a:p>
        </p:txBody>
      </p:sp>
      <p:sp>
        <p:nvSpPr>
          <p:cNvPr id="4" name="Slide Number Placeholder 3"/>
          <p:cNvSpPr>
            <a:spLocks noGrp="1"/>
          </p:cNvSpPr>
          <p:nvPr>
            <p:ph type="sldNum" sz="quarter" idx="10"/>
          </p:nvPr>
        </p:nvSpPr>
        <p:spPr/>
        <p:txBody>
          <a:bodyPr/>
          <a:lstStyle/>
          <a:p>
            <a:fld id="{E95FD8CC-2567-4E8B-88B6-FED9D8364B0E}" type="slidenum">
              <a:rPr lang="en-US" smtClean="0"/>
              <a:t>8</a:t>
            </a:fld>
            <a:endParaRPr lang="en-US"/>
          </a:p>
        </p:txBody>
      </p:sp>
    </p:spTree>
    <p:extLst>
      <p:ext uri="{BB962C8B-B14F-4D97-AF65-F5344CB8AC3E}">
        <p14:creationId xmlns:p14="http://schemas.microsoft.com/office/powerpoint/2010/main" val="725915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Technically, the matrix we’re going to fill</a:t>
            </a:r>
            <a:r>
              <a:rPr lang="en-US" baseline="0" dirty="0"/>
              <a:t> out is the result of multiplying the incidence matrix by the model coefficients, but that’s a little too deep into the math of regression for what I want this class to focus on.</a:t>
            </a:r>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14</a:t>
            </a:fld>
            <a:endParaRPr lang="en-US"/>
          </a:p>
        </p:txBody>
      </p:sp>
    </p:spTree>
    <p:extLst>
      <p:ext uri="{BB962C8B-B14F-4D97-AF65-F5344CB8AC3E}">
        <p14:creationId xmlns:p14="http://schemas.microsoft.com/office/powerpoint/2010/main" val="192128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15</a:t>
            </a:fld>
            <a:endParaRPr lang="en-US"/>
          </a:p>
        </p:txBody>
      </p:sp>
    </p:spTree>
    <p:extLst>
      <p:ext uri="{BB962C8B-B14F-4D97-AF65-F5344CB8AC3E}">
        <p14:creationId xmlns:p14="http://schemas.microsoft.com/office/powerpoint/2010/main" val="31461159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16</a:t>
            </a:fld>
            <a:endParaRPr lang="en-US"/>
          </a:p>
        </p:txBody>
      </p:sp>
    </p:spTree>
    <p:extLst>
      <p:ext uri="{BB962C8B-B14F-4D97-AF65-F5344CB8AC3E}">
        <p14:creationId xmlns:p14="http://schemas.microsoft.com/office/powerpoint/2010/main" val="6261965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17</a:t>
            </a:fld>
            <a:endParaRPr lang="en-US"/>
          </a:p>
        </p:txBody>
      </p:sp>
    </p:spTree>
    <p:extLst>
      <p:ext uri="{BB962C8B-B14F-4D97-AF65-F5344CB8AC3E}">
        <p14:creationId xmlns:p14="http://schemas.microsoft.com/office/powerpoint/2010/main" val="14422509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18</a:t>
            </a:fld>
            <a:endParaRPr lang="en-US"/>
          </a:p>
        </p:txBody>
      </p:sp>
    </p:spTree>
    <p:extLst>
      <p:ext uri="{BB962C8B-B14F-4D97-AF65-F5344CB8AC3E}">
        <p14:creationId xmlns:p14="http://schemas.microsoft.com/office/powerpoint/2010/main" val="17890682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19</a:t>
            </a:fld>
            <a:endParaRPr lang="en-US"/>
          </a:p>
        </p:txBody>
      </p:sp>
    </p:spTree>
    <p:extLst>
      <p:ext uri="{BB962C8B-B14F-4D97-AF65-F5344CB8AC3E}">
        <p14:creationId xmlns:p14="http://schemas.microsoft.com/office/powerpoint/2010/main" val="24490989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20</a:t>
            </a:fld>
            <a:endParaRPr lang="en-US"/>
          </a:p>
        </p:txBody>
      </p:sp>
    </p:spTree>
    <p:extLst>
      <p:ext uri="{BB962C8B-B14F-4D97-AF65-F5344CB8AC3E}">
        <p14:creationId xmlns:p14="http://schemas.microsoft.com/office/powerpoint/2010/main" val="1778238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21</a:t>
            </a:fld>
            <a:endParaRPr lang="en-US"/>
          </a:p>
        </p:txBody>
      </p:sp>
    </p:spTree>
    <p:extLst>
      <p:ext uri="{BB962C8B-B14F-4D97-AF65-F5344CB8AC3E}">
        <p14:creationId xmlns:p14="http://schemas.microsoft.com/office/powerpoint/2010/main" val="26419759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22</a:t>
            </a:fld>
            <a:endParaRPr lang="en-US"/>
          </a:p>
        </p:txBody>
      </p:sp>
    </p:spTree>
    <p:extLst>
      <p:ext uri="{BB962C8B-B14F-4D97-AF65-F5344CB8AC3E}">
        <p14:creationId xmlns:p14="http://schemas.microsoft.com/office/powerpoint/2010/main" val="2025474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a:t>
            </a:r>
            <a:r>
              <a:rPr lang="en-US" baseline="0" dirty="0"/>
              <a:t> fitted value is just the sum of all model coefficients, including </a:t>
            </a:r>
            <a:r>
              <a:rPr lang="en-US" baseline="0"/>
              <a:t>the intercept</a:t>
            </a:r>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23</a:t>
            </a:fld>
            <a:endParaRPr lang="en-US"/>
          </a:p>
        </p:txBody>
      </p:sp>
    </p:spTree>
    <p:extLst>
      <p:ext uri="{BB962C8B-B14F-4D97-AF65-F5344CB8AC3E}">
        <p14:creationId xmlns:p14="http://schemas.microsoft.com/office/powerpoint/2010/main" val="27666368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a:t>
            </a:r>
            <a:r>
              <a:rPr lang="en-US" baseline="0" dirty="0"/>
              <a:t> fitted value is just the sum of all model coefficients, including the intercept</a:t>
            </a:r>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24</a:t>
            </a:fld>
            <a:endParaRPr lang="en-US"/>
          </a:p>
        </p:txBody>
      </p:sp>
    </p:spTree>
    <p:extLst>
      <p:ext uri="{BB962C8B-B14F-4D97-AF65-F5344CB8AC3E}">
        <p14:creationId xmlns:p14="http://schemas.microsoft.com/office/powerpoint/2010/main" val="3528789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a:t>
            </a:r>
            <a:r>
              <a:rPr lang="en-US" baseline="0" dirty="0"/>
              <a:t> fitted value is just the sum of all model coefficients, including </a:t>
            </a:r>
            <a:r>
              <a:rPr lang="en-US" baseline="0"/>
              <a:t>the intercept</a:t>
            </a:r>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25</a:t>
            </a:fld>
            <a:endParaRPr lang="en-US"/>
          </a:p>
        </p:txBody>
      </p:sp>
    </p:spTree>
    <p:extLst>
      <p:ext uri="{BB962C8B-B14F-4D97-AF65-F5344CB8AC3E}">
        <p14:creationId xmlns:p14="http://schemas.microsoft.com/office/powerpoint/2010/main" val="16675836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a:t>
            </a:r>
            <a:r>
              <a:rPr lang="en-US" baseline="0" dirty="0"/>
              <a:t> fitted value is just the sum of all model coefficients, including the intercept</a:t>
            </a:r>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26</a:t>
            </a:fld>
            <a:endParaRPr lang="en-US"/>
          </a:p>
        </p:txBody>
      </p:sp>
    </p:spTree>
    <p:extLst>
      <p:ext uri="{BB962C8B-B14F-4D97-AF65-F5344CB8AC3E}">
        <p14:creationId xmlns:p14="http://schemas.microsoft.com/office/powerpoint/2010/main" val="5421618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29</a:t>
            </a:fld>
            <a:endParaRPr lang="en-US"/>
          </a:p>
        </p:txBody>
      </p:sp>
    </p:spTree>
    <p:extLst>
      <p:ext uri="{BB962C8B-B14F-4D97-AF65-F5344CB8AC3E}">
        <p14:creationId xmlns:p14="http://schemas.microsoft.com/office/powerpoint/2010/main" val="7910135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r>
              <a:rPr lang="en-US" dirty="0"/>
              <a:t>“Contrasts” are outside the scope of this class, but they’re basically the comparisons the linear regression model is making</a:t>
            </a:r>
          </a:p>
          <a:p>
            <a:endParaRPr lang="en-US" dirty="0"/>
          </a:p>
          <a:p>
            <a:r>
              <a:rPr lang="en-US" dirty="0"/>
              <a:t>I’m not going to explicitly hold you accountable for this (after all, you should be able to do this by hand if need</a:t>
            </a:r>
            <a:r>
              <a:rPr lang="en-US" baseline="0" dirty="0"/>
              <a:t> be), but it could be useful to know</a:t>
            </a:r>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30</a:t>
            </a:fld>
            <a:endParaRPr lang="en-US"/>
          </a:p>
        </p:txBody>
      </p:sp>
    </p:spTree>
    <p:extLst>
      <p:ext uri="{BB962C8B-B14F-4D97-AF65-F5344CB8AC3E}">
        <p14:creationId xmlns:p14="http://schemas.microsoft.com/office/powerpoint/2010/main" val="2583711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Generalized linear models can handle nonlinear relationships with data so long as</a:t>
            </a:r>
            <a:r>
              <a:rPr lang="en-US" baseline="0" dirty="0"/>
              <a:t> you can turn it into a linear operation on a nonlinear function. We don’t have time to go over that in this class, though it may get mentioned a bit later</a:t>
            </a:r>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34</a:t>
            </a:fld>
            <a:endParaRPr lang="en-US"/>
          </a:p>
        </p:txBody>
      </p:sp>
    </p:spTree>
    <p:extLst>
      <p:ext uri="{BB962C8B-B14F-4D97-AF65-F5344CB8AC3E}">
        <p14:creationId xmlns:p14="http://schemas.microsoft.com/office/powerpoint/2010/main" val="23327326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Again,</a:t>
            </a:r>
            <a:r>
              <a:rPr lang="en-US" baseline="0" dirty="0"/>
              <a:t> there are ways to handle this. They involve transformation of your X variables and are pretty much beyond the scope of our class. For now, your best bet is to figure out if some of your X variables are correlated and drop one of them. (Usually determined by whichever one is less significantly associated with the data when tested without the other.)</a:t>
            </a:r>
          </a:p>
          <a:p>
            <a:endParaRPr lang="en-US" baseline="0" dirty="0"/>
          </a:p>
          <a:p>
            <a:r>
              <a:rPr lang="en-US" baseline="0" dirty="0"/>
              <a:t>Important to note that this is correlation among just the X variables. Doesn’t have anything to do with Y.</a:t>
            </a:r>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35</a:t>
            </a:fld>
            <a:endParaRPr lang="en-US"/>
          </a:p>
        </p:txBody>
      </p:sp>
    </p:spTree>
    <p:extLst>
      <p:ext uri="{BB962C8B-B14F-4D97-AF65-F5344CB8AC3E}">
        <p14:creationId xmlns:p14="http://schemas.microsoft.com/office/powerpoint/2010/main" val="2930732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to remember: regression</a:t>
            </a:r>
            <a:r>
              <a:rPr lang="en-US" baseline="0" dirty="0"/>
              <a:t> assumes the _residuals_ are normally distributed, not the raw data. Highly skewed raw data often results in highly skewed residuals, but not always (depending on the model you fit), so always check the residuals themselves.</a:t>
            </a:r>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36</a:t>
            </a:fld>
            <a:endParaRPr lang="en-US"/>
          </a:p>
        </p:txBody>
      </p:sp>
    </p:spTree>
    <p:extLst>
      <p:ext uri="{BB962C8B-B14F-4D97-AF65-F5344CB8AC3E}">
        <p14:creationId xmlns:p14="http://schemas.microsoft.com/office/powerpoint/2010/main" val="25166551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violations of this are so common, many</a:t>
            </a:r>
            <a:r>
              <a:rPr lang="en-US" baseline="0" dirty="0"/>
              <a:t> methods have been devised to deal with it. Most of these are beyond the scope of our class, but we will deal with a few of them later on.</a:t>
            </a:r>
          </a:p>
          <a:p>
            <a:endParaRPr lang="en-US" baseline="0" dirty="0"/>
          </a:p>
          <a:p>
            <a:r>
              <a:rPr lang="en-US" baseline="0" dirty="0"/>
              <a:t>It may be more accurate to say that ag data </a:t>
            </a:r>
            <a:r>
              <a:rPr lang="en-US" i="1" baseline="0" dirty="0"/>
              <a:t>initially</a:t>
            </a:r>
            <a:r>
              <a:rPr lang="en-US" i="0" baseline="0" dirty="0"/>
              <a:t> violates this assumption, and a lot of our designs and such are meant to correct it back.</a:t>
            </a:r>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37</a:t>
            </a:fld>
            <a:endParaRPr lang="en-US"/>
          </a:p>
        </p:txBody>
      </p:sp>
    </p:spTree>
    <p:extLst>
      <p:ext uri="{BB962C8B-B14F-4D97-AF65-F5344CB8AC3E}">
        <p14:creationId xmlns:p14="http://schemas.microsoft.com/office/powerpoint/2010/main" val="18833316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38</a:t>
            </a:fld>
            <a:endParaRPr lang="en-US"/>
          </a:p>
        </p:txBody>
      </p:sp>
    </p:spTree>
    <p:extLst>
      <p:ext uri="{BB962C8B-B14F-4D97-AF65-F5344CB8AC3E}">
        <p14:creationId xmlns:p14="http://schemas.microsoft.com/office/powerpoint/2010/main" val="24031668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labels on the plot correspond to the row labels,</a:t>
            </a:r>
            <a:r>
              <a:rPr lang="en-US" baseline="0" dirty="0"/>
              <a:t> which in this case is just the row number</a:t>
            </a:r>
          </a:p>
        </p:txBody>
      </p:sp>
      <p:sp>
        <p:nvSpPr>
          <p:cNvPr id="4" name="Slide Number Placeholder 3"/>
          <p:cNvSpPr>
            <a:spLocks noGrp="1"/>
          </p:cNvSpPr>
          <p:nvPr>
            <p:ph type="sldNum" sz="quarter" idx="10"/>
          </p:nvPr>
        </p:nvSpPr>
        <p:spPr/>
        <p:txBody>
          <a:bodyPr/>
          <a:lstStyle/>
          <a:p>
            <a:fld id="{E95FD8CC-2567-4E8B-88B6-FED9D8364B0E}" type="slidenum">
              <a:rPr lang="en-US" smtClean="0"/>
              <a:t>43</a:t>
            </a:fld>
            <a:endParaRPr lang="en-US"/>
          </a:p>
        </p:txBody>
      </p:sp>
    </p:spTree>
    <p:extLst>
      <p:ext uri="{BB962C8B-B14F-4D97-AF65-F5344CB8AC3E}">
        <p14:creationId xmlns:p14="http://schemas.microsoft.com/office/powerpoint/2010/main" val="40811942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labels on the plot correspond to the row labels,</a:t>
            </a:r>
            <a:r>
              <a:rPr lang="en-US" baseline="0" dirty="0"/>
              <a:t> which in this case is just the row number</a:t>
            </a:r>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44</a:t>
            </a:fld>
            <a:endParaRPr lang="en-US"/>
          </a:p>
        </p:txBody>
      </p:sp>
    </p:spTree>
    <p:extLst>
      <p:ext uri="{BB962C8B-B14F-4D97-AF65-F5344CB8AC3E}">
        <p14:creationId xmlns:p14="http://schemas.microsoft.com/office/powerpoint/2010/main" val="11366122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labels on the plot correspond to the row labels,</a:t>
            </a:r>
            <a:r>
              <a:rPr lang="en-US" baseline="0" dirty="0"/>
              <a:t> which in this case is just the row number</a:t>
            </a:r>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45</a:t>
            </a:fld>
            <a:endParaRPr lang="en-US"/>
          </a:p>
        </p:txBody>
      </p:sp>
    </p:spTree>
    <p:extLst>
      <p:ext uri="{BB962C8B-B14F-4D97-AF65-F5344CB8AC3E}">
        <p14:creationId xmlns:p14="http://schemas.microsoft.com/office/powerpoint/2010/main" val="21280167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labels on the plot correspond to the row labels,</a:t>
            </a:r>
            <a:r>
              <a:rPr lang="en-US" baseline="0" dirty="0"/>
              <a:t> which in this case is just the row number</a:t>
            </a:r>
          </a:p>
          <a:p>
            <a:endParaRPr lang="en-US" baseline="0" dirty="0"/>
          </a:p>
          <a:p>
            <a:r>
              <a:rPr lang="en-US" baseline="0" dirty="0"/>
              <a:t>Importantly, this is a Q-Q plot of _residuals_, not p-values. Residuals should be exactly along the line, whereas you want p-values to tick up at the end. (Including this for anyone who’s used a Q-Q plot for GWAS analysis, which is different from how we’re using it here.)</a:t>
            </a:r>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46</a:t>
            </a:fld>
            <a:endParaRPr lang="en-US"/>
          </a:p>
        </p:txBody>
      </p:sp>
    </p:spTree>
    <p:extLst>
      <p:ext uri="{BB962C8B-B14F-4D97-AF65-F5344CB8AC3E}">
        <p14:creationId xmlns:p14="http://schemas.microsoft.com/office/powerpoint/2010/main" val="354037568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that R only flagged the most extreme ones on the right,</a:t>
            </a:r>
            <a:r>
              <a:rPr lang="en-US" baseline="0" dirty="0"/>
              <a:t> but those are far from the only problems.</a:t>
            </a:r>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47</a:t>
            </a:fld>
            <a:endParaRPr lang="en-US"/>
          </a:p>
        </p:txBody>
      </p:sp>
    </p:spTree>
    <p:extLst>
      <p:ext uri="{BB962C8B-B14F-4D97-AF65-F5344CB8AC3E}">
        <p14:creationId xmlns:p14="http://schemas.microsoft.com/office/powerpoint/2010/main" val="36709671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that R only flagged the most extreme ones on the right,</a:t>
            </a:r>
            <a:r>
              <a:rPr lang="en-US" baseline="0" dirty="0"/>
              <a:t> but those are far from the only problems.</a:t>
            </a:r>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48</a:t>
            </a:fld>
            <a:endParaRPr lang="en-US"/>
          </a:p>
        </p:txBody>
      </p:sp>
    </p:spTree>
    <p:extLst>
      <p:ext uri="{BB962C8B-B14F-4D97-AF65-F5344CB8AC3E}">
        <p14:creationId xmlns:p14="http://schemas.microsoft.com/office/powerpoint/2010/main" val="173111738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“Standardized” in this case is in the same sense of a standard-normal distribution, which </a:t>
            </a:r>
            <a:r>
              <a:rPr lang="en-US" baseline="0" dirty="0"/>
              <a:t>is defined as a normal distribution with a mean of 0 and a </a:t>
            </a:r>
            <a:r>
              <a:rPr lang="en-US" baseline="0" dirty="0" err="1"/>
              <a:t>s.d.</a:t>
            </a:r>
            <a:r>
              <a:rPr lang="en-US" baseline="0" dirty="0"/>
              <a:t> of 1. A standardized residual of 2 means that the residual is 2 standard deviations above what you’d expect. R uses the square root of the absolute-value of the deviation because it apparently reduces the skewness more.</a:t>
            </a:r>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49</a:t>
            </a:fld>
            <a:endParaRPr lang="en-US"/>
          </a:p>
        </p:txBody>
      </p:sp>
    </p:spTree>
    <p:extLst>
      <p:ext uri="{BB962C8B-B14F-4D97-AF65-F5344CB8AC3E}">
        <p14:creationId xmlns:p14="http://schemas.microsoft.com/office/powerpoint/2010/main" val="132810775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plot on the left seems to be a roughly random spread around a roughly horizontal</a:t>
            </a:r>
            <a:r>
              <a:rPr lang="en-US" baseline="0" dirty="0"/>
              <a:t> line, whereas the one on the right has a definite problem with the variance increasing (and thus violating the </a:t>
            </a:r>
            <a:r>
              <a:rPr lang="en-US" dirty="0"/>
              <a:t>homoscedasticity</a:t>
            </a:r>
            <a:r>
              <a:rPr lang="en-US" baseline="0" dirty="0"/>
              <a:t> assumption)</a:t>
            </a:r>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50</a:t>
            </a:fld>
            <a:endParaRPr lang="en-US"/>
          </a:p>
        </p:txBody>
      </p:sp>
    </p:spTree>
    <p:extLst>
      <p:ext uri="{BB962C8B-B14F-4D97-AF65-F5344CB8AC3E}">
        <p14:creationId xmlns:p14="http://schemas.microsoft.com/office/powerpoint/2010/main" val="13561262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plot on the left seems to be a roughly random spread around a roughly horizontal</a:t>
            </a:r>
            <a:r>
              <a:rPr lang="en-US" baseline="0" dirty="0"/>
              <a:t> line, whereas the one on the right has a definite problem with the variance increasing (and thus violating the </a:t>
            </a:r>
            <a:r>
              <a:rPr lang="en-US" dirty="0"/>
              <a:t>homoscedasticity</a:t>
            </a:r>
            <a:r>
              <a:rPr lang="en-US" baseline="0" dirty="0"/>
              <a:t> assumption)</a:t>
            </a:r>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51</a:t>
            </a:fld>
            <a:endParaRPr lang="en-US"/>
          </a:p>
        </p:txBody>
      </p:sp>
    </p:spTree>
    <p:extLst>
      <p:ext uri="{BB962C8B-B14F-4D97-AF65-F5344CB8AC3E}">
        <p14:creationId xmlns:p14="http://schemas.microsoft.com/office/powerpoint/2010/main" val="19441883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52</a:t>
            </a:fld>
            <a:endParaRPr lang="en-US"/>
          </a:p>
        </p:txBody>
      </p:sp>
    </p:spTree>
    <p:extLst>
      <p:ext uri="{BB962C8B-B14F-4D97-AF65-F5344CB8AC3E}">
        <p14:creationId xmlns:p14="http://schemas.microsoft.com/office/powerpoint/2010/main" val="251423244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High-leverage points basically always occur in the upper-right</a:t>
            </a:r>
            <a:r>
              <a:rPr lang="en-US" baseline="0" dirty="0"/>
              <a:t> or lower-right corners of the plot. The data on the left are well-behaved to the point where the Cook’s distance lines are barely visible, so even something in the corners wouldn’t have that much leverage.</a:t>
            </a:r>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53</a:t>
            </a:fld>
            <a:endParaRPr lang="en-US"/>
          </a:p>
        </p:txBody>
      </p:sp>
    </p:spTree>
    <p:extLst>
      <p:ext uri="{BB962C8B-B14F-4D97-AF65-F5344CB8AC3E}">
        <p14:creationId xmlns:p14="http://schemas.microsoft.com/office/powerpoint/2010/main" val="40128471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Ways of changing your model include log-transforming the data, adding a quadratic term, including</a:t>
            </a:r>
            <a:r>
              <a:rPr lang="en-US" baseline="0" dirty="0"/>
              <a:t> additional covariates, etc.</a:t>
            </a:r>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54</a:t>
            </a:fld>
            <a:endParaRPr lang="en-US"/>
          </a:p>
        </p:txBody>
      </p:sp>
    </p:spTree>
    <p:extLst>
      <p:ext uri="{BB962C8B-B14F-4D97-AF65-F5344CB8AC3E}">
        <p14:creationId xmlns:p14="http://schemas.microsoft.com/office/powerpoint/2010/main" val="241307649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the things its testing don’t quite line up against the assumptions we mentioned.</a:t>
            </a:r>
            <a:r>
              <a:rPr lang="en-US" baseline="0" dirty="0"/>
              <a:t> Different way to get to the same result.</a:t>
            </a:r>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56</a:t>
            </a:fld>
            <a:endParaRPr lang="en-US"/>
          </a:p>
        </p:txBody>
      </p:sp>
    </p:spTree>
    <p:extLst>
      <p:ext uri="{BB962C8B-B14F-4D97-AF65-F5344CB8AC3E}">
        <p14:creationId xmlns:p14="http://schemas.microsoft.com/office/powerpoint/2010/main" val="24844516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57</a:t>
            </a:fld>
            <a:endParaRPr lang="en-US"/>
          </a:p>
        </p:txBody>
      </p:sp>
    </p:spTree>
    <p:extLst>
      <p:ext uri="{BB962C8B-B14F-4D97-AF65-F5344CB8AC3E}">
        <p14:creationId xmlns:p14="http://schemas.microsoft.com/office/powerpoint/2010/main" val="324785835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good things is that </a:t>
            </a:r>
            <a:r>
              <a:rPr lang="en-US" dirty="0" err="1"/>
              <a:t>check_model</a:t>
            </a:r>
            <a:r>
              <a:rPr lang="en-US" dirty="0"/>
              <a:t>() also works with mixed models, which we will get to later in the semester. Doesn’t give you a convenient p-value to judge by, though.</a:t>
            </a:r>
          </a:p>
          <a:p>
            <a:endParaRPr lang="en-US" dirty="0"/>
          </a:p>
          <a:p>
            <a:r>
              <a:rPr lang="en-US" dirty="0"/>
              <a:t>The performance package also has a bunch of functions to check individual aspects, but this is a nice wrapper to get the most common/important ones.</a:t>
            </a:r>
          </a:p>
          <a:p>
            <a:endParaRPr lang="en-US" dirty="0"/>
          </a:p>
          <a:p>
            <a:r>
              <a:rPr lang="en-US" dirty="0"/>
              <a:t>I haven’t gone through this one a ton, so less familiar with it still</a:t>
            </a:r>
          </a:p>
        </p:txBody>
      </p:sp>
      <p:sp>
        <p:nvSpPr>
          <p:cNvPr id="4" name="Slide Number Placeholder 3"/>
          <p:cNvSpPr>
            <a:spLocks noGrp="1"/>
          </p:cNvSpPr>
          <p:nvPr>
            <p:ph type="sldNum" sz="quarter" idx="5"/>
          </p:nvPr>
        </p:nvSpPr>
        <p:spPr/>
        <p:txBody>
          <a:bodyPr/>
          <a:lstStyle/>
          <a:p>
            <a:fld id="{E95FD8CC-2567-4E8B-88B6-FED9D8364B0E}" type="slidenum">
              <a:rPr lang="en-US" smtClean="0"/>
              <a:t>59</a:t>
            </a:fld>
            <a:endParaRPr lang="en-US"/>
          </a:p>
        </p:txBody>
      </p:sp>
    </p:spTree>
    <p:extLst>
      <p:ext uri="{BB962C8B-B14F-4D97-AF65-F5344CB8AC3E}">
        <p14:creationId xmlns:p14="http://schemas.microsoft.com/office/powerpoint/2010/main" val="40428295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09E8A1D8-F9AF-447C-AE09-AF14014826C2}"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3EF59B-F2EA-4295-8B7F-B2BE0898F8B9}" type="slidenum">
              <a:rPr lang="en-US" smtClean="0"/>
              <a:t>‹#›</a:t>
            </a:fld>
            <a:endParaRPr lang="en-US"/>
          </a:p>
        </p:txBody>
      </p:sp>
    </p:spTree>
    <p:extLst>
      <p:ext uri="{BB962C8B-B14F-4D97-AF65-F5344CB8AC3E}">
        <p14:creationId xmlns:p14="http://schemas.microsoft.com/office/powerpoint/2010/main" val="571822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p:cNvSpPr>
            <a:spLocks noGrp="1"/>
          </p:cNvSpPr>
          <p:nvPr>
            <p:ph idx="1"/>
          </p:nvPr>
        </p:nvSpPr>
        <p:spPr>
          <a:xfrm>
            <a:off x="838200" y="1825625"/>
            <a:ext cx="10515600" cy="4110718"/>
          </a:xfrm>
        </p:spPr>
        <p:txBody>
          <a:bodyPr>
            <a:noAutofit/>
          </a:bodyPr>
          <a:lstStyle>
            <a:lvl1pPr marL="465138" indent="-465138">
              <a:defRPr sz="3200"/>
            </a:lvl1pPr>
            <a:lvl2pPr marL="914400" indent="-457200">
              <a:defRPr sz="2800"/>
            </a:lvl2pPr>
            <a:lvl3pPr marL="1262063" indent="-347663">
              <a:defRPr sz="2400"/>
            </a:lvl3pPr>
            <a:lvl4pPr marL="1712913" indent="-341313">
              <a:defRPr sz="2000"/>
            </a:lvl4pPr>
            <a:lvl5pPr marL="2176463" indent="-347663">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9E8A1D8-F9AF-447C-AE09-AF14014826C2}"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3EF59B-F2EA-4295-8B7F-B2BE0898F8B9}" type="slidenum">
              <a:rPr lang="en-US" smtClean="0"/>
              <a:t>‹#›</a:t>
            </a:fld>
            <a:endParaRPr lang="en-US"/>
          </a:p>
        </p:txBody>
      </p:sp>
    </p:spTree>
    <p:extLst>
      <p:ext uri="{BB962C8B-B14F-4D97-AF65-F5344CB8AC3E}">
        <p14:creationId xmlns:p14="http://schemas.microsoft.com/office/powerpoint/2010/main" val="26188450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E8A1D8-F9AF-447C-AE09-AF14014826C2}"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3EF59B-F2EA-4295-8B7F-B2BE0898F8B9}" type="slidenum">
              <a:rPr lang="en-US" smtClean="0"/>
              <a:t>‹#›</a:t>
            </a:fld>
            <a:endParaRPr lang="en-US"/>
          </a:p>
        </p:txBody>
      </p:sp>
    </p:spTree>
    <p:extLst>
      <p:ext uri="{BB962C8B-B14F-4D97-AF65-F5344CB8AC3E}">
        <p14:creationId xmlns:p14="http://schemas.microsoft.com/office/powerpoint/2010/main" val="18396229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9E8A1D8-F9AF-447C-AE09-AF14014826C2}"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3EF59B-F2EA-4295-8B7F-B2BE0898F8B9}" type="slidenum">
              <a:rPr lang="en-US" smtClean="0"/>
              <a:t>‹#›</a:t>
            </a:fld>
            <a:endParaRPr lang="en-US"/>
          </a:p>
        </p:txBody>
      </p:sp>
    </p:spTree>
    <p:extLst>
      <p:ext uri="{BB962C8B-B14F-4D97-AF65-F5344CB8AC3E}">
        <p14:creationId xmlns:p14="http://schemas.microsoft.com/office/powerpoint/2010/main" val="2735867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9E8A1D8-F9AF-447C-AE09-AF14014826C2}" type="datetimeFigureOut">
              <a:rPr lang="en-US" smtClean="0"/>
              <a:t>10/7/2026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3EF59B-F2EA-4295-8B7F-B2BE0898F8B9}" type="slidenum">
              <a:rPr lang="en-US" smtClean="0"/>
              <a:t>‹#›</a:t>
            </a:fld>
            <a:endParaRPr lang="en-US"/>
          </a:p>
        </p:txBody>
      </p:sp>
    </p:spTree>
    <p:extLst>
      <p:ext uri="{BB962C8B-B14F-4D97-AF65-F5344CB8AC3E}">
        <p14:creationId xmlns:p14="http://schemas.microsoft.com/office/powerpoint/2010/main" val="36587463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9E8A1D8-F9AF-447C-AE09-AF14014826C2}" type="datetimeFigureOut">
              <a:rPr lang="en-US" smtClean="0"/>
              <a:t>10/7/2026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3EF59B-F2EA-4295-8B7F-B2BE0898F8B9}" type="slidenum">
              <a:rPr lang="en-US" smtClean="0"/>
              <a:t>‹#›</a:t>
            </a:fld>
            <a:endParaRPr lang="en-US"/>
          </a:p>
        </p:txBody>
      </p:sp>
    </p:spTree>
    <p:extLst>
      <p:ext uri="{BB962C8B-B14F-4D97-AF65-F5344CB8AC3E}">
        <p14:creationId xmlns:p14="http://schemas.microsoft.com/office/powerpoint/2010/main" val="35089219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E8A1D8-F9AF-447C-AE09-AF14014826C2}" type="datetimeFigureOut">
              <a:rPr lang="en-US" smtClean="0"/>
              <a:t>10/7/2026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3EF59B-F2EA-4295-8B7F-B2BE0898F8B9}" type="slidenum">
              <a:rPr lang="en-US" smtClean="0"/>
              <a:t>‹#›</a:t>
            </a:fld>
            <a:endParaRPr lang="en-US"/>
          </a:p>
        </p:txBody>
      </p:sp>
    </p:spTree>
    <p:extLst>
      <p:ext uri="{BB962C8B-B14F-4D97-AF65-F5344CB8AC3E}">
        <p14:creationId xmlns:p14="http://schemas.microsoft.com/office/powerpoint/2010/main" val="3749403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9E8A1D8-F9AF-447C-AE09-AF14014826C2}"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3EF59B-F2EA-4295-8B7F-B2BE0898F8B9}" type="slidenum">
              <a:rPr lang="en-US" smtClean="0"/>
              <a:t>‹#›</a:t>
            </a:fld>
            <a:endParaRPr lang="en-US"/>
          </a:p>
        </p:txBody>
      </p:sp>
    </p:spTree>
    <p:extLst>
      <p:ext uri="{BB962C8B-B14F-4D97-AF65-F5344CB8AC3E}">
        <p14:creationId xmlns:p14="http://schemas.microsoft.com/office/powerpoint/2010/main" val="6186839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9E8A1D8-F9AF-447C-AE09-AF14014826C2}"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3EF59B-F2EA-4295-8B7F-B2BE0898F8B9}" type="slidenum">
              <a:rPr lang="en-US" smtClean="0"/>
              <a:t>‹#›</a:t>
            </a:fld>
            <a:endParaRPr lang="en-US"/>
          </a:p>
        </p:txBody>
      </p:sp>
    </p:spTree>
    <p:extLst>
      <p:ext uri="{BB962C8B-B14F-4D97-AF65-F5344CB8AC3E}">
        <p14:creationId xmlns:p14="http://schemas.microsoft.com/office/powerpoint/2010/main" val="39156473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9E8A1D8-F9AF-447C-AE09-AF14014826C2}"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3EF59B-F2EA-4295-8B7F-B2BE0898F8B9}" type="slidenum">
              <a:rPr lang="en-US" smtClean="0"/>
              <a:t>‹#›</a:t>
            </a:fld>
            <a:endParaRPr lang="en-US"/>
          </a:p>
        </p:txBody>
      </p:sp>
    </p:spTree>
    <p:extLst>
      <p:ext uri="{BB962C8B-B14F-4D97-AF65-F5344CB8AC3E}">
        <p14:creationId xmlns:p14="http://schemas.microsoft.com/office/powerpoint/2010/main" val="20312162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9E8A1D8-F9AF-447C-AE09-AF14014826C2}"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3EF59B-F2EA-4295-8B7F-B2BE0898F8B9}" type="slidenum">
              <a:rPr lang="en-US" smtClean="0"/>
              <a:t>‹#›</a:t>
            </a:fld>
            <a:endParaRPr lang="en-US"/>
          </a:p>
        </p:txBody>
      </p:sp>
    </p:spTree>
    <p:extLst>
      <p:ext uri="{BB962C8B-B14F-4D97-AF65-F5344CB8AC3E}">
        <p14:creationId xmlns:p14="http://schemas.microsoft.com/office/powerpoint/2010/main" val="16253643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E8A1D8-F9AF-447C-AE09-AF14014826C2}" type="datetimeFigureOut">
              <a:rPr lang="en-US" smtClean="0"/>
              <a:t>10/7/2026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3EF59B-F2EA-4295-8B7F-B2BE0898F8B9}" type="slidenum">
              <a:rPr lang="en-US" smtClean="0"/>
              <a:t>‹#›</a:t>
            </a:fld>
            <a:endParaRPr lang="en-US"/>
          </a:p>
        </p:txBody>
      </p:sp>
    </p:spTree>
    <p:extLst>
      <p:ext uri="{BB962C8B-B14F-4D97-AF65-F5344CB8AC3E}">
        <p14:creationId xmlns:p14="http://schemas.microsoft.com/office/powerpoint/2010/main" val="5818165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1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1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1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1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1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2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2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2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2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2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2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2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32.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5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60.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50.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l="9018" t="24017" r="1601"/>
          <a:stretch/>
        </p:blipFill>
        <p:spPr>
          <a:xfrm>
            <a:off x="-38101" y="-38100"/>
            <a:ext cx="12242801" cy="6870700"/>
          </a:xfrm>
          <a:prstGeom prst="rect">
            <a:avLst/>
          </a:prstGeom>
        </p:spPr>
      </p:pic>
      <p:sp>
        <p:nvSpPr>
          <p:cNvPr id="9" name="Rounded Rectangle 8"/>
          <p:cNvSpPr/>
          <p:nvPr/>
        </p:nvSpPr>
        <p:spPr>
          <a:xfrm>
            <a:off x="2276475" y="1324533"/>
            <a:ext cx="7639050" cy="2570162"/>
          </a:xfrm>
          <a:prstGeom prst="roundRect">
            <a:avLst/>
          </a:prstGeom>
          <a:solidFill>
            <a:srgbClr val="FFFFFF">
              <a:alpha val="89804"/>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3077029" y="961600"/>
            <a:ext cx="6037943" cy="2387600"/>
          </a:xfrm>
        </p:spPr>
        <p:txBody>
          <a:bodyPr>
            <a:normAutofit/>
          </a:bodyPr>
          <a:lstStyle/>
          <a:p>
            <a:r>
              <a:rPr lang="en-US" b="1" dirty="0"/>
              <a:t>CRSS (PBGG) 8010:</a:t>
            </a:r>
            <a:br>
              <a:rPr lang="en-US" dirty="0"/>
            </a:br>
            <a:r>
              <a:rPr lang="en-US" sz="3600" dirty="0"/>
              <a:t>Research Methods and Design in Crop Science</a:t>
            </a:r>
            <a:endParaRPr lang="en-US" dirty="0"/>
          </a:p>
        </p:txBody>
      </p:sp>
      <p:sp>
        <p:nvSpPr>
          <p:cNvPr id="3" name="Subtitle 2"/>
          <p:cNvSpPr>
            <a:spLocks noGrp="1"/>
          </p:cNvSpPr>
          <p:nvPr>
            <p:ph type="subTitle" idx="1"/>
          </p:nvPr>
        </p:nvSpPr>
        <p:spPr>
          <a:xfrm>
            <a:off x="2641601" y="3465783"/>
            <a:ext cx="6908800" cy="1655762"/>
          </a:xfrm>
        </p:spPr>
        <p:txBody>
          <a:bodyPr/>
          <a:lstStyle/>
          <a:p>
            <a:r>
              <a:rPr lang="en-US" dirty="0"/>
              <a:t>Jason Wallace      		Fall 2026</a:t>
            </a:r>
          </a:p>
        </p:txBody>
      </p:sp>
      <p:sp>
        <p:nvSpPr>
          <p:cNvPr id="6" name="Rounded Rectangle 5"/>
          <p:cNvSpPr/>
          <p:nvPr/>
        </p:nvSpPr>
        <p:spPr>
          <a:xfrm>
            <a:off x="3632926" y="4273860"/>
            <a:ext cx="4926148" cy="1100780"/>
          </a:xfrm>
          <a:prstGeom prst="roundRect">
            <a:avLst/>
          </a:prstGeom>
          <a:solidFill>
            <a:srgbClr val="FFFFFF">
              <a:alpha val="89804"/>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204857" y="4317401"/>
            <a:ext cx="7782287" cy="954107"/>
          </a:xfrm>
          <a:prstGeom prst="rect">
            <a:avLst/>
          </a:prstGeom>
          <a:noFill/>
        </p:spPr>
        <p:txBody>
          <a:bodyPr wrap="square" rtlCol="0">
            <a:spAutoFit/>
          </a:bodyPr>
          <a:lstStyle/>
          <a:p>
            <a:pPr algn="ctr"/>
            <a:r>
              <a:rPr lang="en-US" sz="3200" b="1" dirty="0"/>
              <a:t>Lecture 15</a:t>
            </a:r>
          </a:p>
          <a:p>
            <a:pPr algn="ctr"/>
            <a:r>
              <a:rPr lang="en-US" sz="2400" b="1" dirty="0"/>
              <a:t>Linear Regression II</a:t>
            </a:r>
            <a:endParaRPr lang="en-US" sz="3200" b="1" dirty="0"/>
          </a:p>
        </p:txBody>
      </p:sp>
    </p:spTree>
    <p:extLst>
      <p:ext uri="{BB962C8B-B14F-4D97-AF65-F5344CB8AC3E}">
        <p14:creationId xmlns:p14="http://schemas.microsoft.com/office/powerpoint/2010/main" val="1611978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Lecture outline</a:t>
            </a:r>
          </a:p>
        </p:txBody>
      </p:sp>
      <p:sp>
        <p:nvSpPr>
          <p:cNvPr id="3" name="Content Placeholder 2"/>
          <p:cNvSpPr>
            <a:spLocks noGrp="1"/>
          </p:cNvSpPr>
          <p:nvPr>
            <p:ph idx="1"/>
          </p:nvPr>
        </p:nvSpPr>
        <p:spPr/>
        <p:txBody>
          <a:bodyPr/>
          <a:lstStyle/>
          <a:p>
            <a:r>
              <a:rPr lang="en-US" dirty="0"/>
              <a:t>Administrative stuff</a:t>
            </a:r>
          </a:p>
          <a:p>
            <a:r>
              <a:rPr lang="en-US" dirty="0"/>
              <a:t>Review of last time</a:t>
            </a:r>
          </a:p>
          <a:p>
            <a:r>
              <a:rPr lang="en-US" dirty="0"/>
              <a:t>Unpacking linear regression models</a:t>
            </a:r>
          </a:p>
          <a:p>
            <a:r>
              <a:rPr lang="en-US" dirty="0"/>
              <a:t>Linear Regression assumptions</a:t>
            </a:r>
          </a:p>
          <a:p>
            <a:r>
              <a:rPr lang="en-US" dirty="0"/>
              <a:t>Testing your assumptions</a:t>
            </a:r>
          </a:p>
          <a:p>
            <a:endParaRPr lang="en-US" dirty="0"/>
          </a:p>
          <a:p>
            <a:endParaRPr lang="en-US" dirty="0"/>
          </a:p>
          <a:p>
            <a:pPr marL="0" indent="0">
              <a:buNone/>
            </a:pPr>
            <a:endParaRPr lang="en-US" dirty="0"/>
          </a:p>
        </p:txBody>
      </p:sp>
    </p:spTree>
    <p:extLst>
      <p:ext uri="{BB962C8B-B14F-4D97-AF65-F5344CB8AC3E}">
        <p14:creationId xmlns:p14="http://schemas.microsoft.com/office/powerpoint/2010/main" val="119517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Administrative stuff</a:t>
            </a:r>
          </a:p>
        </p:txBody>
      </p:sp>
      <p:sp>
        <p:nvSpPr>
          <p:cNvPr id="3" name="Content Placeholder 2"/>
          <p:cNvSpPr>
            <a:spLocks noGrp="1"/>
          </p:cNvSpPr>
          <p:nvPr>
            <p:ph idx="1"/>
          </p:nvPr>
        </p:nvSpPr>
        <p:spPr/>
        <p:txBody>
          <a:bodyPr/>
          <a:lstStyle/>
          <a:p>
            <a:r>
              <a:rPr lang="en-US" dirty="0"/>
              <a:t>Midterm 1 response due </a:t>
            </a:r>
            <a:r>
              <a:rPr lang="en-US" u="sng" dirty="0"/>
              <a:t>now</a:t>
            </a:r>
          </a:p>
        </p:txBody>
      </p:sp>
    </p:spTree>
    <p:extLst>
      <p:ext uri="{BB962C8B-B14F-4D97-AF65-F5344CB8AC3E}">
        <p14:creationId xmlns:p14="http://schemas.microsoft.com/office/powerpoint/2010/main" val="1572097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Review:</a:t>
            </a:r>
            <a:br>
              <a:rPr lang="en-US" dirty="0"/>
            </a:br>
            <a:r>
              <a:rPr lang="en-US" sz="2800" dirty="0"/>
              <a:t>Linear Regression</a:t>
            </a:r>
            <a:endParaRPr lang="en-US" dirty="0"/>
          </a:p>
        </p:txBody>
      </p:sp>
      <p:sp>
        <p:nvSpPr>
          <p:cNvPr id="3" name="Content Placeholder 2"/>
          <p:cNvSpPr>
            <a:spLocks noGrp="1"/>
          </p:cNvSpPr>
          <p:nvPr>
            <p:ph idx="1"/>
          </p:nvPr>
        </p:nvSpPr>
        <p:spPr>
          <a:xfrm>
            <a:off x="838200" y="1825624"/>
            <a:ext cx="10185400" cy="5032376"/>
          </a:xfrm>
        </p:spPr>
        <p:txBody>
          <a:bodyPr/>
          <a:lstStyle/>
          <a:p>
            <a:r>
              <a:rPr lang="en-US" dirty="0"/>
              <a:t>Your friend in Astronomy is testing 3 algorithms to remove satellite tracks from images of near-earth asteroids (“15_asteroids.csv”).</a:t>
            </a:r>
          </a:p>
          <a:p>
            <a:pPr lvl="1"/>
            <a:r>
              <a:rPr lang="en-US" i="1" dirty="0"/>
              <a:t>“tracks” is the number of tracks remaining after cleaning</a:t>
            </a:r>
          </a:p>
          <a:p>
            <a:r>
              <a:rPr lang="en-US" dirty="0"/>
              <a:t>For 1 week, each night is divided into 6 hours, and each algorithm randomly assigned one observation window in the 1</a:t>
            </a:r>
            <a:r>
              <a:rPr lang="en-US" baseline="30000" dirty="0"/>
              <a:t>st</a:t>
            </a:r>
            <a:r>
              <a:rPr lang="en-US" dirty="0"/>
              <a:t> half of the night and another in the 2</a:t>
            </a:r>
            <a:r>
              <a:rPr lang="en-US" baseline="30000" dirty="0"/>
              <a:t>nd</a:t>
            </a:r>
            <a:r>
              <a:rPr lang="en-US" dirty="0"/>
              <a:t> half.</a:t>
            </a:r>
          </a:p>
          <a:p>
            <a:pPr lvl="1"/>
            <a:r>
              <a:rPr lang="en-US" dirty="0"/>
              <a:t>What kind of design is this?</a:t>
            </a:r>
          </a:p>
          <a:p>
            <a:pPr lvl="1"/>
            <a:r>
              <a:rPr lang="en-US" dirty="0"/>
              <a:t>Run ANOVA using both </a:t>
            </a:r>
            <a:r>
              <a:rPr lang="en-US" dirty="0" err="1"/>
              <a:t>aov</a:t>
            </a:r>
            <a:r>
              <a:rPr lang="en-US" dirty="0"/>
              <a:t>() and </a:t>
            </a:r>
            <a:r>
              <a:rPr lang="en-US" dirty="0" err="1"/>
              <a:t>anova</a:t>
            </a:r>
            <a:r>
              <a:rPr lang="en-US" dirty="0"/>
              <a:t>()</a:t>
            </a:r>
          </a:p>
          <a:p>
            <a:pPr lvl="2"/>
            <a:r>
              <a:rPr lang="en-US" dirty="0"/>
              <a:t>Confirm that the results are the same for each factor</a:t>
            </a:r>
          </a:p>
          <a:p>
            <a:pPr lvl="1"/>
            <a:r>
              <a:rPr lang="en-US" dirty="0"/>
              <a:t>Which algorithm(s) should they use?</a:t>
            </a:r>
          </a:p>
          <a:p>
            <a:pPr lvl="1"/>
            <a:endParaRPr lang="en-US" dirty="0"/>
          </a:p>
        </p:txBody>
      </p:sp>
      <p:pic>
        <p:nvPicPr>
          <p:cNvPr id="5" name="Picture 4">
            <a:extLst>
              <a:ext uri="{FF2B5EF4-FFF2-40B4-BE49-F238E27FC236}">
                <a16:creationId xmlns:a16="http://schemas.microsoft.com/office/drawing/2014/main" id="{342FFDE0-4993-4F7E-AB1C-1E9AA3AD2BFF}"/>
              </a:ext>
            </a:extLst>
          </p:cNvPr>
          <p:cNvPicPr>
            <a:picLocks noChangeAspect="1"/>
          </p:cNvPicPr>
          <p:nvPr/>
        </p:nvPicPr>
        <p:blipFill rotWithShape="1">
          <a:blip r:embed="rId3">
            <a:extLst>
              <a:ext uri="{28A0092B-C50C-407E-A947-70E740481C1C}">
                <a14:useLocalDpi xmlns:a14="http://schemas.microsoft.com/office/drawing/2010/main" val="0"/>
              </a:ext>
            </a:extLst>
          </a:blip>
          <a:srcRect l="5722" t="12065" r="51558" b="9067"/>
          <a:stretch/>
        </p:blipFill>
        <p:spPr>
          <a:xfrm>
            <a:off x="10078720" y="1"/>
            <a:ext cx="2113280" cy="1950720"/>
          </a:xfrm>
          <a:prstGeom prst="rect">
            <a:avLst/>
          </a:prstGeom>
        </p:spPr>
      </p:pic>
      <p:sp>
        <p:nvSpPr>
          <p:cNvPr id="6" name="TextBox 5">
            <a:extLst>
              <a:ext uri="{FF2B5EF4-FFF2-40B4-BE49-F238E27FC236}">
                <a16:creationId xmlns:a16="http://schemas.microsoft.com/office/drawing/2014/main" id="{D59820D3-084C-4480-8DBE-C860082538E1}"/>
              </a:ext>
            </a:extLst>
          </p:cNvPr>
          <p:cNvSpPr txBox="1"/>
          <p:nvPr/>
        </p:nvSpPr>
        <p:spPr>
          <a:xfrm flipH="1">
            <a:off x="11681801" y="1694819"/>
            <a:ext cx="777241" cy="261610"/>
          </a:xfrm>
          <a:prstGeom prst="rect">
            <a:avLst/>
          </a:prstGeom>
          <a:noFill/>
        </p:spPr>
        <p:txBody>
          <a:bodyPr wrap="square" rtlCol="0">
            <a:spAutoFit/>
          </a:bodyPr>
          <a:lstStyle/>
          <a:p>
            <a:r>
              <a:rPr lang="en-US" sz="1100" i="1" dirty="0">
                <a:solidFill>
                  <a:schemeClr val="bg1">
                    <a:lumMod val="85000"/>
                  </a:schemeClr>
                </a:solidFill>
              </a:rPr>
              <a:t>NASA</a:t>
            </a:r>
          </a:p>
        </p:txBody>
      </p:sp>
    </p:spTree>
    <p:extLst>
      <p:ext uri="{BB962C8B-B14F-4D97-AF65-F5344CB8AC3E}">
        <p14:creationId xmlns:p14="http://schemas.microsoft.com/office/powerpoint/2010/main" val="1813248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Review:</a:t>
            </a:r>
            <a:br>
              <a:rPr lang="en-US" dirty="0"/>
            </a:br>
            <a:r>
              <a:rPr lang="en-US" sz="2800" dirty="0"/>
              <a:t>Linear Regression</a:t>
            </a:r>
            <a:endParaRPr lang="en-US" dirty="0"/>
          </a:p>
        </p:txBody>
      </p:sp>
      <p:sp>
        <p:nvSpPr>
          <p:cNvPr id="4" name="&quot;No&quot; Symbol 9">
            <a:extLst>
              <a:ext uri="{FF2B5EF4-FFF2-40B4-BE49-F238E27FC236}">
                <a16:creationId xmlns:a16="http://schemas.microsoft.com/office/drawing/2014/main" id="{9A41B05C-BEE8-416A-9F6C-E84EF3F81926}"/>
              </a:ext>
            </a:extLst>
          </p:cNvPr>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8" name="Content Placeholder 7">
            <a:extLst>
              <a:ext uri="{FF2B5EF4-FFF2-40B4-BE49-F238E27FC236}">
                <a16:creationId xmlns:a16="http://schemas.microsoft.com/office/drawing/2014/main" id="{7562F97C-ADF2-4665-B4AB-7633B43C6F13}"/>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1" b="61509"/>
          <a:stretch/>
        </p:blipFill>
        <p:spPr>
          <a:xfrm>
            <a:off x="92922" y="1909688"/>
            <a:ext cx="6003078" cy="1519312"/>
          </a:xfrm>
        </p:spPr>
      </p:pic>
      <p:pic>
        <p:nvPicPr>
          <p:cNvPr id="10" name="Picture 9">
            <a:extLst>
              <a:ext uri="{FF2B5EF4-FFF2-40B4-BE49-F238E27FC236}">
                <a16:creationId xmlns:a16="http://schemas.microsoft.com/office/drawing/2014/main" id="{F053C96C-0093-4565-923C-E0278A2312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922" y="3999021"/>
            <a:ext cx="6003078" cy="1777353"/>
          </a:xfrm>
          <a:prstGeom prst="rect">
            <a:avLst/>
          </a:prstGeom>
        </p:spPr>
      </p:pic>
      <p:pic>
        <p:nvPicPr>
          <p:cNvPr id="12" name="Picture 11">
            <a:extLst>
              <a:ext uri="{FF2B5EF4-FFF2-40B4-BE49-F238E27FC236}">
                <a16:creationId xmlns:a16="http://schemas.microsoft.com/office/drawing/2014/main" id="{59896972-A103-4F8E-9878-66E38EF343B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88922" y="3710124"/>
            <a:ext cx="6003078" cy="1777353"/>
          </a:xfrm>
          <a:prstGeom prst="rect">
            <a:avLst/>
          </a:prstGeom>
        </p:spPr>
      </p:pic>
      <p:pic>
        <p:nvPicPr>
          <p:cNvPr id="13" name="Content Placeholder 7">
            <a:extLst>
              <a:ext uri="{FF2B5EF4-FFF2-40B4-BE49-F238E27FC236}">
                <a16:creationId xmlns:a16="http://schemas.microsoft.com/office/drawing/2014/main" id="{5114751A-BE5A-482C-9805-40546B6A2648}"/>
              </a:ext>
            </a:extLst>
          </p:cNvPr>
          <p:cNvPicPr>
            <a:picLocks noChangeAspect="1"/>
          </p:cNvPicPr>
          <p:nvPr/>
        </p:nvPicPr>
        <p:blipFill rotWithShape="1">
          <a:blip r:embed="rId2">
            <a:extLst>
              <a:ext uri="{28A0092B-C50C-407E-A947-70E740481C1C}">
                <a14:useLocalDpi xmlns:a14="http://schemas.microsoft.com/office/drawing/2010/main" val="0"/>
              </a:ext>
            </a:extLst>
          </a:blip>
          <a:srcRect t="43431" b="33798"/>
          <a:stretch/>
        </p:blipFill>
        <p:spPr>
          <a:xfrm>
            <a:off x="6188922" y="2499360"/>
            <a:ext cx="6003078" cy="898784"/>
          </a:xfrm>
          <a:prstGeom prst="rect">
            <a:avLst/>
          </a:prstGeom>
        </p:spPr>
      </p:pic>
      <p:sp>
        <p:nvSpPr>
          <p:cNvPr id="14" name="TextBox 13">
            <a:extLst>
              <a:ext uri="{FF2B5EF4-FFF2-40B4-BE49-F238E27FC236}">
                <a16:creationId xmlns:a16="http://schemas.microsoft.com/office/drawing/2014/main" id="{AB68AE3C-87BF-475F-A6A0-7E0F8126D946}"/>
              </a:ext>
            </a:extLst>
          </p:cNvPr>
          <p:cNvSpPr txBox="1"/>
          <p:nvPr/>
        </p:nvSpPr>
        <p:spPr>
          <a:xfrm>
            <a:off x="4480560" y="6084785"/>
            <a:ext cx="2549224" cy="523220"/>
          </a:xfrm>
          <a:prstGeom prst="rect">
            <a:avLst/>
          </a:prstGeom>
          <a:noFill/>
        </p:spPr>
        <p:txBody>
          <a:bodyPr wrap="none" rtlCol="0">
            <a:spAutoFit/>
          </a:bodyPr>
          <a:lstStyle/>
          <a:p>
            <a:r>
              <a:rPr lang="en-US" sz="2800" b="1" dirty="0">
                <a:solidFill>
                  <a:schemeClr val="accent2"/>
                </a:solidFill>
              </a:rPr>
              <a:t>Identical results</a:t>
            </a:r>
          </a:p>
        </p:txBody>
      </p:sp>
      <p:sp>
        <p:nvSpPr>
          <p:cNvPr id="15" name="Rectangle: Rounded Corners 14">
            <a:extLst>
              <a:ext uri="{FF2B5EF4-FFF2-40B4-BE49-F238E27FC236}">
                <a16:creationId xmlns:a16="http://schemas.microsoft.com/office/drawing/2014/main" id="{992CB12D-3533-4D5C-A1CA-66ED3B5F80BB}"/>
              </a:ext>
            </a:extLst>
          </p:cNvPr>
          <p:cNvSpPr/>
          <p:nvPr/>
        </p:nvSpPr>
        <p:spPr>
          <a:xfrm>
            <a:off x="1168400" y="3968165"/>
            <a:ext cx="4216400" cy="1071195"/>
          </a:xfrm>
          <a:prstGeom prst="roundRect">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F8649BC7-C78F-4417-B5B1-B186E204F67B}"/>
              </a:ext>
            </a:extLst>
          </p:cNvPr>
          <p:cNvSpPr/>
          <p:nvPr/>
        </p:nvSpPr>
        <p:spPr>
          <a:xfrm>
            <a:off x="7082261" y="3968165"/>
            <a:ext cx="4216400" cy="1071195"/>
          </a:xfrm>
          <a:prstGeom prst="roundRect">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44F3C43E-5D27-4D2D-9067-B29F927E9323}"/>
              </a:ext>
            </a:extLst>
          </p:cNvPr>
          <p:cNvCxnSpPr>
            <a:endCxn id="14" idx="0"/>
          </p:cNvCxnSpPr>
          <p:nvPr/>
        </p:nvCxnSpPr>
        <p:spPr>
          <a:xfrm>
            <a:off x="4480560" y="5039360"/>
            <a:ext cx="1274612" cy="1045425"/>
          </a:xfrm>
          <a:prstGeom prst="line">
            <a:avLst/>
          </a:prstGeom>
          <a:ln w="571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56B493-3A09-4D75-A065-C4F30E1D2A92}"/>
              </a:ext>
            </a:extLst>
          </p:cNvPr>
          <p:cNvCxnSpPr>
            <a:cxnSpLocks/>
            <a:endCxn id="14" idx="0"/>
          </p:cNvCxnSpPr>
          <p:nvPr/>
        </p:nvCxnSpPr>
        <p:spPr>
          <a:xfrm flipH="1">
            <a:off x="5755172" y="5039360"/>
            <a:ext cx="2078734" cy="1045425"/>
          </a:xfrm>
          <a:prstGeom prst="line">
            <a:avLst/>
          </a:prstGeom>
          <a:ln w="5715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43CC3CD-C941-46F4-A75E-53198F01965B}"/>
              </a:ext>
            </a:extLst>
          </p:cNvPr>
          <p:cNvSpPr txBox="1"/>
          <p:nvPr/>
        </p:nvSpPr>
        <p:spPr>
          <a:xfrm>
            <a:off x="5369064" y="621492"/>
            <a:ext cx="4696414" cy="954107"/>
          </a:xfrm>
          <a:prstGeom prst="rect">
            <a:avLst/>
          </a:prstGeom>
          <a:noFill/>
        </p:spPr>
        <p:txBody>
          <a:bodyPr wrap="none" rtlCol="0">
            <a:spAutoFit/>
          </a:bodyPr>
          <a:lstStyle/>
          <a:p>
            <a:r>
              <a:rPr lang="en-US" sz="2800" b="1" dirty="0">
                <a:solidFill>
                  <a:srgbClr val="C00000"/>
                </a:solidFill>
              </a:rPr>
              <a:t>Note: RCBD design</a:t>
            </a:r>
            <a:br>
              <a:rPr lang="en-US" sz="2800" b="1" dirty="0">
                <a:solidFill>
                  <a:srgbClr val="C00000"/>
                </a:solidFill>
              </a:rPr>
            </a:br>
            <a:r>
              <a:rPr lang="en-US" sz="2800" b="1" dirty="0">
                <a:solidFill>
                  <a:srgbClr val="C00000"/>
                </a:solidFill>
              </a:rPr>
              <a:t>           (each window = 1 block)</a:t>
            </a:r>
          </a:p>
        </p:txBody>
      </p:sp>
    </p:spTree>
    <p:extLst>
      <p:ext uri="{BB962C8B-B14F-4D97-AF65-F5344CB8AC3E}">
        <p14:creationId xmlns:p14="http://schemas.microsoft.com/office/powerpoint/2010/main" val="989340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par>
                                <p:cTn id="14" presetID="10" presetClass="entr" presetSubtype="0" fill="hold"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5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animBg="1"/>
      <p:bldP spid="1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Review:</a:t>
            </a:r>
            <a:br>
              <a:rPr lang="en-US" dirty="0"/>
            </a:br>
            <a:r>
              <a:rPr lang="en-US" sz="2800" dirty="0"/>
              <a:t>Linear Regression</a:t>
            </a:r>
            <a:endParaRPr lang="en-US" dirty="0"/>
          </a:p>
        </p:txBody>
      </p:sp>
      <p:sp>
        <p:nvSpPr>
          <p:cNvPr id="4" name="&quot;No&quot; Symbol 9">
            <a:extLst>
              <a:ext uri="{FF2B5EF4-FFF2-40B4-BE49-F238E27FC236}">
                <a16:creationId xmlns:a16="http://schemas.microsoft.com/office/drawing/2014/main" id="{9A41B05C-BEE8-416A-9F6C-E84EF3F81926}"/>
              </a:ext>
            </a:extLst>
          </p:cNvPr>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8" name="Content Placeholder 7">
            <a:extLst>
              <a:ext uri="{FF2B5EF4-FFF2-40B4-BE49-F238E27FC236}">
                <a16:creationId xmlns:a16="http://schemas.microsoft.com/office/drawing/2014/main" id="{7562F97C-ADF2-4665-B4AB-7633B43C6F13}"/>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72329"/>
          <a:stretch/>
        </p:blipFill>
        <p:spPr>
          <a:xfrm>
            <a:off x="1281642" y="2273300"/>
            <a:ext cx="6003078" cy="1092200"/>
          </a:xfrm>
        </p:spPr>
      </p:pic>
      <p:pic>
        <p:nvPicPr>
          <p:cNvPr id="5" name="Picture 4">
            <a:extLst>
              <a:ext uri="{FF2B5EF4-FFF2-40B4-BE49-F238E27FC236}">
                <a16:creationId xmlns:a16="http://schemas.microsoft.com/office/drawing/2014/main" id="{4D0C6BDA-0459-4F2F-8F9D-2DE01357B0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81642" y="4386893"/>
            <a:ext cx="2946126" cy="1437014"/>
          </a:xfrm>
          <a:prstGeom prst="rect">
            <a:avLst/>
          </a:prstGeom>
        </p:spPr>
      </p:pic>
      <p:sp>
        <p:nvSpPr>
          <p:cNvPr id="6" name="TextBox 5">
            <a:extLst>
              <a:ext uri="{FF2B5EF4-FFF2-40B4-BE49-F238E27FC236}">
                <a16:creationId xmlns:a16="http://schemas.microsoft.com/office/drawing/2014/main" id="{2599C759-C5BD-4855-82E0-7973A36162EF}"/>
              </a:ext>
            </a:extLst>
          </p:cNvPr>
          <p:cNvSpPr txBox="1"/>
          <p:nvPr/>
        </p:nvSpPr>
        <p:spPr>
          <a:xfrm>
            <a:off x="1281642" y="3830320"/>
            <a:ext cx="2314095" cy="369332"/>
          </a:xfrm>
          <a:prstGeom prst="rect">
            <a:avLst/>
          </a:prstGeom>
          <a:noFill/>
        </p:spPr>
        <p:txBody>
          <a:bodyPr wrap="none" rtlCol="0">
            <a:spAutoFit/>
          </a:bodyPr>
          <a:lstStyle/>
          <a:p>
            <a:r>
              <a:rPr lang="en-US" i="1" dirty="0"/>
              <a:t>[Skipping most output]</a:t>
            </a:r>
          </a:p>
        </p:txBody>
      </p:sp>
      <p:sp>
        <p:nvSpPr>
          <p:cNvPr id="7" name="TextBox 6">
            <a:extLst>
              <a:ext uri="{FF2B5EF4-FFF2-40B4-BE49-F238E27FC236}">
                <a16:creationId xmlns:a16="http://schemas.microsoft.com/office/drawing/2014/main" id="{C1E6A9E4-FEC6-415F-AD2F-94F7D79081D0}"/>
              </a:ext>
            </a:extLst>
          </p:cNvPr>
          <p:cNvSpPr txBox="1"/>
          <p:nvPr/>
        </p:nvSpPr>
        <p:spPr>
          <a:xfrm>
            <a:off x="4419600" y="1778615"/>
            <a:ext cx="5062733" cy="461665"/>
          </a:xfrm>
          <a:prstGeom prst="rect">
            <a:avLst/>
          </a:prstGeom>
          <a:noFill/>
        </p:spPr>
        <p:txBody>
          <a:bodyPr wrap="none" rtlCol="0">
            <a:spAutoFit/>
          </a:bodyPr>
          <a:lstStyle/>
          <a:p>
            <a:r>
              <a:rPr lang="en-US" sz="2400" b="1" dirty="0">
                <a:solidFill>
                  <a:schemeClr val="accent2"/>
                </a:solidFill>
              </a:rPr>
              <a:t>Can use either </a:t>
            </a:r>
            <a:r>
              <a:rPr lang="en-US" sz="2400" b="1" dirty="0" err="1">
                <a:solidFill>
                  <a:schemeClr val="accent2"/>
                </a:solidFill>
              </a:rPr>
              <a:t>aov</a:t>
            </a:r>
            <a:r>
              <a:rPr lang="en-US" sz="2400" b="1" dirty="0">
                <a:solidFill>
                  <a:schemeClr val="accent2"/>
                </a:solidFill>
              </a:rPr>
              <a:t>() or </a:t>
            </a:r>
            <a:r>
              <a:rPr lang="en-US" sz="2400" b="1" dirty="0" err="1">
                <a:solidFill>
                  <a:schemeClr val="accent2"/>
                </a:solidFill>
              </a:rPr>
              <a:t>anova</a:t>
            </a:r>
            <a:r>
              <a:rPr lang="en-US" sz="2400" b="1" dirty="0">
                <a:solidFill>
                  <a:schemeClr val="accent2"/>
                </a:solidFill>
              </a:rPr>
              <a:t>() output</a:t>
            </a:r>
          </a:p>
        </p:txBody>
      </p:sp>
      <p:cxnSp>
        <p:nvCxnSpPr>
          <p:cNvPr id="11" name="Straight Connector 10">
            <a:extLst>
              <a:ext uri="{FF2B5EF4-FFF2-40B4-BE49-F238E27FC236}">
                <a16:creationId xmlns:a16="http://schemas.microsoft.com/office/drawing/2014/main" id="{A8322ED5-835F-45A7-A940-1E9F99F13196}"/>
              </a:ext>
            </a:extLst>
          </p:cNvPr>
          <p:cNvCxnSpPr>
            <a:cxnSpLocks/>
          </p:cNvCxnSpPr>
          <p:nvPr/>
        </p:nvCxnSpPr>
        <p:spPr>
          <a:xfrm flipV="1">
            <a:off x="3728720" y="2205361"/>
            <a:ext cx="1148080" cy="602597"/>
          </a:xfrm>
          <a:prstGeom prst="line">
            <a:avLst/>
          </a:prstGeom>
          <a:ln w="57150">
            <a:solidFill>
              <a:schemeClr val="accent2"/>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AA06E029-D73A-46F5-9D87-684B856B0AC4}"/>
              </a:ext>
            </a:extLst>
          </p:cNvPr>
          <p:cNvSpPr txBox="1"/>
          <p:nvPr/>
        </p:nvSpPr>
        <p:spPr>
          <a:xfrm>
            <a:off x="4439920" y="5201920"/>
            <a:ext cx="6437403" cy="523220"/>
          </a:xfrm>
          <a:prstGeom prst="rect">
            <a:avLst/>
          </a:prstGeom>
          <a:noFill/>
        </p:spPr>
        <p:txBody>
          <a:bodyPr wrap="none" rtlCol="0">
            <a:spAutoFit/>
          </a:bodyPr>
          <a:lstStyle/>
          <a:p>
            <a:r>
              <a:rPr lang="en-US" sz="2800" b="1" dirty="0">
                <a:solidFill>
                  <a:schemeClr val="accent5"/>
                </a:solidFill>
              </a:rPr>
              <a:t>Best two (because want to </a:t>
            </a:r>
            <a:r>
              <a:rPr lang="en-US" sz="2800" b="1" u="sng" dirty="0">
                <a:solidFill>
                  <a:schemeClr val="accent5"/>
                </a:solidFill>
              </a:rPr>
              <a:t>remove</a:t>
            </a:r>
            <a:r>
              <a:rPr lang="en-US" sz="2800" b="1" dirty="0">
                <a:solidFill>
                  <a:schemeClr val="accent5"/>
                </a:solidFill>
              </a:rPr>
              <a:t> tracks)</a:t>
            </a:r>
          </a:p>
        </p:txBody>
      </p:sp>
      <p:sp>
        <p:nvSpPr>
          <p:cNvPr id="21" name="Rectangle: Rounded Corners 20">
            <a:extLst>
              <a:ext uri="{FF2B5EF4-FFF2-40B4-BE49-F238E27FC236}">
                <a16:creationId xmlns:a16="http://schemas.microsoft.com/office/drawing/2014/main" id="{59E13B4B-91AB-4D2A-8ECE-018CC4ED48D9}"/>
              </a:ext>
            </a:extLst>
          </p:cNvPr>
          <p:cNvSpPr/>
          <p:nvPr/>
        </p:nvSpPr>
        <p:spPr>
          <a:xfrm>
            <a:off x="1281642" y="5181600"/>
            <a:ext cx="3137958" cy="642307"/>
          </a:xfrm>
          <a:prstGeom prst="round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19596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0" grpId="0"/>
      <p:bldP spid="2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E961B-F37E-4ECA-8A22-9C8B9323D907}"/>
              </a:ext>
            </a:extLst>
          </p:cNvPr>
          <p:cNvSpPr>
            <a:spLocks noGrp="1"/>
          </p:cNvSpPr>
          <p:nvPr>
            <p:ph type="title"/>
          </p:nvPr>
        </p:nvSpPr>
        <p:spPr/>
        <p:txBody>
          <a:bodyPr/>
          <a:lstStyle/>
          <a:p>
            <a:r>
              <a:rPr lang="en-US" dirty="0"/>
              <a:t>Questions on linear regression so far?</a:t>
            </a:r>
          </a:p>
        </p:txBody>
      </p:sp>
      <p:sp>
        <p:nvSpPr>
          <p:cNvPr id="3" name="Content Placeholder 2">
            <a:extLst>
              <a:ext uri="{FF2B5EF4-FFF2-40B4-BE49-F238E27FC236}">
                <a16:creationId xmlns:a16="http://schemas.microsoft.com/office/drawing/2014/main" id="{12BA2975-A3DE-4380-9656-9D56B12B3AB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333650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 statistical model?</a:t>
            </a:r>
          </a:p>
        </p:txBody>
      </p:sp>
      <p:sp>
        <p:nvSpPr>
          <p:cNvPr id="3" name="Content Placeholder 2"/>
          <p:cNvSpPr>
            <a:spLocks noGrp="1"/>
          </p:cNvSpPr>
          <p:nvPr>
            <p:ph idx="1"/>
          </p:nvPr>
        </p:nvSpPr>
        <p:spPr>
          <a:xfrm>
            <a:off x="4093464" y="2747282"/>
            <a:ext cx="7519416" cy="3644827"/>
          </a:xfrm>
        </p:spPr>
        <p:txBody>
          <a:bodyPr/>
          <a:lstStyle/>
          <a:p>
            <a:r>
              <a:rPr lang="en-US" dirty="0"/>
              <a:t>Our analyses involve fitting data to some sort of model (ANOVA, linear regression etc.)</a:t>
            </a:r>
          </a:p>
          <a:p>
            <a:r>
              <a:rPr lang="en-US" dirty="0"/>
              <a:t>The model is our attempt to explain data</a:t>
            </a:r>
          </a:p>
          <a:p>
            <a:r>
              <a:rPr lang="en-US" dirty="0"/>
              <a:t>Think of models as hypotheses: our best guess, but not the final word</a:t>
            </a:r>
          </a:p>
        </p:txBody>
      </p:sp>
      <p:pic>
        <p:nvPicPr>
          <p:cNvPr id="4" name="Picture 3"/>
          <p:cNvPicPr>
            <a:picLocks noChangeAspect="1"/>
          </p:cNvPicPr>
          <p:nvPr/>
        </p:nvPicPr>
        <p:blipFill rotWithShape="1">
          <a:blip r:embed="rId3" cstate="print">
            <a:extLst>
              <a:ext uri="{28A0092B-C50C-407E-A947-70E740481C1C}">
                <a14:useLocalDpi xmlns:a14="http://schemas.microsoft.com/office/drawing/2010/main" val="0"/>
              </a:ext>
            </a:extLst>
          </a:blip>
          <a:srcRect l="6453" t="3933" r="6964" b="4570"/>
          <a:stretch/>
        </p:blipFill>
        <p:spPr>
          <a:xfrm>
            <a:off x="558800" y="1605280"/>
            <a:ext cx="3271520" cy="4856480"/>
          </a:xfrm>
          <a:prstGeom prst="rect">
            <a:avLst/>
          </a:prstGeom>
          <a:effectLst>
            <a:softEdge rad="127000"/>
          </a:effectLst>
        </p:spPr>
      </p:pic>
      <p:sp>
        <p:nvSpPr>
          <p:cNvPr id="5" name="TextBox 4"/>
          <p:cNvSpPr txBox="1"/>
          <p:nvPr/>
        </p:nvSpPr>
        <p:spPr>
          <a:xfrm>
            <a:off x="1183640" y="6115110"/>
            <a:ext cx="2609432" cy="276999"/>
          </a:xfrm>
          <a:prstGeom prst="rect">
            <a:avLst/>
          </a:prstGeom>
          <a:noFill/>
        </p:spPr>
        <p:txBody>
          <a:bodyPr wrap="none" rtlCol="0">
            <a:spAutoFit/>
          </a:bodyPr>
          <a:lstStyle/>
          <a:p>
            <a:r>
              <a:rPr lang="en-US" sz="1200" i="1" dirty="0">
                <a:solidFill>
                  <a:schemeClr val="bg1">
                    <a:lumMod val="95000"/>
                  </a:schemeClr>
                </a:solidFill>
              </a:rPr>
              <a:t>Photo by David M. C. Eddy (Wikimedia)</a:t>
            </a:r>
          </a:p>
        </p:txBody>
      </p:sp>
      <p:sp>
        <p:nvSpPr>
          <p:cNvPr id="6" name="TextBox 5"/>
          <p:cNvSpPr txBox="1"/>
          <p:nvPr/>
        </p:nvSpPr>
        <p:spPr>
          <a:xfrm>
            <a:off x="4257040" y="1547820"/>
            <a:ext cx="6665351" cy="954107"/>
          </a:xfrm>
          <a:prstGeom prst="rect">
            <a:avLst/>
          </a:prstGeom>
          <a:noFill/>
        </p:spPr>
        <p:txBody>
          <a:bodyPr wrap="none" rtlCol="0">
            <a:spAutoFit/>
          </a:bodyPr>
          <a:lstStyle/>
          <a:p>
            <a:r>
              <a:rPr lang="en-US" sz="2800" i="1" dirty="0"/>
              <a:t>“All models are wrong, but some are useful.”</a:t>
            </a:r>
          </a:p>
          <a:p>
            <a:r>
              <a:rPr lang="en-US" sz="2800" i="1" dirty="0"/>
              <a:t>- George Box (statistician)</a:t>
            </a:r>
          </a:p>
        </p:txBody>
      </p:sp>
    </p:spTree>
    <p:extLst>
      <p:ext uri="{BB962C8B-B14F-4D97-AF65-F5344CB8AC3E}">
        <p14:creationId xmlns:p14="http://schemas.microsoft.com/office/powerpoint/2010/main" val="1142131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a model actually means</a:t>
            </a:r>
          </a:p>
        </p:txBody>
      </p:sp>
      <p:sp>
        <p:nvSpPr>
          <p:cNvPr id="3" name="Content Placeholder 2"/>
          <p:cNvSpPr>
            <a:spLocks noGrp="1"/>
          </p:cNvSpPr>
          <p:nvPr>
            <p:ph idx="1"/>
          </p:nvPr>
        </p:nvSpPr>
        <p:spPr>
          <a:xfrm>
            <a:off x="838200" y="1825625"/>
            <a:ext cx="10515600" cy="4110718"/>
          </a:xfrm>
        </p:spPr>
        <p:txBody>
          <a:bodyPr/>
          <a:lstStyle/>
          <a:p>
            <a:r>
              <a:rPr lang="en-US" dirty="0"/>
              <a:t>When we fit a linear model to data, we are trying to determine the effect each model term has.</a:t>
            </a:r>
          </a:p>
          <a:p>
            <a:r>
              <a:rPr lang="en-US" dirty="0"/>
              <a:t>Example: Berry yield in raspberries</a:t>
            </a:r>
          </a:p>
          <a:p>
            <a:pPr lvl="1"/>
            <a:r>
              <a:rPr lang="en-US" dirty="0"/>
              <a:t>4 varieties in RCBD, each block in a </a:t>
            </a:r>
            <a:br>
              <a:rPr lang="en-US" dirty="0"/>
            </a:br>
            <a:r>
              <a:rPr lang="en-US" dirty="0"/>
              <a:t>different field</a:t>
            </a:r>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22373" r="11971"/>
          <a:stretch/>
        </p:blipFill>
        <p:spPr>
          <a:xfrm>
            <a:off x="7701280" y="3152160"/>
            <a:ext cx="4058920" cy="3091024"/>
          </a:xfrm>
          <a:prstGeom prst="rect">
            <a:avLst/>
          </a:prstGeom>
          <a:effectLst>
            <a:softEdge rad="63500"/>
          </a:effectLst>
        </p:spPr>
      </p:pic>
    </p:spTree>
    <p:extLst>
      <p:ext uri="{BB962C8B-B14F-4D97-AF65-F5344CB8AC3E}">
        <p14:creationId xmlns:p14="http://schemas.microsoft.com/office/powerpoint/2010/main" val="1893555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9760" y="365125"/>
            <a:ext cx="8194040" cy="1325563"/>
          </a:xfrm>
        </p:spPr>
        <p:txBody>
          <a:bodyPr/>
          <a:lstStyle/>
          <a:p>
            <a:r>
              <a:rPr lang="en-US" dirty="0"/>
              <a:t>Raspberry example (cont.)</a:t>
            </a:r>
          </a:p>
        </p:txBody>
      </p:sp>
      <p:sp>
        <p:nvSpPr>
          <p:cNvPr id="3" name="Content Placeholder 2"/>
          <p:cNvSpPr>
            <a:spLocks noGrp="1"/>
          </p:cNvSpPr>
          <p:nvPr>
            <p:ph idx="1"/>
          </p:nvPr>
        </p:nvSpPr>
        <p:spPr>
          <a:xfrm>
            <a:off x="3302000" y="1825625"/>
            <a:ext cx="8051800" cy="734695"/>
          </a:xfrm>
        </p:spPr>
        <p:txBody>
          <a:bodyPr/>
          <a:lstStyle/>
          <a:p>
            <a:r>
              <a:rPr lang="en-US" dirty="0"/>
              <a:t>Let’s start by fitting a model like normal</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360" y="248936"/>
            <a:ext cx="2946400" cy="6336715"/>
          </a:xfrm>
          <a:prstGeom prst="rect">
            <a:avLst/>
          </a:prstGeom>
        </p:spPr>
      </p:pic>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l="2124" r="24124" b="91518"/>
          <a:stretch/>
        </p:blipFill>
        <p:spPr>
          <a:xfrm>
            <a:off x="4107180" y="2526070"/>
            <a:ext cx="7135964" cy="689078"/>
          </a:xfrm>
          <a:prstGeom prst="rect">
            <a:avLst/>
          </a:prstGeom>
          <a:ln>
            <a:solidFill>
              <a:schemeClr val="tx1"/>
            </a:solidFill>
          </a:ln>
        </p:spPr>
      </p:pic>
      <p:sp>
        <p:nvSpPr>
          <p:cNvPr id="7" name="Content Placeholder 2"/>
          <p:cNvSpPr txBox="1">
            <a:spLocks/>
          </p:cNvSpPr>
          <p:nvPr/>
        </p:nvSpPr>
        <p:spPr>
          <a:xfrm>
            <a:off x="3302000" y="3529564"/>
            <a:ext cx="8051800" cy="2716874"/>
          </a:xfrm>
          <a:prstGeom prst="rect">
            <a:avLst/>
          </a:prstGeom>
        </p:spPr>
        <p:txBody>
          <a:bodyPr vert="horz" lIns="91440" tIns="45720" rIns="91440" bIns="45720" rtlCol="0">
            <a:noAutofit/>
          </a:bodyPr>
          <a:lstStyle>
            <a:lvl1pPr marL="465138" indent="-465138"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914400" indent="-4572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262063" indent="-347663"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712913" indent="-34131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176463" indent="-34766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Fitting this model means we are trying to break up the yield and determine how much of it is due to the different components</a:t>
            </a:r>
          </a:p>
          <a:p>
            <a:pPr lvl="1"/>
            <a:r>
              <a:rPr lang="en-US" dirty="0"/>
              <a:t>In this case, block and variety</a:t>
            </a:r>
          </a:p>
          <a:p>
            <a:r>
              <a:rPr lang="en-US" dirty="0"/>
              <a:t>The first things we’re interested in getting out are the </a:t>
            </a:r>
            <a:r>
              <a:rPr lang="en-US" u="sng" dirty="0"/>
              <a:t>coefficients</a:t>
            </a:r>
            <a:r>
              <a:rPr lang="en-US" dirty="0"/>
              <a:t> and the </a:t>
            </a:r>
            <a:r>
              <a:rPr lang="en-US" u="sng" dirty="0"/>
              <a:t>residuals</a:t>
            </a:r>
            <a:endParaRPr lang="en-US" dirty="0"/>
          </a:p>
        </p:txBody>
      </p:sp>
    </p:spTree>
    <p:extLst>
      <p:ext uri="{BB962C8B-B14F-4D97-AF65-F5344CB8AC3E}">
        <p14:creationId xmlns:p14="http://schemas.microsoft.com/office/powerpoint/2010/main" val="2770690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animEffect transition="in" filter="fade">
                                      <p:cBhvr>
                                        <p:cTn id="15" dur="500"/>
                                        <p:tgtEl>
                                          <p:spTgt spid="7">
                                            <p:txEl>
                                              <p:pRg st="0" end="0"/>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7">
                                            <p:txEl>
                                              <p:pRg st="1" end="1"/>
                                            </p:txEl>
                                          </p:spTgt>
                                        </p:tgtEl>
                                        <p:attrNameLst>
                                          <p:attrName>style.visibility</p:attrName>
                                        </p:attrNameLst>
                                      </p:cBhvr>
                                      <p:to>
                                        <p:strVal val="visible"/>
                                      </p:to>
                                    </p:set>
                                    <p:animEffect transition="in" filter="fade">
                                      <p:cBhvr>
                                        <p:cTn id="18" dur="500"/>
                                        <p:tgtEl>
                                          <p:spTgt spid="7">
                                            <p:txEl>
                                              <p:pRg st="1" end="1"/>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animEffect transition="in" filter="fade">
                                      <p:cBhvr>
                                        <p:cTn id="21"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 output</a:t>
            </a:r>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2363" b="14493"/>
          <a:stretch/>
        </p:blipFill>
        <p:spPr>
          <a:xfrm>
            <a:off x="4514946" y="751840"/>
            <a:ext cx="7668459" cy="5638800"/>
          </a:xfrm>
          <a:prstGeom prst="rect">
            <a:avLst/>
          </a:prstGeom>
          <a:ln>
            <a:solidFill>
              <a:schemeClr val="tx1"/>
            </a:solidFill>
          </a:ln>
        </p:spPr>
      </p:pic>
      <p:sp>
        <p:nvSpPr>
          <p:cNvPr id="3" name="Rounded Rectangle 2"/>
          <p:cNvSpPr/>
          <p:nvPr/>
        </p:nvSpPr>
        <p:spPr>
          <a:xfrm>
            <a:off x="4337538" y="3563815"/>
            <a:ext cx="7631723" cy="2368062"/>
          </a:xfrm>
          <a:prstGeom prst="round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1465384" y="4147681"/>
            <a:ext cx="2872154" cy="1200329"/>
          </a:xfrm>
          <a:prstGeom prst="rect">
            <a:avLst/>
          </a:prstGeom>
          <a:noFill/>
        </p:spPr>
        <p:txBody>
          <a:bodyPr wrap="square" rtlCol="0">
            <a:spAutoFit/>
          </a:bodyPr>
          <a:lstStyle/>
          <a:p>
            <a:r>
              <a:rPr lang="en-US" sz="3600" b="1" dirty="0">
                <a:solidFill>
                  <a:schemeClr val="accent5">
                    <a:lumMod val="75000"/>
                  </a:schemeClr>
                </a:solidFill>
              </a:rPr>
              <a:t>Focus on this part for now</a:t>
            </a:r>
          </a:p>
        </p:txBody>
      </p:sp>
    </p:spTree>
    <p:extLst>
      <p:ext uri="{BB962C8B-B14F-4D97-AF65-F5344CB8AC3E}">
        <p14:creationId xmlns:p14="http://schemas.microsoft.com/office/powerpoint/2010/main" val="2789802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Coefficients</a:t>
            </a:r>
          </a:p>
        </p:txBody>
      </p:sp>
      <p:sp>
        <p:nvSpPr>
          <p:cNvPr id="3" name="Content Placeholder 2"/>
          <p:cNvSpPr>
            <a:spLocks noGrp="1"/>
          </p:cNvSpPr>
          <p:nvPr>
            <p:ph idx="1"/>
          </p:nvPr>
        </p:nvSpPr>
        <p:spPr>
          <a:xfrm>
            <a:off x="838200" y="1825625"/>
            <a:ext cx="10355826" cy="1112604"/>
          </a:xfrm>
        </p:spPr>
        <p:txBody>
          <a:bodyPr/>
          <a:lstStyle/>
          <a:p>
            <a:r>
              <a:rPr lang="en-US" dirty="0"/>
              <a:t>The coefficients are the best estimate of how much each model term affects the final value (yield)</a:t>
            </a:r>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2363" t="43839" b="14493"/>
          <a:stretch/>
        </p:blipFill>
        <p:spPr>
          <a:xfrm>
            <a:off x="882760" y="2846439"/>
            <a:ext cx="10883279" cy="3899733"/>
          </a:xfrm>
          <a:prstGeom prst="rect">
            <a:avLst/>
          </a:prstGeom>
          <a:ln>
            <a:solidFill>
              <a:schemeClr val="tx1"/>
            </a:solidFill>
          </a:ln>
        </p:spPr>
      </p:pic>
      <p:sp>
        <p:nvSpPr>
          <p:cNvPr id="7" name="Rounded Rectangle 6"/>
          <p:cNvSpPr/>
          <p:nvPr/>
        </p:nvSpPr>
        <p:spPr>
          <a:xfrm>
            <a:off x="4133808" y="3552394"/>
            <a:ext cx="1573817" cy="295951"/>
          </a:xfrm>
          <a:prstGeom prst="round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4093823" y="3859945"/>
            <a:ext cx="1613802" cy="2076398"/>
          </a:xfrm>
          <a:prstGeom prst="round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p:cNvSpPr/>
          <p:nvPr/>
        </p:nvSpPr>
        <p:spPr>
          <a:xfrm>
            <a:off x="5911294" y="3442896"/>
            <a:ext cx="4726985" cy="509286"/>
          </a:xfrm>
          <a:prstGeom prst="roundRect">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C00000"/>
                </a:solidFill>
              </a:rPr>
              <a:t>Intercept – The baseline value</a:t>
            </a:r>
          </a:p>
        </p:txBody>
      </p:sp>
      <p:sp>
        <p:nvSpPr>
          <p:cNvPr id="10" name="Rounded Rectangle 9"/>
          <p:cNvSpPr/>
          <p:nvPr/>
        </p:nvSpPr>
        <p:spPr>
          <a:xfrm>
            <a:off x="5943312" y="4121535"/>
            <a:ext cx="3166503" cy="1702921"/>
          </a:xfrm>
          <a:prstGeom prst="roundRect">
            <a:avLst/>
          </a:prstGeom>
          <a:solidFill>
            <a:schemeClr val="bg1"/>
          </a:solidFill>
          <a:ln w="38100">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accent5"/>
                </a:solidFill>
              </a:rPr>
              <a:t>Coefficients – how much being in this category changes that value </a:t>
            </a:r>
          </a:p>
        </p:txBody>
      </p:sp>
    </p:spTree>
    <p:extLst>
      <p:ext uri="{BB962C8B-B14F-4D97-AF65-F5344CB8AC3E}">
        <p14:creationId xmlns:p14="http://schemas.microsoft.com/office/powerpoint/2010/main" val="3045577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P spid="9" grpId="0" animBg="1"/>
      <p:bldP spid="5" grpId="0" animBg="1"/>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Coefficients</a:t>
            </a:r>
          </a:p>
        </p:txBody>
      </p:sp>
      <p:sp>
        <p:nvSpPr>
          <p:cNvPr id="3" name="Content Placeholder 2"/>
          <p:cNvSpPr>
            <a:spLocks noGrp="1"/>
          </p:cNvSpPr>
          <p:nvPr>
            <p:ph idx="1"/>
          </p:nvPr>
        </p:nvSpPr>
        <p:spPr>
          <a:xfrm>
            <a:off x="838200" y="1825625"/>
            <a:ext cx="10355826" cy="4110718"/>
          </a:xfrm>
        </p:spPr>
        <p:txBody>
          <a:bodyPr/>
          <a:lstStyle/>
          <a:p>
            <a:r>
              <a:rPr lang="en-US" dirty="0"/>
              <a:t>The coefficients are the best estimate of how much each model term affects the final value (yield)</a:t>
            </a:r>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2363" t="43839" b="14493"/>
          <a:stretch/>
        </p:blipFill>
        <p:spPr>
          <a:xfrm>
            <a:off x="882760" y="2846439"/>
            <a:ext cx="10883279" cy="3899733"/>
          </a:xfrm>
          <a:prstGeom prst="rect">
            <a:avLst/>
          </a:prstGeom>
          <a:ln>
            <a:solidFill>
              <a:schemeClr val="tx1"/>
            </a:solidFill>
          </a:ln>
        </p:spPr>
      </p:pic>
      <p:sp>
        <p:nvSpPr>
          <p:cNvPr id="7" name="Rounded Rectangle 6"/>
          <p:cNvSpPr/>
          <p:nvPr/>
        </p:nvSpPr>
        <p:spPr>
          <a:xfrm>
            <a:off x="4133808" y="3552394"/>
            <a:ext cx="1573817" cy="295951"/>
          </a:xfrm>
          <a:prstGeom prst="round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4093823" y="3859945"/>
            <a:ext cx="1613802" cy="2076398"/>
          </a:xfrm>
          <a:prstGeom prst="round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4917440" y="4297625"/>
            <a:ext cx="3883259" cy="1402136"/>
          </a:xfrm>
          <a:prstGeom prst="roundRect">
            <a:avLst/>
          </a:prstGeom>
          <a:solidFill>
            <a:schemeClr val="bg1"/>
          </a:solidFill>
          <a:ln w="381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accent6"/>
                </a:solidFill>
              </a:rPr>
              <a:t>P-values: Is this coefficient significantly different from zero</a:t>
            </a:r>
          </a:p>
        </p:txBody>
      </p:sp>
      <p:sp>
        <p:nvSpPr>
          <p:cNvPr id="11" name="Rounded Rectangle 10"/>
          <p:cNvSpPr/>
          <p:nvPr/>
        </p:nvSpPr>
        <p:spPr>
          <a:xfrm>
            <a:off x="8918687" y="3508150"/>
            <a:ext cx="2157351" cy="2492395"/>
          </a:xfrm>
          <a:prstGeom prst="roundRect">
            <a:avLst>
              <a:gd name="adj" fmla="val 7779"/>
            </a:avLst>
          </a:prstGeom>
          <a:noFill/>
          <a:ln w="571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9693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a model sees the coefficients</a:t>
            </a:r>
          </a:p>
        </p:txBody>
      </p:sp>
      <p:graphicFrame>
        <p:nvGraphicFramePr>
          <p:cNvPr id="6" name="Table 5"/>
          <p:cNvGraphicFramePr>
            <a:graphicFrameLocks noGrp="1"/>
          </p:cNvGraphicFramePr>
          <p:nvPr/>
        </p:nvGraphicFramePr>
        <p:xfrm>
          <a:off x="111764" y="4129319"/>
          <a:ext cx="8961121" cy="2656840"/>
        </p:xfrm>
        <a:graphic>
          <a:graphicData uri="http://schemas.openxmlformats.org/drawingml/2006/table">
            <a:tbl>
              <a:tblPr firstRow="1" bandRow="1">
                <a:tableStyleId>{7E9639D4-E3E2-4D34-9284-5A2195B3D0D7}</a:tableStyleId>
              </a:tblPr>
              <a:tblGrid>
                <a:gridCol w="871727">
                  <a:extLst>
                    <a:ext uri="{9D8B030D-6E8A-4147-A177-3AD203B41FA5}">
                      <a16:colId xmlns:a16="http://schemas.microsoft.com/office/drawing/2014/main" val="20000"/>
                    </a:ext>
                  </a:extLst>
                </a:gridCol>
                <a:gridCol w="871727">
                  <a:extLst>
                    <a:ext uri="{9D8B030D-6E8A-4147-A177-3AD203B41FA5}">
                      <a16:colId xmlns:a16="http://schemas.microsoft.com/office/drawing/2014/main" val="20001"/>
                    </a:ext>
                  </a:extLst>
                </a:gridCol>
                <a:gridCol w="871727">
                  <a:extLst>
                    <a:ext uri="{9D8B030D-6E8A-4147-A177-3AD203B41FA5}">
                      <a16:colId xmlns:a16="http://schemas.microsoft.com/office/drawing/2014/main" val="20002"/>
                    </a:ext>
                  </a:extLst>
                </a:gridCol>
                <a:gridCol w="871727">
                  <a:extLst>
                    <a:ext uri="{9D8B030D-6E8A-4147-A177-3AD203B41FA5}">
                      <a16:colId xmlns:a16="http://schemas.microsoft.com/office/drawing/2014/main" val="20003"/>
                    </a:ext>
                  </a:extLst>
                </a:gridCol>
                <a:gridCol w="871727">
                  <a:extLst>
                    <a:ext uri="{9D8B030D-6E8A-4147-A177-3AD203B41FA5}">
                      <a16:colId xmlns:a16="http://schemas.microsoft.com/office/drawing/2014/main" val="20004"/>
                    </a:ext>
                  </a:extLst>
                </a:gridCol>
                <a:gridCol w="782321">
                  <a:extLst>
                    <a:ext uri="{9D8B030D-6E8A-4147-A177-3AD203B41FA5}">
                      <a16:colId xmlns:a16="http://schemas.microsoft.com/office/drawing/2014/main" val="20005"/>
                    </a:ext>
                  </a:extLst>
                </a:gridCol>
                <a:gridCol w="1412240">
                  <a:extLst>
                    <a:ext uri="{9D8B030D-6E8A-4147-A177-3AD203B41FA5}">
                      <a16:colId xmlns:a16="http://schemas.microsoft.com/office/drawing/2014/main" val="20006"/>
                    </a:ext>
                  </a:extLst>
                </a:gridCol>
                <a:gridCol w="1036321">
                  <a:extLst>
                    <a:ext uri="{9D8B030D-6E8A-4147-A177-3AD203B41FA5}">
                      <a16:colId xmlns:a16="http://schemas.microsoft.com/office/drawing/2014/main" val="20007"/>
                    </a:ext>
                  </a:extLst>
                </a:gridCol>
                <a:gridCol w="1371604">
                  <a:extLst>
                    <a:ext uri="{9D8B030D-6E8A-4147-A177-3AD203B41FA5}">
                      <a16:colId xmlns:a16="http://schemas.microsoft.com/office/drawing/2014/main" val="20008"/>
                    </a:ext>
                  </a:extLst>
                </a:gridCol>
              </a:tblGrid>
              <a:tr h="370840">
                <a:tc>
                  <a:txBody>
                    <a:bodyPr/>
                    <a:lstStyle/>
                    <a:p>
                      <a:pPr algn="ctr"/>
                      <a:r>
                        <a:rPr lang="en-US" sz="1400" dirty="0"/>
                        <a:t>intercept</a:t>
                      </a:r>
                      <a:endParaRPr lang="en-US" sz="2800" dirty="0"/>
                    </a:p>
                  </a:txBody>
                  <a:tcPr anchor="ctr"/>
                </a:tc>
                <a:tc>
                  <a:txBody>
                    <a:bodyPr/>
                    <a:lstStyle/>
                    <a:p>
                      <a:pPr algn="ctr"/>
                      <a:r>
                        <a:rPr lang="en-US" dirty="0"/>
                        <a:t>block1</a:t>
                      </a:r>
                    </a:p>
                  </a:txBody>
                  <a:tcPr anchor="ctr"/>
                </a:tc>
                <a:tc>
                  <a:txBody>
                    <a:bodyPr/>
                    <a:lstStyle/>
                    <a:p>
                      <a:pPr algn="ctr"/>
                      <a:r>
                        <a:rPr lang="en-US" dirty="0"/>
                        <a:t>block2</a:t>
                      </a:r>
                    </a:p>
                  </a:txBody>
                  <a:tcPr anchor="ctr"/>
                </a:tc>
                <a:tc>
                  <a:txBody>
                    <a:bodyPr/>
                    <a:lstStyle/>
                    <a:p>
                      <a:pPr algn="ctr"/>
                      <a:r>
                        <a:rPr lang="en-US" dirty="0"/>
                        <a:t>block3</a:t>
                      </a:r>
                    </a:p>
                  </a:txBody>
                  <a:tcPr anchor="ctr"/>
                </a:tc>
                <a:tc>
                  <a:txBody>
                    <a:bodyPr/>
                    <a:lstStyle/>
                    <a:p>
                      <a:pPr algn="ctr"/>
                      <a:r>
                        <a:rPr lang="en-US" dirty="0"/>
                        <a:t>block4</a:t>
                      </a:r>
                    </a:p>
                  </a:txBody>
                  <a:tcPr anchor="ctr"/>
                </a:tc>
                <a:tc>
                  <a:txBody>
                    <a:bodyPr/>
                    <a:lstStyle/>
                    <a:p>
                      <a:pPr algn="ctr"/>
                      <a:r>
                        <a:rPr lang="en-US" dirty="0"/>
                        <a:t>Anne</a:t>
                      </a:r>
                    </a:p>
                  </a:txBody>
                  <a:tcPr anchor="ctr"/>
                </a:tc>
                <a:tc>
                  <a:txBody>
                    <a:bodyPr/>
                    <a:lstStyle/>
                    <a:p>
                      <a:pPr algn="ctr"/>
                      <a:r>
                        <a:rPr lang="en-US" dirty="0"/>
                        <a:t>Cumberland</a:t>
                      </a:r>
                    </a:p>
                  </a:txBody>
                  <a:tcPr anchor="ctr"/>
                </a:tc>
                <a:tc>
                  <a:txBody>
                    <a:bodyPr/>
                    <a:lstStyle/>
                    <a:p>
                      <a:pPr algn="ctr"/>
                      <a:r>
                        <a:rPr lang="en-US" dirty="0"/>
                        <a:t>Heritage</a:t>
                      </a:r>
                      <a:endParaRPr lang="en-US" sz="1800" dirty="0"/>
                    </a:p>
                  </a:txBody>
                  <a:tcPr anchor="ctr"/>
                </a:tc>
                <a:tc>
                  <a:txBody>
                    <a:bodyPr/>
                    <a:lstStyle/>
                    <a:p>
                      <a:pPr algn="ctr"/>
                      <a:r>
                        <a:rPr lang="en-US" dirty="0" err="1"/>
                        <a:t>JewellBlack</a:t>
                      </a:r>
                      <a:endParaRPr lang="en-US" dirty="0"/>
                    </a:p>
                  </a:txBody>
                  <a:tcPr anchor="ctr"/>
                </a:tc>
                <a:extLst>
                  <a:ext uri="{0D108BD9-81ED-4DB2-BD59-A6C34878D82A}">
                    <a16:rowId xmlns:a16="http://schemas.microsoft.com/office/drawing/2014/main" val="10000"/>
                  </a:ext>
                </a:extLst>
              </a:tr>
              <a:tr h="370840">
                <a:tc>
                  <a:txBody>
                    <a:bodyPr/>
                    <a:lstStyle/>
                    <a:p>
                      <a:endParaRPr lang="en-US" sz="2400" b="1" dirty="0"/>
                    </a:p>
                  </a:txBody>
                  <a:tcPr/>
                </a:tc>
                <a:tc>
                  <a:txBody>
                    <a:bodyPr/>
                    <a:lstStyle/>
                    <a:p>
                      <a:endParaRPr lang="en-US" sz="2400" b="1"/>
                    </a:p>
                  </a:txBody>
                  <a:tcPr/>
                </a:tc>
                <a:tc>
                  <a:txBody>
                    <a:bodyPr/>
                    <a:lstStyle/>
                    <a:p>
                      <a:endParaRPr lang="en-US" sz="2400" b="1" dirty="0"/>
                    </a:p>
                  </a:txBody>
                  <a:tcPr/>
                </a:tc>
                <a:tc>
                  <a:txBody>
                    <a:bodyPr/>
                    <a:lstStyle/>
                    <a:p>
                      <a:endParaRPr lang="en-US" sz="2400" b="1"/>
                    </a:p>
                  </a:txBody>
                  <a:tcPr/>
                </a:tc>
                <a:tc>
                  <a:txBody>
                    <a:bodyPr/>
                    <a:lstStyle/>
                    <a:p>
                      <a:endParaRPr lang="en-US" sz="2400" b="1"/>
                    </a:p>
                  </a:txBody>
                  <a:tcPr/>
                </a:tc>
                <a:tc>
                  <a:txBody>
                    <a:bodyPr/>
                    <a:lstStyle/>
                    <a:p>
                      <a:endParaRPr lang="en-US" sz="2400" b="1" dirty="0"/>
                    </a:p>
                  </a:txBody>
                  <a:tcPr/>
                </a:tc>
                <a:tc>
                  <a:txBody>
                    <a:bodyPr/>
                    <a:lstStyle/>
                    <a:p>
                      <a:endParaRPr lang="en-US" sz="2400" b="1" dirty="0"/>
                    </a:p>
                  </a:txBody>
                  <a:tcPr/>
                </a:tc>
                <a:tc>
                  <a:txBody>
                    <a:bodyPr/>
                    <a:lstStyle/>
                    <a:p>
                      <a:endParaRPr lang="en-US" sz="2400" b="1" dirty="0"/>
                    </a:p>
                  </a:txBody>
                  <a:tcPr/>
                </a:tc>
                <a:tc>
                  <a:txBody>
                    <a:bodyPr/>
                    <a:lstStyle/>
                    <a:p>
                      <a:endParaRPr lang="en-US" sz="2400" b="1" dirty="0"/>
                    </a:p>
                  </a:txBody>
                  <a:tcPr/>
                </a:tc>
                <a:extLst>
                  <a:ext uri="{0D108BD9-81ED-4DB2-BD59-A6C34878D82A}">
                    <a16:rowId xmlns:a16="http://schemas.microsoft.com/office/drawing/2014/main" val="10001"/>
                  </a:ext>
                </a:extLst>
              </a:tr>
              <a:tr h="370840">
                <a:tc>
                  <a:txBody>
                    <a:bodyPr/>
                    <a:lstStyle/>
                    <a:p>
                      <a:endParaRPr lang="en-US" sz="2400" b="1" dirty="0"/>
                    </a:p>
                  </a:txBody>
                  <a:tcPr/>
                </a:tc>
                <a:tc>
                  <a:txBody>
                    <a:bodyPr/>
                    <a:lstStyle/>
                    <a:p>
                      <a:endParaRPr lang="en-US" sz="2400" b="1"/>
                    </a:p>
                  </a:txBody>
                  <a:tcPr/>
                </a:tc>
                <a:tc>
                  <a:txBody>
                    <a:bodyPr/>
                    <a:lstStyle/>
                    <a:p>
                      <a:endParaRPr lang="en-US" sz="2400" b="1" dirty="0"/>
                    </a:p>
                  </a:txBody>
                  <a:tcPr/>
                </a:tc>
                <a:tc>
                  <a:txBody>
                    <a:bodyPr/>
                    <a:lstStyle/>
                    <a:p>
                      <a:endParaRPr lang="en-US" sz="2400" b="1" dirty="0"/>
                    </a:p>
                  </a:txBody>
                  <a:tcPr/>
                </a:tc>
                <a:tc>
                  <a:txBody>
                    <a:bodyPr/>
                    <a:lstStyle/>
                    <a:p>
                      <a:endParaRPr lang="en-US" sz="2400" b="1" dirty="0"/>
                    </a:p>
                  </a:txBody>
                  <a:tcPr/>
                </a:tc>
                <a:tc>
                  <a:txBody>
                    <a:bodyPr/>
                    <a:lstStyle/>
                    <a:p>
                      <a:endParaRPr lang="en-US" sz="2400" b="1" dirty="0"/>
                    </a:p>
                  </a:txBody>
                  <a:tcPr/>
                </a:tc>
                <a:tc>
                  <a:txBody>
                    <a:bodyPr/>
                    <a:lstStyle/>
                    <a:p>
                      <a:endParaRPr lang="en-US" sz="2400" b="1" dirty="0"/>
                    </a:p>
                  </a:txBody>
                  <a:tcPr/>
                </a:tc>
                <a:tc>
                  <a:txBody>
                    <a:bodyPr/>
                    <a:lstStyle/>
                    <a:p>
                      <a:endParaRPr lang="en-US" sz="2400" b="1" dirty="0"/>
                    </a:p>
                  </a:txBody>
                  <a:tcPr/>
                </a:tc>
                <a:tc>
                  <a:txBody>
                    <a:bodyPr/>
                    <a:lstStyle/>
                    <a:p>
                      <a:endParaRPr lang="en-US" sz="2400" b="1" dirty="0"/>
                    </a:p>
                  </a:txBody>
                  <a:tcPr/>
                </a:tc>
                <a:extLst>
                  <a:ext uri="{0D108BD9-81ED-4DB2-BD59-A6C34878D82A}">
                    <a16:rowId xmlns:a16="http://schemas.microsoft.com/office/drawing/2014/main" val="10002"/>
                  </a:ext>
                </a:extLst>
              </a:tr>
              <a:tr h="370840">
                <a:tc>
                  <a:txBody>
                    <a:bodyPr/>
                    <a:lstStyle/>
                    <a:p>
                      <a:endParaRPr lang="en-US" sz="2400" b="1"/>
                    </a:p>
                  </a:txBody>
                  <a:tcPr/>
                </a:tc>
                <a:tc>
                  <a:txBody>
                    <a:bodyPr/>
                    <a:lstStyle/>
                    <a:p>
                      <a:endParaRPr lang="en-US" sz="2400" b="1"/>
                    </a:p>
                  </a:txBody>
                  <a:tcPr/>
                </a:tc>
                <a:tc>
                  <a:txBody>
                    <a:bodyPr/>
                    <a:lstStyle/>
                    <a:p>
                      <a:endParaRPr lang="en-US" sz="2400" b="1"/>
                    </a:p>
                  </a:txBody>
                  <a:tcPr/>
                </a:tc>
                <a:tc>
                  <a:txBody>
                    <a:bodyPr/>
                    <a:lstStyle/>
                    <a:p>
                      <a:endParaRPr lang="en-US" sz="2400" b="1" dirty="0"/>
                    </a:p>
                  </a:txBody>
                  <a:tcPr/>
                </a:tc>
                <a:tc>
                  <a:txBody>
                    <a:bodyPr/>
                    <a:lstStyle/>
                    <a:p>
                      <a:endParaRPr lang="en-US" sz="2400" b="1" dirty="0"/>
                    </a:p>
                  </a:txBody>
                  <a:tcPr/>
                </a:tc>
                <a:tc>
                  <a:txBody>
                    <a:bodyPr/>
                    <a:lstStyle/>
                    <a:p>
                      <a:endParaRPr lang="en-US" sz="2400" b="1" dirty="0"/>
                    </a:p>
                  </a:txBody>
                  <a:tcPr/>
                </a:tc>
                <a:tc>
                  <a:txBody>
                    <a:bodyPr/>
                    <a:lstStyle/>
                    <a:p>
                      <a:endParaRPr lang="en-US" sz="2400" b="1" dirty="0"/>
                    </a:p>
                  </a:txBody>
                  <a:tcPr/>
                </a:tc>
                <a:tc>
                  <a:txBody>
                    <a:bodyPr/>
                    <a:lstStyle/>
                    <a:p>
                      <a:endParaRPr lang="en-US" sz="2400" b="1" dirty="0"/>
                    </a:p>
                  </a:txBody>
                  <a:tcPr/>
                </a:tc>
                <a:tc>
                  <a:txBody>
                    <a:bodyPr/>
                    <a:lstStyle/>
                    <a:p>
                      <a:endParaRPr lang="en-US" sz="2400" b="1" dirty="0"/>
                    </a:p>
                  </a:txBody>
                  <a:tcPr/>
                </a:tc>
                <a:extLst>
                  <a:ext uri="{0D108BD9-81ED-4DB2-BD59-A6C34878D82A}">
                    <a16:rowId xmlns:a16="http://schemas.microsoft.com/office/drawing/2014/main" val="10003"/>
                  </a:ext>
                </a:extLst>
              </a:tr>
              <a:tr h="370840">
                <a:tc>
                  <a:txBody>
                    <a:bodyPr/>
                    <a:lstStyle/>
                    <a:p>
                      <a:endParaRPr lang="en-US" sz="2400" b="1"/>
                    </a:p>
                  </a:txBody>
                  <a:tcPr/>
                </a:tc>
                <a:tc>
                  <a:txBody>
                    <a:bodyPr/>
                    <a:lstStyle/>
                    <a:p>
                      <a:endParaRPr lang="en-US" sz="2400" b="1"/>
                    </a:p>
                  </a:txBody>
                  <a:tcPr/>
                </a:tc>
                <a:tc>
                  <a:txBody>
                    <a:bodyPr/>
                    <a:lstStyle/>
                    <a:p>
                      <a:endParaRPr lang="en-US" sz="2400" b="1"/>
                    </a:p>
                  </a:txBody>
                  <a:tcPr/>
                </a:tc>
                <a:tc>
                  <a:txBody>
                    <a:bodyPr/>
                    <a:lstStyle/>
                    <a:p>
                      <a:endParaRPr lang="en-US" sz="2400" b="1" dirty="0"/>
                    </a:p>
                  </a:txBody>
                  <a:tcPr/>
                </a:tc>
                <a:tc>
                  <a:txBody>
                    <a:bodyPr/>
                    <a:lstStyle/>
                    <a:p>
                      <a:endParaRPr lang="en-US" sz="2400" b="1" dirty="0"/>
                    </a:p>
                  </a:txBody>
                  <a:tcPr/>
                </a:tc>
                <a:tc>
                  <a:txBody>
                    <a:bodyPr/>
                    <a:lstStyle/>
                    <a:p>
                      <a:endParaRPr lang="en-US" sz="2400" b="1" dirty="0"/>
                    </a:p>
                  </a:txBody>
                  <a:tcPr/>
                </a:tc>
                <a:tc>
                  <a:txBody>
                    <a:bodyPr/>
                    <a:lstStyle/>
                    <a:p>
                      <a:endParaRPr lang="en-US" sz="2400" b="1" dirty="0"/>
                    </a:p>
                  </a:txBody>
                  <a:tcPr/>
                </a:tc>
                <a:tc>
                  <a:txBody>
                    <a:bodyPr/>
                    <a:lstStyle/>
                    <a:p>
                      <a:endParaRPr lang="en-US" sz="2400" b="1" dirty="0"/>
                    </a:p>
                  </a:txBody>
                  <a:tcPr/>
                </a:tc>
                <a:tc>
                  <a:txBody>
                    <a:bodyPr/>
                    <a:lstStyle/>
                    <a:p>
                      <a:endParaRPr lang="en-US" sz="2400" b="1" dirty="0"/>
                    </a:p>
                  </a:txBody>
                  <a:tcPr/>
                </a:tc>
                <a:extLst>
                  <a:ext uri="{0D108BD9-81ED-4DB2-BD59-A6C34878D82A}">
                    <a16:rowId xmlns:a16="http://schemas.microsoft.com/office/drawing/2014/main" val="10004"/>
                  </a:ext>
                </a:extLst>
              </a:tr>
              <a:tr h="370840">
                <a:tc>
                  <a:txBody>
                    <a:bodyPr/>
                    <a:lstStyle/>
                    <a:p>
                      <a:endParaRPr lang="en-US" sz="2400" b="1" dirty="0"/>
                    </a:p>
                  </a:txBody>
                  <a:tcPr/>
                </a:tc>
                <a:tc>
                  <a:txBody>
                    <a:bodyPr/>
                    <a:lstStyle/>
                    <a:p>
                      <a:endParaRPr lang="en-US" sz="2400" b="1"/>
                    </a:p>
                  </a:txBody>
                  <a:tcPr/>
                </a:tc>
                <a:tc>
                  <a:txBody>
                    <a:bodyPr/>
                    <a:lstStyle/>
                    <a:p>
                      <a:endParaRPr lang="en-US" sz="2400" b="1"/>
                    </a:p>
                  </a:txBody>
                  <a:tcPr/>
                </a:tc>
                <a:tc>
                  <a:txBody>
                    <a:bodyPr/>
                    <a:lstStyle/>
                    <a:p>
                      <a:endParaRPr lang="en-US" sz="2400" b="1" dirty="0"/>
                    </a:p>
                  </a:txBody>
                  <a:tcPr/>
                </a:tc>
                <a:tc>
                  <a:txBody>
                    <a:bodyPr/>
                    <a:lstStyle/>
                    <a:p>
                      <a:endParaRPr lang="en-US" sz="2400" b="1" dirty="0"/>
                    </a:p>
                  </a:txBody>
                  <a:tcPr/>
                </a:tc>
                <a:tc>
                  <a:txBody>
                    <a:bodyPr/>
                    <a:lstStyle/>
                    <a:p>
                      <a:endParaRPr lang="en-US" sz="2400" b="1" dirty="0"/>
                    </a:p>
                  </a:txBody>
                  <a:tcPr/>
                </a:tc>
                <a:tc>
                  <a:txBody>
                    <a:bodyPr/>
                    <a:lstStyle/>
                    <a:p>
                      <a:endParaRPr lang="en-US" sz="2400" b="1" dirty="0"/>
                    </a:p>
                  </a:txBody>
                  <a:tcPr/>
                </a:tc>
                <a:tc>
                  <a:txBody>
                    <a:bodyPr/>
                    <a:lstStyle/>
                    <a:p>
                      <a:endParaRPr lang="en-US" sz="2400" b="1" dirty="0"/>
                    </a:p>
                  </a:txBody>
                  <a:tcPr/>
                </a:tc>
                <a:tc>
                  <a:txBody>
                    <a:bodyPr/>
                    <a:lstStyle/>
                    <a:p>
                      <a:endParaRPr lang="en-US" sz="2400" b="1" dirty="0"/>
                    </a:p>
                  </a:txBody>
                  <a:tcPr/>
                </a:tc>
                <a:extLst>
                  <a:ext uri="{0D108BD9-81ED-4DB2-BD59-A6C34878D82A}">
                    <a16:rowId xmlns:a16="http://schemas.microsoft.com/office/drawing/2014/main" val="10005"/>
                  </a:ext>
                </a:extLst>
              </a:tr>
            </a:tbl>
          </a:graphicData>
        </a:graphic>
      </p:graphicFrame>
      <p:sp>
        <p:nvSpPr>
          <p:cNvPr id="9" name="TextBox 8"/>
          <p:cNvSpPr txBox="1"/>
          <p:nvPr/>
        </p:nvSpPr>
        <p:spPr>
          <a:xfrm>
            <a:off x="111764" y="3633627"/>
            <a:ext cx="2191241" cy="584775"/>
          </a:xfrm>
          <a:prstGeom prst="rect">
            <a:avLst/>
          </a:prstGeom>
          <a:noFill/>
        </p:spPr>
        <p:txBody>
          <a:bodyPr wrap="none" rtlCol="0">
            <a:spAutoFit/>
          </a:bodyPr>
          <a:lstStyle/>
          <a:p>
            <a:r>
              <a:rPr lang="en-US" sz="3200" b="1" dirty="0"/>
              <a:t>Model view</a:t>
            </a:r>
          </a:p>
        </p:txBody>
      </p:sp>
      <p:pic>
        <p:nvPicPr>
          <p:cNvPr id="14" name="Picture 13"/>
          <p:cNvPicPr>
            <a:picLocks noChangeAspect="1"/>
          </p:cNvPicPr>
          <p:nvPr/>
        </p:nvPicPr>
        <p:blipFill rotWithShape="1">
          <a:blip r:embed="rId3">
            <a:extLst>
              <a:ext uri="{28A0092B-C50C-407E-A947-70E740481C1C}">
                <a14:useLocalDpi xmlns:a14="http://schemas.microsoft.com/office/drawing/2010/main" val="0"/>
              </a:ext>
            </a:extLst>
          </a:blip>
          <a:srcRect l="21034" t="1042" r="4483" b="65127"/>
          <a:stretch/>
        </p:blipFill>
        <p:spPr>
          <a:xfrm>
            <a:off x="639293" y="1381364"/>
            <a:ext cx="2377440" cy="2322408"/>
          </a:xfrm>
          <a:prstGeom prst="rect">
            <a:avLst/>
          </a:prstGeom>
          <a:ln>
            <a:solidFill>
              <a:schemeClr val="tx1"/>
            </a:solidFill>
          </a:ln>
        </p:spPr>
      </p:pic>
      <p:sp>
        <p:nvSpPr>
          <p:cNvPr id="15" name="TextBox 14"/>
          <p:cNvSpPr txBox="1"/>
          <p:nvPr/>
        </p:nvSpPr>
        <p:spPr>
          <a:xfrm rot="16200000">
            <a:off x="-567108" y="2272851"/>
            <a:ext cx="1942519" cy="584775"/>
          </a:xfrm>
          <a:prstGeom prst="rect">
            <a:avLst/>
          </a:prstGeom>
          <a:noFill/>
        </p:spPr>
        <p:txBody>
          <a:bodyPr wrap="none" rtlCol="0">
            <a:spAutoFit/>
          </a:bodyPr>
          <a:lstStyle/>
          <a:p>
            <a:r>
              <a:rPr lang="en-US" sz="3200" b="1" dirty="0"/>
              <a:t>Data table</a:t>
            </a:r>
          </a:p>
        </p:txBody>
      </p:sp>
      <p:pic>
        <p:nvPicPr>
          <p:cNvPr id="16" name="Picture 15"/>
          <p:cNvPicPr>
            <a:picLocks noChangeAspect="1"/>
          </p:cNvPicPr>
          <p:nvPr/>
        </p:nvPicPr>
        <p:blipFill rotWithShape="1">
          <a:blip r:embed="rId4">
            <a:extLst>
              <a:ext uri="{28A0092B-C50C-407E-A947-70E740481C1C}">
                <a14:useLocalDpi xmlns:a14="http://schemas.microsoft.com/office/drawing/2010/main" val="0"/>
              </a:ext>
            </a:extLst>
          </a:blip>
          <a:srcRect l="2363" t="43138" r="54819" b="22043"/>
          <a:stretch/>
        </p:blipFill>
        <p:spPr>
          <a:xfrm>
            <a:off x="4293374" y="1408711"/>
            <a:ext cx="3362961" cy="2296160"/>
          </a:xfrm>
          <a:prstGeom prst="rect">
            <a:avLst/>
          </a:prstGeom>
          <a:ln>
            <a:solidFill>
              <a:schemeClr val="tx1"/>
            </a:solidFill>
          </a:ln>
        </p:spPr>
      </p:pic>
      <p:sp>
        <p:nvSpPr>
          <p:cNvPr id="17" name="TextBox 16"/>
          <p:cNvSpPr txBox="1"/>
          <p:nvPr/>
        </p:nvSpPr>
        <p:spPr>
          <a:xfrm rot="16200000">
            <a:off x="2578822" y="2018182"/>
            <a:ext cx="2350854" cy="1077218"/>
          </a:xfrm>
          <a:prstGeom prst="rect">
            <a:avLst/>
          </a:prstGeom>
          <a:noFill/>
        </p:spPr>
        <p:txBody>
          <a:bodyPr wrap="square" rtlCol="0">
            <a:spAutoFit/>
          </a:bodyPr>
          <a:lstStyle/>
          <a:p>
            <a:pPr algn="ctr"/>
            <a:r>
              <a:rPr lang="en-US" sz="3200" b="1" dirty="0"/>
              <a:t>Model Summary</a:t>
            </a:r>
          </a:p>
        </p:txBody>
      </p:sp>
      <p:sp>
        <p:nvSpPr>
          <p:cNvPr id="3" name="TextBox 2"/>
          <p:cNvSpPr txBox="1"/>
          <p:nvPr/>
        </p:nvSpPr>
        <p:spPr>
          <a:xfrm>
            <a:off x="8217877" y="1789289"/>
            <a:ext cx="3552092" cy="1815882"/>
          </a:xfrm>
          <a:prstGeom prst="rect">
            <a:avLst/>
          </a:prstGeom>
          <a:noFill/>
        </p:spPr>
        <p:txBody>
          <a:bodyPr wrap="square" rtlCol="0">
            <a:spAutoFit/>
          </a:bodyPr>
          <a:lstStyle/>
          <a:p>
            <a:r>
              <a:rPr lang="en-US" sz="2800" b="1" dirty="0">
                <a:solidFill>
                  <a:schemeClr val="accent4">
                    <a:lumMod val="75000"/>
                  </a:schemeClr>
                </a:solidFill>
              </a:rPr>
              <a:t>Note: Although this is laid out similar to an incidence matrix, it’s slightly different</a:t>
            </a:r>
          </a:p>
        </p:txBody>
      </p:sp>
    </p:spTree>
    <p:extLst>
      <p:ext uri="{BB962C8B-B14F-4D97-AF65-F5344CB8AC3E}">
        <p14:creationId xmlns:p14="http://schemas.microsoft.com/office/powerpoint/2010/main" val="3527648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a model sees the coefficients</a:t>
            </a:r>
          </a:p>
        </p:txBody>
      </p:sp>
      <p:sp>
        <p:nvSpPr>
          <p:cNvPr id="9" name="TextBox 8"/>
          <p:cNvSpPr txBox="1"/>
          <p:nvPr/>
        </p:nvSpPr>
        <p:spPr>
          <a:xfrm>
            <a:off x="111764" y="3633627"/>
            <a:ext cx="2191241" cy="584775"/>
          </a:xfrm>
          <a:prstGeom prst="rect">
            <a:avLst/>
          </a:prstGeom>
          <a:noFill/>
        </p:spPr>
        <p:txBody>
          <a:bodyPr wrap="none" rtlCol="0">
            <a:spAutoFit/>
          </a:bodyPr>
          <a:lstStyle/>
          <a:p>
            <a:r>
              <a:rPr lang="en-US" sz="3200" b="1" dirty="0"/>
              <a:t>Model view</a:t>
            </a:r>
          </a:p>
        </p:txBody>
      </p:sp>
      <p:sp>
        <p:nvSpPr>
          <p:cNvPr id="3" name="TextBox 2"/>
          <p:cNvSpPr txBox="1"/>
          <p:nvPr/>
        </p:nvSpPr>
        <p:spPr>
          <a:xfrm>
            <a:off x="9282155" y="4602480"/>
            <a:ext cx="2726965" cy="1200329"/>
          </a:xfrm>
          <a:prstGeom prst="rect">
            <a:avLst/>
          </a:prstGeom>
          <a:noFill/>
        </p:spPr>
        <p:txBody>
          <a:bodyPr wrap="square" rtlCol="0">
            <a:spAutoFit/>
          </a:bodyPr>
          <a:lstStyle/>
          <a:p>
            <a:r>
              <a:rPr lang="en-US" sz="2400" b="1" dirty="0"/>
              <a:t>One level of each factor is unnecessary</a:t>
            </a:r>
          </a:p>
        </p:txBody>
      </p:sp>
      <p:graphicFrame>
        <p:nvGraphicFramePr>
          <p:cNvPr id="11" name="Table 10"/>
          <p:cNvGraphicFramePr>
            <a:graphicFrameLocks noGrp="1"/>
          </p:cNvGraphicFramePr>
          <p:nvPr/>
        </p:nvGraphicFramePr>
        <p:xfrm>
          <a:off x="111764" y="4129319"/>
          <a:ext cx="8961121" cy="2656840"/>
        </p:xfrm>
        <a:graphic>
          <a:graphicData uri="http://schemas.openxmlformats.org/drawingml/2006/table">
            <a:tbl>
              <a:tblPr firstRow="1" bandRow="1">
                <a:tableStyleId>{7E9639D4-E3E2-4D34-9284-5A2195B3D0D7}</a:tableStyleId>
              </a:tblPr>
              <a:tblGrid>
                <a:gridCol w="871727">
                  <a:extLst>
                    <a:ext uri="{9D8B030D-6E8A-4147-A177-3AD203B41FA5}">
                      <a16:colId xmlns:a16="http://schemas.microsoft.com/office/drawing/2014/main" val="20000"/>
                    </a:ext>
                  </a:extLst>
                </a:gridCol>
                <a:gridCol w="871727">
                  <a:extLst>
                    <a:ext uri="{9D8B030D-6E8A-4147-A177-3AD203B41FA5}">
                      <a16:colId xmlns:a16="http://schemas.microsoft.com/office/drawing/2014/main" val="20001"/>
                    </a:ext>
                  </a:extLst>
                </a:gridCol>
                <a:gridCol w="871727">
                  <a:extLst>
                    <a:ext uri="{9D8B030D-6E8A-4147-A177-3AD203B41FA5}">
                      <a16:colId xmlns:a16="http://schemas.microsoft.com/office/drawing/2014/main" val="20002"/>
                    </a:ext>
                  </a:extLst>
                </a:gridCol>
                <a:gridCol w="871727">
                  <a:extLst>
                    <a:ext uri="{9D8B030D-6E8A-4147-A177-3AD203B41FA5}">
                      <a16:colId xmlns:a16="http://schemas.microsoft.com/office/drawing/2014/main" val="20003"/>
                    </a:ext>
                  </a:extLst>
                </a:gridCol>
                <a:gridCol w="871727">
                  <a:extLst>
                    <a:ext uri="{9D8B030D-6E8A-4147-A177-3AD203B41FA5}">
                      <a16:colId xmlns:a16="http://schemas.microsoft.com/office/drawing/2014/main" val="20004"/>
                    </a:ext>
                  </a:extLst>
                </a:gridCol>
                <a:gridCol w="782321">
                  <a:extLst>
                    <a:ext uri="{9D8B030D-6E8A-4147-A177-3AD203B41FA5}">
                      <a16:colId xmlns:a16="http://schemas.microsoft.com/office/drawing/2014/main" val="20005"/>
                    </a:ext>
                  </a:extLst>
                </a:gridCol>
                <a:gridCol w="1412240">
                  <a:extLst>
                    <a:ext uri="{9D8B030D-6E8A-4147-A177-3AD203B41FA5}">
                      <a16:colId xmlns:a16="http://schemas.microsoft.com/office/drawing/2014/main" val="20006"/>
                    </a:ext>
                  </a:extLst>
                </a:gridCol>
                <a:gridCol w="1036321">
                  <a:extLst>
                    <a:ext uri="{9D8B030D-6E8A-4147-A177-3AD203B41FA5}">
                      <a16:colId xmlns:a16="http://schemas.microsoft.com/office/drawing/2014/main" val="20007"/>
                    </a:ext>
                  </a:extLst>
                </a:gridCol>
                <a:gridCol w="1371604">
                  <a:extLst>
                    <a:ext uri="{9D8B030D-6E8A-4147-A177-3AD203B41FA5}">
                      <a16:colId xmlns:a16="http://schemas.microsoft.com/office/drawing/2014/main" val="20008"/>
                    </a:ext>
                  </a:extLst>
                </a:gridCol>
              </a:tblGrid>
              <a:tr h="370840">
                <a:tc>
                  <a:txBody>
                    <a:bodyPr/>
                    <a:lstStyle/>
                    <a:p>
                      <a:pPr algn="ctr"/>
                      <a:r>
                        <a:rPr lang="en-US" sz="1400" dirty="0"/>
                        <a:t>intercept</a:t>
                      </a:r>
                    </a:p>
                  </a:txBody>
                  <a:tcPr anchor="ctr"/>
                </a:tc>
                <a:tc>
                  <a:txBody>
                    <a:bodyPr/>
                    <a:lstStyle/>
                    <a:p>
                      <a:pPr algn="ctr"/>
                      <a:r>
                        <a:rPr lang="en-US" dirty="0"/>
                        <a:t>block1</a:t>
                      </a:r>
                    </a:p>
                  </a:txBody>
                  <a:tcPr anchor="ctr">
                    <a:solidFill>
                      <a:schemeClr val="bg1">
                        <a:lumMod val="65000"/>
                      </a:schemeClr>
                    </a:solidFill>
                  </a:tcPr>
                </a:tc>
                <a:tc>
                  <a:txBody>
                    <a:bodyPr/>
                    <a:lstStyle/>
                    <a:p>
                      <a:pPr algn="ctr"/>
                      <a:r>
                        <a:rPr lang="en-US" dirty="0"/>
                        <a:t>block2</a:t>
                      </a:r>
                    </a:p>
                  </a:txBody>
                  <a:tcPr anchor="ctr"/>
                </a:tc>
                <a:tc>
                  <a:txBody>
                    <a:bodyPr/>
                    <a:lstStyle/>
                    <a:p>
                      <a:pPr algn="ctr"/>
                      <a:r>
                        <a:rPr lang="en-US" dirty="0"/>
                        <a:t>block3</a:t>
                      </a:r>
                    </a:p>
                  </a:txBody>
                  <a:tcPr anchor="ctr"/>
                </a:tc>
                <a:tc>
                  <a:txBody>
                    <a:bodyPr/>
                    <a:lstStyle/>
                    <a:p>
                      <a:pPr algn="ctr"/>
                      <a:r>
                        <a:rPr lang="en-US" dirty="0"/>
                        <a:t>block4</a:t>
                      </a:r>
                    </a:p>
                  </a:txBody>
                  <a:tcPr anchor="ctr"/>
                </a:tc>
                <a:tc>
                  <a:txBody>
                    <a:bodyPr/>
                    <a:lstStyle/>
                    <a:p>
                      <a:pPr algn="ctr"/>
                      <a:r>
                        <a:rPr lang="en-US" dirty="0"/>
                        <a:t>Anne</a:t>
                      </a:r>
                    </a:p>
                  </a:txBody>
                  <a:tcPr anchor="ctr">
                    <a:solidFill>
                      <a:schemeClr val="bg1">
                        <a:lumMod val="65000"/>
                      </a:schemeClr>
                    </a:solidFill>
                  </a:tcPr>
                </a:tc>
                <a:tc>
                  <a:txBody>
                    <a:bodyPr/>
                    <a:lstStyle/>
                    <a:p>
                      <a:pPr algn="ctr"/>
                      <a:r>
                        <a:rPr lang="en-US" dirty="0"/>
                        <a:t>Cumberland</a:t>
                      </a:r>
                    </a:p>
                  </a:txBody>
                  <a:tcPr anchor="ctr"/>
                </a:tc>
                <a:tc>
                  <a:txBody>
                    <a:bodyPr/>
                    <a:lstStyle/>
                    <a:p>
                      <a:pPr algn="ctr"/>
                      <a:r>
                        <a:rPr lang="en-US" dirty="0"/>
                        <a:t>Heritage</a:t>
                      </a:r>
                      <a:endParaRPr lang="en-US" sz="1800" dirty="0"/>
                    </a:p>
                  </a:txBody>
                  <a:tcPr anchor="ctr"/>
                </a:tc>
                <a:tc>
                  <a:txBody>
                    <a:bodyPr/>
                    <a:lstStyle/>
                    <a:p>
                      <a:pPr algn="ctr"/>
                      <a:r>
                        <a:rPr lang="en-US" dirty="0" err="1"/>
                        <a:t>JewellBlack</a:t>
                      </a:r>
                      <a:endParaRPr lang="en-US" dirty="0"/>
                    </a:p>
                  </a:txBody>
                  <a:tcPr anchor="ctr"/>
                </a:tc>
                <a:extLst>
                  <a:ext uri="{0D108BD9-81ED-4DB2-BD59-A6C34878D82A}">
                    <a16:rowId xmlns:a16="http://schemas.microsoft.com/office/drawing/2014/main" val="10000"/>
                  </a:ext>
                </a:extLst>
              </a:tr>
              <a:tr h="370840">
                <a:tc>
                  <a:txBody>
                    <a:bodyPr/>
                    <a:lstStyle/>
                    <a:p>
                      <a:endParaRPr lang="en-US" sz="2400" b="1" dirty="0"/>
                    </a:p>
                  </a:txBody>
                  <a:tcPr/>
                </a:tc>
                <a:tc>
                  <a:txBody>
                    <a:bodyPr/>
                    <a:lstStyle/>
                    <a:p>
                      <a:endParaRPr lang="en-US" sz="2400" b="1"/>
                    </a:p>
                  </a:txBody>
                  <a:tcPr>
                    <a:solidFill>
                      <a:schemeClr val="bg1">
                        <a:lumMod val="65000"/>
                      </a:schemeClr>
                    </a:solidFill>
                  </a:tcPr>
                </a:tc>
                <a:tc>
                  <a:txBody>
                    <a:bodyPr/>
                    <a:lstStyle/>
                    <a:p>
                      <a:endParaRPr lang="en-US" sz="2400" b="1" dirty="0"/>
                    </a:p>
                  </a:txBody>
                  <a:tcPr/>
                </a:tc>
                <a:tc>
                  <a:txBody>
                    <a:bodyPr/>
                    <a:lstStyle/>
                    <a:p>
                      <a:endParaRPr lang="en-US" sz="2400" b="1"/>
                    </a:p>
                  </a:txBody>
                  <a:tcPr/>
                </a:tc>
                <a:tc>
                  <a:txBody>
                    <a:bodyPr/>
                    <a:lstStyle/>
                    <a:p>
                      <a:endParaRPr lang="en-US" sz="2400" b="1"/>
                    </a:p>
                  </a:txBody>
                  <a:tcPr/>
                </a:tc>
                <a:tc>
                  <a:txBody>
                    <a:bodyPr/>
                    <a:lstStyle/>
                    <a:p>
                      <a:endParaRPr lang="en-US" sz="2400" b="1" dirty="0"/>
                    </a:p>
                  </a:txBody>
                  <a:tcPr>
                    <a:solidFill>
                      <a:schemeClr val="bg1">
                        <a:lumMod val="65000"/>
                      </a:schemeClr>
                    </a:solidFill>
                  </a:tcPr>
                </a:tc>
                <a:tc>
                  <a:txBody>
                    <a:bodyPr/>
                    <a:lstStyle/>
                    <a:p>
                      <a:endParaRPr lang="en-US" sz="2400" b="1" dirty="0"/>
                    </a:p>
                  </a:txBody>
                  <a:tcPr/>
                </a:tc>
                <a:tc>
                  <a:txBody>
                    <a:bodyPr/>
                    <a:lstStyle/>
                    <a:p>
                      <a:endParaRPr lang="en-US" sz="2400" b="1" dirty="0"/>
                    </a:p>
                  </a:txBody>
                  <a:tcPr/>
                </a:tc>
                <a:tc>
                  <a:txBody>
                    <a:bodyPr/>
                    <a:lstStyle/>
                    <a:p>
                      <a:endParaRPr lang="en-US" sz="2400" b="1" dirty="0"/>
                    </a:p>
                  </a:txBody>
                  <a:tcPr/>
                </a:tc>
                <a:extLst>
                  <a:ext uri="{0D108BD9-81ED-4DB2-BD59-A6C34878D82A}">
                    <a16:rowId xmlns:a16="http://schemas.microsoft.com/office/drawing/2014/main" val="10001"/>
                  </a:ext>
                </a:extLst>
              </a:tr>
              <a:tr h="370840">
                <a:tc>
                  <a:txBody>
                    <a:bodyPr/>
                    <a:lstStyle/>
                    <a:p>
                      <a:endParaRPr lang="en-US" sz="2400" b="1"/>
                    </a:p>
                  </a:txBody>
                  <a:tcPr/>
                </a:tc>
                <a:tc>
                  <a:txBody>
                    <a:bodyPr/>
                    <a:lstStyle/>
                    <a:p>
                      <a:endParaRPr lang="en-US" sz="2400" b="1"/>
                    </a:p>
                  </a:txBody>
                  <a:tcPr>
                    <a:solidFill>
                      <a:schemeClr val="bg1">
                        <a:lumMod val="65000"/>
                      </a:schemeClr>
                    </a:solidFill>
                  </a:tcPr>
                </a:tc>
                <a:tc>
                  <a:txBody>
                    <a:bodyPr/>
                    <a:lstStyle/>
                    <a:p>
                      <a:endParaRPr lang="en-US" sz="2400" b="1" dirty="0"/>
                    </a:p>
                  </a:txBody>
                  <a:tcPr/>
                </a:tc>
                <a:tc>
                  <a:txBody>
                    <a:bodyPr/>
                    <a:lstStyle/>
                    <a:p>
                      <a:endParaRPr lang="en-US" sz="2400" b="1" dirty="0"/>
                    </a:p>
                  </a:txBody>
                  <a:tcPr/>
                </a:tc>
                <a:tc>
                  <a:txBody>
                    <a:bodyPr/>
                    <a:lstStyle/>
                    <a:p>
                      <a:endParaRPr lang="en-US" sz="2400" b="1" dirty="0"/>
                    </a:p>
                  </a:txBody>
                  <a:tcPr/>
                </a:tc>
                <a:tc>
                  <a:txBody>
                    <a:bodyPr/>
                    <a:lstStyle/>
                    <a:p>
                      <a:endParaRPr lang="en-US" sz="2400" b="1" dirty="0"/>
                    </a:p>
                  </a:txBody>
                  <a:tcPr>
                    <a:solidFill>
                      <a:schemeClr val="bg1">
                        <a:lumMod val="65000"/>
                      </a:schemeClr>
                    </a:solidFill>
                  </a:tcPr>
                </a:tc>
                <a:tc>
                  <a:txBody>
                    <a:bodyPr/>
                    <a:lstStyle/>
                    <a:p>
                      <a:endParaRPr lang="en-US" sz="2400" b="1" dirty="0"/>
                    </a:p>
                  </a:txBody>
                  <a:tcPr/>
                </a:tc>
                <a:tc>
                  <a:txBody>
                    <a:bodyPr/>
                    <a:lstStyle/>
                    <a:p>
                      <a:endParaRPr lang="en-US" sz="2400" b="1" dirty="0"/>
                    </a:p>
                  </a:txBody>
                  <a:tcPr/>
                </a:tc>
                <a:tc>
                  <a:txBody>
                    <a:bodyPr/>
                    <a:lstStyle/>
                    <a:p>
                      <a:endParaRPr lang="en-US" sz="2400" b="1" dirty="0"/>
                    </a:p>
                  </a:txBody>
                  <a:tcPr/>
                </a:tc>
                <a:extLst>
                  <a:ext uri="{0D108BD9-81ED-4DB2-BD59-A6C34878D82A}">
                    <a16:rowId xmlns:a16="http://schemas.microsoft.com/office/drawing/2014/main" val="10002"/>
                  </a:ext>
                </a:extLst>
              </a:tr>
              <a:tr h="370840">
                <a:tc>
                  <a:txBody>
                    <a:bodyPr/>
                    <a:lstStyle/>
                    <a:p>
                      <a:endParaRPr lang="en-US" sz="2400" b="1"/>
                    </a:p>
                  </a:txBody>
                  <a:tcPr/>
                </a:tc>
                <a:tc>
                  <a:txBody>
                    <a:bodyPr/>
                    <a:lstStyle/>
                    <a:p>
                      <a:endParaRPr lang="en-US" sz="2400" b="1"/>
                    </a:p>
                  </a:txBody>
                  <a:tcPr>
                    <a:solidFill>
                      <a:schemeClr val="bg1">
                        <a:lumMod val="65000"/>
                      </a:schemeClr>
                    </a:solidFill>
                  </a:tcPr>
                </a:tc>
                <a:tc>
                  <a:txBody>
                    <a:bodyPr/>
                    <a:lstStyle/>
                    <a:p>
                      <a:endParaRPr lang="en-US" sz="2400" b="1"/>
                    </a:p>
                  </a:txBody>
                  <a:tcPr/>
                </a:tc>
                <a:tc>
                  <a:txBody>
                    <a:bodyPr/>
                    <a:lstStyle/>
                    <a:p>
                      <a:endParaRPr lang="en-US" sz="2400" b="1" dirty="0"/>
                    </a:p>
                  </a:txBody>
                  <a:tcPr/>
                </a:tc>
                <a:tc>
                  <a:txBody>
                    <a:bodyPr/>
                    <a:lstStyle/>
                    <a:p>
                      <a:endParaRPr lang="en-US" sz="2400" b="1" dirty="0"/>
                    </a:p>
                  </a:txBody>
                  <a:tcPr/>
                </a:tc>
                <a:tc>
                  <a:txBody>
                    <a:bodyPr/>
                    <a:lstStyle/>
                    <a:p>
                      <a:endParaRPr lang="en-US" sz="2400" b="1" dirty="0"/>
                    </a:p>
                  </a:txBody>
                  <a:tcPr>
                    <a:solidFill>
                      <a:schemeClr val="bg1">
                        <a:lumMod val="65000"/>
                      </a:schemeClr>
                    </a:solidFill>
                  </a:tcPr>
                </a:tc>
                <a:tc>
                  <a:txBody>
                    <a:bodyPr/>
                    <a:lstStyle/>
                    <a:p>
                      <a:endParaRPr lang="en-US" sz="2400" b="1" dirty="0"/>
                    </a:p>
                  </a:txBody>
                  <a:tcPr/>
                </a:tc>
                <a:tc>
                  <a:txBody>
                    <a:bodyPr/>
                    <a:lstStyle/>
                    <a:p>
                      <a:endParaRPr lang="en-US" sz="2400" b="1" dirty="0"/>
                    </a:p>
                  </a:txBody>
                  <a:tcPr/>
                </a:tc>
                <a:tc>
                  <a:txBody>
                    <a:bodyPr/>
                    <a:lstStyle/>
                    <a:p>
                      <a:endParaRPr lang="en-US" sz="2400" b="1" dirty="0"/>
                    </a:p>
                  </a:txBody>
                  <a:tcPr/>
                </a:tc>
                <a:extLst>
                  <a:ext uri="{0D108BD9-81ED-4DB2-BD59-A6C34878D82A}">
                    <a16:rowId xmlns:a16="http://schemas.microsoft.com/office/drawing/2014/main" val="10003"/>
                  </a:ext>
                </a:extLst>
              </a:tr>
              <a:tr h="370840">
                <a:tc>
                  <a:txBody>
                    <a:bodyPr/>
                    <a:lstStyle/>
                    <a:p>
                      <a:endParaRPr lang="en-US" sz="2400" b="1"/>
                    </a:p>
                  </a:txBody>
                  <a:tcPr/>
                </a:tc>
                <a:tc>
                  <a:txBody>
                    <a:bodyPr/>
                    <a:lstStyle/>
                    <a:p>
                      <a:endParaRPr lang="en-US" sz="2400" b="1"/>
                    </a:p>
                  </a:txBody>
                  <a:tcPr>
                    <a:solidFill>
                      <a:schemeClr val="bg1">
                        <a:lumMod val="65000"/>
                      </a:schemeClr>
                    </a:solidFill>
                  </a:tcPr>
                </a:tc>
                <a:tc>
                  <a:txBody>
                    <a:bodyPr/>
                    <a:lstStyle/>
                    <a:p>
                      <a:endParaRPr lang="en-US" sz="2400" b="1"/>
                    </a:p>
                  </a:txBody>
                  <a:tcPr/>
                </a:tc>
                <a:tc>
                  <a:txBody>
                    <a:bodyPr/>
                    <a:lstStyle/>
                    <a:p>
                      <a:endParaRPr lang="en-US" sz="2400" b="1" dirty="0"/>
                    </a:p>
                  </a:txBody>
                  <a:tcPr/>
                </a:tc>
                <a:tc>
                  <a:txBody>
                    <a:bodyPr/>
                    <a:lstStyle/>
                    <a:p>
                      <a:endParaRPr lang="en-US" sz="2400" b="1" dirty="0"/>
                    </a:p>
                  </a:txBody>
                  <a:tcPr/>
                </a:tc>
                <a:tc>
                  <a:txBody>
                    <a:bodyPr/>
                    <a:lstStyle/>
                    <a:p>
                      <a:endParaRPr lang="en-US" sz="2400" b="1" dirty="0"/>
                    </a:p>
                  </a:txBody>
                  <a:tcPr>
                    <a:solidFill>
                      <a:schemeClr val="bg1">
                        <a:lumMod val="65000"/>
                      </a:schemeClr>
                    </a:solidFill>
                  </a:tcPr>
                </a:tc>
                <a:tc>
                  <a:txBody>
                    <a:bodyPr/>
                    <a:lstStyle/>
                    <a:p>
                      <a:endParaRPr lang="en-US" sz="2400" b="1" dirty="0"/>
                    </a:p>
                  </a:txBody>
                  <a:tcPr/>
                </a:tc>
                <a:tc>
                  <a:txBody>
                    <a:bodyPr/>
                    <a:lstStyle/>
                    <a:p>
                      <a:endParaRPr lang="en-US" sz="2400" b="1" dirty="0"/>
                    </a:p>
                  </a:txBody>
                  <a:tcPr/>
                </a:tc>
                <a:tc>
                  <a:txBody>
                    <a:bodyPr/>
                    <a:lstStyle/>
                    <a:p>
                      <a:endParaRPr lang="en-US" sz="2400" b="1" dirty="0"/>
                    </a:p>
                  </a:txBody>
                  <a:tcPr/>
                </a:tc>
                <a:extLst>
                  <a:ext uri="{0D108BD9-81ED-4DB2-BD59-A6C34878D82A}">
                    <a16:rowId xmlns:a16="http://schemas.microsoft.com/office/drawing/2014/main" val="10004"/>
                  </a:ext>
                </a:extLst>
              </a:tr>
              <a:tr h="370840">
                <a:tc>
                  <a:txBody>
                    <a:bodyPr/>
                    <a:lstStyle/>
                    <a:p>
                      <a:endParaRPr lang="en-US" sz="2400" b="1" dirty="0"/>
                    </a:p>
                  </a:txBody>
                  <a:tcPr/>
                </a:tc>
                <a:tc>
                  <a:txBody>
                    <a:bodyPr/>
                    <a:lstStyle/>
                    <a:p>
                      <a:endParaRPr lang="en-US" sz="2400" b="1" dirty="0"/>
                    </a:p>
                  </a:txBody>
                  <a:tcPr>
                    <a:solidFill>
                      <a:schemeClr val="bg1">
                        <a:lumMod val="65000"/>
                      </a:schemeClr>
                    </a:solidFill>
                  </a:tcPr>
                </a:tc>
                <a:tc>
                  <a:txBody>
                    <a:bodyPr/>
                    <a:lstStyle/>
                    <a:p>
                      <a:endParaRPr lang="en-US" sz="2400" b="1"/>
                    </a:p>
                  </a:txBody>
                  <a:tcPr/>
                </a:tc>
                <a:tc>
                  <a:txBody>
                    <a:bodyPr/>
                    <a:lstStyle/>
                    <a:p>
                      <a:endParaRPr lang="en-US" sz="2400" b="1" dirty="0"/>
                    </a:p>
                  </a:txBody>
                  <a:tcPr/>
                </a:tc>
                <a:tc>
                  <a:txBody>
                    <a:bodyPr/>
                    <a:lstStyle/>
                    <a:p>
                      <a:endParaRPr lang="en-US" sz="2400" b="1" dirty="0"/>
                    </a:p>
                  </a:txBody>
                  <a:tcPr/>
                </a:tc>
                <a:tc>
                  <a:txBody>
                    <a:bodyPr/>
                    <a:lstStyle/>
                    <a:p>
                      <a:endParaRPr lang="en-US" sz="2400" b="1" dirty="0"/>
                    </a:p>
                  </a:txBody>
                  <a:tcPr>
                    <a:solidFill>
                      <a:schemeClr val="bg1">
                        <a:lumMod val="65000"/>
                      </a:schemeClr>
                    </a:solidFill>
                  </a:tcPr>
                </a:tc>
                <a:tc>
                  <a:txBody>
                    <a:bodyPr/>
                    <a:lstStyle/>
                    <a:p>
                      <a:endParaRPr lang="en-US" sz="2400" b="1" dirty="0"/>
                    </a:p>
                  </a:txBody>
                  <a:tcPr/>
                </a:tc>
                <a:tc>
                  <a:txBody>
                    <a:bodyPr/>
                    <a:lstStyle/>
                    <a:p>
                      <a:endParaRPr lang="en-US" sz="2400" b="1" dirty="0"/>
                    </a:p>
                  </a:txBody>
                  <a:tcPr/>
                </a:tc>
                <a:tc>
                  <a:txBody>
                    <a:bodyPr/>
                    <a:lstStyle/>
                    <a:p>
                      <a:endParaRPr lang="en-US" sz="2400" b="1" dirty="0"/>
                    </a:p>
                  </a:txBody>
                  <a:tcPr/>
                </a:tc>
                <a:extLst>
                  <a:ext uri="{0D108BD9-81ED-4DB2-BD59-A6C34878D82A}">
                    <a16:rowId xmlns:a16="http://schemas.microsoft.com/office/drawing/2014/main" val="10005"/>
                  </a:ext>
                </a:extLst>
              </a:tr>
            </a:tbl>
          </a:graphicData>
        </a:graphic>
      </p:graphicFrame>
      <p:pic>
        <p:nvPicPr>
          <p:cNvPr id="10" name="Picture 9"/>
          <p:cNvPicPr>
            <a:picLocks noChangeAspect="1"/>
          </p:cNvPicPr>
          <p:nvPr/>
        </p:nvPicPr>
        <p:blipFill rotWithShape="1">
          <a:blip r:embed="rId3">
            <a:extLst>
              <a:ext uri="{28A0092B-C50C-407E-A947-70E740481C1C}">
                <a14:useLocalDpi xmlns:a14="http://schemas.microsoft.com/office/drawing/2010/main" val="0"/>
              </a:ext>
            </a:extLst>
          </a:blip>
          <a:srcRect l="21034" t="1042" r="4483" b="65127"/>
          <a:stretch/>
        </p:blipFill>
        <p:spPr>
          <a:xfrm>
            <a:off x="639293" y="1381364"/>
            <a:ext cx="2377440" cy="2322408"/>
          </a:xfrm>
          <a:prstGeom prst="rect">
            <a:avLst/>
          </a:prstGeom>
          <a:ln>
            <a:solidFill>
              <a:schemeClr val="tx1"/>
            </a:solidFill>
          </a:ln>
        </p:spPr>
      </p:pic>
      <p:sp>
        <p:nvSpPr>
          <p:cNvPr id="12" name="TextBox 11"/>
          <p:cNvSpPr txBox="1"/>
          <p:nvPr/>
        </p:nvSpPr>
        <p:spPr>
          <a:xfrm rot="16200000">
            <a:off x="-567108" y="2272851"/>
            <a:ext cx="1942519" cy="584775"/>
          </a:xfrm>
          <a:prstGeom prst="rect">
            <a:avLst/>
          </a:prstGeom>
          <a:noFill/>
        </p:spPr>
        <p:txBody>
          <a:bodyPr wrap="none" rtlCol="0">
            <a:spAutoFit/>
          </a:bodyPr>
          <a:lstStyle/>
          <a:p>
            <a:r>
              <a:rPr lang="en-US" sz="3200" b="1" dirty="0"/>
              <a:t>Data table</a:t>
            </a:r>
          </a:p>
        </p:txBody>
      </p:sp>
      <p:pic>
        <p:nvPicPr>
          <p:cNvPr id="13" name="Picture 12"/>
          <p:cNvPicPr>
            <a:picLocks noChangeAspect="1"/>
          </p:cNvPicPr>
          <p:nvPr/>
        </p:nvPicPr>
        <p:blipFill rotWithShape="1">
          <a:blip r:embed="rId4">
            <a:extLst>
              <a:ext uri="{28A0092B-C50C-407E-A947-70E740481C1C}">
                <a14:useLocalDpi xmlns:a14="http://schemas.microsoft.com/office/drawing/2010/main" val="0"/>
              </a:ext>
            </a:extLst>
          </a:blip>
          <a:srcRect l="2363" t="43138" r="54819" b="22043"/>
          <a:stretch/>
        </p:blipFill>
        <p:spPr>
          <a:xfrm>
            <a:off x="4293374" y="1408711"/>
            <a:ext cx="3362961" cy="2296160"/>
          </a:xfrm>
          <a:prstGeom prst="rect">
            <a:avLst/>
          </a:prstGeom>
          <a:ln>
            <a:solidFill>
              <a:schemeClr val="tx1"/>
            </a:solidFill>
          </a:ln>
        </p:spPr>
      </p:pic>
      <p:sp>
        <p:nvSpPr>
          <p:cNvPr id="14" name="TextBox 13"/>
          <p:cNvSpPr txBox="1"/>
          <p:nvPr/>
        </p:nvSpPr>
        <p:spPr>
          <a:xfrm rot="16200000">
            <a:off x="2578822" y="2018182"/>
            <a:ext cx="2350854" cy="1077218"/>
          </a:xfrm>
          <a:prstGeom prst="rect">
            <a:avLst/>
          </a:prstGeom>
          <a:noFill/>
        </p:spPr>
        <p:txBody>
          <a:bodyPr wrap="square" rtlCol="0">
            <a:spAutoFit/>
          </a:bodyPr>
          <a:lstStyle/>
          <a:p>
            <a:pPr algn="ctr"/>
            <a:r>
              <a:rPr lang="en-US" sz="3200" b="1" dirty="0"/>
              <a:t>Model Summary</a:t>
            </a:r>
          </a:p>
        </p:txBody>
      </p:sp>
    </p:spTree>
    <p:extLst>
      <p:ext uri="{BB962C8B-B14F-4D97-AF65-F5344CB8AC3E}">
        <p14:creationId xmlns:p14="http://schemas.microsoft.com/office/powerpoint/2010/main" val="2441428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a model sees the coefficients</a:t>
            </a:r>
          </a:p>
        </p:txBody>
      </p:sp>
      <p:sp>
        <p:nvSpPr>
          <p:cNvPr id="9" name="TextBox 8"/>
          <p:cNvSpPr txBox="1"/>
          <p:nvPr/>
        </p:nvSpPr>
        <p:spPr>
          <a:xfrm>
            <a:off x="111764" y="3633627"/>
            <a:ext cx="2191241" cy="584775"/>
          </a:xfrm>
          <a:prstGeom prst="rect">
            <a:avLst/>
          </a:prstGeom>
          <a:noFill/>
        </p:spPr>
        <p:txBody>
          <a:bodyPr wrap="none" rtlCol="0">
            <a:spAutoFit/>
          </a:bodyPr>
          <a:lstStyle/>
          <a:p>
            <a:r>
              <a:rPr lang="en-US" sz="3200" b="1" dirty="0"/>
              <a:t>Model view</a:t>
            </a:r>
          </a:p>
        </p:txBody>
      </p:sp>
      <p:sp>
        <p:nvSpPr>
          <p:cNvPr id="3" name="TextBox 2"/>
          <p:cNvSpPr txBox="1"/>
          <p:nvPr/>
        </p:nvSpPr>
        <p:spPr>
          <a:xfrm>
            <a:off x="9282155" y="4602480"/>
            <a:ext cx="2726965" cy="830997"/>
          </a:xfrm>
          <a:prstGeom prst="rect">
            <a:avLst/>
          </a:prstGeom>
          <a:noFill/>
        </p:spPr>
        <p:txBody>
          <a:bodyPr wrap="square" rtlCol="0">
            <a:spAutoFit/>
          </a:bodyPr>
          <a:lstStyle/>
          <a:p>
            <a:r>
              <a:rPr lang="en-US" sz="2400" b="1" dirty="0"/>
              <a:t>Intercept is the same for everything</a:t>
            </a:r>
          </a:p>
        </p:txBody>
      </p:sp>
      <p:graphicFrame>
        <p:nvGraphicFramePr>
          <p:cNvPr id="10" name="Table 9"/>
          <p:cNvGraphicFramePr>
            <a:graphicFrameLocks noGrp="1"/>
          </p:cNvGraphicFramePr>
          <p:nvPr/>
        </p:nvGraphicFramePr>
        <p:xfrm>
          <a:off x="111764" y="4129319"/>
          <a:ext cx="8961121" cy="2656840"/>
        </p:xfrm>
        <a:graphic>
          <a:graphicData uri="http://schemas.openxmlformats.org/drawingml/2006/table">
            <a:tbl>
              <a:tblPr firstRow="1" bandRow="1">
                <a:tableStyleId>{7E9639D4-E3E2-4D34-9284-5A2195B3D0D7}</a:tableStyleId>
              </a:tblPr>
              <a:tblGrid>
                <a:gridCol w="871727">
                  <a:extLst>
                    <a:ext uri="{9D8B030D-6E8A-4147-A177-3AD203B41FA5}">
                      <a16:colId xmlns:a16="http://schemas.microsoft.com/office/drawing/2014/main" val="20000"/>
                    </a:ext>
                  </a:extLst>
                </a:gridCol>
                <a:gridCol w="871727">
                  <a:extLst>
                    <a:ext uri="{9D8B030D-6E8A-4147-A177-3AD203B41FA5}">
                      <a16:colId xmlns:a16="http://schemas.microsoft.com/office/drawing/2014/main" val="20001"/>
                    </a:ext>
                  </a:extLst>
                </a:gridCol>
                <a:gridCol w="871727">
                  <a:extLst>
                    <a:ext uri="{9D8B030D-6E8A-4147-A177-3AD203B41FA5}">
                      <a16:colId xmlns:a16="http://schemas.microsoft.com/office/drawing/2014/main" val="20002"/>
                    </a:ext>
                  </a:extLst>
                </a:gridCol>
                <a:gridCol w="871727">
                  <a:extLst>
                    <a:ext uri="{9D8B030D-6E8A-4147-A177-3AD203B41FA5}">
                      <a16:colId xmlns:a16="http://schemas.microsoft.com/office/drawing/2014/main" val="20003"/>
                    </a:ext>
                  </a:extLst>
                </a:gridCol>
                <a:gridCol w="871727">
                  <a:extLst>
                    <a:ext uri="{9D8B030D-6E8A-4147-A177-3AD203B41FA5}">
                      <a16:colId xmlns:a16="http://schemas.microsoft.com/office/drawing/2014/main" val="20004"/>
                    </a:ext>
                  </a:extLst>
                </a:gridCol>
                <a:gridCol w="782321">
                  <a:extLst>
                    <a:ext uri="{9D8B030D-6E8A-4147-A177-3AD203B41FA5}">
                      <a16:colId xmlns:a16="http://schemas.microsoft.com/office/drawing/2014/main" val="20005"/>
                    </a:ext>
                  </a:extLst>
                </a:gridCol>
                <a:gridCol w="1412240">
                  <a:extLst>
                    <a:ext uri="{9D8B030D-6E8A-4147-A177-3AD203B41FA5}">
                      <a16:colId xmlns:a16="http://schemas.microsoft.com/office/drawing/2014/main" val="20006"/>
                    </a:ext>
                  </a:extLst>
                </a:gridCol>
                <a:gridCol w="1036321">
                  <a:extLst>
                    <a:ext uri="{9D8B030D-6E8A-4147-A177-3AD203B41FA5}">
                      <a16:colId xmlns:a16="http://schemas.microsoft.com/office/drawing/2014/main" val="20007"/>
                    </a:ext>
                  </a:extLst>
                </a:gridCol>
                <a:gridCol w="1371604">
                  <a:extLst>
                    <a:ext uri="{9D8B030D-6E8A-4147-A177-3AD203B41FA5}">
                      <a16:colId xmlns:a16="http://schemas.microsoft.com/office/drawing/2014/main" val="20008"/>
                    </a:ext>
                  </a:extLst>
                </a:gridCol>
              </a:tblGrid>
              <a:tr h="370840">
                <a:tc>
                  <a:txBody>
                    <a:bodyPr/>
                    <a:lstStyle/>
                    <a:p>
                      <a:pPr algn="ctr"/>
                      <a:r>
                        <a:rPr lang="en-US" sz="1400" dirty="0"/>
                        <a:t>intercept</a:t>
                      </a:r>
                    </a:p>
                  </a:txBody>
                  <a:tcPr anchor="ctr"/>
                </a:tc>
                <a:tc>
                  <a:txBody>
                    <a:bodyPr/>
                    <a:lstStyle/>
                    <a:p>
                      <a:pPr algn="ctr"/>
                      <a:r>
                        <a:rPr lang="en-US" dirty="0"/>
                        <a:t>block1</a:t>
                      </a:r>
                    </a:p>
                  </a:txBody>
                  <a:tcPr anchor="ctr">
                    <a:solidFill>
                      <a:schemeClr val="bg1">
                        <a:lumMod val="65000"/>
                      </a:schemeClr>
                    </a:solidFill>
                  </a:tcPr>
                </a:tc>
                <a:tc>
                  <a:txBody>
                    <a:bodyPr/>
                    <a:lstStyle/>
                    <a:p>
                      <a:pPr algn="ctr"/>
                      <a:r>
                        <a:rPr lang="en-US" dirty="0"/>
                        <a:t>block2</a:t>
                      </a:r>
                    </a:p>
                  </a:txBody>
                  <a:tcPr anchor="ctr"/>
                </a:tc>
                <a:tc>
                  <a:txBody>
                    <a:bodyPr/>
                    <a:lstStyle/>
                    <a:p>
                      <a:pPr algn="ctr"/>
                      <a:r>
                        <a:rPr lang="en-US" dirty="0"/>
                        <a:t>block3</a:t>
                      </a:r>
                    </a:p>
                  </a:txBody>
                  <a:tcPr anchor="ctr"/>
                </a:tc>
                <a:tc>
                  <a:txBody>
                    <a:bodyPr/>
                    <a:lstStyle/>
                    <a:p>
                      <a:pPr algn="ctr"/>
                      <a:r>
                        <a:rPr lang="en-US" dirty="0"/>
                        <a:t>block4</a:t>
                      </a:r>
                    </a:p>
                  </a:txBody>
                  <a:tcPr anchor="ctr"/>
                </a:tc>
                <a:tc>
                  <a:txBody>
                    <a:bodyPr/>
                    <a:lstStyle/>
                    <a:p>
                      <a:pPr algn="ctr"/>
                      <a:r>
                        <a:rPr lang="en-US" dirty="0"/>
                        <a:t>Anne</a:t>
                      </a:r>
                    </a:p>
                  </a:txBody>
                  <a:tcPr anchor="ctr">
                    <a:solidFill>
                      <a:schemeClr val="bg1">
                        <a:lumMod val="65000"/>
                      </a:schemeClr>
                    </a:solidFill>
                  </a:tcPr>
                </a:tc>
                <a:tc>
                  <a:txBody>
                    <a:bodyPr/>
                    <a:lstStyle/>
                    <a:p>
                      <a:pPr algn="ctr"/>
                      <a:r>
                        <a:rPr lang="en-US" dirty="0"/>
                        <a:t>Cumberland</a:t>
                      </a:r>
                    </a:p>
                  </a:txBody>
                  <a:tcPr anchor="ctr"/>
                </a:tc>
                <a:tc>
                  <a:txBody>
                    <a:bodyPr/>
                    <a:lstStyle/>
                    <a:p>
                      <a:pPr algn="ctr"/>
                      <a:r>
                        <a:rPr lang="en-US" dirty="0"/>
                        <a:t>Heritage</a:t>
                      </a:r>
                      <a:endParaRPr lang="en-US" sz="1800" dirty="0"/>
                    </a:p>
                  </a:txBody>
                  <a:tcPr anchor="ctr"/>
                </a:tc>
                <a:tc>
                  <a:txBody>
                    <a:bodyPr/>
                    <a:lstStyle/>
                    <a:p>
                      <a:pPr algn="ctr"/>
                      <a:r>
                        <a:rPr lang="en-US" dirty="0" err="1"/>
                        <a:t>JewellBlack</a:t>
                      </a:r>
                      <a:endParaRPr lang="en-US" dirty="0"/>
                    </a:p>
                  </a:txBody>
                  <a:tcPr anchor="ctr"/>
                </a:tc>
                <a:extLst>
                  <a:ext uri="{0D108BD9-81ED-4DB2-BD59-A6C34878D82A}">
                    <a16:rowId xmlns:a16="http://schemas.microsoft.com/office/drawing/2014/main" val="10000"/>
                  </a:ext>
                </a:extLst>
              </a:tr>
              <a:tr h="370840">
                <a:tc>
                  <a:txBody>
                    <a:bodyPr/>
                    <a:lstStyle/>
                    <a:p>
                      <a:pPr algn="ctr"/>
                      <a:endParaRPr lang="en-US" sz="2400" b="1" dirty="0"/>
                    </a:p>
                  </a:txBody>
                  <a:tcPr/>
                </a:tc>
                <a:tc>
                  <a:txBody>
                    <a:bodyPr/>
                    <a:lstStyle/>
                    <a:p>
                      <a:pPr algn="ctr"/>
                      <a:endParaRPr lang="en-US" sz="2400" b="1" dirty="0"/>
                    </a:p>
                  </a:txBody>
                  <a:tcPr>
                    <a:solidFill>
                      <a:schemeClr val="bg1">
                        <a:lumMod val="65000"/>
                      </a:schemeClr>
                    </a:solidFill>
                  </a:tcPr>
                </a:tc>
                <a:tc>
                  <a:txBody>
                    <a:bodyPr/>
                    <a:lstStyle/>
                    <a:p>
                      <a:pPr algn="ctr"/>
                      <a:endParaRPr lang="en-US" sz="2400" b="1" dirty="0"/>
                    </a:p>
                  </a:txBody>
                  <a:tcPr/>
                </a:tc>
                <a:tc>
                  <a:txBody>
                    <a:bodyPr/>
                    <a:lstStyle/>
                    <a:p>
                      <a:pPr algn="ctr"/>
                      <a:endParaRPr lang="en-US" sz="2400" b="1"/>
                    </a:p>
                  </a:txBody>
                  <a:tcPr/>
                </a:tc>
                <a:tc>
                  <a:txBody>
                    <a:bodyPr/>
                    <a:lstStyle/>
                    <a:p>
                      <a:pPr algn="ctr"/>
                      <a:endParaRPr lang="en-US" sz="2400" b="1"/>
                    </a:p>
                  </a:txBody>
                  <a:tcPr/>
                </a:tc>
                <a:tc>
                  <a:txBody>
                    <a:bodyPr/>
                    <a:lstStyle/>
                    <a:p>
                      <a:pPr algn="ctr"/>
                      <a:endParaRPr lang="en-US" sz="2400" b="1" dirty="0"/>
                    </a:p>
                  </a:txBody>
                  <a:tcPr>
                    <a:solidFill>
                      <a:schemeClr val="bg1">
                        <a:lumMod val="65000"/>
                      </a:schemeClr>
                    </a:solidFill>
                  </a:tcPr>
                </a:tc>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tc>
                <a:extLst>
                  <a:ext uri="{0D108BD9-81ED-4DB2-BD59-A6C34878D82A}">
                    <a16:rowId xmlns:a16="http://schemas.microsoft.com/office/drawing/2014/main" val="10001"/>
                  </a:ext>
                </a:extLst>
              </a:tr>
              <a:tr h="370840">
                <a:tc>
                  <a:txBody>
                    <a:bodyPr/>
                    <a:lstStyle/>
                    <a:p>
                      <a:pPr algn="ctr"/>
                      <a:endParaRPr lang="en-US" sz="2400" b="1" dirty="0"/>
                    </a:p>
                  </a:txBody>
                  <a:tcPr/>
                </a:tc>
                <a:tc>
                  <a:txBody>
                    <a:bodyPr/>
                    <a:lstStyle/>
                    <a:p>
                      <a:pPr algn="ctr"/>
                      <a:endParaRPr lang="en-US" sz="2400" b="1" dirty="0"/>
                    </a:p>
                  </a:txBody>
                  <a:tcPr>
                    <a:solidFill>
                      <a:schemeClr val="bg1">
                        <a:lumMod val="65000"/>
                      </a:schemeClr>
                    </a:solidFill>
                  </a:tcPr>
                </a:tc>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solidFill>
                      <a:schemeClr val="bg1">
                        <a:lumMod val="65000"/>
                      </a:schemeClr>
                    </a:solidFill>
                  </a:tcPr>
                </a:tc>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tc>
                <a:extLst>
                  <a:ext uri="{0D108BD9-81ED-4DB2-BD59-A6C34878D82A}">
                    <a16:rowId xmlns:a16="http://schemas.microsoft.com/office/drawing/2014/main" val="10002"/>
                  </a:ext>
                </a:extLst>
              </a:tr>
              <a:tr h="370840">
                <a:tc>
                  <a:txBody>
                    <a:bodyPr/>
                    <a:lstStyle/>
                    <a:p>
                      <a:pPr algn="ctr"/>
                      <a:endParaRPr lang="en-US" sz="2400" b="1" dirty="0"/>
                    </a:p>
                  </a:txBody>
                  <a:tcPr/>
                </a:tc>
                <a:tc>
                  <a:txBody>
                    <a:bodyPr/>
                    <a:lstStyle/>
                    <a:p>
                      <a:pPr algn="ctr"/>
                      <a:endParaRPr lang="en-US" sz="2400" b="1"/>
                    </a:p>
                  </a:txBody>
                  <a:tcPr>
                    <a:solidFill>
                      <a:schemeClr val="bg1">
                        <a:lumMod val="65000"/>
                      </a:schemeClr>
                    </a:solidFill>
                  </a:tcPr>
                </a:tc>
                <a:tc>
                  <a:txBody>
                    <a:bodyPr/>
                    <a:lstStyle/>
                    <a:p>
                      <a:pPr algn="ctr"/>
                      <a:endParaRPr lang="en-US" sz="2400" b="1"/>
                    </a:p>
                  </a:txBody>
                  <a:tcPr/>
                </a:tc>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solidFill>
                      <a:schemeClr val="bg1">
                        <a:lumMod val="65000"/>
                      </a:schemeClr>
                    </a:solidFill>
                  </a:tcPr>
                </a:tc>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tc>
                <a:extLst>
                  <a:ext uri="{0D108BD9-81ED-4DB2-BD59-A6C34878D82A}">
                    <a16:rowId xmlns:a16="http://schemas.microsoft.com/office/drawing/2014/main" val="10003"/>
                  </a:ext>
                </a:extLst>
              </a:tr>
              <a:tr h="370840">
                <a:tc>
                  <a:txBody>
                    <a:bodyPr/>
                    <a:lstStyle/>
                    <a:p>
                      <a:pPr algn="ctr"/>
                      <a:endParaRPr lang="en-US" sz="2400" b="1" dirty="0"/>
                    </a:p>
                  </a:txBody>
                  <a:tcPr/>
                </a:tc>
                <a:tc>
                  <a:txBody>
                    <a:bodyPr/>
                    <a:lstStyle/>
                    <a:p>
                      <a:pPr algn="ctr"/>
                      <a:endParaRPr lang="en-US" sz="2400" b="1"/>
                    </a:p>
                  </a:txBody>
                  <a:tcPr>
                    <a:solidFill>
                      <a:schemeClr val="bg1">
                        <a:lumMod val="65000"/>
                      </a:schemeClr>
                    </a:solidFill>
                  </a:tcPr>
                </a:tc>
                <a:tc>
                  <a:txBody>
                    <a:bodyPr/>
                    <a:lstStyle/>
                    <a:p>
                      <a:pPr algn="ctr"/>
                      <a:endParaRPr lang="en-US" sz="2400" b="1"/>
                    </a:p>
                  </a:txBody>
                  <a:tcPr/>
                </a:tc>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solidFill>
                      <a:schemeClr val="bg1">
                        <a:lumMod val="65000"/>
                      </a:schemeClr>
                    </a:solidFill>
                  </a:tcPr>
                </a:tc>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tc>
                <a:extLst>
                  <a:ext uri="{0D108BD9-81ED-4DB2-BD59-A6C34878D82A}">
                    <a16:rowId xmlns:a16="http://schemas.microsoft.com/office/drawing/2014/main" val="10004"/>
                  </a:ext>
                </a:extLst>
              </a:tr>
              <a:tr h="370840">
                <a:tc>
                  <a:txBody>
                    <a:bodyPr/>
                    <a:lstStyle/>
                    <a:p>
                      <a:pPr algn="ctr"/>
                      <a:endParaRPr lang="en-US" sz="2400" b="1" dirty="0"/>
                    </a:p>
                  </a:txBody>
                  <a:tcPr/>
                </a:tc>
                <a:tc>
                  <a:txBody>
                    <a:bodyPr/>
                    <a:lstStyle/>
                    <a:p>
                      <a:pPr algn="ctr"/>
                      <a:endParaRPr lang="en-US" sz="2400" b="1" dirty="0"/>
                    </a:p>
                  </a:txBody>
                  <a:tcPr>
                    <a:solidFill>
                      <a:schemeClr val="bg1">
                        <a:lumMod val="65000"/>
                      </a:schemeClr>
                    </a:solidFill>
                  </a:tcPr>
                </a:tc>
                <a:tc>
                  <a:txBody>
                    <a:bodyPr/>
                    <a:lstStyle/>
                    <a:p>
                      <a:pPr algn="ctr"/>
                      <a:endParaRPr lang="en-US" sz="2400" b="1"/>
                    </a:p>
                  </a:txBody>
                  <a:tcPr/>
                </a:tc>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solidFill>
                      <a:schemeClr val="bg1">
                        <a:lumMod val="65000"/>
                      </a:schemeClr>
                    </a:solidFill>
                  </a:tcPr>
                </a:tc>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tc>
                <a:extLst>
                  <a:ext uri="{0D108BD9-81ED-4DB2-BD59-A6C34878D82A}">
                    <a16:rowId xmlns:a16="http://schemas.microsoft.com/office/drawing/2014/main" val="10005"/>
                  </a:ext>
                </a:extLst>
              </a:tr>
            </a:tbl>
          </a:graphicData>
        </a:graphic>
      </p:graphicFrame>
      <p:pic>
        <p:nvPicPr>
          <p:cNvPr id="11" name="Picture 10"/>
          <p:cNvPicPr>
            <a:picLocks noChangeAspect="1"/>
          </p:cNvPicPr>
          <p:nvPr/>
        </p:nvPicPr>
        <p:blipFill rotWithShape="1">
          <a:blip r:embed="rId3">
            <a:extLst>
              <a:ext uri="{28A0092B-C50C-407E-A947-70E740481C1C}">
                <a14:useLocalDpi xmlns:a14="http://schemas.microsoft.com/office/drawing/2010/main" val="0"/>
              </a:ext>
            </a:extLst>
          </a:blip>
          <a:srcRect l="21034" t="1042" r="4483" b="65127"/>
          <a:stretch/>
        </p:blipFill>
        <p:spPr>
          <a:xfrm>
            <a:off x="639293" y="1381364"/>
            <a:ext cx="2377440" cy="2322408"/>
          </a:xfrm>
          <a:prstGeom prst="rect">
            <a:avLst/>
          </a:prstGeom>
          <a:ln>
            <a:solidFill>
              <a:schemeClr val="tx1"/>
            </a:solidFill>
          </a:ln>
        </p:spPr>
      </p:pic>
      <p:sp>
        <p:nvSpPr>
          <p:cNvPr id="12" name="TextBox 11"/>
          <p:cNvSpPr txBox="1"/>
          <p:nvPr/>
        </p:nvSpPr>
        <p:spPr>
          <a:xfrm rot="16200000">
            <a:off x="-567108" y="2272851"/>
            <a:ext cx="1942519" cy="584775"/>
          </a:xfrm>
          <a:prstGeom prst="rect">
            <a:avLst/>
          </a:prstGeom>
          <a:noFill/>
        </p:spPr>
        <p:txBody>
          <a:bodyPr wrap="none" rtlCol="0">
            <a:spAutoFit/>
          </a:bodyPr>
          <a:lstStyle/>
          <a:p>
            <a:r>
              <a:rPr lang="en-US" sz="3200" b="1" dirty="0"/>
              <a:t>Data table</a:t>
            </a:r>
          </a:p>
        </p:txBody>
      </p:sp>
      <p:pic>
        <p:nvPicPr>
          <p:cNvPr id="13" name="Picture 12"/>
          <p:cNvPicPr>
            <a:picLocks noChangeAspect="1"/>
          </p:cNvPicPr>
          <p:nvPr/>
        </p:nvPicPr>
        <p:blipFill rotWithShape="1">
          <a:blip r:embed="rId4">
            <a:extLst>
              <a:ext uri="{28A0092B-C50C-407E-A947-70E740481C1C}">
                <a14:useLocalDpi xmlns:a14="http://schemas.microsoft.com/office/drawing/2010/main" val="0"/>
              </a:ext>
            </a:extLst>
          </a:blip>
          <a:srcRect l="2363" t="43138" r="54819" b="22043"/>
          <a:stretch/>
        </p:blipFill>
        <p:spPr>
          <a:xfrm>
            <a:off x="4293374" y="1408711"/>
            <a:ext cx="3362961" cy="2296160"/>
          </a:xfrm>
          <a:prstGeom prst="rect">
            <a:avLst/>
          </a:prstGeom>
          <a:ln>
            <a:solidFill>
              <a:schemeClr val="tx1"/>
            </a:solidFill>
          </a:ln>
        </p:spPr>
      </p:pic>
      <p:sp>
        <p:nvSpPr>
          <p:cNvPr id="14" name="TextBox 13"/>
          <p:cNvSpPr txBox="1"/>
          <p:nvPr/>
        </p:nvSpPr>
        <p:spPr>
          <a:xfrm rot="16200000">
            <a:off x="2578822" y="2018182"/>
            <a:ext cx="2350854" cy="1077218"/>
          </a:xfrm>
          <a:prstGeom prst="rect">
            <a:avLst/>
          </a:prstGeom>
          <a:noFill/>
        </p:spPr>
        <p:txBody>
          <a:bodyPr wrap="square" rtlCol="0">
            <a:spAutoFit/>
          </a:bodyPr>
          <a:lstStyle/>
          <a:p>
            <a:pPr algn="ctr"/>
            <a:r>
              <a:rPr lang="en-US" sz="3200" b="1" dirty="0"/>
              <a:t>Model Summary</a:t>
            </a:r>
          </a:p>
        </p:txBody>
      </p:sp>
      <p:sp>
        <p:nvSpPr>
          <p:cNvPr id="15" name="Rounded Rectangle 14"/>
          <p:cNvSpPr/>
          <p:nvPr/>
        </p:nvSpPr>
        <p:spPr>
          <a:xfrm>
            <a:off x="4293374" y="1875392"/>
            <a:ext cx="3362961" cy="345319"/>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3325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a model sees the coefficients</a:t>
            </a:r>
          </a:p>
        </p:txBody>
      </p:sp>
      <p:sp>
        <p:nvSpPr>
          <p:cNvPr id="9" name="TextBox 8"/>
          <p:cNvSpPr txBox="1"/>
          <p:nvPr/>
        </p:nvSpPr>
        <p:spPr>
          <a:xfrm>
            <a:off x="111764" y="3633627"/>
            <a:ext cx="2191241" cy="584775"/>
          </a:xfrm>
          <a:prstGeom prst="rect">
            <a:avLst/>
          </a:prstGeom>
          <a:noFill/>
        </p:spPr>
        <p:txBody>
          <a:bodyPr wrap="none" rtlCol="0">
            <a:spAutoFit/>
          </a:bodyPr>
          <a:lstStyle/>
          <a:p>
            <a:r>
              <a:rPr lang="en-US" sz="3200" b="1" dirty="0"/>
              <a:t>Model view</a:t>
            </a:r>
          </a:p>
        </p:txBody>
      </p:sp>
      <p:sp>
        <p:nvSpPr>
          <p:cNvPr id="3" name="TextBox 2"/>
          <p:cNvSpPr txBox="1"/>
          <p:nvPr/>
        </p:nvSpPr>
        <p:spPr>
          <a:xfrm>
            <a:off x="9282155" y="4602480"/>
            <a:ext cx="2726965" cy="830997"/>
          </a:xfrm>
          <a:prstGeom prst="rect">
            <a:avLst/>
          </a:prstGeom>
          <a:noFill/>
        </p:spPr>
        <p:txBody>
          <a:bodyPr wrap="square" rtlCol="0">
            <a:spAutoFit/>
          </a:bodyPr>
          <a:lstStyle/>
          <a:p>
            <a:r>
              <a:rPr lang="en-US" sz="2400" b="1" dirty="0"/>
              <a:t>Intercept is the same for everything</a:t>
            </a:r>
          </a:p>
        </p:txBody>
      </p:sp>
      <p:graphicFrame>
        <p:nvGraphicFramePr>
          <p:cNvPr id="10" name="Table 9"/>
          <p:cNvGraphicFramePr>
            <a:graphicFrameLocks noGrp="1"/>
          </p:cNvGraphicFramePr>
          <p:nvPr/>
        </p:nvGraphicFramePr>
        <p:xfrm>
          <a:off x="111764" y="4129319"/>
          <a:ext cx="8961121" cy="2656840"/>
        </p:xfrm>
        <a:graphic>
          <a:graphicData uri="http://schemas.openxmlformats.org/drawingml/2006/table">
            <a:tbl>
              <a:tblPr firstRow="1" bandRow="1">
                <a:tableStyleId>{7E9639D4-E3E2-4D34-9284-5A2195B3D0D7}</a:tableStyleId>
              </a:tblPr>
              <a:tblGrid>
                <a:gridCol w="871727">
                  <a:extLst>
                    <a:ext uri="{9D8B030D-6E8A-4147-A177-3AD203B41FA5}">
                      <a16:colId xmlns:a16="http://schemas.microsoft.com/office/drawing/2014/main" val="20000"/>
                    </a:ext>
                  </a:extLst>
                </a:gridCol>
                <a:gridCol w="871727">
                  <a:extLst>
                    <a:ext uri="{9D8B030D-6E8A-4147-A177-3AD203B41FA5}">
                      <a16:colId xmlns:a16="http://schemas.microsoft.com/office/drawing/2014/main" val="20001"/>
                    </a:ext>
                  </a:extLst>
                </a:gridCol>
                <a:gridCol w="871727">
                  <a:extLst>
                    <a:ext uri="{9D8B030D-6E8A-4147-A177-3AD203B41FA5}">
                      <a16:colId xmlns:a16="http://schemas.microsoft.com/office/drawing/2014/main" val="20002"/>
                    </a:ext>
                  </a:extLst>
                </a:gridCol>
                <a:gridCol w="871727">
                  <a:extLst>
                    <a:ext uri="{9D8B030D-6E8A-4147-A177-3AD203B41FA5}">
                      <a16:colId xmlns:a16="http://schemas.microsoft.com/office/drawing/2014/main" val="20003"/>
                    </a:ext>
                  </a:extLst>
                </a:gridCol>
                <a:gridCol w="871727">
                  <a:extLst>
                    <a:ext uri="{9D8B030D-6E8A-4147-A177-3AD203B41FA5}">
                      <a16:colId xmlns:a16="http://schemas.microsoft.com/office/drawing/2014/main" val="20004"/>
                    </a:ext>
                  </a:extLst>
                </a:gridCol>
                <a:gridCol w="782321">
                  <a:extLst>
                    <a:ext uri="{9D8B030D-6E8A-4147-A177-3AD203B41FA5}">
                      <a16:colId xmlns:a16="http://schemas.microsoft.com/office/drawing/2014/main" val="20005"/>
                    </a:ext>
                  </a:extLst>
                </a:gridCol>
                <a:gridCol w="1412240">
                  <a:extLst>
                    <a:ext uri="{9D8B030D-6E8A-4147-A177-3AD203B41FA5}">
                      <a16:colId xmlns:a16="http://schemas.microsoft.com/office/drawing/2014/main" val="20006"/>
                    </a:ext>
                  </a:extLst>
                </a:gridCol>
                <a:gridCol w="1036321">
                  <a:extLst>
                    <a:ext uri="{9D8B030D-6E8A-4147-A177-3AD203B41FA5}">
                      <a16:colId xmlns:a16="http://schemas.microsoft.com/office/drawing/2014/main" val="20007"/>
                    </a:ext>
                  </a:extLst>
                </a:gridCol>
                <a:gridCol w="1371604">
                  <a:extLst>
                    <a:ext uri="{9D8B030D-6E8A-4147-A177-3AD203B41FA5}">
                      <a16:colId xmlns:a16="http://schemas.microsoft.com/office/drawing/2014/main" val="20008"/>
                    </a:ext>
                  </a:extLst>
                </a:gridCol>
              </a:tblGrid>
              <a:tr h="370840">
                <a:tc>
                  <a:txBody>
                    <a:bodyPr/>
                    <a:lstStyle/>
                    <a:p>
                      <a:pPr algn="ctr"/>
                      <a:r>
                        <a:rPr lang="en-US" sz="1400" dirty="0"/>
                        <a:t>intercept</a:t>
                      </a:r>
                    </a:p>
                  </a:txBody>
                  <a:tcPr anchor="ctr"/>
                </a:tc>
                <a:tc>
                  <a:txBody>
                    <a:bodyPr/>
                    <a:lstStyle/>
                    <a:p>
                      <a:pPr algn="ctr"/>
                      <a:r>
                        <a:rPr lang="en-US" dirty="0"/>
                        <a:t>block1</a:t>
                      </a:r>
                    </a:p>
                  </a:txBody>
                  <a:tcPr anchor="ctr">
                    <a:solidFill>
                      <a:schemeClr val="bg1">
                        <a:lumMod val="65000"/>
                      </a:schemeClr>
                    </a:solidFill>
                  </a:tcPr>
                </a:tc>
                <a:tc>
                  <a:txBody>
                    <a:bodyPr/>
                    <a:lstStyle/>
                    <a:p>
                      <a:pPr algn="ctr"/>
                      <a:r>
                        <a:rPr lang="en-US" dirty="0"/>
                        <a:t>block2</a:t>
                      </a:r>
                    </a:p>
                  </a:txBody>
                  <a:tcPr anchor="ctr"/>
                </a:tc>
                <a:tc>
                  <a:txBody>
                    <a:bodyPr/>
                    <a:lstStyle/>
                    <a:p>
                      <a:pPr algn="ctr"/>
                      <a:r>
                        <a:rPr lang="en-US" dirty="0"/>
                        <a:t>block3</a:t>
                      </a:r>
                    </a:p>
                  </a:txBody>
                  <a:tcPr anchor="ctr"/>
                </a:tc>
                <a:tc>
                  <a:txBody>
                    <a:bodyPr/>
                    <a:lstStyle/>
                    <a:p>
                      <a:pPr algn="ctr"/>
                      <a:r>
                        <a:rPr lang="en-US" dirty="0"/>
                        <a:t>block4</a:t>
                      </a:r>
                    </a:p>
                  </a:txBody>
                  <a:tcPr anchor="ctr"/>
                </a:tc>
                <a:tc>
                  <a:txBody>
                    <a:bodyPr/>
                    <a:lstStyle/>
                    <a:p>
                      <a:pPr algn="ctr"/>
                      <a:r>
                        <a:rPr lang="en-US" dirty="0"/>
                        <a:t>Anne</a:t>
                      </a:r>
                    </a:p>
                  </a:txBody>
                  <a:tcPr anchor="ctr">
                    <a:solidFill>
                      <a:schemeClr val="bg1">
                        <a:lumMod val="65000"/>
                      </a:schemeClr>
                    </a:solidFill>
                  </a:tcPr>
                </a:tc>
                <a:tc>
                  <a:txBody>
                    <a:bodyPr/>
                    <a:lstStyle/>
                    <a:p>
                      <a:pPr algn="ctr"/>
                      <a:r>
                        <a:rPr lang="en-US" dirty="0"/>
                        <a:t>Cumberland</a:t>
                      </a:r>
                    </a:p>
                  </a:txBody>
                  <a:tcPr anchor="ctr"/>
                </a:tc>
                <a:tc>
                  <a:txBody>
                    <a:bodyPr/>
                    <a:lstStyle/>
                    <a:p>
                      <a:pPr algn="ctr"/>
                      <a:r>
                        <a:rPr lang="en-US" dirty="0"/>
                        <a:t>Heritage</a:t>
                      </a:r>
                      <a:endParaRPr lang="en-US" sz="1800" dirty="0"/>
                    </a:p>
                  </a:txBody>
                  <a:tcPr anchor="ctr"/>
                </a:tc>
                <a:tc>
                  <a:txBody>
                    <a:bodyPr/>
                    <a:lstStyle/>
                    <a:p>
                      <a:pPr algn="ctr"/>
                      <a:r>
                        <a:rPr lang="en-US" dirty="0" err="1"/>
                        <a:t>JewellBlack</a:t>
                      </a:r>
                      <a:endParaRPr lang="en-US" dirty="0"/>
                    </a:p>
                  </a:txBody>
                  <a:tcPr anchor="ctr"/>
                </a:tc>
                <a:extLst>
                  <a:ext uri="{0D108BD9-81ED-4DB2-BD59-A6C34878D82A}">
                    <a16:rowId xmlns:a16="http://schemas.microsoft.com/office/drawing/2014/main" val="10000"/>
                  </a:ext>
                </a:extLst>
              </a:tr>
              <a:tr h="370840">
                <a:tc>
                  <a:txBody>
                    <a:bodyPr/>
                    <a:lstStyle/>
                    <a:p>
                      <a:pPr algn="ctr"/>
                      <a:r>
                        <a:rPr lang="en-US" sz="2400" b="1" dirty="0"/>
                        <a:t>19.0</a:t>
                      </a:r>
                    </a:p>
                  </a:txBody>
                  <a:tcPr/>
                </a:tc>
                <a:tc>
                  <a:txBody>
                    <a:bodyPr/>
                    <a:lstStyle/>
                    <a:p>
                      <a:pPr algn="ctr"/>
                      <a:endParaRPr lang="en-US" sz="2400" b="1" dirty="0"/>
                    </a:p>
                  </a:txBody>
                  <a:tcPr>
                    <a:solidFill>
                      <a:schemeClr val="bg1">
                        <a:lumMod val="65000"/>
                      </a:schemeClr>
                    </a:solidFill>
                  </a:tcPr>
                </a:tc>
                <a:tc>
                  <a:txBody>
                    <a:bodyPr/>
                    <a:lstStyle/>
                    <a:p>
                      <a:pPr algn="ctr"/>
                      <a:endParaRPr lang="en-US" sz="2400" b="1" dirty="0"/>
                    </a:p>
                  </a:txBody>
                  <a:tcPr/>
                </a:tc>
                <a:tc>
                  <a:txBody>
                    <a:bodyPr/>
                    <a:lstStyle/>
                    <a:p>
                      <a:pPr algn="ctr"/>
                      <a:endParaRPr lang="en-US" sz="2400" b="1"/>
                    </a:p>
                  </a:txBody>
                  <a:tcPr/>
                </a:tc>
                <a:tc>
                  <a:txBody>
                    <a:bodyPr/>
                    <a:lstStyle/>
                    <a:p>
                      <a:pPr algn="ctr"/>
                      <a:endParaRPr lang="en-US" sz="2400" b="1"/>
                    </a:p>
                  </a:txBody>
                  <a:tcPr/>
                </a:tc>
                <a:tc>
                  <a:txBody>
                    <a:bodyPr/>
                    <a:lstStyle/>
                    <a:p>
                      <a:pPr algn="ctr"/>
                      <a:endParaRPr lang="en-US" sz="2400" b="1" dirty="0"/>
                    </a:p>
                  </a:txBody>
                  <a:tcPr>
                    <a:solidFill>
                      <a:schemeClr val="bg1">
                        <a:lumMod val="65000"/>
                      </a:schemeClr>
                    </a:solidFill>
                  </a:tcPr>
                </a:tc>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tc>
                <a:extLst>
                  <a:ext uri="{0D108BD9-81ED-4DB2-BD59-A6C34878D82A}">
                    <a16:rowId xmlns:a16="http://schemas.microsoft.com/office/drawing/2014/main" val="10001"/>
                  </a:ext>
                </a:extLst>
              </a:tr>
              <a:tr h="370840">
                <a:tc>
                  <a:txBody>
                    <a:bodyPr/>
                    <a:lstStyle/>
                    <a:p>
                      <a:pPr algn="ctr"/>
                      <a:r>
                        <a:rPr lang="en-US" sz="2400" b="1" dirty="0"/>
                        <a:t>19.0</a:t>
                      </a:r>
                    </a:p>
                  </a:txBody>
                  <a:tcPr/>
                </a:tc>
                <a:tc>
                  <a:txBody>
                    <a:bodyPr/>
                    <a:lstStyle/>
                    <a:p>
                      <a:pPr algn="ctr"/>
                      <a:endParaRPr lang="en-US" sz="2400" b="1" dirty="0"/>
                    </a:p>
                  </a:txBody>
                  <a:tcPr>
                    <a:solidFill>
                      <a:schemeClr val="bg1">
                        <a:lumMod val="65000"/>
                      </a:schemeClr>
                    </a:solidFill>
                  </a:tcPr>
                </a:tc>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solidFill>
                      <a:schemeClr val="bg1">
                        <a:lumMod val="65000"/>
                      </a:schemeClr>
                    </a:solidFill>
                  </a:tcPr>
                </a:tc>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tc>
                <a:extLst>
                  <a:ext uri="{0D108BD9-81ED-4DB2-BD59-A6C34878D82A}">
                    <a16:rowId xmlns:a16="http://schemas.microsoft.com/office/drawing/2014/main" val="10002"/>
                  </a:ext>
                </a:extLst>
              </a:tr>
              <a:tr h="370840">
                <a:tc>
                  <a:txBody>
                    <a:bodyPr/>
                    <a:lstStyle/>
                    <a:p>
                      <a:pPr algn="ctr"/>
                      <a:r>
                        <a:rPr lang="en-US" sz="2400" b="1" dirty="0"/>
                        <a:t>19.0</a:t>
                      </a:r>
                    </a:p>
                  </a:txBody>
                  <a:tcPr/>
                </a:tc>
                <a:tc>
                  <a:txBody>
                    <a:bodyPr/>
                    <a:lstStyle/>
                    <a:p>
                      <a:pPr algn="ctr"/>
                      <a:endParaRPr lang="en-US" sz="2400" b="1"/>
                    </a:p>
                  </a:txBody>
                  <a:tcPr>
                    <a:solidFill>
                      <a:schemeClr val="bg1">
                        <a:lumMod val="65000"/>
                      </a:schemeClr>
                    </a:solidFill>
                  </a:tcPr>
                </a:tc>
                <a:tc>
                  <a:txBody>
                    <a:bodyPr/>
                    <a:lstStyle/>
                    <a:p>
                      <a:pPr algn="ctr"/>
                      <a:endParaRPr lang="en-US" sz="2400" b="1"/>
                    </a:p>
                  </a:txBody>
                  <a:tcPr/>
                </a:tc>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solidFill>
                      <a:schemeClr val="bg1">
                        <a:lumMod val="65000"/>
                      </a:schemeClr>
                    </a:solidFill>
                  </a:tcPr>
                </a:tc>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tc>
                <a:extLst>
                  <a:ext uri="{0D108BD9-81ED-4DB2-BD59-A6C34878D82A}">
                    <a16:rowId xmlns:a16="http://schemas.microsoft.com/office/drawing/2014/main" val="10003"/>
                  </a:ext>
                </a:extLst>
              </a:tr>
              <a:tr h="370840">
                <a:tc>
                  <a:txBody>
                    <a:bodyPr/>
                    <a:lstStyle/>
                    <a:p>
                      <a:pPr algn="ctr"/>
                      <a:r>
                        <a:rPr lang="en-US" sz="2400" b="1" dirty="0"/>
                        <a:t>19.0</a:t>
                      </a:r>
                    </a:p>
                  </a:txBody>
                  <a:tcPr/>
                </a:tc>
                <a:tc>
                  <a:txBody>
                    <a:bodyPr/>
                    <a:lstStyle/>
                    <a:p>
                      <a:pPr algn="ctr"/>
                      <a:endParaRPr lang="en-US" sz="2400" b="1"/>
                    </a:p>
                  </a:txBody>
                  <a:tcPr>
                    <a:solidFill>
                      <a:schemeClr val="bg1">
                        <a:lumMod val="65000"/>
                      </a:schemeClr>
                    </a:solidFill>
                  </a:tcPr>
                </a:tc>
                <a:tc>
                  <a:txBody>
                    <a:bodyPr/>
                    <a:lstStyle/>
                    <a:p>
                      <a:pPr algn="ctr"/>
                      <a:endParaRPr lang="en-US" sz="2400" b="1"/>
                    </a:p>
                  </a:txBody>
                  <a:tcPr/>
                </a:tc>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solidFill>
                      <a:schemeClr val="bg1">
                        <a:lumMod val="65000"/>
                      </a:schemeClr>
                    </a:solidFill>
                  </a:tcPr>
                </a:tc>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tc>
                <a:extLst>
                  <a:ext uri="{0D108BD9-81ED-4DB2-BD59-A6C34878D82A}">
                    <a16:rowId xmlns:a16="http://schemas.microsoft.com/office/drawing/2014/main" val="10004"/>
                  </a:ext>
                </a:extLst>
              </a:tr>
              <a:tr h="370840">
                <a:tc>
                  <a:txBody>
                    <a:bodyPr/>
                    <a:lstStyle/>
                    <a:p>
                      <a:pPr algn="ctr"/>
                      <a:r>
                        <a:rPr lang="en-US" sz="2400" b="1" dirty="0"/>
                        <a:t>19.0</a:t>
                      </a:r>
                    </a:p>
                  </a:txBody>
                  <a:tcPr/>
                </a:tc>
                <a:tc>
                  <a:txBody>
                    <a:bodyPr/>
                    <a:lstStyle/>
                    <a:p>
                      <a:pPr algn="ctr"/>
                      <a:endParaRPr lang="en-US" sz="2400" b="1" dirty="0"/>
                    </a:p>
                  </a:txBody>
                  <a:tcPr>
                    <a:solidFill>
                      <a:schemeClr val="bg1">
                        <a:lumMod val="65000"/>
                      </a:schemeClr>
                    </a:solidFill>
                  </a:tcPr>
                </a:tc>
                <a:tc>
                  <a:txBody>
                    <a:bodyPr/>
                    <a:lstStyle/>
                    <a:p>
                      <a:pPr algn="ctr"/>
                      <a:endParaRPr lang="en-US" sz="2400" b="1"/>
                    </a:p>
                  </a:txBody>
                  <a:tcPr/>
                </a:tc>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solidFill>
                      <a:schemeClr val="bg1">
                        <a:lumMod val="65000"/>
                      </a:schemeClr>
                    </a:solidFill>
                  </a:tcPr>
                </a:tc>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tc>
                <a:extLst>
                  <a:ext uri="{0D108BD9-81ED-4DB2-BD59-A6C34878D82A}">
                    <a16:rowId xmlns:a16="http://schemas.microsoft.com/office/drawing/2014/main" val="10005"/>
                  </a:ext>
                </a:extLst>
              </a:tr>
            </a:tbl>
          </a:graphicData>
        </a:graphic>
      </p:graphicFrame>
      <p:sp>
        <p:nvSpPr>
          <p:cNvPr id="12" name="Rounded Rectangle 11"/>
          <p:cNvSpPr/>
          <p:nvPr/>
        </p:nvSpPr>
        <p:spPr>
          <a:xfrm>
            <a:off x="111765" y="4176363"/>
            <a:ext cx="866804" cy="2609796"/>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p:cNvPicPr>
            <a:picLocks noChangeAspect="1"/>
          </p:cNvPicPr>
          <p:nvPr/>
        </p:nvPicPr>
        <p:blipFill rotWithShape="1">
          <a:blip r:embed="rId3">
            <a:extLst>
              <a:ext uri="{28A0092B-C50C-407E-A947-70E740481C1C}">
                <a14:useLocalDpi xmlns:a14="http://schemas.microsoft.com/office/drawing/2010/main" val="0"/>
              </a:ext>
            </a:extLst>
          </a:blip>
          <a:srcRect l="21034" t="1042" r="4483" b="65127"/>
          <a:stretch/>
        </p:blipFill>
        <p:spPr>
          <a:xfrm>
            <a:off x="639293" y="1381364"/>
            <a:ext cx="2377440" cy="2322408"/>
          </a:xfrm>
          <a:prstGeom prst="rect">
            <a:avLst/>
          </a:prstGeom>
          <a:ln>
            <a:solidFill>
              <a:schemeClr val="tx1"/>
            </a:solidFill>
          </a:ln>
        </p:spPr>
      </p:pic>
      <p:sp>
        <p:nvSpPr>
          <p:cNvPr id="18" name="TextBox 17"/>
          <p:cNvSpPr txBox="1"/>
          <p:nvPr/>
        </p:nvSpPr>
        <p:spPr>
          <a:xfrm rot="16200000">
            <a:off x="-567108" y="2272851"/>
            <a:ext cx="1942519" cy="584775"/>
          </a:xfrm>
          <a:prstGeom prst="rect">
            <a:avLst/>
          </a:prstGeom>
          <a:noFill/>
        </p:spPr>
        <p:txBody>
          <a:bodyPr wrap="none" rtlCol="0">
            <a:spAutoFit/>
          </a:bodyPr>
          <a:lstStyle/>
          <a:p>
            <a:r>
              <a:rPr lang="en-US" sz="3200" b="1" dirty="0"/>
              <a:t>Data table</a:t>
            </a:r>
          </a:p>
        </p:txBody>
      </p:sp>
      <p:pic>
        <p:nvPicPr>
          <p:cNvPr id="19" name="Picture 18"/>
          <p:cNvPicPr>
            <a:picLocks noChangeAspect="1"/>
          </p:cNvPicPr>
          <p:nvPr/>
        </p:nvPicPr>
        <p:blipFill rotWithShape="1">
          <a:blip r:embed="rId4">
            <a:extLst>
              <a:ext uri="{28A0092B-C50C-407E-A947-70E740481C1C}">
                <a14:useLocalDpi xmlns:a14="http://schemas.microsoft.com/office/drawing/2010/main" val="0"/>
              </a:ext>
            </a:extLst>
          </a:blip>
          <a:srcRect l="2363" t="43138" r="54819" b="22043"/>
          <a:stretch/>
        </p:blipFill>
        <p:spPr>
          <a:xfrm>
            <a:off x="4293374" y="1408711"/>
            <a:ext cx="3362961" cy="2296160"/>
          </a:xfrm>
          <a:prstGeom prst="rect">
            <a:avLst/>
          </a:prstGeom>
          <a:ln>
            <a:solidFill>
              <a:schemeClr val="tx1"/>
            </a:solidFill>
          </a:ln>
        </p:spPr>
      </p:pic>
      <p:sp>
        <p:nvSpPr>
          <p:cNvPr id="20" name="TextBox 19"/>
          <p:cNvSpPr txBox="1"/>
          <p:nvPr/>
        </p:nvSpPr>
        <p:spPr>
          <a:xfrm rot="16200000">
            <a:off x="2578822" y="2018182"/>
            <a:ext cx="2350854" cy="1077218"/>
          </a:xfrm>
          <a:prstGeom prst="rect">
            <a:avLst/>
          </a:prstGeom>
          <a:noFill/>
        </p:spPr>
        <p:txBody>
          <a:bodyPr wrap="square" rtlCol="0">
            <a:spAutoFit/>
          </a:bodyPr>
          <a:lstStyle/>
          <a:p>
            <a:pPr algn="ctr"/>
            <a:r>
              <a:rPr lang="en-US" sz="3200" b="1" dirty="0"/>
              <a:t>Model Summary</a:t>
            </a:r>
          </a:p>
        </p:txBody>
      </p:sp>
      <p:sp>
        <p:nvSpPr>
          <p:cNvPr id="11" name="Rounded Rectangle 10"/>
          <p:cNvSpPr/>
          <p:nvPr/>
        </p:nvSpPr>
        <p:spPr>
          <a:xfrm>
            <a:off x="4293374" y="1875392"/>
            <a:ext cx="3362961" cy="345319"/>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89057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p:cNvGraphicFramePr>
            <a:graphicFrameLocks noGrp="1"/>
          </p:cNvGraphicFramePr>
          <p:nvPr/>
        </p:nvGraphicFramePr>
        <p:xfrm>
          <a:off x="111764" y="4129319"/>
          <a:ext cx="8961121" cy="2656840"/>
        </p:xfrm>
        <a:graphic>
          <a:graphicData uri="http://schemas.openxmlformats.org/drawingml/2006/table">
            <a:tbl>
              <a:tblPr firstRow="1" bandRow="1">
                <a:tableStyleId>{7E9639D4-E3E2-4D34-9284-5A2195B3D0D7}</a:tableStyleId>
              </a:tblPr>
              <a:tblGrid>
                <a:gridCol w="871727">
                  <a:extLst>
                    <a:ext uri="{9D8B030D-6E8A-4147-A177-3AD203B41FA5}">
                      <a16:colId xmlns:a16="http://schemas.microsoft.com/office/drawing/2014/main" val="20000"/>
                    </a:ext>
                  </a:extLst>
                </a:gridCol>
                <a:gridCol w="871727">
                  <a:extLst>
                    <a:ext uri="{9D8B030D-6E8A-4147-A177-3AD203B41FA5}">
                      <a16:colId xmlns:a16="http://schemas.microsoft.com/office/drawing/2014/main" val="20001"/>
                    </a:ext>
                  </a:extLst>
                </a:gridCol>
                <a:gridCol w="871727">
                  <a:extLst>
                    <a:ext uri="{9D8B030D-6E8A-4147-A177-3AD203B41FA5}">
                      <a16:colId xmlns:a16="http://schemas.microsoft.com/office/drawing/2014/main" val="20002"/>
                    </a:ext>
                  </a:extLst>
                </a:gridCol>
                <a:gridCol w="871727">
                  <a:extLst>
                    <a:ext uri="{9D8B030D-6E8A-4147-A177-3AD203B41FA5}">
                      <a16:colId xmlns:a16="http://schemas.microsoft.com/office/drawing/2014/main" val="20003"/>
                    </a:ext>
                  </a:extLst>
                </a:gridCol>
                <a:gridCol w="871727">
                  <a:extLst>
                    <a:ext uri="{9D8B030D-6E8A-4147-A177-3AD203B41FA5}">
                      <a16:colId xmlns:a16="http://schemas.microsoft.com/office/drawing/2014/main" val="20004"/>
                    </a:ext>
                  </a:extLst>
                </a:gridCol>
                <a:gridCol w="782321">
                  <a:extLst>
                    <a:ext uri="{9D8B030D-6E8A-4147-A177-3AD203B41FA5}">
                      <a16:colId xmlns:a16="http://schemas.microsoft.com/office/drawing/2014/main" val="20005"/>
                    </a:ext>
                  </a:extLst>
                </a:gridCol>
                <a:gridCol w="1412240">
                  <a:extLst>
                    <a:ext uri="{9D8B030D-6E8A-4147-A177-3AD203B41FA5}">
                      <a16:colId xmlns:a16="http://schemas.microsoft.com/office/drawing/2014/main" val="20006"/>
                    </a:ext>
                  </a:extLst>
                </a:gridCol>
                <a:gridCol w="1036321">
                  <a:extLst>
                    <a:ext uri="{9D8B030D-6E8A-4147-A177-3AD203B41FA5}">
                      <a16:colId xmlns:a16="http://schemas.microsoft.com/office/drawing/2014/main" val="20007"/>
                    </a:ext>
                  </a:extLst>
                </a:gridCol>
                <a:gridCol w="1371604">
                  <a:extLst>
                    <a:ext uri="{9D8B030D-6E8A-4147-A177-3AD203B41FA5}">
                      <a16:colId xmlns:a16="http://schemas.microsoft.com/office/drawing/2014/main" val="20008"/>
                    </a:ext>
                  </a:extLst>
                </a:gridCol>
              </a:tblGrid>
              <a:tr h="370840">
                <a:tc>
                  <a:txBody>
                    <a:bodyPr/>
                    <a:lstStyle/>
                    <a:p>
                      <a:pPr algn="ctr"/>
                      <a:r>
                        <a:rPr lang="en-US" sz="1400" dirty="0"/>
                        <a:t>intercept</a:t>
                      </a:r>
                    </a:p>
                  </a:txBody>
                  <a:tcPr anchor="ctr"/>
                </a:tc>
                <a:tc>
                  <a:txBody>
                    <a:bodyPr/>
                    <a:lstStyle/>
                    <a:p>
                      <a:pPr algn="ctr"/>
                      <a:r>
                        <a:rPr lang="en-US" dirty="0"/>
                        <a:t>block1</a:t>
                      </a:r>
                    </a:p>
                  </a:txBody>
                  <a:tcPr anchor="ctr">
                    <a:solidFill>
                      <a:schemeClr val="bg1">
                        <a:lumMod val="65000"/>
                      </a:schemeClr>
                    </a:solidFill>
                  </a:tcPr>
                </a:tc>
                <a:tc>
                  <a:txBody>
                    <a:bodyPr/>
                    <a:lstStyle/>
                    <a:p>
                      <a:pPr algn="ctr"/>
                      <a:r>
                        <a:rPr lang="en-US" dirty="0"/>
                        <a:t>block2</a:t>
                      </a:r>
                    </a:p>
                  </a:txBody>
                  <a:tcPr anchor="ctr"/>
                </a:tc>
                <a:tc>
                  <a:txBody>
                    <a:bodyPr/>
                    <a:lstStyle/>
                    <a:p>
                      <a:pPr algn="ctr"/>
                      <a:r>
                        <a:rPr lang="en-US" dirty="0"/>
                        <a:t>block3</a:t>
                      </a:r>
                    </a:p>
                  </a:txBody>
                  <a:tcPr anchor="ctr"/>
                </a:tc>
                <a:tc>
                  <a:txBody>
                    <a:bodyPr/>
                    <a:lstStyle/>
                    <a:p>
                      <a:pPr algn="ctr"/>
                      <a:r>
                        <a:rPr lang="en-US" dirty="0"/>
                        <a:t>block4</a:t>
                      </a:r>
                    </a:p>
                  </a:txBody>
                  <a:tcPr anchor="ctr"/>
                </a:tc>
                <a:tc>
                  <a:txBody>
                    <a:bodyPr/>
                    <a:lstStyle/>
                    <a:p>
                      <a:pPr algn="ctr"/>
                      <a:r>
                        <a:rPr lang="en-US" dirty="0"/>
                        <a:t>Anne</a:t>
                      </a:r>
                    </a:p>
                  </a:txBody>
                  <a:tcPr anchor="ctr">
                    <a:solidFill>
                      <a:schemeClr val="bg1">
                        <a:lumMod val="65000"/>
                      </a:schemeClr>
                    </a:solidFill>
                  </a:tcPr>
                </a:tc>
                <a:tc>
                  <a:txBody>
                    <a:bodyPr/>
                    <a:lstStyle/>
                    <a:p>
                      <a:pPr algn="ctr"/>
                      <a:r>
                        <a:rPr lang="en-US" dirty="0"/>
                        <a:t>Cumberland</a:t>
                      </a:r>
                    </a:p>
                  </a:txBody>
                  <a:tcPr anchor="ctr"/>
                </a:tc>
                <a:tc>
                  <a:txBody>
                    <a:bodyPr/>
                    <a:lstStyle/>
                    <a:p>
                      <a:pPr algn="ctr"/>
                      <a:r>
                        <a:rPr lang="en-US" dirty="0"/>
                        <a:t>Heritage</a:t>
                      </a:r>
                      <a:endParaRPr lang="en-US" sz="1800" dirty="0"/>
                    </a:p>
                  </a:txBody>
                  <a:tcPr anchor="ctr"/>
                </a:tc>
                <a:tc>
                  <a:txBody>
                    <a:bodyPr/>
                    <a:lstStyle/>
                    <a:p>
                      <a:pPr algn="ctr"/>
                      <a:r>
                        <a:rPr lang="en-US" dirty="0" err="1"/>
                        <a:t>JewellBlack</a:t>
                      </a:r>
                      <a:endParaRPr lang="en-US" dirty="0"/>
                    </a:p>
                  </a:txBody>
                  <a:tcPr anchor="ctr"/>
                </a:tc>
                <a:extLst>
                  <a:ext uri="{0D108BD9-81ED-4DB2-BD59-A6C34878D82A}">
                    <a16:rowId xmlns:a16="http://schemas.microsoft.com/office/drawing/2014/main" val="10000"/>
                  </a:ext>
                </a:extLst>
              </a:tr>
              <a:tr h="370840">
                <a:tc>
                  <a:txBody>
                    <a:bodyPr/>
                    <a:lstStyle/>
                    <a:p>
                      <a:pPr algn="ctr"/>
                      <a:r>
                        <a:rPr lang="en-US" sz="2400" b="1" dirty="0"/>
                        <a:t>19.0</a:t>
                      </a:r>
                    </a:p>
                  </a:txBody>
                  <a:tcPr/>
                </a:tc>
                <a:tc>
                  <a:txBody>
                    <a:bodyPr/>
                    <a:lstStyle/>
                    <a:p>
                      <a:pPr algn="ctr"/>
                      <a:endParaRPr lang="en-US" sz="2400" b="1" dirty="0"/>
                    </a:p>
                  </a:txBody>
                  <a:tcPr>
                    <a:solidFill>
                      <a:schemeClr val="bg1">
                        <a:lumMod val="65000"/>
                      </a:schemeClr>
                    </a:solidFill>
                  </a:tcPr>
                </a:tc>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solidFill>
                      <a:schemeClr val="bg1">
                        <a:lumMod val="65000"/>
                      </a:schemeClr>
                    </a:solidFill>
                  </a:tcPr>
                </a:tc>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tc>
                <a:extLst>
                  <a:ext uri="{0D108BD9-81ED-4DB2-BD59-A6C34878D82A}">
                    <a16:rowId xmlns:a16="http://schemas.microsoft.com/office/drawing/2014/main" val="10001"/>
                  </a:ext>
                </a:extLst>
              </a:tr>
              <a:tr h="370840">
                <a:tc>
                  <a:txBody>
                    <a:bodyPr/>
                    <a:lstStyle/>
                    <a:p>
                      <a:pPr algn="ctr"/>
                      <a:r>
                        <a:rPr lang="en-US" sz="2400" b="1" dirty="0"/>
                        <a:t>19.0</a:t>
                      </a:r>
                    </a:p>
                  </a:txBody>
                  <a:tcPr/>
                </a:tc>
                <a:tc>
                  <a:txBody>
                    <a:bodyPr/>
                    <a:lstStyle/>
                    <a:p>
                      <a:pPr algn="ctr"/>
                      <a:endParaRPr lang="en-US" sz="2400" b="1" dirty="0"/>
                    </a:p>
                  </a:txBody>
                  <a:tcPr>
                    <a:solidFill>
                      <a:schemeClr val="bg1">
                        <a:lumMod val="65000"/>
                      </a:schemeClr>
                    </a:solidFill>
                  </a:tcPr>
                </a:tc>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solidFill>
                      <a:schemeClr val="bg1">
                        <a:lumMod val="65000"/>
                      </a:schemeClr>
                    </a:solidFill>
                  </a:tcPr>
                </a:tc>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tc>
                <a:extLst>
                  <a:ext uri="{0D108BD9-81ED-4DB2-BD59-A6C34878D82A}">
                    <a16:rowId xmlns:a16="http://schemas.microsoft.com/office/drawing/2014/main" val="10002"/>
                  </a:ext>
                </a:extLst>
              </a:tr>
              <a:tr h="370840">
                <a:tc>
                  <a:txBody>
                    <a:bodyPr/>
                    <a:lstStyle/>
                    <a:p>
                      <a:pPr algn="ctr"/>
                      <a:r>
                        <a:rPr lang="en-US" sz="2400" b="1" dirty="0"/>
                        <a:t>19.0</a:t>
                      </a:r>
                    </a:p>
                  </a:txBody>
                  <a:tcPr/>
                </a:tc>
                <a:tc>
                  <a:txBody>
                    <a:bodyPr/>
                    <a:lstStyle/>
                    <a:p>
                      <a:pPr algn="ctr"/>
                      <a:endParaRPr lang="en-US" sz="2400" b="1"/>
                    </a:p>
                  </a:txBody>
                  <a:tcPr>
                    <a:solidFill>
                      <a:schemeClr val="bg1">
                        <a:lumMod val="65000"/>
                      </a:schemeClr>
                    </a:solidFill>
                  </a:tcPr>
                </a:tc>
                <a:tc>
                  <a:txBody>
                    <a:bodyPr/>
                    <a:lstStyle/>
                    <a:p>
                      <a:pPr algn="ctr"/>
                      <a:endParaRPr lang="en-US" sz="2400" b="1"/>
                    </a:p>
                  </a:txBody>
                  <a:tcPr/>
                </a:tc>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solidFill>
                      <a:schemeClr val="bg1">
                        <a:lumMod val="65000"/>
                      </a:schemeClr>
                    </a:solidFill>
                  </a:tcPr>
                </a:tc>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tc>
                <a:extLst>
                  <a:ext uri="{0D108BD9-81ED-4DB2-BD59-A6C34878D82A}">
                    <a16:rowId xmlns:a16="http://schemas.microsoft.com/office/drawing/2014/main" val="10003"/>
                  </a:ext>
                </a:extLst>
              </a:tr>
              <a:tr h="370840">
                <a:tc>
                  <a:txBody>
                    <a:bodyPr/>
                    <a:lstStyle/>
                    <a:p>
                      <a:pPr algn="ctr"/>
                      <a:r>
                        <a:rPr lang="en-US" sz="2400" b="1" dirty="0"/>
                        <a:t>19.0</a:t>
                      </a:r>
                    </a:p>
                  </a:txBody>
                  <a:tcPr/>
                </a:tc>
                <a:tc>
                  <a:txBody>
                    <a:bodyPr/>
                    <a:lstStyle/>
                    <a:p>
                      <a:pPr algn="ctr"/>
                      <a:endParaRPr lang="en-US" sz="2400" b="1"/>
                    </a:p>
                  </a:txBody>
                  <a:tcPr>
                    <a:solidFill>
                      <a:schemeClr val="bg1">
                        <a:lumMod val="65000"/>
                      </a:schemeClr>
                    </a:solidFill>
                  </a:tcPr>
                </a:tc>
                <a:tc>
                  <a:txBody>
                    <a:bodyPr/>
                    <a:lstStyle/>
                    <a:p>
                      <a:pPr algn="ctr"/>
                      <a:endParaRPr lang="en-US" sz="2400" b="1"/>
                    </a:p>
                  </a:txBody>
                  <a:tcPr/>
                </a:tc>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solidFill>
                      <a:schemeClr val="bg1">
                        <a:lumMod val="65000"/>
                      </a:schemeClr>
                    </a:solidFill>
                  </a:tcPr>
                </a:tc>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tc>
                <a:extLst>
                  <a:ext uri="{0D108BD9-81ED-4DB2-BD59-A6C34878D82A}">
                    <a16:rowId xmlns:a16="http://schemas.microsoft.com/office/drawing/2014/main" val="10004"/>
                  </a:ext>
                </a:extLst>
              </a:tr>
              <a:tr h="370840">
                <a:tc>
                  <a:txBody>
                    <a:bodyPr/>
                    <a:lstStyle/>
                    <a:p>
                      <a:pPr algn="ctr"/>
                      <a:r>
                        <a:rPr lang="en-US" sz="2400" b="1" dirty="0"/>
                        <a:t>19.0</a:t>
                      </a:r>
                    </a:p>
                  </a:txBody>
                  <a:tcPr/>
                </a:tc>
                <a:tc>
                  <a:txBody>
                    <a:bodyPr/>
                    <a:lstStyle/>
                    <a:p>
                      <a:pPr algn="ctr"/>
                      <a:endParaRPr lang="en-US" sz="2400" b="1" dirty="0"/>
                    </a:p>
                  </a:txBody>
                  <a:tcPr>
                    <a:solidFill>
                      <a:schemeClr val="bg1">
                        <a:lumMod val="65000"/>
                      </a:schemeClr>
                    </a:solidFill>
                  </a:tcPr>
                </a:tc>
                <a:tc>
                  <a:txBody>
                    <a:bodyPr/>
                    <a:lstStyle/>
                    <a:p>
                      <a:pPr algn="ctr"/>
                      <a:endParaRPr lang="en-US" sz="2400" b="1"/>
                    </a:p>
                  </a:txBody>
                  <a:tcPr/>
                </a:tc>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solidFill>
                      <a:schemeClr val="bg1">
                        <a:lumMod val="65000"/>
                      </a:schemeClr>
                    </a:solidFill>
                  </a:tcPr>
                </a:tc>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tc>
                <a:extLst>
                  <a:ext uri="{0D108BD9-81ED-4DB2-BD59-A6C34878D82A}">
                    <a16:rowId xmlns:a16="http://schemas.microsoft.com/office/drawing/2014/main" val="10005"/>
                  </a:ext>
                </a:extLst>
              </a:tr>
            </a:tbl>
          </a:graphicData>
        </a:graphic>
      </p:graphicFrame>
      <p:sp>
        <p:nvSpPr>
          <p:cNvPr id="2" name="Title 1"/>
          <p:cNvSpPr>
            <a:spLocks noGrp="1"/>
          </p:cNvSpPr>
          <p:nvPr>
            <p:ph type="title"/>
          </p:nvPr>
        </p:nvSpPr>
        <p:spPr/>
        <p:txBody>
          <a:bodyPr/>
          <a:lstStyle/>
          <a:p>
            <a:r>
              <a:rPr lang="en-US" dirty="0"/>
              <a:t>How a model sees the coefficients</a:t>
            </a:r>
          </a:p>
        </p:txBody>
      </p:sp>
      <p:sp>
        <p:nvSpPr>
          <p:cNvPr id="9" name="TextBox 8"/>
          <p:cNvSpPr txBox="1"/>
          <p:nvPr/>
        </p:nvSpPr>
        <p:spPr>
          <a:xfrm>
            <a:off x="111764" y="3633627"/>
            <a:ext cx="2191241" cy="584775"/>
          </a:xfrm>
          <a:prstGeom prst="rect">
            <a:avLst/>
          </a:prstGeom>
          <a:noFill/>
        </p:spPr>
        <p:txBody>
          <a:bodyPr wrap="none" rtlCol="0">
            <a:spAutoFit/>
          </a:bodyPr>
          <a:lstStyle/>
          <a:p>
            <a:r>
              <a:rPr lang="en-US" sz="3200" b="1" dirty="0"/>
              <a:t>Model view</a:t>
            </a:r>
          </a:p>
        </p:txBody>
      </p:sp>
      <p:pic>
        <p:nvPicPr>
          <p:cNvPr id="13" name="Picture 12"/>
          <p:cNvPicPr>
            <a:picLocks noChangeAspect="1"/>
          </p:cNvPicPr>
          <p:nvPr/>
        </p:nvPicPr>
        <p:blipFill rotWithShape="1">
          <a:blip r:embed="rId3">
            <a:extLst>
              <a:ext uri="{28A0092B-C50C-407E-A947-70E740481C1C}">
                <a14:useLocalDpi xmlns:a14="http://schemas.microsoft.com/office/drawing/2010/main" val="0"/>
              </a:ext>
            </a:extLst>
          </a:blip>
          <a:srcRect l="21034" t="1042" r="4483" b="65127"/>
          <a:stretch/>
        </p:blipFill>
        <p:spPr>
          <a:xfrm>
            <a:off x="639293" y="1381364"/>
            <a:ext cx="2377440" cy="2322408"/>
          </a:xfrm>
          <a:prstGeom prst="rect">
            <a:avLst/>
          </a:prstGeom>
          <a:ln>
            <a:solidFill>
              <a:schemeClr val="tx1"/>
            </a:solidFill>
          </a:ln>
        </p:spPr>
      </p:pic>
      <p:sp>
        <p:nvSpPr>
          <p:cNvPr id="14" name="TextBox 13"/>
          <p:cNvSpPr txBox="1"/>
          <p:nvPr/>
        </p:nvSpPr>
        <p:spPr>
          <a:xfrm rot="16200000">
            <a:off x="-567108" y="2272851"/>
            <a:ext cx="1942519" cy="584775"/>
          </a:xfrm>
          <a:prstGeom prst="rect">
            <a:avLst/>
          </a:prstGeom>
          <a:noFill/>
        </p:spPr>
        <p:txBody>
          <a:bodyPr wrap="none" rtlCol="0">
            <a:spAutoFit/>
          </a:bodyPr>
          <a:lstStyle/>
          <a:p>
            <a:r>
              <a:rPr lang="en-US" sz="3200" b="1" dirty="0"/>
              <a:t>Data table</a:t>
            </a:r>
          </a:p>
        </p:txBody>
      </p:sp>
      <p:pic>
        <p:nvPicPr>
          <p:cNvPr id="15" name="Picture 14"/>
          <p:cNvPicPr>
            <a:picLocks noChangeAspect="1"/>
          </p:cNvPicPr>
          <p:nvPr/>
        </p:nvPicPr>
        <p:blipFill rotWithShape="1">
          <a:blip r:embed="rId4">
            <a:extLst>
              <a:ext uri="{28A0092B-C50C-407E-A947-70E740481C1C}">
                <a14:useLocalDpi xmlns:a14="http://schemas.microsoft.com/office/drawing/2010/main" val="0"/>
              </a:ext>
            </a:extLst>
          </a:blip>
          <a:srcRect l="2363" t="43138" r="54819" b="22043"/>
          <a:stretch/>
        </p:blipFill>
        <p:spPr>
          <a:xfrm>
            <a:off x="4293374" y="1408711"/>
            <a:ext cx="3362961" cy="2296160"/>
          </a:xfrm>
          <a:prstGeom prst="rect">
            <a:avLst/>
          </a:prstGeom>
          <a:ln>
            <a:solidFill>
              <a:schemeClr val="tx1"/>
            </a:solidFill>
          </a:ln>
        </p:spPr>
      </p:pic>
      <p:sp>
        <p:nvSpPr>
          <p:cNvPr id="16" name="TextBox 15"/>
          <p:cNvSpPr txBox="1"/>
          <p:nvPr/>
        </p:nvSpPr>
        <p:spPr>
          <a:xfrm rot="16200000">
            <a:off x="2578822" y="2018182"/>
            <a:ext cx="2350854" cy="1077218"/>
          </a:xfrm>
          <a:prstGeom prst="rect">
            <a:avLst/>
          </a:prstGeom>
          <a:noFill/>
        </p:spPr>
        <p:txBody>
          <a:bodyPr wrap="square" rtlCol="0">
            <a:spAutoFit/>
          </a:bodyPr>
          <a:lstStyle/>
          <a:p>
            <a:pPr algn="ctr"/>
            <a:r>
              <a:rPr lang="en-US" sz="3200" b="1" dirty="0"/>
              <a:t>Model Summary</a:t>
            </a:r>
          </a:p>
        </p:txBody>
      </p:sp>
      <p:sp>
        <p:nvSpPr>
          <p:cNvPr id="17" name="Rounded Rectangle 16"/>
          <p:cNvSpPr/>
          <p:nvPr/>
        </p:nvSpPr>
        <p:spPr>
          <a:xfrm>
            <a:off x="620243" y="1777908"/>
            <a:ext cx="2453735" cy="335280"/>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9255765" y="4213722"/>
            <a:ext cx="2936235" cy="1569660"/>
          </a:xfrm>
          <a:prstGeom prst="rect">
            <a:avLst/>
          </a:prstGeom>
          <a:noFill/>
        </p:spPr>
        <p:txBody>
          <a:bodyPr wrap="square" rtlCol="0">
            <a:spAutoFit/>
          </a:bodyPr>
          <a:lstStyle/>
          <a:p>
            <a:r>
              <a:rPr lang="en-US" sz="2400" b="1" dirty="0"/>
              <a:t>Other factors filled in based on whether or not they apply to that row of data</a:t>
            </a:r>
          </a:p>
        </p:txBody>
      </p:sp>
    </p:spTree>
    <p:extLst>
      <p:ext uri="{BB962C8B-B14F-4D97-AF65-F5344CB8AC3E}">
        <p14:creationId xmlns:p14="http://schemas.microsoft.com/office/powerpoint/2010/main" val="3973966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p:cNvGraphicFramePr>
            <a:graphicFrameLocks noGrp="1"/>
          </p:cNvGraphicFramePr>
          <p:nvPr/>
        </p:nvGraphicFramePr>
        <p:xfrm>
          <a:off x="111764" y="4129319"/>
          <a:ext cx="8961121" cy="2656840"/>
        </p:xfrm>
        <a:graphic>
          <a:graphicData uri="http://schemas.openxmlformats.org/drawingml/2006/table">
            <a:tbl>
              <a:tblPr firstRow="1" bandRow="1">
                <a:tableStyleId>{7E9639D4-E3E2-4D34-9284-5A2195B3D0D7}</a:tableStyleId>
              </a:tblPr>
              <a:tblGrid>
                <a:gridCol w="871727">
                  <a:extLst>
                    <a:ext uri="{9D8B030D-6E8A-4147-A177-3AD203B41FA5}">
                      <a16:colId xmlns:a16="http://schemas.microsoft.com/office/drawing/2014/main" val="20000"/>
                    </a:ext>
                  </a:extLst>
                </a:gridCol>
                <a:gridCol w="871727">
                  <a:extLst>
                    <a:ext uri="{9D8B030D-6E8A-4147-A177-3AD203B41FA5}">
                      <a16:colId xmlns:a16="http://schemas.microsoft.com/office/drawing/2014/main" val="20001"/>
                    </a:ext>
                  </a:extLst>
                </a:gridCol>
                <a:gridCol w="871727">
                  <a:extLst>
                    <a:ext uri="{9D8B030D-6E8A-4147-A177-3AD203B41FA5}">
                      <a16:colId xmlns:a16="http://schemas.microsoft.com/office/drawing/2014/main" val="20002"/>
                    </a:ext>
                  </a:extLst>
                </a:gridCol>
                <a:gridCol w="871727">
                  <a:extLst>
                    <a:ext uri="{9D8B030D-6E8A-4147-A177-3AD203B41FA5}">
                      <a16:colId xmlns:a16="http://schemas.microsoft.com/office/drawing/2014/main" val="20003"/>
                    </a:ext>
                  </a:extLst>
                </a:gridCol>
                <a:gridCol w="871727">
                  <a:extLst>
                    <a:ext uri="{9D8B030D-6E8A-4147-A177-3AD203B41FA5}">
                      <a16:colId xmlns:a16="http://schemas.microsoft.com/office/drawing/2014/main" val="20004"/>
                    </a:ext>
                  </a:extLst>
                </a:gridCol>
                <a:gridCol w="782321">
                  <a:extLst>
                    <a:ext uri="{9D8B030D-6E8A-4147-A177-3AD203B41FA5}">
                      <a16:colId xmlns:a16="http://schemas.microsoft.com/office/drawing/2014/main" val="20005"/>
                    </a:ext>
                  </a:extLst>
                </a:gridCol>
                <a:gridCol w="1412240">
                  <a:extLst>
                    <a:ext uri="{9D8B030D-6E8A-4147-A177-3AD203B41FA5}">
                      <a16:colId xmlns:a16="http://schemas.microsoft.com/office/drawing/2014/main" val="20006"/>
                    </a:ext>
                  </a:extLst>
                </a:gridCol>
                <a:gridCol w="1036321">
                  <a:extLst>
                    <a:ext uri="{9D8B030D-6E8A-4147-A177-3AD203B41FA5}">
                      <a16:colId xmlns:a16="http://schemas.microsoft.com/office/drawing/2014/main" val="20007"/>
                    </a:ext>
                  </a:extLst>
                </a:gridCol>
                <a:gridCol w="1371604">
                  <a:extLst>
                    <a:ext uri="{9D8B030D-6E8A-4147-A177-3AD203B41FA5}">
                      <a16:colId xmlns:a16="http://schemas.microsoft.com/office/drawing/2014/main" val="20008"/>
                    </a:ext>
                  </a:extLst>
                </a:gridCol>
              </a:tblGrid>
              <a:tr h="370840">
                <a:tc>
                  <a:txBody>
                    <a:bodyPr/>
                    <a:lstStyle/>
                    <a:p>
                      <a:pPr algn="ctr"/>
                      <a:r>
                        <a:rPr lang="en-US" sz="1400" dirty="0"/>
                        <a:t>intercept</a:t>
                      </a:r>
                    </a:p>
                  </a:txBody>
                  <a:tcPr anchor="ctr"/>
                </a:tc>
                <a:tc>
                  <a:txBody>
                    <a:bodyPr/>
                    <a:lstStyle/>
                    <a:p>
                      <a:pPr algn="ctr"/>
                      <a:r>
                        <a:rPr lang="en-US" dirty="0"/>
                        <a:t>block1</a:t>
                      </a:r>
                    </a:p>
                  </a:txBody>
                  <a:tcPr anchor="ctr">
                    <a:solidFill>
                      <a:schemeClr val="bg1">
                        <a:lumMod val="65000"/>
                      </a:schemeClr>
                    </a:solidFill>
                  </a:tcPr>
                </a:tc>
                <a:tc>
                  <a:txBody>
                    <a:bodyPr/>
                    <a:lstStyle/>
                    <a:p>
                      <a:pPr algn="ctr"/>
                      <a:r>
                        <a:rPr lang="en-US" dirty="0"/>
                        <a:t>block2</a:t>
                      </a:r>
                    </a:p>
                  </a:txBody>
                  <a:tcPr anchor="ctr"/>
                </a:tc>
                <a:tc>
                  <a:txBody>
                    <a:bodyPr/>
                    <a:lstStyle/>
                    <a:p>
                      <a:pPr algn="ctr"/>
                      <a:r>
                        <a:rPr lang="en-US" dirty="0"/>
                        <a:t>block3</a:t>
                      </a:r>
                    </a:p>
                  </a:txBody>
                  <a:tcPr anchor="ctr"/>
                </a:tc>
                <a:tc>
                  <a:txBody>
                    <a:bodyPr/>
                    <a:lstStyle/>
                    <a:p>
                      <a:pPr algn="ctr"/>
                      <a:r>
                        <a:rPr lang="en-US" dirty="0"/>
                        <a:t>block4</a:t>
                      </a:r>
                    </a:p>
                  </a:txBody>
                  <a:tcPr anchor="ctr"/>
                </a:tc>
                <a:tc>
                  <a:txBody>
                    <a:bodyPr/>
                    <a:lstStyle/>
                    <a:p>
                      <a:pPr algn="ctr"/>
                      <a:r>
                        <a:rPr lang="en-US" dirty="0"/>
                        <a:t>Anne</a:t>
                      </a:r>
                    </a:p>
                  </a:txBody>
                  <a:tcPr anchor="ctr">
                    <a:solidFill>
                      <a:schemeClr val="bg1">
                        <a:lumMod val="65000"/>
                      </a:schemeClr>
                    </a:solidFill>
                  </a:tcPr>
                </a:tc>
                <a:tc>
                  <a:txBody>
                    <a:bodyPr/>
                    <a:lstStyle/>
                    <a:p>
                      <a:pPr algn="ctr"/>
                      <a:r>
                        <a:rPr lang="en-US" dirty="0"/>
                        <a:t>Cumberland</a:t>
                      </a:r>
                    </a:p>
                  </a:txBody>
                  <a:tcPr anchor="ctr"/>
                </a:tc>
                <a:tc>
                  <a:txBody>
                    <a:bodyPr/>
                    <a:lstStyle/>
                    <a:p>
                      <a:pPr algn="ctr"/>
                      <a:r>
                        <a:rPr lang="en-US" dirty="0"/>
                        <a:t>Heritage</a:t>
                      </a:r>
                      <a:endParaRPr lang="en-US" sz="1800" dirty="0"/>
                    </a:p>
                  </a:txBody>
                  <a:tcPr anchor="ctr"/>
                </a:tc>
                <a:tc>
                  <a:txBody>
                    <a:bodyPr/>
                    <a:lstStyle/>
                    <a:p>
                      <a:pPr algn="ctr"/>
                      <a:r>
                        <a:rPr lang="en-US" dirty="0" err="1"/>
                        <a:t>JewellBlack</a:t>
                      </a:r>
                      <a:endParaRPr lang="en-US" dirty="0"/>
                    </a:p>
                  </a:txBody>
                  <a:tcPr anchor="ctr"/>
                </a:tc>
                <a:extLst>
                  <a:ext uri="{0D108BD9-81ED-4DB2-BD59-A6C34878D82A}">
                    <a16:rowId xmlns:a16="http://schemas.microsoft.com/office/drawing/2014/main" val="10000"/>
                  </a:ext>
                </a:extLst>
              </a:tr>
              <a:tr h="370840">
                <a:tc>
                  <a:txBody>
                    <a:bodyPr/>
                    <a:lstStyle/>
                    <a:p>
                      <a:pPr algn="ctr"/>
                      <a:r>
                        <a:rPr lang="en-US" sz="2400" b="1" dirty="0"/>
                        <a:t>19.0</a:t>
                      </a:r>
                    </a:p>
                  </a:txBody>
                  <a:tcPr/>
                </a:tc>
                <a:tc>
                  <a:txBody>
                    <a:bodyPr/>
                    <a:lstStyle/>
                    <a:p>
                      <a:pPr algn="ctr"/>
                      <a:endParaRPr lang="en-US" sz="2400" b="1" dirty="0"/>
                    </a:p>
                  </a:txBody>
                  <a:tcPr>
                    <a:solidFill>
                      <a:schemeClr val="bg1">
                        <a:lumMod val="65000"/>
                      </a:schemeClr>
                    </a:solidFill>
                  </a:tcPr>
                </a:tc>
                <a:tc>
                  <a:txBody>
                    <a:bodyPr/>
                    <a:lstStyle/>
                    <a:p>
                      <a:pPr algn="ctr"/>
                      <a:r>
                        <a:rPr lang="en-US" sz="2400" b="1" dirty="0"/>
                        <a:t>0</a:t>
                      </a:r>
                    </a:p>
                  </a:txBody>
                  <a:tcPr/>
                </a:tc>
                <a:tc>
                  <a:txBody>
                    <a:bodyPr/>
                    <a:lstStyle/>
                    <a:p>
                      <a:pPr algn="ctr"/>
                      <a:r>
                        <a:rPr lang="en-US" sz="2400" b="1" dirty="0"/>
                        <a:t>0</a:t>
                      </a:r>
                    </a:p>
                  </a:txBody>
                  <a:tcPr/>
                </a:tc>
                <a:tc>
                  <a:txBody>
                    <a:bodyPr/>
                    <a:lstStyle/>
                    <a:p>
                      <a:pPr algn="ctr"/>
                      <a:r>
                        <a:rPr lang="en-US" sz="2400" b="1" dirty="0"/>
                        <a:t>0</a:t>
                      </a:r>
                    </a:p>
                  </a:txBody>
                  <a:tcPr/>
                </a:tc>
                <a:tc>
                  <a:txBody>
                    <a:bodyPr/>
                    <a:lstStyle/>
                    <a:p>
                      <a:pPr algn="ctr"/>
                      <a:endParaRPr lang="en-US" sz="2400" b="1" dirty="0"/>
                    </a:p>
                  </a:txBody>
                  <a:tcPr>
                    <a:solidFill>
                      <a:schemeClr val="bg1">
                        <a:lumMod val="65000"/>
                      </a:schemeClr>
                    </a:solidFill>
                  </a:tcPr>
                </a:tc>
                <a:tc>
                  <a:txBody>
                    <a:bodyPr/>
                    <a:lstStyle/>
                    <a:p>
                      <a:pPr algn="ctr"/>
                      <a:r>
                        <a:rPr lang="en-US" sz="2400" b="1" dirty="0"/>
                        <a:t>0</a:t>
                      </a:r>
                    </a:p>
                  </a:txBody>
                  <a:tcPr/>
                </a:tc>
                <a:tc>
                  <a:txBody>
                    <a:bodyPr/>
                    <a:lstStyle/>
                    <a:p>
                      <a:pPr algn="ctr"/>
                      <a:r>
                        <a:rPr lang="en-US" sz="2400" b="1" dirty="0"/>
                        <a:t>-4.8</a:t>
                      </a:r>
                    </a:p>
                  </a:txBody>
                  <a:tcPr/>
                </a:tc>
                <a:tc>
                  <a:txBody>
                    <a:bodyPr/>
                    <a:lstStyle/>
                    <a:p>
                      <a:pPr algn="ctr"/>
                      <a:r>
                        <a:rPr lang="en-US" sz="2400" b="1" dirty="0"/>
                        <a:t>0</a:t>
                      </a:r>
                    </a:p>
                  </a:txBody>
                  <a:tcPr/>
                </a:tc>
                <a:extLst>
                  <a:ext uri="{0D108BD9-81ED-4DB2-BD59-A6C34878D82A}">
                    <a16:rowId xmlns:a16="http://schemas.microsoft.com/office/drawing/2014/main" val="10001"/>
                  </a:ext>
                </a:extLst>
              </a:tr>
              <a:tr h="370840">
                <a:tc>
                  <a:txBody>
                    <a:bodyPr/>
                    <a:lstStyle/>
                    <a:p>
                      <a:pPr algn="ctr"/>
                      <a:r>
                        <a:rPr lang="en-US" sz="2400" b="1" dirty="0"/>
                        <a:t>19.0</a:t>
                      </a:r>
                    </a:p>
                  </a:txBody>
                  <a:tcPr/>
                </a:tc>
                <a:tc>
                  <a:txBody>
                    <a:bodyPr/>
                    <a:lstStyle/>
                    <a:p>
                      <a:pPr algn="ctr"/>
                      <a:endParaRPr lang="en-US" sz="2400" b="1" dirty="0"/>
                    </a:p>
                  </a:txBody>
                  <a:tcPr>
                    <a:solidFill>
                      <a:schemeClr val="bg1">
                        <a:lumMod val="65000"/>
                      </a:schemeClr>
                    </a:solidFill>
                  </a:tcPr>
                </a:tc>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solidFill>
                      <a:schemeClr val="bg1">
                        <a:lumMod val="65000"/>
                      </a:schemeClr>
                    </a:solidFill>
                  </a:tcPr>
                </a:tc>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tc>
                <a:extLst>
                  <a:ext uri="{0D108BD9-81ED-4DB2-BD59-A6C34878D82A}">
                    <a16:rowId xmlns:a16="http://schemas.microsoft.com/office/drawing/2014/main" val="10002"/>
                  </a:ext>
                </a:extLst>
              </a:tr>
              <a:tr h="370840">
                <a:tc>
                  <a:txBody>
                    <a:bodyPr/>
                    <a:lstStyle/>
                    <a:p>
                      <a:pPr algn="ctr"/>
                      <a:r>
                        <a:rPr lang="en-US" sz="2400" b="1" dirty="0"/>
                        <a:t>19.0</a:t>
                      </a:r>
                    </a:p>
                  </a:txBody>
                  <a:tcPr/>
                </a:tc>
                <a:tc>
                  <a:txBody>
                    <a:bodyPr/>
                    <a:lstStyle/>
                    <a:p>
                      <a:pPr algn="ctr"/>
                      <a:endParaRPr lang="en-US" sz="2400" b="1"/>
                    </a:p>
                  </a:txBody>
                  <a:tcPr>
                    <a:solidFill>
                      <a:schemeClr val="bg1">
                        <a:lumMod val="65000"/>
                      </a:schemeClr>
                    </a:solidFill>
                  </a:tcPr>
                </a:tc>
                <a:tc>
                  <a:txBody>
                    <a:bodyPr/>
                    <a:lstStyle/>
                    <a:p>
                      <a:pPr algn="ctr"/>
                      <a:endParaRPr lang="en-US" sz="2400" b="1"/>
                    </a:p>
                  </a:txBody>
                  <a:tcPr/>
                </a:tc>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solidFill>
                      <a:schemeClr val="bg1">
                        <a:lumMod val="65000"/>
                      </a:schemeClr>
                    </a:solidFill>
                  </a:tcPr>
                </a:tc>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tc>
                <a:extLst>
                  <a:ext uri="{0D108BD9-81ED-4DB2-BD59-A6C34878D82A}">
                    <a16:rowId xmlns:a16="http://schemas.microsoft.com/office/drawing/2014/main" val="10003"/>
                  </a:ext>
                </a:extLst>
              </a:tr>
              <a:tr h="370840">
                <a:tc>
                  <a:txBody>
                    <a:bodyPr/>
                    <a:lstStyle/>
                    <a:p>
                      <a:pPr algn="ctr"/>
                      <a:r>
                        <a:rPr lang="en-US" sz="2400" b="1" dirty="0"/>
                        <a:t>19.0</a:t>
                      </a:r>
                    </a:p>
                  </a:txBody>
                  <a:tcPr/>
                </a:tc>
                <a:tc>
                  <a:txBody>
                    <a:bodyPr/>
                    <a:lstStyle/>
                    <a:p>
                      <a:pPr algn="ctr"/>
                      <a:endParaRPr lang="en-US" sz="2400" b="1"/>
                    </a:p>
                  </a:txBody>
                  <a:tcPr>
                    <a:solidFill>
                      <a:schemeClr val="bg1">
                        <a:lumMod val="65000"/>
                      </a:schemeClr>
                    </a:solidFill>
                  </a:tcPr>
                </a:tc>
                <a:tc>
                  <a:txBody>
                    <a:bodyPr/>
                    <a:lstStyle/>
                    <a:p>
                      <a:pPr algn="ctr"/>
                      <a:endParaRPr lang="en-US" sz="2400" b="1"/>
                    </a:p>
                  </a:txBody>
                  <a:tcPr/>
                </a:tc>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solidFill>
                      <a:schemeClr val="bg1">
                        <a:lumMod val="65000"/>
                      </a:schemeClr>
                    </a:solidFill>
                  </a:tcPr>
                </a:tc>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tc>
                <a:extLst>
                  <a:ext uri="{0D108BD9-81ED-4DB2-BD59-A6C34878D82A}">
                    <a16:rowId xmlns:a16="http://schemas.microsoft.com/office/drawing/2014/main" val="10004"/>
                  </a:ext>
                </a:extLst>
              </a:tr>
              <a:tr h="370840">
                <a:tc>
                  <a:txBody>
                    <a:bodyPr/>
                    <a:lstStyle/>
                    <a:p>
                      <a:pPr algn="ctr"/>
                      <a:r>
                        <a:rPr lang="en-US" sz="2400" b="1" dirty="0"/>
                        <a:t>19.0</a:t>
                      </a:r>
                    </a:p>
                  </a:txBody>
                  <a:tcPr/>
                </a:tc>
                <a:tc>
                  <a:txBody>
                    <a:bodyPr/>
                    <a:lstStyle/>
                    <a:p>
                      <a:pPr algn="ctr"/>
                      <a:endParaRPr lang="en-US" sz="2400" b="1" dirty="0"/>
                    </a:p>
                  </a:txBody>
                  <a:tcPr>
                    <a:solidFill>
                      <a:schemeClr val="bg1">
                        <a:lumMod val="65000"/>
                      </a:schemeClr>
                    </a:solidFill>
                  </a:tcPr>
                </a:tc>
                <a:tc>
                  <a:txBody>
                    <a:bodyPr/>
                    <a:lstStyle/>
                    <a:p>
                      <a:pPr algn="ctr"/>
                      <a:endParaRPr lang="en-US" sz="2400" b="1"/>
                    </a:p>
                  </a:txBody>
                  <a:tcPr/>
                </a:tc>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solidFill>
                      <a:schemeClr val="bg1">
                        <a:lumMod val="65000"/>
                      </a:schemeClr>
                    </a:solidFill>
                  </a:tcPr>
                </a:tc>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tc>
                <a:extLst>
                  <a:ext uri="{0D108BD9-81ED-4DB2-BD59-A6C34878D82A}">
                    <a16:rowId xmlns:a16="http://schemas.microsoft.com/office/drawing/2014/main" val="10005"/>
                  </a:ext>
                </a:extLst>
              </a:tr>
            </a:tbl>
          </a:graphicData>
        </a:graphic>
      </p:graphicFrame>
      <p:sp>
        <p:nvSpPr>
          <p:cNvPr id="2" name="Title 1"/>
          <p:cNvSpPr>
            <a:spLocks noGrp="1"/>
          </p:cNvSpPr>
          <p:nvPr>
            <p:ph type="title"/>
          </p:nvPr>
        </p:nvSpPr>
        <p:spPr/>
        <p:txBody>
          <a:bodyPr/>
          <a:lstStyle/>
          <a:p>
            <a:r>
              <a:rPr lang="en-US" dirty="0"/>
              <a:t>How a model sees the coefficients</a:t>
            </a:r>
          </a:p>
        </p:txBody>
      </p:sp>
      <p:sp>
        <p:nvSpPr>
          <p:cNvPr id="9" name="TextBox 8"/>
          <p:cNvSpPr txBox="1"/>
          <p:nvPr/>
        </p:nvSpPr>
        <p:spPr>
          <a:xfrm>
            <a:off x="111764" y="3633627"/>
            <a:ext cx="2191241" cy="584775"/>
          </a:xfrm>
          <a:prstGeom prst="rect">
            <a:avLst/>
          </a:prstGeom>
          <a:noFill/>
        </p:spPr>
        <p:txBody>
          <a:bodyPr wrap="none" rtlCol="0">
            <a:spAutoFit/>
          </a:bodyPr>
          <a:lstStyle/>
          <a:p>
            <a:r>
              <a:rPr lang="en-US" sz="3200" b="1" dirty="0"/>
              <a:t>Model view</a:t>
            </a:r>
          </a:p>
        </p:txBody>
      </p:sp>
      <p:sp>
        <p:nvSpPr>
          <p:cNvPr id="11" name="Rounded Rectangle 10"/>
          <p:cNvSpPr/>
          <p:nvPr/>
        </p:nvSpPr>
        <p:spPr>
          <a:xfrm>
            <a:off x="111764" y="4554935"/>
            <a:ext cx="8961121" cy="335280"/>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9255765" y="4213722"/>
            <a:ext cx="2936235" cy="1569660"/>
          </a:xfrm>
          <a:prstGeom prst="rect">
            <a:avLst/>
          </a:prstGeom>
          <a:noFill/>
        </p:spPr>
        <p:txBody>
          <a:bodyPr wrap="square" rtlCol="0">
            <a:spAutoFit/>
          </a:bodyPr>
          <a:lstStyle/>
          <a:p>
            <a:r>
              <a:rPr lang="en-US" sz="2400" b="1" dirty="0"/>
              <a:t>Other factors filled in based on whether or not they apply to that row of data</a:t>
            </a:r>
          </a:p>
        </p:txBody>
      </p:sp>
      <p:pic>
        <p:nvPicPr>
          <p:cNvPr id="14" name="Picture 13"/>
          <p:cNvPicPr>
            <a:picLocks noChangeAspect="1"/>
          </p:cNvPicPr>
          <p:nvPr/>
        </p:nvPicPr>
        <p:blipFill rotWithShape="1">
          <a:blip r:embed="rId3">
            <a:extLst>
              <a:ext uri="{28A0092B-C50C-407E-A947-70E740481C1C}">
                <a14:useLocalDpi xmlns:a14="http://schemas.microsoft.com/office/drawing/2010/main" val="0"/>
              </a:ext>
            </a:extLst>
          </a:blip>
          <a:srcRect l="21034" t="1042" r="4483" b="65127"/>
          <a:stretch/>
        </p:blipFill>
        <p:spPr>
          <a:xfrm>
            <a:off x="639293" y="1381364"/>
            <a:ext cx="2377440" cy="2322408"/>
          </a:xfrm>
          <a:prstGeom prst="rect">
            <a:avLst/>
          </a:prstGeom>
          <a:ln>
            <a:solidFill>
              <a:schemeClr val="tx1"/>
            </a:solidFill>
          </a:ln>
        </p:spPr>
      </p:pic>
      <p:sp>
        <p:nvSpPr>
          <p:cNvPr id="15" name="TextBox 14"/>
          <p:cNvSpPr txBox="1"/>
          <p:nvPr/>
        </p:nvSpPr>
        <p:spPr>
          <a:xfrm rot="16200000">
            <a:off x="-567108" y="2272851"/>
            <a:ext cx="1942519" cy="584775"/>
          </a:xfrm>
          <a:prstGeom prst="rect">
            <a:avLst/>
          </a:prstGeom>
          <a:noFill/>
        </p:spPr>
        <p:txBody>
          <a:bodyPr wrap="none" rtlCol="0">
            <a:spAutoFit/>
          </a:bodyPr>
          <a:lstStyle/>
          <a:p>
            <a:r>
              <a:rPr lang="en-US" sz="3200" b="1" dirty="0"/>
              <a:t>Data table</a:t>
            </a:r>
          </a:p>
        </p:txBody>
      </p:sp>
      <p:pic>
        <p:nvPicPr>
          <p:cNvPr id="16" name="Picture 15"/>
          <p:cNvPicPr>
            <a:picLocks noChangeAspect="1"/>
          </p:cNvPicPr>
          <p:nvPr/>
        </p:nvPicPr>
        <p:blipFill rotWithShape="1">
          <a:blip r:embed="rId4">
            <a:extLst>
              <a:ext uri="{28A0092B-C50C-407E-A947-70E740481C1C}">
                <a14:useLocalDpi xmlns:a14="http://schemas.microsoft.com/office/drawing/2010/main" val="0"/>
              </a:ext>
            </a:extLst>
          </a:blip>
          <a:srcRect l="2363" t="43138" r="54819" b="22043"/>
          <a:stretch/>
        </p:blipFill>
        <p:spPr>
          <a:xfrm>
            <a:off x="4293374" y="1408711"/>
            <a:ext cx="3362961" cy="2296160"/>
          </a:xfrm>
          <a:prstGeom prst="rect">
            <a:avLst/>
          </a:prstGeom>
          <a:ln>
            <a:solidFill>
              <a:schemeClr val="tx1"/>
            </a:solidFill>
          </a:ln>
        </p:spPr>
      </p:pic>
      <p:sp>
        <p:nvSpPr>
          <p:cNvPr id="17" name="TextBox 16"/>
          <p:cNvSpPr txBox="1"/>
          <p:nvPr/>
        </p:nvSpPr>
        <p:spPr>
          <a:xfrm rot="16200000">
            <a:off x="2578822" y="2018182"/>
            <a:ext cx="2350854" cy="1077218"/>
          </a:xfrm>
          <a:prstGeom prst="rect">
            <a:avLst/>
          </a:prstGeom>
          <a:noFill/>
        </p:spPr>
        <p:txBody>
          <a:bodyPr wrap="square" rtlCol="0">
            <a:spAutoFit/>
          </a:bodyPr>
          <a:lstStyle/>
          <a:p>
            <a:pPr algn="ctr"/>
            <a:r>
              <a:rPr lang="en-US" sz="3200" b="1" dirty="0"/>
              <a:t>Model Summary</a:t>
            </a:r>
          </a:p>
        </p:txBody>
      </p:sp>
      <p:sp>
        <p:nvSpPr>
          <p:cNvPr id="10" name="Rounded Rectangle 9"/>
          <p:cNvSpPr/>
          <p:nvPr/>
        </p:nvSpPr>
        <p:spPr>
          <a:xfrm>
            <a:off x="620243" y="1777908"/>
            <a:ext cx="2453735" cy="335280"/>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37851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p:cNvGraphicFramePr>
            <a:graphicFrameLocks noGrp="1"/>
          </p:cNvGraphicFramePr>
          <p:nvPr/>
        </p:nvGraphicFramePr>
        <p:xfrm>
          <a:off x="111764" y="4129319"/>
          <a:ext cx="8961121" cy="2656840"/>
        </p:xfrm>
        <a:graphic>
          <a:graphicData uri="http://schemas.openxmlformats.org/drawingml/2006/table">
            <a:tbl>
              <a:tblPr firstRow="1" bandRow="1">
                <a:tableStyleId>{7E9639D4-E3E2-4D34-9284-5A2195B3D0D7}</a:tableStyleId>
              </a:tblPr>
              <a:tblGrid>
                <a:gridCol w="871727">
                  <a:extLst>
                    <a:ext uri="{9D8B030D-6E8A-4147-A177-3AD203B41FA5}">
                      <a16:colId xmlns:a16="http://schemas.microsoft.com/office/drawing/2014/main" val="20000"/>
                    </a:ext>
                  </a:extLst>
                </a:gridCol>
                <a:gridCol w="871727">
                  <a:extLst>
                    <a:ext uri="{9D8B030D-6E8A-4147-A177-3AD203B41FA5}">
                      <a16:colId xmlns:a16="http://schemas.microsoft.com/office/drawing/2014/main" val="20001"/>
                    </a:ext>
                  </a:extLst>
                </a:gridCol>
                <a:gridCol w="871727">
                  <a:extLst>
                    <a:ext uri="{9D8B030D-6E8A-4147-A177-3AD203B41FA5}">
                      <a16:colId xmlns:a16="http://schemas.microsoft.com/office/drawing/2014/main" val="20002"/>
                    </a:ext>
                  </a:extLst>
                </a:gridCol>
                <a:gridCol w="871727">
                  <a:extLst>
                    <a:ext uri="{9D8B030D-6E8A-4147-A177-3AD203B41FA5}">
                      <a16:colId xmlns:a16="http://schemas.microsoft.com/office/drawing/2014/main" val="20003"/>
                    </a:ext>
                  </a:extLst>
                </a:gridCol>
                <a:gridCol w="871727">
                  <a:extLst>
                    <a:ext uri="{9D8B030D-6E8A-4147-A177-3AD203B41FA5}">
                      <a16:colId xmlns:a16="http://schemas.microsoft.com/office/drawing/2014/main" val="20004"/>
                    </a:ext>
                  </a:extLst>
                </a:gridCol>
                <a:gridCol w="782321">
                  <a:extLst>
                    <a:ext uri="{9D8B030D-6E8A-4147-A177-3AD203B41FA5}">
                      <a16:colId xmlns:a16="http://schemas.microsoft.com/office/drawing/2014/main" val="20005"/>
                    </a:ext>
                  </a:extLst>
                </a:gridCol>
                <a:gridCol w="1412240">
                  <a:extLst>
                    <a:ext uri="{9D8B030D-6E8A-4147-A177-3AD203B41FA5}">
                      <a16:colId xmlns:a16="http://schemas.microsoft.com/office/drawing/2014/main" val="20006"/>
                    </a:ext>
                  </a:extLst>
                </a:gridCol>
                <a:gridCol w="1036321">
                  <a:extLst>
                    <a:ext uri="{9D8B030D-6E8A-4147-A177-3AD203B41FA5}">
                      <a16:colId xmlns:a16="http://schemas.microsoft.com/office/drawing/2014/main" val="20007"/>
                    </a:ext>
                  </a:extLst>
                </a:gridCol>
                <a:gridCol w="1371604">
                  <a:extLst>
                    <a:ext uri="{9D8B030D-6E8A-4147-A177-3AD203B41FA5}">
                      <a16:colId xmlns:a16="http://schemas.microsoft.com/office/drawing/2014/main" val="20008"/>
                    </a:ext>
                  </a:extLst>
                </a:gridCol>
              </a:tblGrid>
              <a:tr h="370840">
                <a:tc>
                  <a:txBody>
                    <a:bodyPr/>
                    <a:lstStyle/>
                    <a:p>
                      <a:pPr algn="ctr"/>
                      <a:r>
                        <a:rPr lang="en-US" sz="1400" dirty="0"/>
                        <a:t>intercept</a:t>
                      </a:r>
                      <a:endParaRPr lang="en-US" dirty="0"/>
                    </a:p>
                  </a:txBody>
                  <a:tcPr anchor="ctr"/>
                </a:tc>
                <a:tc>
                  <a:txBody>
                    <a:bodyPr/>
                    <a:lstStyle/>
                    <a:p>
                      <a:pPr algn="ctr"/>
                      <a:r>
                        <a:rPr lang="en-US" dirty="0"/>
                        <a:t>block1</a:t>
                      </a:r>
                    </a:p>
                  </a:txBody>
                  <a:tcPr anchor="ctr">
                    <a:solidFill>
                      <a:schemeClr val="bg1">
                        <a:lumMod val="65000"/>
                      </a:schemeClr>
                    </a:solidFill>
                  </a:tcPr>
                </a:tc>
                <a:tc>
                  <a:txBody>
                    <a:bodyPr/>
                    <a:lstStyle/>
                    <a:p>
                      <a:pPr algn="ctr"/>
                      <a:r>
                        <a:rPr lang="en-US" dirty="0"/>
                        <a:t>block2</a:t>
                      </a:r>
                    </a:p>
                  </a:txBody>
                  <a:tcPr anchor="ctr"/>
                </a:tc>
                <a:tc>
                  <a:txBody>
                    <a:bodyPr/>
                    <a:lstStyle/>
                    <a:p>
                      <a:pPr algn="ctr"/>
                      <a:r>
                        <a:rPr lang="en-US" dirty="0"/>
                        <a:t>block3</a:t>
                      </a:r>
                    </a:p>
                  </a:txBody>
                  <a:tcPr anchor="ctr"/>
                </a:tc>
                <a:tc>
                  <a:txBody>
                    <a:bodyPr/>
                    <a:lstStyle/>
                    <a:p>
                      <a:pPr algn="ctr"/>
                      <a:r>
                        <a:rPr lang="en-US" dirty="0"/>
                        <a:t>block4</a:t>
                      </a:r>
                    </a:p>
                  </a:txBody>
                  <a:tcPr anchor="ctr"/>
                </a:tc>
                <a:tc>
                  <a:txBody>
                    <a:bodyPr/>
                    <a:lstStyle/>
                    <a:p>
                      <a:pPr algn="ctr"/>
                      <a:r>
                        <a:rPr lang="en-US" dirty="0"/>
                        <a:t>Anne</a:t>
                      </a:r>
                    </a:p>
                  </a:txBody>
                  <a:tcPr anchor="ctr">
                    <a:solidFill>
                      <a:schemeClr val="bg1">
                        <a:lumMod val="65000"/>
                      </a:schemeClr>
                    </a:solidFill>
                  </a:tcPr>
                </a:tc>
                <a:tc>
                  <a:txBody>
                    <a:bodyPr/>
                    <a:lstStyle/>
                    <a:p>
                      <a:pPr algn="ctr"/>
                      <a:r>
                        <a:rPr lang="en-US" dirty="0"/>
                        <a:t>Cumberland</a:t>
                      </a:r>
                    </a:p>
                  </a:txBody>
                  <a:tcPr anchor="ctr"/>
                </a:tc>
                <a:tc>
                  <a:txBody>
                    <a:bodyPr/>
                    <a:lstStyle/>
                    <a:p>
                      <a:pPr algn="ctr"/>
                      <a:r>
                        <a:rPr lang="en-US" dirty="0"/>
                        <a:t>Heritage</a:t>
                      </a:r>
                      <a:endParaRPr lang="en-US" sz="1800" dirty="0"/>
                    </a:p>
                  </a:txBody>
                  <a:tcPr anchor="ctr"/>
                </a:tc>
                <a:tc>
                  <a:txBody>
                    <a:bodyPr/>
                    <a:lstStyle/>
                    <a:p>
                      <a:pPr algn="ctr"/>
                      <a:r>
                        <a:rPr lang="en-US" dirty="0" err="1"/>
                        <a:t>JewellBlack</a:t>
                      </a:r>
                      <a:endParaRPr lang="en-US" dirty="0"/>
                    </a:p>
                  </a:txBody>
                  <a:tcPr anchor="ctr"/>
                </a:tc>
                <a:extLst>
                  <a:ext uri="{0D108BD9-81ED-4DB2-BD59-A6C34878D82A}">
                    <a16:rowId xmlns:a16="http://schemas.microsoft.com/office/drawing/2014/main" val="10000"/>
                  </a:ext>
                </a:extLst>
              </a:tr>
              <a:tr h="370840">
                <a:tc>
                  <a:txBody>
                    <a:bodyPr/>
                    <a:lstStyle/>
                    <a:p>
                      <a:pPr algn="ctr"/>
                      <a:r>
                        <a:rPr lang="en-US" sz="2400" b="1" dirty="0"/>
                        <a:t>19.0</a:t>
                      </a:r>
                    </a:p>
                  </a:txBody>
                  <a:tcPr/>
                </a:tc>
                <a:tc>
                  <a:txBody>
                    <a:bodyPr/>
                    <a:lstStyle/>
                    <a:p>
                      <a:pPr algn="ctr"/>
                      <a:endParaRPr lang="en-US" sz="2400" b="1" dirty="0"/>
                    </a:p>
                  </a:txBody>
                  <a:tcPr>
                    <a:solidFill>
                      <a:schemeClr val="bg1">
                        <a:lumMod val="65000"/>
                      </a:schemeClr>
                    </a:solidFill>
                  </a:tcPr>
                </a:tc>
                <a:tc>
                  <a:txBody>
                    <a:bodyPr/>
                    <a:lstStyle/>
                    <a:p>
                      <a:pPr algn="ctr"/>
                      <a:r>
                        <a:rPr lang="en-US" sz="2400" b="1" dirty="0"/>
                        <a:t>0</a:t>
                      </a:r>
                    </a:p>
                  </a:txBody>
                  <a:tcPr/>
                </a:tc>
                <a:tc>
                  <a:txBody>
                    <a:bodyPr/>
                    <a:lstStyle/>
                    <a:p>
                      <a:pPr algn="ctr"/>
                      <a:r>
                        <a:rPr lang="en-US" sz="2400" b="1" dirty="0"/>
                        <a:t>0</a:t>
                      </a:r>
                    </a:p>
                  </a:txBody>
                  <a:tcPr/>
                </a:tc>
                <a:tc>
                  <a:txBody>
                    <a:bodyPr/>
                    <a:lstStyle/>
                    <a:p>
                      <a:pPr algn="ctr"/>
                      <a:r>
                        <a:rPr lang="en-US" sz="2400" b="1" dirty="0"/>
                        <a:t>0</a:t>
                      </a:r>
                    </a:p>
                  </a:txBody>
                  <a:tcPr/>
                </a:tc>
                <a:tc>
                  <a:txBody>
                    <a:bodyPr/>
                    <a:lstStyle/>
                    <a:p>
                      <a:pPr algn="ctr"/>
                      <a:endParaRPr lang="en-US" sz="2400" b="1" dirty="0"/>
                    </a:p>
                  </a:txBody>
                  <a:tcPr>
                    <a:solidFill>
                      <a:schemeClr val="bg1">
                        <a:lumMod val="65000"/>
                      </a:schemeClr>
                    </a:solidFill>
                  </a:tcPr>
                </a:tc>
                <a:tc>
                  <a:txBody>
                    <a:bodyPr/>
                    <a:lstStyle/>
                    <a:p>
                      <a:pPr algn="ctr"/>
                      <a:r>
                        <a:rPr lang="en-US" sz="2400" b="1" dirty="0"/>
                        <a:t>0</a:t>
                      </a:r>
                    </a:p>
                  </a:txBody>
                  <a:tcPr/>
                </a:tc>
                <a:tc>
                  <a:txBody>
                    <a:bodyPr/>
                    <a:lstStyle/>
                    <a:p>
                      <a:pPr algn="ctr"/>
                      <a:r>
                        <a:rPr lang="en-US" sz="2400" b="1" dirty="0"/>
                        <a:t>-4.8</a:t>
                      </a:r>
                    </a:p>
                  </a:txBody>
                  <a:tcPr/>
                </a:tc>
                <a:tc>
                  <a:txBody>
                    <a:bodyPr/>
                    <a:lstStyle/>
                    <a:p>
                      <a:pPr algn="ctr"/>
                      <a:r>
                        <a:rPr lang="en-US" sz="2400" b="1" dirty="0"/>
                        <a:t>0</a:t>
                      </a:r>
                    </a:p>
                  </a:txBody>
                  <a:tcPr/>
                </a:tc>
                <a:extLst>
                  <a:ext uri="{0D108BD9-81ED-4DB2-BD59-A6C34878D82A}">
                    <a16:rowId xmlns:a16="http://schemas.microsoft.com/office/drawing/2014/main" val="10001"/>
                  </a:ext>
                </a:extLst>
              </a:tr>
              <a:tr h="370840">
                <a:tc>
                  <a:txBody>
                    <a:bodyPr/>
                    <a:lstStyle/>
                    <a:p>
                      <a:pPr algn="ctr"/>
                      <a:r>
                        <a:rPr lang="en-US" sz="2400" b="1" dirty="0"/>
                        <a:t>19.0</a:t>
                      </a:r>
                    </a:p>
                  </a:txBody>
                  <a:tcPr/>
                </a:tc>
                <a:tc>
                  <a:txBody>
                    <a:bodyPr/>
                    <a:lstStyle/>
                    <a:p>
                      <a:pPr algn="ctr"/>
                      <a:endParaRPr lang="en-US" sz="2400" b="1" dirty="0"/>
                    </a:p>
                  </a:txBody>
                  <a:tcPr>
                    <a:solidFill>
                      <a:schemeClr val="bg1">
                        <a:lumMod val="65000"/>
                      </a:schemeClr>
                    </a:solidFill>
                  </a:tcPr>
                </a:tc>
                <a:tc>
                  <a:txBody>
                    <a:bodyPr/>
                    <a:lstStyle/>
                    <a:p>
                      <a:pPr algn="ctr"/>
                      <a:r>
                        <a:rPr lang="en-US" sz="2400" b="1" dirty="0"/>
                        <a:t>0</a:t>
                      </a:r>
                    </a:p>
                  </a:txBody>
                  <a:tcPr/>
                </a:tc>
                <a:tc>
                  <a:txBody>
                    <a:bodyPr/>
                    <a:lstStyle/>
                    <a:p>
                      <a:pPr algn="ctr"/>
                      <a:r>
                        <a:rPr lang="en-US" sz="2400" b="1" dirty="0"/>
                        <a:t>0</a:t>
                      </a:r>
                    </a:p>
                  </a:txBody>
                  <a:tcPr/>
                </a:tc>
                <a:tc>
                  <a:txBody>
                    <a:bodyPr/>
                    <a:lstStyle/>
                    <a:p>
                      <a:pPr algn="ctr"/>
                      <a:r>
                        <a:rPr lang="en-US" sz="2400" b="1" dirty="0"/>
                        <a:t>0</a:t>
                      </a:r>
                    </a:p>
                  </a:txBody>
                  <a:tcPr/>
                </a:tc>
                <a:tc>
                  <a:txBody>
                    <a:bodyPr/>
                    <a:lstStyle/>
                    <a:p>
                      <a:pPr algn="ctr"/>
                      <a:endParaRPr lang="en-US" sz="2400" b="1" dirty="0"/>
                    </a:p>
                  </a:txBody>
                  <a:tcPr>
                    <a:solidFill>
                      <a:schemeClr val="bg1">
                        <a:lumMod val="65000"/>
                      </a:schemeClr>
                    </a:solidFill>
                  </a:tcPr>
                </a:tc>
                <a:tc>
                  <a:txBody>
                    <a:bodyPr/>
                    <a:lstStyle/>
                    <a:p>
                      <a:pPr algn="ctr"/>
                      <a:r>
                        <a:rPr lang="en-US" sz="2400" b="1" dirty="0"/>
                        <a:t>0</a:t>
                      </a:r>
                    </a:p>
                  </a:txBody>
                  <a:tcPr/>
                </a:tc>
                <a:tc>
                  <a:txBody>
                    <a:bodyPr/>
                    <a:lstStyle/>
                    <a:p>
                      <a:pPr algn="ctr"/>
                      <a:r>
                        <a:rPr lang="en-US" sz="2400" b="1" dirty="0"/>
                        <a:t>0</a:t>
                      </a:r>
                    </a:p>
                  </a:txBody>
                  <a:tcPr/>
                </a:tc>
                <a:tc>
                  <a:txBody>
                    <a:bodyPr/>
                    <a:lstStyle/>
                    <a:p>
                      <a:pPr algn="ctr"/>
                      <a:r>
                        <a:rPr lang="en-US" sz="2400" b="1" dirty="0"/>
                        <a:t>0</a:t>
                      </a:r>
                    </a:p>
                  </a:txBody>
                  <a:tcPr/>
                </a:tc>
                <a:extLst>
                  <a:ext uri="{0D108BD9-81ED-4DB2-BD59-A6C34878D82A}">
                    <a16:rowId xmlns:a16="http://schemas.microsoft.com/office/drawing/2014/main" val="10002"/>
                  </a:ext>
                </a:extLst>
              </a:tr>
              <a:tr h="370840">
                <a:tc>
                  <a:txBody>
                    <a:bodyPr/>
                    <a:lstStyle/>
                    <a:p>
                      <a:pPr algn="ctr"/>
                      <a:r>
                        <a:rPr lang="en-US" sz="2400" b="1" dirty="0"/>
                        <a:t>19.0</a:t>
                      </a:r>
                    </a:p>
                  </a:txBody>
                  <a:tcPr/>
                </a:tc>
                <a:tc>
                  <a:txBody>
                    <a:bodyPr/>
                    <a:lstStyle/>
                    <a:p>
                      <a:pPr algn="ctr"/>
                      <a:endParaRPr lang="en-US" sz="2400" b="1"/>
                    </a:p>
                  </a:txBody>
                  <a:tcPr>
                    <a:solidFill>
                      <a:schemeClr val="bg1">
                        <a:lumMod val="65000"/>
                      </a:schemeClr>
                    </a:solidFill>
                  </a:tcPr>
                </a:tc>
                <a:tc>
                  <a:txBody>
                    <a:bodyPr/>
                    <a:lstStyle/>
                    <a:p>
                      <a:pPr algn="ctr"/>
                      <a:endParaRPr lang="en-US" sz="2400" b="1"/>
                    </a:p>
                  </a:txBody>
                  <a:tcPr/>
                </a:tc>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solidFill>
                      <a:schemeClr val="bg1">
                        <a:lumMod val="65000"/>
                      </a:schemeClr>
                    </a:solidFill>
                  </a:tcPr>
                </a:tc>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tc>
                <a:extLst>
                  <a:ext uri="{0D108BD9-81ED-4DB2-BD59-A6C34878D82A}">
                    <a16:rowId xmlns:a16="http://schemas.microsoft.com/office/drawing/2014/main" val="10003"/>
                  </a:ext>
                </a:extLst>
              </a:tr>
              <a:tr h="370840">
                <a:tc>
                  <a:txBody>
                    <a:bodyPr/>
                    <a:lstStyle/>
                    <a:p>
                      <a:pPr algn="ctr"/>
                      <a:r>
                        <a:rPr lang="en-US" sz="2400" b="1" dirty="0"/>
                        <a:t>19.0</a:t>
                      </a:r>
                    </a:p>
                  </a:txBody>
                  <a:tcPr/>
                </a:tc>
                <a:tc>
                  <a:txBody>
                    <a:bodyPr/>
                    <a:lstStyle/>
                    <a:p>
                      <a:pPr algn="ctr"/>
                      <a:endParaRPr lang="en-US" sz="2400" b="1"/>
                    </a:p>
                  </a:txBody>
                  <a:tcPr>
                    <a:solidFill>
                      <a:schemeClr val="bg1">
                        <a:lumMod val="65000"/>
                      </a:schemeClr>
                    </a:solidFill>
                  </a:tcPr>
                </a:tc>
                <a:tc>
                  <a:txBody>
                    <a:bodyPr/>
                    <a:lstStyle/>
                    <a:p>
                      <a:pPr algn="ctr"/>
                      <a:endParaRPr lang="en-US" sz="2400" b="1"/>
                    </a:p>
                  </a:txBody>
                  <a:tcPr/>
                </a:tc>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solidFill>
                      <a:schemeClr val="bg1">
                        <a:lumMod val="65000"/>
                      </a:schemeClr>
                    </a:solidFill>
                  </a:tcPr>
                </a:tc>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tc>
                <a:extLst>
                  <a:ext uri="{0D108BD9-81ED-4DB2-BD59-A6C34878D82A}">
                    <a16:rowId xmlns:a16="http://schemas.microsoft.com/office/drawing/2014/main" val="10004"/>
                  </a:ext>
                </a:extLst>
              </a:tr>
              <a:tr h="370840">
                <a:tc>
                  <a:txBody>
                    <a:bodyPr/>
                    <a:lstStyle/>
                    <a:p>
                      <a:pPr algn="ctr"/>
                      <a:r>
                        <a:rPr lang="en-US" sz="2400" b="1" dirty="0"/>
                        <a:t>19.0</a:t>
                      </a:r>
                    </a:p>
                  </a:txBody>
                  <a:tcPr/>
                </a:tc>
                <a:tc>
                  <a:txBody>
                    <a:bodyPr/>
                    <a:lstStyle/>
                    <a:p>
                      <a:pPr algn="ctr"/>
                      <a:endParaRPr lang="en-US" sz="2400" b="1" dirty="0"/>
                    </a:p>
                  </a:txBody>
                  <a:tcPr>
                    <a:solidFill>
                      <a:schemeClr val="bg1">
                        <a:lumMod val="65000"/>
                      </a:schemeClr>
                    </a:solidFill>
                  </a:tcPr>
                </a:tc>
                <a:tc>
                  <a:txBody>
                    <a:bodyPr/>
                    <a:lstStyle/>
                    <a:p>
                      <a:pPr algn="ctr"/>
                      <a:endParaRPr lang="en-US" sz="2400" b="1"/>
                    </a:p>
                  </a:txBody>
                  <a:tcPr/>
                </a:tc>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solidFill>
                      <a:schemeClr val="bg1">
                        <a:lumMod val="65000"/>
                      </a:schemeClr>
                    </a:solidFill>
                  </a:tcPr>
                </a:tc>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tc>
                <a:extLst>
                  <a:ext uri="{0D108BD9-81ED-4DB2-BD59-A6C34878D82A}">
                    <a16:rowId xmlns:a16="http://schemas.microsoft.com/office/drawing/2014/main" val="10005"/>
                  </a:ext>
                </a:extLst>
              </a:tr>
            </a:tbl>
          </a:graphicData>
        </a:graphic>
      </p:graphicFrame>
      <p:sp>
        <p:nvSpPr>
          <p:cNvPr id="2" name="Title 1"/>
          <p:cNvSpPr>
            <a:spLocks noGrp="1"/>
          </p:cNvSpPr>
          <p:nvPr>
            <p:ph type="title"/>
          </p:nvPr>
        </p:nvSpPr>
        <p:spPr/>
        <p:txBody>
          <a:bodyPr/>
          <a:lstStyle/>
          <a:p>
            <a:r>
              <a:rPr lang="en-US" dirty="0"/>
              <a:t>How a model sees the coefficients</a:t>
            </a:r>
          </a:p>
        </p:txBody>
      </p:sp>
      <p:sp>
        <p:nvSpPr>
          <p:cNvPr id="9" name="TextBox 8"/>
          <p:cNvSpPr txBox="1"/>
          <p:nvPr/>
        </p:nvSpPr>
        <p:spPr>
          <a:xfrm>
            <a:off x="111764" y="3633627"/>
            <a:ext cx="2191241" cy="584775"/>
          </a:xfrm>
          <a:prstGeom prst="rect">
            <a:avLst/>
          </a:prstGeom>
          <a:noFill/>
        </p:spPr>
        <p:txBody>
          <a:bodyPr wrap="none" rtlCol="0">
            <a:spAutoFit/>
          </a:bodyPr>
          <a:lstStyle/>
          <a:p>
            <a:r>
              <a:rPr lang="en-US" sz="3200" b="1" dirty="0"/>
              <a:t>Model view</a:t>
            </a:r>
          </a:p>
        </p:txBody>
      </p:sp>
      <p:sp>
        <p:nvSpPr>
          <p:cNvPr id="11" name="Rounded Rectangle 10"/>
          <p:cNvSpPr/>
          <p:nvPr/>
        </p:nvSpPr>
        <p:spPr>
          <a:xfrm>
            <a:off x="111764" y="5016864"/>
            <a:ext cx="8961121" cy="346138"/>
          </a:xfrm>
          <a:prstGeom prst="round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p:cNvPicPr>
            <a:picLocks noChangeAspect="1"/>
          </p:cNvPicPr>
          <p:nvPr/>
        </p:nvPicPr>
        <p:blipFill rotWithShape="1">
          <a:blip r:embed="rId3">
            <a:extLst>
              <a:ext uri="{28A0092B-C50C-407E-A947-70E740481C1C}">
                <a14:useLocalDpi xmlns:a14="http://schemas.microsoft.com/office/drawing/2010/main" val="0"/>
              </a:ext>
            </a:extLst>
          </a:blip>
          <a:srcRect l="21034" t="1042" r="4483" b="65127"/>
          <a:stretch/>
        </p:blipFill>
        <p:spPr>
          <a:xfrm>
            <a:off x="639293" y="1381364"/>
            <a:ext cx="2377440" cy="2322408"/>
          </a:xfrm>
          <a:prstGeom prst="rect">
            <a:avLst/>
          </a:prstGeom>
          <a:ln>
            <a:solidFill>
              <a:schemeClr val="tx1"/>
            </a:solidFill>
          </a:ln>
        </p:spPr>
      </p:pic>
      <p:sp>
        <p:nvSpPr>
          <p:cNvPr id="14" name="TextBox 13"/>
          <p:cNvSpPr txBox="1"/>
          <p:nvPr/>
        </p:nvSpPr>
        <p:spPr>
          <a:xfrm rot="16200000">
            <a:off x="-567108" y="2272851"/>
            <a:ext cx="1942519" cy="584775"/>
          </a:xfrm>
          <a:prstGeom prst="rect">
            <a:avLst/>
          </a:prstGeom>
          <a:noFill/>
        </p:spPr>
        <p:txBody>
          <a:bodyPr wrap="none" rtlCol="0">
            <a:spAutoFit/>
          </a:bodyPr>
          <a:lstStyle/>
          <a:p>
            <a:r>
              <a:rPr lang="en-US" sz="3200" b="1" dirty="0"/>
              <a:t>Data table</a:t>
            </a:r>
          </a:p>
        </p:txBody>
      </p:sp>
      <p:pic>
        <p:nvPicPr>
          <p:cNvPr id="15" name="Picture 14"/>
          <p:cNvPicPr>
            <a:picLocks noChangeAspect="1"/>
          </p:cNvPicPr>
          <p:nvPr/>
        </p:nvPicPr>
        <p:blipFill rotWithShape="1">
          <a:blip r:embed="rId4">
            <a:extLst>
              <a:ext uri="{28A0092B-C50C-407E-A947-70E740481C1C}">
                <a14:useLocalDpi xmlns:a14="http://schemas.microsoft.com/office/drawing/2010/main" val="0"/>
              </a:ext>
            </a:extLst>
          </a:blip>
          <a:srcRect l="2363" t="43138" r="54819" b="22043"/>
          <a:stretch/>
        </p:blipFill>
        <p:spPr>
          <a:xfrm>
            <a:off x="4293374" y="1408711"/>
            <a:ext cx="3362961" cy="2296160"/>
          </a:xfrm>
          <a:prstGeom prst="rect">
            <a:avLst/>
          </a:prstGeom>
          <a:ln>
            <a:solidFill>
              <a:schemeClr val="tx1"/>
            </a:solidFill>
          </a:ln>
        </p:spPr>
      </p:pic>
      <p:sp>
        <p:nvSpPr>
          <p:cNvPr id="16" name="TextBox 15"/>
          <p:cNvSpPr txBox="1"/>
          <p:nvPr/>
        </p:nvSpPr>
        <p:spPr>
          <a:xfrm rot="16200000">
            <a:off x="2578822" y="2018182"/>
            <a:ext cx="2350854" cy="1077218"/>
          </a:xfrm>
          <a:prstGeom prst="rect">
            <a:avLst/>
          </a:prstGeom>
          <a:noFill/>
        </p:spPr>
        <p:txBody>
          <a:bodyPr wrap="square" rtlCol="0">
            <a:spAutoFit/>
          </a:bodyPr>
          <a:lstStyle/>
          <a:p>
            <a:pPr algn="ctr"/>
            <a:r>
              <a:rPr lang="en-US" sz="3200" b="1" dirty="0"/>
              <a:t>Model Summary</a:t>
            </a:r>
          </a:p>
        </p:txBody>
      </p:sp>
      <p:sp>
        <p:nvSpPr>
          <p:cNvPr id="10" name="Rounded Rectangle 9"/>
          <p:cNvSpPr/>
          <p:nvPr/>
        </p:nvSpPr>
        <p:spPr>
          <a:xfrm>
            <a:off x="592605" y="2163255"/>
            <a:ext cx="2481374" cy="335280"/>
          </a:xfrm>
          <a:prstGeom prst="round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9255765" y="4213722"/>
            <a:ext cx="2936235" cy="1569660"/>
          </a:xfrm>
          <a:prstGeom prst="rect">
            <a:avLst/>
          </a:prstGeom>
          <a:noFill/>
        </p:spPr>
        <p:txBody>
          <a:bodyPr wrap="square" rtlCol="0">
            <a:spAutoFit/>
          </a:bodyPr>
          <a:lstStyle/>
          <a:p>
            <a:r>
              <a:rPr lang="en-US" sz="2400" b="1" dirty="0"/>
              <a:t>Other factors filled in based on whether or not they apply to that row of data</a:t>
            </a:r>
          </a:p>
        </p:txBody>
      </p:sp>
    </p:spTree>
    <p:extLst>
      <p:ext uri="{BB962C8B-B14F-4D97-AF65-F5344CB8AC3E}">
        <p14:creationId xmlns:p14="http://schemas.microsoft.com/office/powerpoint/2010/main" val="799633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p:cNvGraphicFramePr>
            <a:graphicFrameLocks noGrp="1"/>
          </p:cNvGraphicFramePr>
          <p:nvPr/>
        </p:nvGraphicFramePr>
        <p:xfrm>
          <a:off x="111764" y="4129319"/>
          <a:ext cx="8961121" cy="2656840"/>
        </p:xfrm>
        <a:graphic>
          <a:graphicData uri="http://schemas.openxmlformats.org/drawingml/2006/table">
            <a:tbl>
              <a:tblPr firstRow="1" bandRow="1">
                <a:tableStyleId>{7E9639D4-E3E2-4D34-9284-5A2195B3D0D7}</a:tableStyleId>
              </a:tblPr>
              <a:tblGrid>
                <a:gridCol w="871727">
                  <a:extLst>
                    <a:ext uri="{9D8B030D-6E8A-4147-A177-3AD203B41FA5}">
                      <a16:colId xmlns:a16="http://schemas.microsoft.com/office/drawing/2014/main" val="20000"/>
                    </a:ext>
                  </a:extLst>
                </a:gridCol>
                <a:gridCol w="871727">
                  <a:extLst>
                    <a:ext uri="{9D8B030D-6E8A-4147-A177-3AD203B41FA5}">
                      <a16:colId xmlns:a16="http://schemas.microsoft.com/office/drawing/2014/main" val="20001"/>
                    </a:ext>
                  </a:extLst>
                </a:gridCol>
                <a:gridCol w="871727">
                  <a:extLst>
                    <a:ext uri="{9D8B030D-6E8A-4147-A177-3AD203B41FA5}">
                      <a16:colId xmlns:a16="http://schemas.microsoft.com/office/drawing/2014/main" val="20002"/>
                    </a:ext>
                  </a:extLst>
                </a:gridCol>
                <a:gridCol w="871727">
                  <a:extLst>
                    <a:ext uri="{9D8B030D-6E8A-4147-A177-3AD203B41FA5}">
                      <a16:colId xmlns:a16="http://schemas.microsoft.com/office/drawing/2014/main" val="20003"/>
                    </a:ext>
                  </a:extLst>
                </a:gridCol>
                <a:gridCol w="871727">
                  <a:extLst>
                    <a:ext uri="{9D8B030D-6E8A-4147-A177-3AD203B41FA5}">
                      <a16:colId xmlns:a16="http://schemas.microsoft.com/office/drawing/2014/main" val="20004"/>
                    </a:ext>
                  </a:extLst>
                </a:gridCol>
                <a:gridCol w="782321">
                  <a:extLst>
                    <a:ext uri="{9D8B030D-6E8A-4147-A177-3AD203B41FA5}">
                      <a16:colId xmlns:a16="http://schemas.microsoft.com/office/drawing/2014/main" val="20005"/>
                    </a:ext>
                  </a:extLst>
                </a:gridCol>
                <a:gridCol w="1412240">
                  <a:extLst>
                    <a:ext uri="{9D8B030D-6E8A-4147-A177-3AD203B41FA5}">
                      <a16:colId xmlns:a16="http://schemas.microsoft.com/office/drawing/2014/main" val="20006"/>
                    </a:ext>
                  </a:extLst>
                </a:gridCol>
                <a:gridCol w="1036321">
                  <a:extLst>
                    <a:ext uri="{9D8B030D-6E8A-4147-A177-3AD203B41FA5}">
                      <a16:colId xmlns:a16="http://schemas.microsoft.com/office/drawing/2014/main" val="20007"/>
                    </a:ext>
                  </a:extLst>
                </a:gridCol>
                <a:gridCol w="1371604">
                  <a:extLst>
                    <a:ext uri="{9D8B030D-6E8A-4147-A177-3AD203B41FA5}">
                      <a16:colId xmlns:a16="http://schemas.microsoft.com/office/drawing/2014/main" val="20008"/>
                    </a:ext>
                  </a:extLst>
                </a:gridCol>
              </a:tblGrid>
              <a:tr h="370840">
                <a:tc>
                  <a:txBody>
                    <a:bodyPr/>
                    <a:lstStyle/>
                    <a:p>
                      <a:pPr algn="ctr"/>
                      <a:r>
                        <a:rPr lang="en-US" sz="1400" dirty="0"/>
                        <a:t>intercept</a:t>
                      </a:r>
                      <a:endParaRPr lang="en-US" dirty="0"/>
                    </a:p>
                  </a:txBody>
                  <a:tcPr anchor="ctr"/>
                </a:tc>
                <a:tc>
                  <a:txBody>
                    <a:bodyPr/>
                    <a:lstStyle/>
                    <a:p>
                      <a:pPr algn="ctr"/>
                      <a:r>
                        <a:rPr lang="en-US" dirty="0"/>
                        <a:t>block1</a:t>
                      </a:r>
                    </a:p>
                  </a:txBody>
                  <a:tcPr anchor="ctr">
                    <a:solidFill>
                      <a:schemeClr val="bg1">
                        <a:lumMod val="65000"/>
                      </a:schemeClr>
                    </a:solidFill>
                  </a:tcPr>
                </a:tc>
                <a:tc>
                  <a:txBody>
                    <a:bodyPr/>
                    <a:lstStyle/>
                    <a:p>
                      <a:pPr algn="ctr"/>
                      <a:r>
                        <a:rPr lang="en-US" dirty="0"/>
                        <a:t>block2</a:t>
                      </a:r>
                    </a:p>
                  </a:txBody>
                  <a:tcPr anchor="ctr"/>
                </a:tc>
                <a:tc>
                  <a:txBody>
                    <a:bodyPr/>
                    <a:lstStyle/>
                    <a:p>
                      <a:pPr algn="ctr"/>
                      <a:r>
                        <a:rPr lang="en-US" dirty="0"/>
                        <a:t>block3</a:t>
                      </a:r>
                    </a:p>
                  </a:txBody>
                  <a:tcPr anchor="ctr"/>
                </a:tc>
                <a:tc>
                  <a:txBody>
                    <a:bodyPr/>
                    <a:lstStyle/>
                    <a:p>
                      <a:pPr algn="ctr"/>
                      <a:r>
                        <a:rPr lang="en-US" dirty="0"/>
                        <a:t>block4</a:t>
                      </a:r>
                    </a:p>
                  </a:txBody>
                  <a:tcPr anchor="ctr"/>
                </a:tc>
                <a:tc>
                  <a:txBody>
                    <a:bodyPr/>
                    <a:lstStyle/>
                    <a:p>
                      <a:pPr algn="ctr"/>
                      <a:r>
                        <a:rPr lang="en-US" dirty="0"/>
                        <a:t>Anne</a:t>
                      </a:r>
                    </a:p>
                  </a:txBody>
                  <a:tcPr anchor="ctr">
                    <a:solidFill>
                      <a:schemeClr val="bg1">
                        <a:lumMod val="65000"/>
                      </a:schemeClr>
                    </a:solidFill>
                  </a:tcPr>
                </a:tc>
                <a:tc>
                  <a:txBody>
                    <a:bodyPr/>
                    <a:lstStyle/>
                    <a:p>
                      <a:pPr algn="ctr"/>
                      <a:r>
                        <a:rPr lang="en-US" dirty="0"/>
                        <a:t>Cumberland</a:t>
                      </a:r>
                    </a:p>
                  </a:txBody>
                  <a:tcPr anchor="ctr"/>
                </a:tc>
                <a:tc>
                  <a:txBody>
                    <a:bodyPr/>
                    <a:lstStyle/>
                    <a:p>
                      <a:pPr algn="ctr"/>
                      <a:r>
                        <a:rPr lang="en-US" dirty="0"/>
                        <a:t>Heritage</a:t>
                      </a:r>
                      <a:endParaRPr lang="en-US" sz="1800" dirty="0"/>
                    </a:p>
                  </a:txBody>
                  <a:tcPr anchor="ctr"/>
                </a:tc>
                <a:tc>
                  <a:txBody>
                    <a:bodyPr/>
                    <a:lstStyle/>
                    <a:p>
                      <a:pPr algn="ctr"/>
                      <a:r>
                        <a:rPr lang="en-US" dirty="0" err="1"/>
                        <a:t>JewellBlack</a:t>
                      </a:r>
                      <a:endParaRPr lang="en-US" dirty="0"/>
                    </a:p>
                  </a:txBody>
                  <a:tcPr anchor="ctr"/>
                </a:tc>
                <a:extLst>
                  <a:ext uri="{0D108BD9-81ED-4DB2-BD59-A6C34878D82A}">
                    <a16:rowId xmlns:a16="http://schemas.microsoft.com/office/drawing/2014/main" val="10000"/>
                  </a:ext>
                </a:extLst>
              </a:tr>
              <a:tr h="370840">
                <a:tc>
                  <a:txBody>
                    <a:bodyPr/>
                    <a:lstStyle/>
                    <a:p>
                      <a:pPr algn="ctr"/>
                      <a:r>
                        <a:rPr lang="en-US" sz="2400" b="1" dirty="0"/>
                        <a:t>19.0</a:t>
                      </a:r>
                    </a:p>
                  </a:txBody>
                  <a:tcPr/>
                </a:tc>
                <a:tc>
                  <a:txBody>
                    <a:bodyPr/>
                    <a:lstStyle/>
                    <a:p>
                      <a:pPr algn="ctr"/>
                      <a:endParaRPr lang="en-US" sz="2400" b="1" dirty="0"/>
                    </a:p>
                  </a:txBody>
                  <a:tcPr>
                    <a:solidFill>
                      <a:schemeClr val="bg1">
                        <a:lumMod val="65000"/>
                      </a:schemeClr>
                    </a:solidFill>
                  </a:tcPr>
                </a:tc>
                <a:tc>
                  <a:txBody>
                    <a:bodyPr/>
                    <a:lstStyle/>
                    <a:p>
                      <a:pPr algn="ctr"/>
                      <a:r>
                        <a:rPr lang="en-US" sz="2400" b="1" dirty="0"/>
                        <a:t>0</a:t>
                      </a:r>
                    </a:p>
                  </a:txBody>
                  <a:tcPr/>
                </a:tc>
                <a:tc>
                  <a:txBody>
                    <a:bodyPr/>
                    <a:lstStyle/>
                    <a:p>
                      <a:pPr algn="ctr"/>
                      <a:r>
                        <a:rPr lang="en-US" sz="2400" b="1" dirty="0"/>
                        <a:t>0</a:t>
                      </a:r>
                    </a:p>
                  </a:txBody>
                  <a:tcPr/>
                </a:tc>
                <a:tc>
                  <a:txBody>
                    <a:bodyPr/>
                    <a:lstStyle/>
                    <a:p>
                      <a:pPr algn="ctr"/>
                      <a:r>
                        <a:rPr lang="en-US" sz="2400" b="1" dirty="0"/>
                        <a:t>0</a:t>
                      </a:r>
                    </a:p>
                  </a:txBody>
                  <a:tcPr/>
                </a:tc>
                <a:tc>
                  <a:txBody>
                    <a:bodyPr/>
                    <a:lstStyle/>
                    <a:p>
                      <a:pPr algn="ctr"/>
                      <a:endParaRPr lang="en-US" sz="2400" b="1" dirty="0"/>
                    </a:p>
                  </a:txBody>
                  <a:tcPr>
                    <a:solidFill>
                      <a:schemeClr val="bg1">
                        <a:lumMod val="65000"/>
                      </a:schemeClr>
                    </a:solidFill>
                  </a:tcPr>
                </a:tc>
                <a:tc>
                  <a:txBody>
                    <a:bodyPr/>
                    <a:lstStyle/>
                    <a:p>
                      <a:pPr algn="ctr"/>
                      <a:r>
                        <a:rPr lang="en-US" sz="2400" b="1" dirty="0"/>
                        <a:t>0</a:t>
                      </a:r>
                    </a:p>
                  </a:txBody>
                  <a:tcPr/>
                </a:tc>
                <a:tc>
                  <a:txBody>
                    <a:bodyPr/>
                    <a:lstStyle/>
                    <a:p>
                      <a:pPr algn="ctr"/>
                      <a:r>
                        <a:rPr lang="en-US" sz="2400" b="1" dirty="0"/>
                        <a:t>-4.8</a:t>
                      </a:r>
                    </a:p>
                  </a:txBody>
                  <a:tcPr/>
                </a:tc>
                <a:tc>
                  <a:txBody>
                    <a:bodyPr/>
                    <a:lstStyle/>
                    <a:p>
                      <a:pPr algn="ctr"/>
                      <a:r>
                        <a:rPr lang="en-US" sz="2400" b="1" dirty="0"/>
                        <a:t>0</a:t>
                      </a:r>
                    </a:p>
                  </a:txBody>
                  <a:tcPr/>
                </a:tc>
                <a:extLst>
                  <a:ext uri="{0D108BD9-81ED-4DB2-BD59-A6C34878D82A}">
                    <a16:rowId xmlns:a16="http://schemas.microsoft.com/office/drawing/2014/main" val="10001"/>
                  </a:ext>
                </a:extLst>
              </a:tr>
              <a:tr h="370840">
                <a:tc>
                  <a:txBody>
                    <a:bodyPr/>
                    <a:lstStyle/>
                    <a:p>
                      <a:pPr algn="ctr"/>
                      <a:r>
                        <a:rPr lang="en-US" sz="2400" b="1" dirty="0"/>
                        <a:t>19.0</a:t>
                      </a:r>
                    </a:p>
                  </a:txBody>
                  <a:tcPr/>
                </a:tc>
                <a:tc>
                  <a:txBody>
                    <a:bodyPr/>
                    <a:lstStyle/>
                    <a:p>
                      <a:pPr algn="ctr"/>
                      <a:endParaRPr lang="en-US" sz="2400" b="1" dirty="0"/>
                    </a:p>
                  </a:txBody>
                  <a:tcPr>
                    <a:solidFill>
                      <a:schemeClr val="bg1">
                        <a:lumMod val="65000"/>
                      </a:schemeClr>
                    </a:solidFill>
                  </a:tcPr>
                </a:tc>
                <a:tc>
                  <a:txBody>
                    <a:bodyPr/>
                    <a:lstStyle/>
                    <a:p>
                      <a:pPr algn="ctr"/>
                      <a:r>
                        <a:rPr lang="en-US" sz="2400" b="1" dirty="0"/>
                        <a:t>0</a:t>
                      </a:r>
                    </a:p>
                  </a:txBody>
                  <a:tcPr/>
                </a:tc>
                <a:tc>
                  <a:txBody>
                    <a:bodyPr/>
                    <a:lstStyle/>
                    <a:p>
                      <a:pPr algn="ctr"/>
                      <a:r>
                        <a:rPr lang="en-US" sz="2400" b="1" dirty="0"/>
                        <a:t>0</a:t>
                      </a:r>
                    </a:p>
                  </a:txBody>
                  <a:tcPr/>
                </a:tc>
                <a:tc>
                  <a:txBody>
                    <a:bodyPr/>
                    <a:lstStyle/>
                    <a:p>
                      <a:pPr algn="ctr"/>
                      <a:r>
                        <a:rPr lang="en-US" sz="2400" b="1" dirty="0"/>
                        <a:t>0</a:t>
                      </a:r>
                    </a:p>
                  </a:txBody>
                  <a:tcPr/>
                </a:tc>
                <a:tc>
                  <a:txBody>
                    <a:bodyPr/>
                    <a:lstStyle/>
                    <a:p>
                      <a:pPr algn="ctr"/>
                      <a:endParaRPr lang="en-US" sz="2400" b="1" dirty="0"/>
                    </a:p>
                  </a:txBody>
                  <a:tcPr>
                    <a:solidFill>
                      <a:schemeClr val="bg1">
                        <a:lumMod val="65000"/>
                      </a:schemeClr>
                    </a:solidFill>
                  </a:tcPr>
                </a:tc>
                <a:tc>
                  <a:txBody>
                    <a:bodyPr/>
                    <a:lstStyle/>
                    <a:p>
                      <a:pPr algn="ctr"/>
                      <a:r>
                        <a:rPr lang="en-US" sz="2400" b="1" dirty="0"/>
                        <a:t>0</a:t>
                      </a:r>
                    </a:p>
                  </a:txBody>
                  <a:tcPr/>
                </a:tc>
                <a:tc>
                  <a:txBody>
                    <a:bodyPr/>
                    <a:lstStyle/>
                    <a:p>
                      <a:pPr algn="ctr"/>
                      <a:r>
                        <a:rPr lang="en-US" sz="2400" b="1" dirty="0"/>
                        <a:t>0</a:t>
                      </a:r>
                    </a:p>
                  </a:txBody>
                  <a:tcPr/>
                </a:tc>
                <a:tc>
                  <a:txBody>
                    <a:bodyPr/>
                    <a:lstStyle/>
                    <a:p>
                      <a:pPr algn="ctr"/>
                      <a:r>
                        <a:rPr lang="en-US" sz="2400" b="1" dirty="0"/>
                        <a:t>0</a:t>
                      </a:r>
                    </a:p>
                  </a:txBody>
                  <a:tcPr/>
                </a:tc>
                <a:extLst>
                  <a:ext uri="{0D108BD9-81ED-4DB2-BD59-A6C34878D82A}">
                    <a16:rowId xmlns:a16="http://schemas.microsoft.com/office/drawing/2014/main" val="10002"/>
                  </a:ext>
                </a:extLst>
              </a:tr>
              <a:tr h="370840">
                <a:tc>
                  <a:txBody>
                    <a:bodyPr/>
                    <a:lstStyle/>
                    <a:p>
                      <a:pPr algn="ctr"/>
                      <a:r>
                        <a:rPr lang="en-US" sz="2400" b="1" dirty="0"/>
                        <a:t>19.0</a:t>
                      </a:r>
                    </a:p>
                  </a:txBody>
                  <a:tcPr/>
                </a:tc>
                <a:tc>
                  <a:txBody>
                    <a:bodyPr/>
                    <a:lstStyle/>
                    <a:p>
                      <a:pPr algn="ctr"/>
                      <a:endParaRPr lang="en-US" sz="2400" b="1"/>
                    </a:p>
                  </a:txBody>
                  <a:tcPr>
                    <a:solidFill>
                      <a:schemeClr val="bg1">
                        <a:lumMod val="65000"/>
                      </a:schemeClr>
                    </a:solidFill>
                  </a:tcPr>
                </a:tc>
                <a:tc>
                  <a:txBody>
                    <a:bodyPr/>
                    <a:lstStyle/>
                    <a:p>
                      <a:pPr algn="ctr"/>
                      <a:endParaRPr lang="en-US" sz="2400" b="1"/>
                    </a:p>
                  </a:txBody>
                  <a:tcPr/>
                </a:tc>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solidFill>
                      <a:schemeClr val="bg1">
                        <a:lumMod val="65000"/>
                      </a:schemeClr>
                    </a:solidFill>
                  </a:tcPr>
                </a:tc>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tc>
                <a:extLst>
                  <a:ext uri="{0D108BD9-81ED-4DB2-BD59-A6C34878D82A}">
                    <a16:rowId xmlns:a16="http://schemas.microsoft.com/office/drawing/2014/main" val="10003"/>
                  </a:ext>
                </a:extLst>
              </a:tr>
              <a:tr h="370840">
                <a:tc>
                  <a:txBody>
                    <a:bodyPr/>
                    <a:lstStyle/>
                    <a:p>
                      <a:pPr algn="ctr"/>
                      <a:r>
                        <a:rPr lang="en-US" sz="2400" b="1" dirty="0"/>
                        <a:t>19.0</a:t>
                      </a:r>
                    </a:p>
                  </a:txBody>
                  <a:tcPr/>
                </a:tc>
                <a:tc>
                  <a:txBody>
                    <a:bodyPr/>
                    <a:lstStyle/>
                    <a:p>
                      <a:pPr algn="ctr"/>
                      <a:endParaRPr lang="en-US" sz="2400" b="1"/>
                    </a:p>
                  </a:txBody>
                  <a:tcPr>
                    <a:solidFill>
                      <a:schemeClr val="bg1">
                        <a:lumMod val="65000"/>
                      </a:schemeClr>
                    </a:solidFill>
                  </a:tcPr>
                </a:tc>
                <a:tc>
                  <a:txBody>
                    <a:bodyPr/>
                    <a:lstStyle/>
                    <a:p>
                      <a:pPr algn="ctr"/>
                      <a:endParaRPr lang="en-US" sz="2400" b="1"/>
                    </a:p>
                  </a:txBody>
                  <a:tcPr/>
                </a:tc>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solidFill>
                      <a:schemeClr val="bg1">
                        <a:lumMod val="65000"/>
                      </a:schemeClr>
                    </a:solidFill>
                  </a:tcPr>
                </a:tc>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tc>
                <a:extLst>
                  <a:ext uri="{0D108BD9-81ED-4DB2-BD59-A6C34878D82A}">
                    <a16:rowId xmlns:a16="http://schemas.microsoft.com/office/drawing/2014/main" val="10004"/>
                  </a:ext>
                </a:extLst>
              </a:tr>
              <a:tr h="370840">
                <a:tc>
                  <a:txBody>
                    <a:bodyPr/>
                    <a:lstStyle/>
                    <a:p>
                      <a:pPr algn="ctr"/>
                      <a:r>
                        <a:rPr lang="en-US" sz="2400" b="1" dirty="0"/>
                        <a:t>19.0</a:t>
                      </a:r>
                    </a:p>
                  </a:txBody>
                  <a:tcPr/>
                </a:tc>
                <a:tc>
                  <a:txBody>
                    <a:bodyPr/>
                    <a:lstStyle/>
                    <a:p>
                      <a:pPr algn="ctr"/>
                      <a:endParaRPr lang="en-US" sz="2400" b="1" dirty="0"/>
                    </a:p>
                  </a:txBody>
                  <a:tcPr>
                    <a:solidFill>
                      <a:schemeClr val="bg1">
                        <a:lumMod val="65000"/>
                      </a:schemeClr>
                    </a:solidFill>
                  </a:tcPr>
                </a:tc>
                <a:tc>
                  <a:txBody>
                    <a:bodyPr/>
                    <a:lstStyle/>
                    <a:p>
                      <a:pPr algn="ctr"/>
                      <a:endParaRPr lang="en-US" sz="2400" b="1"/>
                    </a:p>
                  </a:txBody>
                  <a:tcPr/>
                </a:tc>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solidFill>
                      <a:schemeClr val="bg1">
                        <a:lumMod val="65000"/>
                      </a:schemeClr>
                    </a:solidFill>
                  </a:tcPr>
                </a:tc>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tc>
                <a:extLst>
                  <a:ext uri="{0D108BD9-81ED-4DB2-BD59-A6C34878D82A}">
                    <a16:rowId xmlns:a16="http://schemas.microsoft.com/office/drawing/2014/main" val="10005"/>
                  </a:ext>
                </a:extLst>
              </a:tr>
            </a:tbl>
          </a:graphicData>
        </a:graphic>
      </p:graphicFrame>
      <p:sp>
        <p:nvSpPr>
          <p:cNvPr id="2" name="Title 1"/>
          <p:cNvSpPr>
            <a:spLocks noGrp="1"/>
          </p:cNvSpPr>
          <p:nvPr>
            <p:ph type="title"/>
          </p:nvPr>
        </p:nvSpPr>
        <p:spPr/>
        <p:txBody>
          <a:bodyPr/>
          <a:lstStyle/>
          <a:p>
            <a:r>
              <a:rPr lang="en-US" dirty="0"/>
              <a:t>Exercise: Fill out the table</a:t>
            </a:r>
          </a:p>
        </p:txBody>
      </p:sp>
      <p:sp>
        <p:nvSpPr>
          <p:cNvPr id="9" name="TextBox 8"/>
          <p:cNvSpPr txBox="1"/>
          <p:nvPr/>
        </p:nvSpPr>
        <p:spPr>
          <a:xfrm>
            <a:off x="111764" y="3633627"/>
            <a:ext cx="2191241" cy="584775"/>
          </a:xfrm>
          <a:prstGeom prst="rect">
            <a:avLst/>
          </a:prstGeom>
          <a:noFill/>
        </p:spPr>
        <p:txBody>
          <a:bodyPr wrap="none" rtlCol="0">
            <a:spAutoFit/>
          </a:bodyPr>
          <a:lstStyle/>
          <a:p>
            <a:r>
              <a:rPr lang="en-US" sz="3200" b="1" dirty="0"/>
              <a:t>Model view</a:t>
            </a:r>
          </a:p>
        </p:txBody>
      </p:sp>
      <p:pic>
        <p:nvPicPr>
          <p:cNvPr id="13" name="Picture 12"/>
          <p:cNvPicPr>
            <a:picLocks noChangeAspect="1"/>
          </p:cNvPicPr>
          <p:nvPr/>
        </p:nvPicPr>
        <p:blipFill rotWithShape="1">
          <a:blip r:embed="rId3">
            <a:extLst>
              <a:ext uri="{28A0092B-C50C-407E-A947-70E740481C1C}">
                <a14:useLocalDpi xmlns:a14="http://schemas.microsoft.com/office/drawing/2010/main" val="0"/>
              </a:ext>
            </a:extLst>
          </a:blip>
          <a:srcRect l="21034" t="1042" r="4483" b="65127"/>
          <a:stretch/>
        </p:blipFill>
        <p:spPr>
          <a:xfrm>
            <a:off x="639293" y="1381364"/>
            <a:ext cx="2377440" cy="2322408"/>
          </a:xfrm>
          <a:prstGeom prst="rect">
            <a:avLst/>
          </a:prstGeom>
          <a:ln>
            <a:solidFill>
              <a:schemeClr val="tx1"/>
            </a:solidFill>
          </a:ln>
        </p:spPr>
      </p:pic>
      <p:sp>
        <p:nvSpPr>
          <p:cNvPr id="14" name="TextBox 13"/>
          <p:cNvSpPr txBox="1"/>
          <p:nvPr/>
        </p:nvSpPr>
        <p:spPr>
          <a:xfrm rot="16200000">
            <a:off x="-567108" y="2272851"/>
            <a:ext cx="1942519" cy="584775"/>
          </a:xfrm>
          <a:prstGeom prst="rect">
            <a:avLst/>
          </a:prstGeom>
          <a:noFill/>
        </p:spPr>
        <p:txBody>
          <a:bodyPr wrap="none" rtlCol="0">
            <a:spAutoFit/>
          </a:bodyPr>
          <a:lstStyle/>
          <a:p>
            <a:r>
              <a:rPr lang="en-US" sz="3200" b="1" dirty="0"/>
              <a:t>Data table</a:t>
            </a:r>
          </a:p>
        </p:txBody>
      </p:sp>
      <p:pic>
        <p:nvPicPr>
          <p:cNvPr id="15" name="Picture 14"/>
          <p:cNvPicPr>
            <a:picLocks noChangeAspect="1"/>
          </p:cNvPicPr>
          <p:nvPr/>
        </p:nvPicPr>
        <p:blipFill rotWithShape="1">
          <a:blip r:embed="rId4">
            <a:extLst>
              <a:ext uri="{28A0092B-C50C-407E-A947-70E740481C1C}">
                <a14:useLocalDpi xmlns:a14="http://schemas.microsoft.com/office/drawing/2010/main" val="0"/>
              </a:ext>
            </a:extLst>
          </a:blip>
          <a:srcRect l="2363" t="43138" r="54819" b="22043"/>
          <a:stretch/>
        </p:blipFill>
        <p:spPr>
          <a:xfrm>
            <a:off x="4293374" y="1408711"/>
            <a:ext cx="3362961" cy="2296160"/>
          </a:xfrm>
          <a:prstGeom prst="rect">
            <a:avLst/>
          </a:prstGeom>
          <a:ln>
            <a:solidFill>
              <a:schemeClr val="tx1"/>
            </a:solidFill>
          </a:ln>
        </p:spPr>
      </p:pic>
      <p:sp>
        <p:nvSpPr>
          <p:cNvPr id="16" name="TextBox 15"/>
          <p:cNvSpPr txBox="1"/>
          <p:nvPr/>
        </p:nvSpPr>
        <p:spPr>
          <a:xfrm rot="16200000">
            <a:off x="2578822" y="2018182"/>
            <a:ext cx="2350854" cy="1077218"/>
          </a:xfrm>
          <a:prstGeom prst="rect">
            <a:avLst/>
          </a:prstGeom>
          <a:noFill/>
        </p:spPr>
        <p:txBody>
          <a:bodyPr wrap="square" rtlCol="0">
            <a:spAutoFit/>
          </a:bodyPr>
          <a:lstStyle/>
          <a:p>
            <a:pPr algn="ctr"/>
            <a:r>
              <a:rPr lang="en-US" sz="3200" b="1" dirty="0"/>
              <a:t>Model Summary</a:t>
            </a:r>
          </a:p>
        </p:txBody>
      </p:sp>
      <p:sp>
        <p:nvSpPr>
          <p:cNvPr id="10" name="Rounded Rectangle 9"/>
          <p:cNvSpPr/>
          <p:nvPr/>
        </p:nvSpPr>
        <p:spPr>
          <a:xfrm>
            <a:off x="592605" y="2163255"/>
            <a:ext cx="2481374" cy="335280"/>
          </a:xfrm>
          <a:prstGeom prst="round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9255765" y="5661878"/>
            <a:ext cx="2936235" cy="830997"/>
          </a:xfrm>
          <a:prstGeom prst="rect">
            <a:avLst/>
          </a:prstGeom>
          <a:noFill/>
        </p:spPr>
        <p:txBody>
          <a:bodyPr wrap="square" rtlCol="0">
            <a:spAutoFit/>
          </a:bodyPr>
          <a:lstStyle/>
          <a:p>
            <a:r>
              <a:rPr lang="en-US" sz="2400" b="1" dirty="0">
                <a:solidFill>
                  <a:srgbClr val="C00000"/>
                </a:solidFill>
              </a:rPr>
              <a:t>What values will go in these rows?</a:t>
            </a:r>
          </a:p>
        </p:txBody>
      </p:sp>
    </p:spTree>
    <p:extLst>
      <p:ext uri="{BB962C8B-B14F-4D97-AF65-F5344CB8AC3E}">
        <p14:creationId xmlns:p14="http://schemas.microsoft.com/office/powerpoint/2010/main" val="8496544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p:cNvGraphicFramePr>
            <a:graphicFrameLocks noGrp="1"/>
          </p:cNvGraphicFramePr>
          <p:nvPr>
            <p:extLst>
              <p:ext uri="{D42A27DB-BD31-4B8C-83A1-F6EECF244321}">
                <p14:modId xmlns:p14="http://schemas.microsoft.com/office/powerpoint/2010/main" val="898428435"/>
              </p:ext>
            </p:extLst>
          </p:nvPr>
        </p:nvGraphicFramePr>
        <p:xfrm>
          <a:off x="111764" y="4124639"/>
          <a:ext cx="8961121" cy="2656840"/>
        </p:xfrm>
        <a:graphic>
          <a:graphicData uri="http://schemas.openxmlformats.org/drawingml/2006/table">
            <a:tbl>
              <a:tblPr firstRow="1" bandRow="1">
                <a:tableStyleId>{7E9639D4-E3E2-4D34-9284-5A2195B3D0D7}</a:tableStyleId>
              </a:tblPr>
              <a:tblGrid>
                <a:gridCol w="871727">
                  <a:extLst>
                    <a:ext uri="{9D8B030D-6E8A-4147-A177-3AD203B41FA5}">
                      <a16:colId xmlns:a16="http://schemas.microsoft.com/office/drawing/2014/main" val="20000"/>
                    </a:ext>
                  </a:extLst>
                </a:gridCol>
                <a:gridCol w="871727">
                  <a:extLst>
                    <a:ext uri="{9D8B030D-6E8A-4147-A177-3AD203B41FA5}">
                      <a16:colId xmlns:a16="http://schemas.microsoft.com/office/drawing/2014/main" val="20001"/>
                    </a:ext>
                  </a:extLst>
                </a:gridCol>
                <a:gridCol w="871727">
                  <a:extLst>
                    <a:ext uri="{9D8B030D-6E8A-4147-A177-3AD203B41FA5}">
                      <a16:colId xmlns:a16="http://schemas.microsoft.com/office/drawing/2014/main" val="20002"/>
                    </a:ext>
                  </a:extLst>
                </a:gridCol>
                <a:gridCol w="871727">
                  <a:extLst>
                    <a:ext uri="{9D8B030D-6E8A-4147-A177-3AD203B41FA5}">
                      <a16:colId xmlns:a16="http://schemas.microsoft.com/office/drawing/2014/main" val="20003"/>
                    </a:ext>
                  </a:extLst>
                </a:gridCol>
                <a:gridCol w="871727">
                  <a:extLst>
                    <a:ext uri="{9D8B030D-6E8A-4147-A177-3AD203B41FA5}">
                      <a16:colId xmlns:a16="http://schemas.microsoft.com/office/drawing/2014/main" val="20004"/>
                    </a:ext>
                  </a:extLst>
                </a:gridCol>
                <a:gridCol w="782321">
                  <a:extLst>
                    <a:ext uri="{9D8B030D-6E8A-4147-A177-3AD203B41FA5}">
                      <a16:colId xmlns:a16="http://schemas.microsoft.com/office/drawing/2014/main" val="20005"/>
                    </a:ext>
                  </a:extLst>
                </a:gridCol>
                <a:gridCol w="1412240">
                  <a:extLst>
                    <a:ext uri="{9D8B030D-6E8A-4147-A177-3AD203B41FA5}">
                      <a16:colId xmlns:a16="http://schemas.microsoft.com/office/drawing/2014/main" val="20006"/>
                    </a:ext>
                  </a:extLst>
                </a:gridCol>
                <a:gridCol w="1036321">
                  <a:extLst>
                    <a:ext uri="{9D8B030D-6E8A-4147-A177-3AD203B41FA5}">
                      <a16:colId xmlns:a16="http://schemas.microsoft.com/office/drawing/2014/main" val="20007"/>
                    </a:ext>
                  </a:extLst>
                </a:gridCol>
                <a:gridCol w="1371604">
                  <a:extLst>
                    <a:ext uri="{9D8B030D-6E8A-4147-A177-3AD203B41FA5}">
                      <a16:colId xmlns:a16="http://schemas.microsoft.com/office/drawing/2014/main" val="20008"/>
                    </a:ext>
                  </a:extLst>
                </a:gridCol>
              </a:tblGrid>
              <a:tr h="370840">
                <a:tc>
                  <a:txBody>
                    <a:bodyPr/>
                    <a:lstStyle/>
                    <a:p>
                      <a:pPr algn="ctr"/>
                      <a:r>
                        <a:rPr lang="en-US" sz="1400" dirty="0"/>
                        <a:t>intercept</a:t>
                      </a:r>
                    </a:p>
                  </a:txBody>
                  <a:tcPr anchor="ctr"/>
                </a:tc>
                <a:tc>
                  <a:txBody>
                    <a:bodyPr/>
                    <a:lstStyle/>
                    <a:p>
                      <a:pPr algn="ctr"/>
                      <a:r>
                        <a:rPr lang="en-US" dirty="0"/>
                        <a:t>block1</a:t>
                      </a:r>
                    </a:p>
                  </a:txBody>
                  <a:tcPr anchor="ctr">
                    <a:solidFill>
                      <a:schemeClr val="bg1">
                        <a:lumMod val="65000"/>
                      </a:schemeClr>
                    </a:solidFill>
                  </a:tcPr>
                </a:tc>
                <a:tc>
                  <a:txBody>
                    <a:bodyPr/>
                    <a:lstStyle/>
                    <a:p>
                      <a:pPr algn="ctr"/>
                      <a:r>
                        <a:rPr lang="en-US" dirty="0"/>
                        <a:t>block2</a:t>
                      </a:r>
                    </a:p>
                  </a:txBody>
                  <a:tcPr anchor="ctr"/>
                </a:tc>
                <a:tc>
                  <a:txBody>
                    <a:bodyPr/>
                    <a:lstStyle/>
                    <a:p>
                      <a:pPr algn="ctr"/>
                      <a:r>
                        <a:rPr lang="en-US" dirty="0"/>
                        <a:t>block3</a:t>
                      </a:r>
                    </a:p>
                  </a:txBody>
                  <a:tcPr anchor="ctr"/>
                </a:tc>
                <a:tc>
                  <a:txBody>
                    <a:bodyPr/>
                    <a:lstStyle/>
                    <a:p>
                      <a:pPr algn="ctr"/>
                      <a:r>
                        <a:rPr lang="en-US" dirty="0"/>
                        <a:t>block4</a:t>
                      </a:r>
                    </a:p>
                  </a:txBody>
                  <a:tcPr anchor="ctr"/>
                </a:tc>
                <a:tc>
                  <a:txBody>
                    <a:bodyPr/>
                    <a:lstStyle/>
                    <a:p>
                      <a:pPr algn="ctr"/>
                      <a:r>
                        <a:rPr lang="en-US" dirty="0"/>
                        <a:t>Anne</a:t>
                      </a:r>
                    </a:p>
                  </a:txBody>
                  <a:tcPr anchor="ctr">
                    <a:solidFill>
                      <a:schemeClr val="bg1">
                        <a:lumMod val="65000"/>
                      </a:schemeClr>
                    </a:solidFill>
                  </a:tcPr>
                </a:tc>
                <a:tc>
                  <a:txBody>
                    <a:bodyPr/>
                    <a:lstStyle/>
                    <a:p>
                      <a:pPr algn="ctr"/>
                      <a:r>
                        <a:rPr lang="en-US" dirty="0"/>
                        <a:t>Cumberland</a:t>
                      </a:r>
                    </a:p>
                  </a:txBody>
                  <a:tcPr anchor="ctr"/>
                </a:tc>
                <a:tc>
                  <a:txBody>
                    <a:bodyPr/>
                    <a:lstStyle/>
                    <a:p>
                      <a:pPr algn="ctr"/>
                      <a:r>
                        <a:rPr lang="en-US" dirty="0"/>
                        <a:t>Heritage</a:t>
                      </a:r>
                      <a:endParaRPr lang="en-US" sz="1800" dirty="0"/>
                    </a:p>
                  </a:txBody>
                  <a:tcPr anchor="ctr"/>
                </a:tc>
                <a:tc>
                  <a:txBody>
                    <a:bodyPr/>
                    <a:lstStyle/>
                    <a:p>
                      <a:pPr algn="ctr"/>
                      <a:r>
                        <a:rPr lang="en-US" dirty="0" err="1"/>
                        <a:t>JewellBlack</a:t>
                      </a:r>
                      <a:endParaRPr lang="en-US" dirty="0"/>
                    </a:p>
                  </a:txBody>
                  <a:tcPr anchor="ctr"/>
                </a:tc>
                <a:extLst>
                  <a:ext uri="{0D108BD9-81ED-4DB2-BD59-A6C34878D82A}">
                    <a16:rowId xmlns:a16="http://schemas.microsoft.com/office/drawing/2014/main" val="10000"/>
                  </a:ext>
                </a:extLst>
              </a:tr>
              <a:tr h="370840">
                <a:tc>
                  <a:txBody>
                    <a:bodyPr/>
                    <a:lstStyle/>
                    <a:p>
                      <a:pPr algn="ctr"/>
                      <a:r>
                        <a:rPr lang="en-US" sz="2400" b="1" dirty="0"/>
                        <a:t>19.0</a:t>
                      </a:r>
                    </a:p>
                  </a:txBody>
                  <a:tcPr/>
                </a:tc>
                <a:tc>
                  <a:txBody>
                    <a:bodyPr/>
                    <a:lstStyle/>
                    <a:p>
                      <a:pPr algn="ctr"/>
                      <a:endParaRPr lang="en-US" sz="2400" b="1" dirty="0"/>
                    </a:p>
                  </a:txBody>
                  <a:tcPr>
                    <a:solidFill>
                      <a:schemeClr val="bg1">
                        <a:lumMod val="65000"/>
                      </a:schemeClr>
                    </a:solidFill>
                  </a:tcPr>
                </a:tc>
                <a:tc>
                  <a:txBody>
                    <a:bodyPr/>
                    <a:lstStyle/>
                    <a:p>
                      <a:pPr algn="ctr"/>
                      <a:r>
                        <a:rPr lang="en-US" sz="2400" b="1" dirty="0"/>
                        <a:t>0</a:t>
                      </a:r>
                    </a:p>
                  </a:txBody>
                  <a:tcPr/>
                </a:tc>
                <a:tc>
                  <a:txBody>
                    <a:bodyPr/>
                    <a:lstStyle/>
                    <a:p>
                      <a:pPr algn="ctr"/>
                      <a:r>
                        <a:rPr lang="en-US" sz="2400" b="1" dirty="0"/>
                        <a:t>0</a:t>
                      </a:r>
                    </a:p>
                  </a:txBody>
                  <a:tcPr/>
                </a:tc>
                <a:tc>
                  <a:txBody>
                    <a:bodyPr/>
                    <a:lstStyle/>
                    <a:p>
                      <a:pPr algn="ctr"/>
                      <a:r>
                        <a:rPr lang="en-US" sz="2400" b="1" dirty="0"/>
                        <a:t>0</a:t>
                      </a:r>
                    </a:p>
                  </a:txBody>
                  <a:tcPr/>
                </a:tc>
                <a:tc>
                  <a:txBody>
                    <a:bodyPr/>
                    <a:lstStyle/>
                    <a:p>
                      <a:pPr algn="ctr"/>
                      <a:endParaRPr lang="en-US" sz="2400" b="1" dirty="0"/>
                    </a:p>
                  </a:txBody>
                  <a:tcPr>
                    <a:solidFill>
                      <a:schemeClr val="bg1">
                        <a:lumMod val="65000"/>
                      </a:schemeClr>
                    </a:solidFill>
                  </a:tcPr>
                </a:tc>
                <a:tc>
                  <a:txBody>
                    <a:bodyPr/>
                    <a:lstStyle/>
                    <a:p>
                      <a:pPr algn="ctr"/>
                      <a:r>
                        <a:rPr lang="en-US" sz="2400" b="1" dirty="0"/>
                        <a:t>0</a:t>
                      </a:r>
                    </a:p>
                  </a:txBody>
                  <a:tcPr/>
                </a:tc>
                <a:tc>
                  <a:txBody>
                    <a:bodyPr/>
                    <a:lstStyle/>
                    <a:p>
                      <a:pPr algn="ctr"/>
                      <a:r>
                        <a:rPr lang="en-US" sz="2400" b="1" dirty="0"/>
                        <a:t>-4.8</a:t>
                      </a:r>
                    </a:p>
                  </a:txBody>
                  <a:tcPr/>
                </a:tc>
                <a:tc>
                  <a:txBody>
                    <a:bodyPr/>
                    <a:lstStyle/>
                    <a:p>
                      <a:pPr algn="ctr"/>
                      <a:r>
                        <a:rPr lang="en-US" sz="2400" b="1" dirty="0"/>
                        <a:t>0</a:t>
                      </a:r>
                    </a:p>
                  </a:txBody>
                  <a:tcPr/>
                </a:tc>
                <a:extLst>
                  <a:ext uri="{0D108BD9-81ED-4DB2-BD59-A6C34878D82A}">
                    <a16:rowId xmlns:a16="http://schemas.microsoft.com/office/drawing/2014/main" val="10001"/>
                  </a:ext>
                </a:extLst>
              </a:tr>
              <a:tr h="370840">
                <a:tc>
                  <a:txBody>
                    <a:bodyPr/>
                    <a:lstStyle/>
                    <a:p>
                      <a:pPr algn="ctr"/>
                      <a:r>
                        <a:rPr lang="en-US" sz="2400" b="1" dirty="0"/>
                        <a:t>19.0</a:t>
                      </a:r>
                    </a:p>
                  </a:txBody>
                  <a:tcPr/>
                </a:tc>
                <a:tc>
                  <a:txBody>
                    <a:bodyPr/>
                    <a:lstStyle/>
                    <a:p>
                      <a:pPr algn="ctr"/>
                      <a:endParaRPr lang="en-US" sz="2400" b="1" dirty="0"/>
                    </a:p>
                  </a:txBody>
                  <a:tcPr>
                    <a:solidFill>
                      <a:schemeClr val="bg1">
                        <a:lumMod val="65000"/>
                      </a:schemeClr>
                    </a:solidFill>
                  </a:tcPr>
                </a:tc>
                <a:tc>
                  <a:txBody>
                    <a:bodyPr/>
                    <a:lstStyle/>
                    <a:p>
                      <a:pPr algn="ctr"/>
                      <a:r>
                        <a:rPr lang="en-US" sz="2400" b="1" dirty="0"/>
                        <a:t>0</a:t>
                      </a:r>
                    </a:p>
                  </a:txBody>
                  <a:tcPr/>
                </a:tc>
                <a:tc>
                  <a:txBody>
                    <a:bodyPr/>
                    <a:lstStyle/>
                    <a:p>
                      <a:pPr algn="ctr"/>
                      <a:r>
                        <a:rPr lang="en-US" sz="2400" b="1" dirty="0"/>
                        <a:t>0</a:t>
                      </a:r>
                    </a:p>
                  </a:txBody>
                  <a:tcPr/>
                </a:tc>
                <a:tc>
                  <a:txBody>
                    <a:bodyPr/>
                    <a:lstStyle/>
                    <a:p>
                      <a:pPr algn="ctr"/>
                      <a:r>
                        <a:rPr lang="en-US" sz="2400" b="1" dirty="0"/>
                        <a:t>0</a:t>
                      </a:r>
                    </a:p>
                  </a:txBody>
                  <a:tcPr/>
                </a:tc>
                <a:tc>
                  <a:txBody>
                    <a:bodyPr/>
                    <a:lstStyle/>
                    <a:p>
                      <a:pPr algn="ctr"/>
                      <a:endParaRPr lang="en-US" sz="2400" b="1" dirty="0"/>
                    </a:p>
                  </a:txBody>
                  <a:tcPr>
                    <a:solidFill>
                      <a:schemeClr val="bg1">
                        <a:lumMod val="65000"/>
                      </a:schemeClr>
                    </a:solidFill>
                  </a:tcPr>
                </a:tc>
                <a:tc>
                  <a:txBody>
                    <a:bodyPr/>
                    <a:lstStyle/>
                    <a:p>
                      <a:pPr algn="ctr"/>
                      <a:r>
                        <a:rPr lang="en-US" sz="2400" b="1" dirty="0"/>
                        <a:t>0</a:t>
                      </a:r>
                    </a:p>
                  </a:txBody>
                  <a:tcPr/>
                </a:tc>
                <a:tc>
                  <a:txBody>
                    <a:bodyPr/>
                    <a:lstStyle/>
                    <a:p>
                      <a:pPr algn="ctr"/>
                      <a:r>
                        <a:rPr lang="en-US" sz="2400" b="1" dirty="0"/>
                        <a:t>0</a:t>
                      </a:r>
                    </a:p>
                  </a:txBody>
                  <a:tcPr/>
                </a:tc>
                <a:tc>
                  <a:txBody>
                    <a:bodyPr/>
                    <a:lstStyle/>
                    <a:p>
                      <a:pPr algn="ctr"/>
                      <a:r>
                        <a:rPr lang="en-US" sz="2400" b="1" dirty="0"/>
                        <a:t>0</a:t>
                      </a:r>
                    </a:p>
                  </a:txBody>
                  <a:tcPr/>
                </a:tc>
                <a:extLst>
                  <a:ext uri="{0D108BD9-81ED-4DB2-BD59-A6C34878D82A}">
                    <a16:rowId xmlns:a16="http://schemas.microsoft.com/office/drawing/2014/main" val="10002"/>
                  </a:ext>
                </a:extLst>
              </a:tr>
              <a:tr h="370840">
                <a:tc>
                  <a:txBody>
                    <a:bodyPr/>
                    <a:lstStyle/>
                    <a:p>
                      <a:pPr algn="ctr"/>
                      <a:r>
                        <a:rPr lang="en-US" sz="2400" b="1" dirty="0"/>
                        <a:t>19.0</a:t>
                      </a:r>
                    </a:p>
                  </a:txBody>
                  <a:tcPr/>
                </a:tc>
                <a:tc>
                  <a:txBody>
                    <a:bodyPr/>
                    <a:lstStyle/>
                    <a:p>
                      <a:pPr algn="ctr"/>
                      <a:endParaRPr lang="en-US" sz="2400" b="1"/>
                    </a:p>
                  </a:txBody>
                  <a:tcPr>
                    <a:solidFill>
                      <a:schemeClr val="bg1">
                        <a:lumMod val="65000"/>
                      </a:schemeClr>
                    </a:solidFill>
                  </a:tcPr>
                </a:tc>
                <a:tc>
                  <a:txBody>
                    <a:bodyPr/>
                    <a:lstStyle/>
                    <a:p>
                      <a:pPr algn="ctr"/>
                      <a:r>
                        <a:rPr lang="en-US" sz="2400" b="1" dirty="0">
                          <a:solidFill>
                            <a:srgbClr val="C00000"/>
                          </a:solidFill>
                        </a:rPr>
                        <a:t>0</a:t>
                      </a:r>
                    </a:p>
                  </a:txBody>
                  <a:tcPr/>
                </a:tc>
                <a:tc>
                  <a:txBody>
                    <a:bodyPr/>
                    <a:lstStyle/>
                    <a:p>
                      <a:pPr algn="ctr"/>
                      <a:r>
                        <a:rPr lang="en-US" sz="2400" b="1" dirty="0">
                          <a:solidFill>
                            <a:srgbClr val="C00000"/>
                          </a:solidFill>
                        </a:rPr>
                        <a:t>0</a:t>
                      </a:r>
                    </a:p>
                  </a:txBody>
                  <a:tcPr/>
                </a:tc>
                <a:tc>
                  <a:txBody>
                    <a:bodyPr/>
                    <a:lstStyle/>
                    <a:p>
                      <a:pPr algn="ctr"/>
                      <a:r>
                        <a:rPr lang="en-US" sz="2400" b="1" dirty="0">
                          <a:solidFill>
                            <a:srgbClr val="C00000"/>
                          </a:solidFill>
                        </a:rPr>
                        <a:t>0</a:t>
                      </a:r>
                    </a:p>
                  </a:txBody>
                  <a:tcPr/>
                </a:tc>
                <a:tc>
                  <a:txBody>
                    <a:bodyPr/>
                    <a:lstStyle/>
                    <a:p>
                      <a:pPr algn="ctr"/>
                      <a:endParaRPr lang="en-US" sz="2400" b="1" dirty="0">
                        <a:solidFill>
                          <a:srgbClr val="C00000"/>
                        </a:solidFill>
                      </a:endParaRPr>
                    </a:p>
                  </a:txBody>
                  <a:tcPr>
                    <a:solidFill>
                      <a:schemeClr val="bg1">
                        <a:lumMod val="65000"/>
                      </a:schemeClr>
                    </a:solidFill>
                  </a:tcPr>
                </a:tc>
                <a:tc>
                  <a:txBody>
                    <a:bodyPr/>
                    <a:lstStyle/>
                    <a:p>
                      <a:pPr algn="ctr"/>
                      <a:r>
                        <a:rPr lang="en-US" sz="2400" b="1" dirty="0">
                          <a:solidFill>
                            <a:srgbClr val="C00000"/>
                          </a:solidFill>
                        </a:rPr>
                        <a:t>1.4</a:t>
                      </a:r>
                    </a:p>
                  </a:txBody>
                  <a:tcPr/>
                </a:tc>
                <a:tc>
                  <a:txBody>
                    <a:bodyPr/>
                    <a:lstStyle/>
                    <a:p>
                      <a:pPr algn="ctr"/>
                      <a:r>
                        <a:rPr lang="en-US" sz="2400" b="1" dirty="0">
                          <a:solidFill>
                            <a:srgbClr val="C00000"/>
                          </a:solidFill>
                        </a:rPr>
                        <a:t>0</a:t>
                      </a:r>
                    </a:p>
                  </a:txBody>
                  <a:tcPr/>
                </a:tc>
                <a:tc>
                  <a:txBody>
                    <a:bodyPr/>
                    <a:lstStyle/>
                    <a:p>
                      <a:pPr algn="ctr"/>
                      <a:r>
                        <a:rPr lang="en-US" sz="2400" b="1" dirty="0">
                          <a:solidFill>
                            <a:srgbClr val="C00000"/>
                          </a:solidFill>
                        </a:rPr>
                        <a:t>0</a:t>
                      </a:r>
                    </a:p>
                  </a:txBody>
                  <a:tcPr/>
                </a:tc>
                <a:extLst>
                  <a:ext uri="{0D108BD9-81ED-4DB2-BD59-A6C34878D82A}">
                    <a16:rowId xmlns:a16="http://schemas.microsoft.com/office/drawing/2014/main" val="10003"/>
                  </a:ext>
                </a:extLst>
              </a:tr>
              <a:tr h="370840">
                <a:tc>
                  <a:txBody>
                    <a:bodyPr/>
                    <a:lstStyle/>
                    <a:p>
                      <a:pPr algn="ctr"/>
                      <a:r>
                        <a:rPr lang="en-US" sz="2400" b="1" dirty="0"/>
                        <a:t>19.0</a:t>
                      </a:r>
                    </a:p>
                  </a:txBody>
                  <a:tcPr/>
                </a:tc>
                <a:tc>
                  <a:txBody>
                    <a:bodyPr/>
                    <a:lstStyle/>
                    <a:p>
                      <a:pPr algn="ctr"/>
                      <a:endParaRPr lang="en-US" sz="2400" b="1"/>
                    </a:p>
                  </a:txBody>
                  <a:tcPr>
                    <a:solidFill>
                      <a:schemeClr val="bg1">
                        <a:lumMod val="65000"/>
                      </a:schemeClr>
                    </a:solidFill>
                  </a:tcPr>
                </a:tc>
                <a:tc>
                  <a:txBody>
                    <a:bodyPr/>
                    <a:lstStyle/>
                    <a:p>
                      <a:pPr algn="ctr"/>
                      <a:r>
                        <a:rPr lang="en-US" sz="2400" b="1" dirty="0">
                          <a:solidFill>
                            <a:srgbClr val="C00000"/>
                          </a:solidFill>
                        </a:rPr>
                        <a:t>0</a:t>
                      </a:r>
                    </a:p>
                  </a:txBody>
                  <a:tcPr/>
                </a:tc>
                <a:tc>
                  <a:txBody>
                    <a:bodyPr/>
                    <a:lstStyle/>
                    <a:p>
                      <a:pPr algn="ctr"/>
                      <a:r>
                        <a:rPr lang="en-US" sz="2400" b="1" dirty="0">
                          <a:solidFill>
                            <a:srgbClr val="C00000"/>
                          </a:solidFill>
                        </a:rPr>
                        <a:t>0</a:t>
                      </a:r>
                    </a:p>
                  </a:txBody>
                  <a:tcPr/>
                </a:tc>
                <a:tc>
                  <a:txBody>
                    <a:bodyPr/>
                    <a:lstStyle/>
                    <a:p>
                      <a:pPr algn="ctr"/>
                      <a:r>
                        <a:rPr lang="en-US" sz="2400" b="1" dirty="0">
                          <a:solidFill>
                            <a:srgbClr val="C00000"/>
                          </a:solidFill>
                        </a:rPr>
                        <a:t>0</a:t>
                      </a:r>
                    </a:p>
                  </a:txBody>
                  <a:tcPr/>
                </a:tc>
                <a:tc>
                  <a:txBody>
                    <a:bodyPr/>
                    <a:lstStyle/>
                    <a:p>
                      <a:pPr algn="ctr"/>
                      <a:endParaRPr lang="en-US" sz="2400" b="1" dirty="0">
                        <a:solidFill>
                          <a:srgbClr val="C00000"/>
                        </a:solidFill>
                      </a:endParaRPr>
                    </a:p>
                  </a:txBody>
                  <a:tcPr>
                    <a:solidFill>
                      <a:schemeClr val="bg1">
                        <a:lumMod val="65000"/>
                      </a:schemeClr>
                    </a:solidFill>
                  </a:tcPr>
                </a:tc>
                <a:tc>
                  <a:txBody>
                    <a:bodyPr/>
                    <a:lstStyle/>
                    <a:p>
                      <a:pPr algn="ctr"/>
                      <a:r>
                        <a:rPr lang="en-US" sz="2400" b="1" dirty="0">
                          <a:solidFill>
                            <a:srgbClr val="C00000"/>
                          </a:solidFill>
                        </a:rPr>
                        <a:t>0</a:t>
                      </a:r>
                    </a:p>
                  </a:txBody>
                  <a:tcPr/>
                </a:tc>
                <a:tc>
                  <a:txBody>
                    <a:bodyPr/>
                    <a:lstStyle/>
                    <a:p>
                      <a:pPr algn="ctr"/>
                      <a:r>
                        <a:rPr lang="en-US" sz="2400" b="1" dirty="0">
                          <a:solidFill>
                            <a:srgbClr val="C00000"/>
                          </a:solidFill>
                        </a:rPr>
                        <a:t>0</a:t>
                      </a:r>
                    </a:p>
                  </a:txBody>
                  <a:tcPr/>
                </a:tc>
                <a:tc>
                  <a:txBody>
                    <a:bodyPr/>
                    <a:lstStyle/>
                    <a:p>
                      <a:pPr algn="ctr"/>
                      <a:r>
                        <a:rPr lang="en-US" sz="2400" b="1" dirty="0">
                          <a:solidFill>
                            <a:srgbClr val="C00000"/>
                          </a:solidFill>
                        </a:rPr>
                        <a:t>-1.3</a:t>
                      </a:r>
                    </a:p>
                  </a:txBody>
                  <a:tcPr/>
                </a:tc>
                <a:extLst>
                  <a:ext uri="{0D108BD9-81ED-4DB2-BD59-A6C34878D82A}">
                    <a16:rowId xmlns:a16="http://schemas.microsoft.com/office/drawing/2014/main" val="10004"/>
                  </a:ext>
                </a:extLst>
              </a:tr>
              <a:tr h="370840">
                <a:tc>
                  <a:txBody>
                    <a:bodyPr/>
                    <a:lstStyle/>
                    <a:p>
                      <a:pPr algn="ctr"/>
                      <a:r>
                        <a:rPr lang="en-US" sz="2400" b="1" dirty="0"/>
                        <a:t>19.0</a:t>
                      </a:r>
                    </a:p>
                  </a:txBody>
                  <a:tcPr/>
                </a:tc>
                <a:tc>
                  <a:txBody>
                    <a:bodyPr/>
                    <a:lstStyle/>
                    <a:p>
                      <a:pPr algn="ctr"/>
                      <a:endParaRPr lang="en-US" sz="2400" b="1" dirty="0"/>
                    </a:p>
                  </a:txBody>
                  <a:tcPr>
                    <a:solidFill>
                      <a:schemeClr val="bg1">
                        <a:lumMod val="65000"/>
                      </a:schemeClr>
                    </a:solidFill>
                  </a:tcPr>
                </a:tc>
                <a:tc>
                  <a:txBody>
                    <a:bodyPr/>
                    <a:lstStyle/>
                    <a:p>
                      <a:pPr algn="ctr"/>
                      <a:r>
                        <a:rPr lang="en-US" sz="2400" b="1" dirty="0">
                          <a:solidFill>
                            <a:srgbClr val="C00000"/>
                          </a:solidFill>
                        </a:rPr>
                        <a:t>-0.9</a:t>
                      </a:r>
                    </a:p>
                  </a:txBody>
                  <a:tcPr/>
                </a:tc>
                <a:tc>
                  <a:txBody>
                    <a:bodyPr/>
                    <a:lstStyle/>
                    <a:p>
                      <a:pPr algn="ctr"/>
                      <a:r>
                        <a:rPr lang="en-US" sz="2400" b="1" dirty="0">
                          <a:solidFill>
                            <a:srgbClr val="C00000"/>
                          </a:solidFill>
                        </a:rPr>
                        <a:t>0</a:t>
                      </a:r>
                    </a:p>
                  </a:txBody>
                  <a:tcPr/>
                </a:tc>
                <a:tc>
                  <a:txBody>
                    <a:bodyPr/>
                    <a:lstStyle/>
                    <a:p>
                      <a:pPr algn="ctr"/>
                      <a:r>
                        <a:rPr lang="en-US" sz="2400" b="1" dirty="0">
                          <a:solidFill>
                            <a:srgbClr val="C00000"/>
                          </a:solidFill>
                        </a:rPr>
                        <a:t>0</a:t>
                      </a:r>
                    </a:p>
                  </a:txBody>
                  <a:tcPr/>
                </a:tc>
                <a:tc>
                  <a:txBody>
                    <a:bodyPr/>
                    <a:lstStyle/>
                    <a:p>
                      <a:pPr algn="ctr"/>
                      <a:endParaRPr lang="en-US" sz="2400" b="1" dirty="0">
                        <a:solidFill>
                          <a:srgbClr val="C00000"/>
                        </a:solidFill>
                      </a:endParaRPr>
                    </a:p>
                  </a:txBody>
                  <a:tcPr>
                    <a:solidFill>
                      <a:schemeClr val="bg1">
                        <a:lumMod val="65000"/>
                      </a:schemeClr>
                    </a:solidFill>
                  </a:tcPr>
                </a:tc>
                <a:tc>
                  <a:txBody>
                    <a:bodyPr/>
                    <a:lstStyle/>
                    <a:p>
                      <a:pPr algn="ctr"/>
                      <a:r>
                        <a:rPr lang="en-US" sz="2400" b="1" dirty="0">
                          <a:solidFill>
                            <a:srgbClr val="C00000"/>
                          </a:solidFill>
                        </a:rPr>
                        <a:t>0</a:t>
                      </a:r>
                    </a:p>
                  </a:txBody>
                  <a:tcPr/>
                </a:tc>
                <a:tc>
                  <a:txBody>
                    <a:bodyPr/>
                    <a:lstStyle/>
                    <a:p>
                      <a:pPr algn="ctr"/>
                      <a:r>
                        <a:rPr lang="en-US" sz="2400" b="1" dirty="0">
                          <a:solidFill>
                            <a:srgbClr val="C00000"/>
                          </a:solidFill>
                        </a:rPr>
                        <a:t>0</a:t>
                      </a:r>
                    </a:p>
                  </a:txBody>
                  <a:tcPr/>
                </a:tc>
                <a:tc>
                  <a:txBody>
                    <a:bodyPr/>
                    <a:lstStyle/>
                    <a:p>
                      <a:pPr algn="ctr"/>
                      <a:r>
                        <a:rPr lang="en-US" sz="2400" b="1" dirty="0">
                          <a:solidFill>
                            <a:srgbClr val="C00000"/>
                          </a:solidFill>
                        </a:rPr>
                        <a:t>-1.3</a:t>
                      </a:r>
                    </a:p>
                  </a:txBody>
                  <a:tcPr/>
                </a:tc>
                <a:extLst>
                  <a:ext uri="{0D108BD9-81ED-4DB2-BD59-A6C34878D82A}">
                    <a16:rowId xmlns:a16="http://schemas.microsoft.com/office/drawing/2014/main" val="10005"/>
                  </a:ext>
                </a:extLst>
              </a:tr>
            </a:tbl>
          </a:graphicData>
        </a:graphic>
      </p:graphicFrame>
      <p:sp>
        <p:nvSpPr>
          <p:cNvPr id="2" name="Title 1"/>
          <p:cNvSpPr>
            <a:spLocks noGrp="1"/>
          </p:cNvSpPr>
          <p:nvPr>
            <p:ph type="title"/>
          </p:nvPr>
        </p:nvSpPr>
        <p:spPr/>
        <p:txBody>
          <a:bodyPr/>
          <a:lstStyle/>
          <a:p>
            <a:r>
              <a:rPr lang="en-US" dirty="0"/>
              <a:t>How a model sees the coefficients</a:t>
            </a:r>
          </a:p>
        </p:txBody>
      </p:sp>
      <p:sp>
        <p:nvSpPr>
          <p:cNvPr id="9" name="TextBox 8"/>
          <p:cNvSpPr txBox="1"/>
          <p:nvPr/>
        </p:nvSpPr>
        <p:spPr>
          <a:xfrm>
            <a:off x="111764" y="3628947"/>
            <a:ext cx="2191241" cy="584775"/>
          </a:xfrm>
          <a:prstGeom prst="rect">
            <a:avLst/>
          </a:prstGeom>
          <a:noFill/>
        </p:spPr>
        <p:txBody>
          <a:bodyPr wrap="none" rtlCol="0">
            <a:spAutoFit/>
          </a:bodyPr>
          <a:lstStyle/>
          <a:p>
            <a:r>
              <a:rPr lang="en-US" sz="3200" b="1" dirty="0"/>
              <a:t>Model view</a:t>
            </a:r>
          </a:p>
        </p:txBody>
      </p:sp>
      <p:pic>
        <p:nvPicPr>
          <p:cNvPr id="10" name="Picture 9"/>
          <p:cNvPicPr>
            <a:picLocks noChangeAspect="1"/>
          </p:cNvPicPr>
          <p:nvPr/>
        </p:nvPicPr>
        <p:blipFill rotWithShape="1">
          <a:blip r:embed="rId3">
            <a:extLst>
              <a:ext uri="{28A0092B-C50C-407E-A947-70E740481C1C}">
                <a14:useLocalDpi xmlns:a14="http://schemas.microsoft.com/office/drawing/2010/main" val="0"/>
              </a:ext>
            </a:extLst>
          </a:blip>
          <a:srcRect l="21034" t="1042" r="4483" b="65127"/>
          <a:stretch/>
        </p:blipFill>
        <p:spPr>
          <a:xfrm>
            <a:off x="639293" y="1381364"/>
            <a:ext cx="2377440" cy="2322408"/>
          </a:xfrm>
          <a:prstGeom prst="rect">
            <a:avLst/>
          </a:prstGeom>
          <a:ln>
            <a:solidFill>
              <a:schemeClr val="tx1"/>
            </a:solidFill>
          </a:ln>
        </p:spPr>
      </p:pic>
      <p:sp>
        <p:nvSpPr>
          <p:cNvPr id="11" name="TextBox 10"/>
          <p:cNvSpPr txBox="1"/>
          <p:nvPr/>
        </p:nvSpPr>
        <p:spPr>
          <a:xfrm rot="16200000">
            <a:off x="-567108" y="2272851"/>
            <a:ext cx="1942519" cy="584775"/>
          </a:xfrm>
          <a:prstGeom prst="rect">
            <a:avLst/>
          </a:prstGeom>
          <a:noFill/>
        </p:spPr>
        <p:txBody>
          <a:bodyPr wrap="none" rtlCol="0">
            <a:spAutoFit/>
          </a:bodyPr>
          <a:lstStyle/>
          <a:p>
            <a:r>
              <a:rPr lang="en-US" sz="3200" b="1" dirty="0"/>
              <a:t>Data table</a:t>
            </a:r>
          </a:p>
        </p:txBody>
      </p:sp>
      <p:pic>
        <p:nvPicPr>
          <p:cNvPr id="13" name="Picture 12"/>
          <p:cNvPicPr>
            <a:picLocks noChangeAspect="1"/>
          </p:cNvPicPr>
          <p:nvPr/>
        </p:nvPicPr>
        <p:blipFill rotWithShape="1">
          <a:blip r:embed="rId4">
            <a:extLst>
              <a:ext uri="{28A0092B-C50C-407E-A947-70E740481C1C}">
                <a14:useLocalDpi xmlns:a14="http://schemas.microsoft.com/office/drawing/2010/main" val="0"/>
              </a:ext>
            </a:extLst>
          </a:blip>
          <a:srcRect l="2363" t="43138" r="54819" b="22043"/>
          <a:stretch/>
        </p:blipFill>
        <p:spPr>
          <a:xfrm>
            <a:off x="4293374" y="1408711"/>
            <a:ext cx="3362961" cy="2296160"/>
          </a:xfrm>
          <a:prstGeom prst="rect">
            <a:avLst/>
          </a:prstGeom>
          <a:ln>
            <a:solidFill>
              <a:schemeClr val="tx1"/>
            </a:solidFill>
          </a:ln>
        </p:spPr>
      </p:pic>
      <p:sp>
        <p:nvSpPr>
          <p:cNvPr id="14" name="TextBox 13"/>
          <p:cNvSpPr txBox="1"/>
          <p:nvPr/>
        </p:nvSpPr>
        <p:spPr>
          <a:xfrm rot="16200000">
            <a:off x="2578822" y="2018182"/>
            <a:ext cx="2350854" cy="1077218"/>
          </a:xfrm>
          <a:prstGeom prst="rect">
            <a:avLst/>
          </a:prstGeom>
          <a:noFill/>
        </p:spPr>
        <p:txBody>
          <a:bodyPr wrap="square" rtlCol="0">
            <a:spAutoFit/>
          </a:bodyPr>
          <a:lstStyle/>
          <a:p>
            <a:pPr algn="ctr"/>
            <a:r>
              <a:rPr lang="en-US" sz="3200" b="1" dirty="0"/>
              <a:t>Model Summary</a:t>
            </a:r>
          </a:p>
        </p:txBody>
      </p:sp>
      <p:sp>
        <p:nvSpPr>
          <p:cNvPr id="15" name="&quot;No&quot; Symbol 9">
            <a:extLst>
              <a:ext uri="{FF2B5EF4-FFF2-40B4-BE49-F238E27FC236}">
                <a16:creationId xmlns:a16="http://schemas.microsoft.com/office/drawing/2014/main" id="{9B52AB58-D41A-440B-8BBA-531E4F09CFCB}"/>
              </a:ext>
            </a:extLst>
          </p:cNvPr>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TextBox 15">
            <a:extLst>
              <a:ext uri="{FF2B5EF4-FFF2-40B4-BE49-F238E27FC236}">
                <a16:creationId xmlns:a16="http://schemas.microsoft.com/office/drawing/2014/main" id="{F0D2197F-7497-4191-9C8B-590131D4A39D}"/>
              </a:ext>
            </a:extLst>
          </p:cNvPr>
          <p:cNvSpPr txBox="1"/>
          <p:nvPr/>
        </p:nvSpPr>
        <p:spPr>
          <a:xfrm>
            <a:off x="9255765" y="5661878"/>
            <a:ext cx="2936235" cy="830997"/>
          </a:xfrm>
          <a:prstGeom prst="rect">
            <a:avLst/>
          </a:prstGeom>
          <a:noFill/>
        </p:spPr>
        <p:txBody>
          <a:bodyPr wrap="square" rtlCol="0">
            <a:spAutoFit/>
          </a:bodyPr>
          <a:lstStyle/>
          <a:p>
            <a:r>
              <a:rPr lang="en-US" sz="2400" b="1" dirty="0">
                <a:solidFill>
                  <a:srgbClr val="C00000"/>
                </a:solidFill>
              </a:rPr>
              <a:t>What values will go in these rows?</a:t>
            </a:r>
          </a:p>
        </p:txBody>
      </p:sp>
    </p:spTree>
    <p:extLst>
      <p:ext uri="{BB962C8B-B14F-4D97-AF65-F5344CB8AC3E}">
        <p14:creationId xmlns:p14="http://schemas.microsoft.com/office/powerpoint/2010/main" val="3573522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p:cNvGraphicFramePr>
            <a:graphicFrameLocks noGrp="1"/>
          </p:cNvGraphicFramePr>
          <p:nvPr/>
        </p:nvGraphicFramePr>
        <p:xfrm>
          <a:off x="111764" y="4124638"/>
          <a:ext cx="8961121" cy="2656840"/>
        </p:xfrm>
        <a:graphic>
          <a:graphicData uri="http://schemas.openxmlformats.org/drawingml/2006/table">
            <a:tbl>
              <a:tblPr firstRow="1" bandRow="1">
                <a:tableStyleId>{7E9639D4-E3E2-4D34-9284-5A2195B3D0D7}</a:tableStyleId>
              </a:tblPr>
              <a:tblGrid>
                <a:gridCol w="871727">
                  <a:extLst>
                    <a:ext uri="{9D8B030D-6E8A-4147-A177-3AD203B41FA5}">
                      <a16:colId xmlns:a16="http://schemas.microsoft.com/office/drawing/2014/main" val="20000"/>
                    </a:ext>
                  </a:extLst>
                </a:gridCol>
                <a:gridCol w="871727">
                  <a:extLst>
                    <a:ext uri="{9D8B030D-6E8A-4147-A177-3AD203B41FA5}">
                      <a16:colId xmlns:a16="http://schemas.microsoft.com/office/drawing/2014/main" val="20001"/>
                    </a:ext>
                  </a:extLst>
                </a:gridCol>
                <a:gridCol w="871727">
                  <a:extLst>
                    <a:ext uri="{9D8B030D-6E8A-4147-A177-3AD203B41FA5}">
                      <a16:colId xmlns:a16="http://schemas.microsoft.com/office/drawing/2014/main" val="20002"/>
                    </a:ext>
                  </a:extLst>
                </a:gridCol>
                <a:gridCol w="871727">
                  <a:extLst>
                    <a:ext uri="{9D8B030D-6E8A-4147-A177-3AD203B41FA5}">
                      <a16:colId xmlns:a16="http://schemas.microsoft.com/office/drawing/2014/main" val="20003"/>
                    </a:ext>
                  </a:extLst>
                </a:gridCol>
                <a:gridCol w="871727">
                  <a:extLst>
                    <a:ext uri="{9D8B030D-6E8A-4147-A177-3AD203B41FA5}">
                      <a16:colId xmlns:a16="http://schemas.microsoft.com/office/drawing/2014/main" val="20004"/>
                    </a:ext>
                  </a:extLst>
                </a:gridCol>
                <a:gridCol w="782321">
                  <a:extLst>
                    <a:ext uri="{9D8B030D-6E8A-4147-A177-3AD203B41FA5}">
                      <a16:colId xmlns:a16="http://schemas.microsoft.com/office/drawing/2014/main" val="20005"/>
                    </a:ext>
                  </a:extLst>
                </a:gridCol>
                <a:gridCol w="1412240">
                  <a:extLst>
                    <a:ext uri="{9D8B030D-6E8A-4147-A177-3AD203B41FA5}">
                      <a16:colId xmlns:a16="http://schemas.microsoft.com/office/drawing/2014/main" val="20006"/>
                    </a:ext>
                  </a:extLst>
                </a:gridCol>
                <a:gridCol w="1036321">
                  <a:extLst>
                    <a:ext uri="{9D8B030D-6E8A-4147-A177-3AD203B41FA5}">
                      <a16:colId xmlns:a16="http://schemas.microsoft.com/office/drawing/2014/main" val="20007"/>
                    </a:ext>
                  </a:extLst>
                </a:gridCol>
                <a:gridCol w="1371604">
                  <a:extLst>
                    <a:ext uri="{9D8B030D-6E8A-4147-A177-3AD203B41FA5}">
                      <a16:colId xmlns:a16="http://schemas.microsoft.com/office/drawing/2014/main" val="20008"/>
                    </a:ext>
                  </a:extLst>
                </a:gridCol>
              </a:tblGrid>
              <a:tr h="370840">
                <a:tc>
                  <a:txBody>
                    <a:bodyPr/>
                    <a:lstStyle/>
                    <a:p>
                      <a:pPr algn="ctr"/>
                      <a:r>
                        <a:rPr lang="en-US" sz="1400" dirty="0"/>
                        <a:t>intercept</a:t>
                      </a:r>
                    </a:p>
                  </a:txBody>
                  <a:tcPr anchor="ctr"/>
                </a:tc>
                <a:tc>
                  <a:txBody>
                    <a:bodyPr/>
                    <a:lstStyle/>
                    <a:p>
                      <a:pPr algn="ctr"/>
                      <a:r>
                        <a:rPr lang="en-US" dirty="0"/>
                        <a:t>block1</a:t>
                      </a:r>
                    </a:p>
                  </a:txBody>
                  <a:tcPr anchor="ctr">
                    <a:solidFill>
                      <a:schemeClr val="bg1">
                        <a:lumMod val="65000"/>
                      </a:schemeClr>
                    </a:solidFill>
                  </a:tcPr>
                </a:tc>
                <a:tc>
                  <a:txBody>
                    <a:bodyPr/>
                    <a:lstStyle/>
                    <a:p>
                      <a:pPr algn="ctr"/>
                      <a:r>
                        <a:rPr lang="en-US" dirty="0"/>
                        <a:t>block2</a:t>
                      </a:r>
                    </a:p>
                  </a:txBody>
                  <a:tcPr anchor="ctr"/>
                </a:tc>
                <a:tc>
                  <a:txBody>
                    <a:bodyPr/>
                    <a:lstStyle/>
                    <a:p>
                      <a:pPr algn="ctr"/>
                      <a:r>
                        <a:rPr lang="en-US" dirty="0"/>
                        <a:t>block3</a:t>
                      </a:r>
                    </a:p>
                  </a:txBody>
                  <a:tcPr anchor="ctr"/>
                </a:tc>
                <a:tc>
                  <a:txBody>
                    <a:bodyPr/>
                    <a:lstStyle/>
                    <a:p>
                      <a:pPr algn="ctr"/>
                      <a:r>
                        <a:rPr lang="en-US" dirty="0"/>
                        <a:t>block4</a:t>
                      </a:r>
                    </a:p>
                  </a:txBody>
                  <a:tcPr anchor="ctr"/>
                </a:tc>
                <a:tc>
                  <a:txBody>
                    <a:bodyPr/>
                    <a:lstStyle/>
                    <a:p>
                      <a:pPr algn="ctr"/>
                      <a:r>
                        <a:rPr lang="en-US" dirty="0"/>
                        <a:t>Anne</a:t>
                      </a:r>
                    </a:p>
                  </a:txBody>
                  <a:tcPr anchor="ctr">
                    <a:solidFill>
                      <a:schemeClr val="bg1">
                        <a:lumMod val="65000"/>
                      </a:schemeClr>
                    </a:solidFill>
                  </a:tcPr>
                </a:tc>
                <a:tc>
                  <a:txBody>
                    <a:bodyPr/>
                    <a:lstStyle/>
                    <a:p>
                      <a:pPr algn="ctr"/>
                      <a:r>
                        <a:rPr lang="en-US" dirty="0"/>
                        <a:t>Cumberland</a:t>
                      </a:r>
                    </a:p>
                  </a:txBody>
                  <a:tcPr anchor="ctr"/>
                </a:tc>
                <a:tc>
                  <a:txBody>
                    <a:bodyPr/>
                    <a:lstStyle/>
                    <a:p>
                      <a:pPr algn="ctr"/>
                      <a:r>
                        <a:rPr lang="en-US" dirty="0"/>
                        <a:t>Heritage</a:t>
                      </a:r>
                      <a:endParaRPr lang="en-US" sz="1800" dirty="0"/>
                    </a:p>
                  </a:txBody>
                  <a:tcPr anchor="ctr"/>
                </a:tc>
                <a:tc>
                  <a:txBody>
                    <a:bodyPr/>
                    <a:lstStyle/>
                    <a:p>
                      <a:pPr algn="ctr"/>
                      <a:r>
                        <a:rPr lang="en-US" dirty="0" err="1"/>
                        <a:t>JewellBlack</a:t>
                      </a:r>
                      <a:endParaRPr lang="en-US" dirty="0"/>
                    </a:p>
                  </a:txBody>
                  <a:tcPr anchor="ctr"/>
                </a:tc>
                <a:extLst>
                  <a:ext uri="{0D108BD9-81ED-4DB2-BD59-A6C34878D82A}">
                    <a16:rowId xmlns:a16="http://schemas.microsoft.com/office/drawing/2014/main" val="10000"/>
                  </a:ext>
                </a:extLst>
              </a:tr>
              <a:tr h="370840">
                <a:tc>
                  <a:txBody>
                    <a:bodyPr/>
                    <a:lstStyle/>
                    <a:p>
                      <a:pPr algn="ctr"/>
                      <a:r>
                        <a:rPr lang="en-US" sz="2400" b="1" dirty="0"/>
                        <a:t>19.0</a:t>
                      </a:r>
                    </a:p>
                  </a:txBody>
                  <a:tcPr/>
                </a:tc>
                <a:tc>
                  <a:txBody>
                    <a:bodyPr/>
                    <a:lstStyle/>
                    <a:p>
                      <a:pPr algn="ctr"/>
                      <a:endParaRPr lang="en-US" sz="2400" b="1" dirty="0"/>
                    </a:p>
                  </a:txBody>
                  <a:tcPr>
                    <a:solidFill>
                      <a:schemeClr val="bg1">
                        <a:lumMod val="65000"/>
                      </a:schemeClr>
                    </a:solidFill>
                  </a:tcPr>
                </a:tc>
                <a:tc>
                  <a:txBody>
                    <a:bodyPr/>
                    <a:lstStyle/>
                    <a:p>
                      <a:pPr algn="ctr"/>
                      <a:r>
                        <a:rPr lang="en-US" sz="2400" b="1" dirty="0"/>
                        <a:t>0</a:t>
                      </a:r>
                    </a:p>
                  </a:txBody>
                  <a:tcPr/>
                </a:tc>
                <a:tc>
                  <a:txBody>
                    <a:bodyPr/>
                    <a:lstStyle/>
                    <a:p>
                      <a:pPr algn="ctr"/>
                      <a:r>
                        <a:rPr lang="en-US" sz="2400" b="1" dirty="0"/>
                        <a:t>0</a:t>
                      </a:r>
                    </a:p>
                  </a:txBody>
                  <a:tcPr/>
                </a:tc>
                <a:tc>
                  <a:txBody>
                    <a:bodyPr/>
                    <a:lstStyle/>
                    <a:p>
                      <a:pPr algn="ctr"/>
                      <a:r>
                        <a:rPr lang="en-US" sz="2400" b="1" dirty="0"/>
                        <a:t>0</a:t>
                      </a:r>
                    </a:p>
                  </a:txBody>
                  <a:tcPr/>
                </a:tc>
                <a:tc>
                  <a:txBody>
                    <a:bodyPr/>
                    <a:lstStyle/>
                    <a:p>
                      <a:pPr algn="ctr"/>
                      <a:endParaRPr lang="en-US" sz="2400" b="1" dirty="0"/>
                    </a:p>
                  </a:txBody>
                  <a:tcPr>
                    <a:solidFill>
                      <a:schemeClr val="bg1">
                        <a:lumMod val="65000"/>
                      </a:schemeClr>
                    </a:solidFill>
                  </a:tcPr>
                </a:tc>
                <a:tc>
                  <a:txBody>
                    <a:bodyPr/>
                    <a:lstStyle/>
                    <a:p>
                      <a:pPr algn="ctr"/>
                      <a:r>
                        <a:rPr lang="en-US" sz="2400" b="1" dirty="0"/>
                        <a:t>0</a:t>
                      </a:r>
                    </a:p>
                  </a:txBody>
                  <a:tcPr/>
                </a:tc>
                <a:tc>
                  <a:txBody>
                    <a:bodyPr/>
                    <a:lstStyle/>
                    <a:p>
                      <a:pPr algn="ctr"/>
                      <a:r>
                        <a:rPr lang="en-US" sz="2400" b="1" dirty="0"/>
                        <a:t>-4.8</a:t>
                      </a:r>
                    </a:p>
                  </a:txBody>
                  <a:tcPr/>
                </a:tc>
                <a:tc>
                  <a:txBody>
                    <a:bodyPr/>
                    <a:lstStyle/>
                    <a:p>
                      <a:pPr algn="ctr"/>
                      <a:r>
                        <a:rPr lang="en-US" sz="2400" b="1" dirty="0"/>
                        <a:t>0</a:t>
                      </a:r>
                    </a:p>
                  </a:txBody>
                  <a:tcPr/>
                </a:tc>
                <a:extLst>
                  <a:ext uri="{0D108BD9-81ED-4DB2-BD59-A6C34878D82A}">
                    <a16:rowId xmlns:a16="http://schemas.microsoft.com/office/drawing/2014/main" val="10001"/>
                  </a:ext>
                </a:extLst>
              </a:tr>
              <a:tr h="370840">
                <a:tc>
                  <a:txBody>
                    <a:bodyPr/>
                    <a:lstStyle/>
                    <a:p>
                      <a:pPr algn="ctr"/>
                      <a:r>
                        <a:rPr lang="en-US" sz="2400" b="1" dirty="0"/>
                        <a:t>19.0</a:t>
                      </a:r>
                    </a:p>
                  </a:txBody>
                  <a:tcPr/>
                </a:tc>
                <a:tc>
                  <a:txBody>
                    <a:bodyPr/>
                    <a:lstStyle/>
                    <a:p>
                      <a:pPr algn="ctr"/>
                      <a:endParaRPr lang="en-US" sz="2400" b="1" dirty="0"/>
                    </a:p>
                  </a:txBody>
                  <a:tcPr>
                    <a:solidFill>
                      <a:schemeClr val="bg1">
                        <a:lumMod val="65000"/>
                      </a:schemeClr>
                    </a:solidFill>
                  </a:tcPr>
                </a:tc>
                <a:tc>
                  <a:txBody>
                    <a:bodyPr/>
                    <a:lstStyle/>
                    <a:p>
                      <a:pPr algn="ctr"/>
                      <a:r>
                        <a:rPr lang="en-US" sz="2400" b="1" dirty="0"/>
                        <a:t>0</a:t>
                      </a:r>
                    </a:p>
                  </a:txBody>
                  <a:tcPr/>
                </a:tc>
                <a:tc>
                  <a:txBody>
                    <a:bodyPr/>
                    <a:lstStyle/>
                    <a:p>
                      <a:pPr algn="ctr"/>
                      <a:r>
                        <a:rPr lang="en-US" sz="2400" b="1" dirty="0"/>
                        <a:t>0</a:t>
                      </a:r>
                    </a:p>
                  </a:txBody>
                  <a:tcPr/>
                </a:tc>
                <a:tc>
                  <a:txBody>
                    <a:bodyPr/>
                    <a:lstStyle/>
                    <a:p>
                      <a:pPr algn="ctr"/>
                      <a:r>
                        <a:rPr lang="en-US" sz="2400" b="1" dirty="0"/>
                        <a:t>0</a:t>
                      </a:r>
                    </a:p>
                  </a:txBody>
                  <a:tcPr/>
                </a:tc>
                <a:tc>
                  <a:txBody>
                    <a:bodyPr/>
                    <a:lstStyle/>
                    <a:p>
                      <a:pPr algn="ctr"/>
                      <a:endParaRPr lang="en-US" sz="2400" b="1" dirty="0"/>
                    </a:p>
                  </a:txBody>
                  <a:tcPr>
                    <a:solidFill>
                      <a:schemeClr val="bg1">
                        <a:lumMod val="65000"/>
                      </a:schemeClr>
                    </a:solidFill>
                  </a:tcPr>
                </a:tc>
                <a:tc>
                  <a:txBody>
                    <a:bodyPr/>
                    <a:lstStyle/>
                    <a:p>
                      <a:pPr algn="ctr"/>
                      <a:r>
                        <a:rPr lang="en-US" sz="2400" b="1" dirty="0"/>
                        <a:t>0</a:t>
                      </a:r>
                    </a:p>
                  </a:txBody>
                  <a:tcPr/>
                </a:tc>
                <a:tc>
                  <a:txBody>
                    <a:bodyPr/>
                    <a:lstStyle/>
                    <a:p>
                      <a:pPr algn="ctr"/>
                      <a:r>
                        <a:rPr lang="en-US" sz="2400" b="1" dirty="0"/>
                        <a:t>0</a:t>
                      </a:r>
                    </a:p>
                  </a:txBody>
                  <a:tcPr/>
                </a:tc>
                <a:tc>
                  <a:txBody>
                    <a:bodyPr/>
                    <a:lstStyle/>
                    <a:p>
                      <a:pPr algn="ctr"/>
                      <a:r>
                        <a:rPr lang="en-US" sz="2400" b="1" dirty="0"/>
                        <a:t>0</a:t>
                      </a:r>
                    </a:p>
                  </a:txBody>
                  <a:tcPr/>
                </a:tc>
                <a:extLst>
                  <a:ext uri="{0D108BD9-81ED-4DB2-BD59-A6C34878D82A}">
                    <a16:rowId xmlns:a16="http://schemas.microsoft.com/office/drawing/2014/main" val="10002"/>
                  </a:ext>
                </a:extLst>
              </a:tr>
              <a:tr h="370840">
                <a:tc>
                  <a:txBody>
                    <a:bodyPr/>
                    <a:lstStyle/>
                    <a:p>
                      <a:pPr algn="ctr"/>
                      <a:r>
                        <a:rPr lang="en-US" sz="2400" b="1" dirty="0"/>
                        <a:t>19.0</a:t>
                      </a:r>
                    </a:p>
                  </a:txBody>
                  <a:tcPr/>
                </a:tc>
                <a:tc>
                  <a:txBody>
                    <a:bodyPr/>
                    <a:lstStyle/>
                    <a:p>
                      <a:pPr algn="ctr"/>
                      <a:endParaRPr lang="en-US" sz="2400" b="1"/>
                    </a:p>
                  </a:txBody>
                  <a:tcPr>
                    <a:solidFill>
                      <a:schemeClr val="bg1">
                        <a:lumMod val="65000"/>
                      </a:schemeClr>
                    </a:solidFill>
                  </a:tcPr>
                </a:tc>
                <a:tc>
                  <a:txBody>
                    <a:bodyPr/>
                    <a:lstStyle/>
                    <a:p>
                      <a:pPr algn="ctr"/>
                      <a:r>
                        <a:rPr lang="en-US" sz="2400" b="1" dirty="0"/>
                        <a:t>0</a:t>
                      </a:r>
                    </a:p>
                  </a:txBody>
                  <a:tcPr/>
                </a:tc>
                <a:tc>
                  <a:txBody>
                    <a:bodyPr/>
                    <a:lstStyle/>
                    <a:p>
                      <a:pPr algn="ctr"/>
                      <a:r>
                        <a:rPr lang="en-US" sz="2400" b="1" dirty="0"/>
                        <a:t>0</a:t>
                      </a:r>
                    </a:p>
                  </a:txBody>
                  <a:tcPr/>
                </a:tc>
                <a:tc>
                  <a:txBody>
                    <a:bodyPr/>
                    <a:lstStyle/>
                    <a:p>
                      <a:pPr algn="ctr"/>
                      <a:r>
                        <a:rPr lang="en-US" sz="2400" b="1" dirty="0"/>
                        <a:t>0</a:t>
                      </a:r>
                    </a:p>
                  </a:txBody>
                  <a:tcPr/>
                </a:tc>
                <a:tc>
                  <a:txBody>
                    <a:bodyPr/>
                    <a:lstStyle/>
                    <a:p>
                      <a:pPr algn="ctr"/>
                      <a:endParaRPr lang="en-US" sz="2400" b="1" dirty="0"/>
                    </a:p>
                  </a:txBody>
                  <a:tcPr>
                    <a:solidFill>
                      <a:schemeClr val="bg1">
                        <a:lumMod val="65000"/>
                      </a:schemeClr>
                    </a:solidFill>
                  </a:tcPr>
                </a:tc>
                <a:tc>
                  <a:txBody>
                    <a:bodyPr/>
                    <a:lstStyle/>
                    <a:p>
                      <a:pPr algn="ctr"/>
                      <a:r>
                        <a:rPr lang="en-US" sz="2400" b="1" dirty="0"/>
                        <a:t>1.4</a:t>
                      </a:r>
                    </a:p>
                  </a:txBody>
                  <a:tcPr/>
                </a:tc>
                <a:tc>
                  <a:txBody>
                    <a:bodyPr/>
                    <a:lstStyle/>
                    <a:p>
                      <a:pPr algn="ctr"/>
                      <a:r>
                        <a:rPr lang="en-US" sz="2400" b="1" dirty="0"/>
                        <a:t>0</a:t>
                      </a:r>
                    </a:p>
                  </a:txBody>
                  <a:tcPr/>
                </a:tc>
                <a:tc>
                  <a:txBody>
                    <a:bodyPr/>
                    <a:lstStyle/>
                    <a:p>
                      <a:pPr algn="ctr"/>
                      <a:r>
                        <a:rPr lang="en-US" sz="2400" b="1" dirty="0"/>
                        <a:t>0</a:t>
                      </a:r>
                    </a:p>
                  </a:txBody>
                  <a:tcPr/>
                </a:tc>
                <a:extLst>
                  <a:ext uri="{0D108BD9-81ED-4DB2-BD59-A6C34878D82A}">
                    <a16:rowId xmlns:a16="http://schemas.microsoft.com/office/drawing/2014/main" val="10003"/>
                  </a:ext>
                </a:extLst>
              </a:tr>
              <a:tr h="370840">
                <a:tc>
                  <a:txBody>
                    <a:bodyPr/>
                    <a:lstStyle/>
                    <a:p>
                      <a:pPr algn="ctr"/>
                      <a:r>
                        <a:rPr lang="en-US" sz="2400" b="1" dirty="0"/>
                        <a:t>19.0</a:t>
                      </a:r>
                    </a:p>
                  </a:txBody>
                  <a:tcPr/>
                </a:tc>
                <a:tc>
                  <a:txBody>
                    <a:bodyPr/>
                    <a:lstStyle/>
                    <a:p>
                      <a:pPr algn="ctr"/>
                      <a:endParaRPr lang="en-US" sz="2400" b="1"/>
                    </a:p>
                  </a:txBody>
                  <a:tcPr>
                    <a:solidFill>
                      <a:schemeClr val="bg1">
                        <a:lumMod val="65000"/>
                      </a:schemeClr>
                    </a:solidFill>
                  </a:tcPr>
                </a:tc>
                <a:tc>
                  <a:txBody>
                    <a:bodyPr/>
                    <a:lstStyle/>
                    <a:p>
                      <a:pPr algn="ctr"/>
                      <a:r>
                        <a:rPr lang="en-US" sz="2400" b="1" dirty="0"/>
                        <a:t>0</a:t>
                      </a:r>
                    </a:p>
                  </a:txBody>
                  <a:tcPr/>
                </a:tc>
                <a:tc>
                  <a:txBody>
                    <a:bodyPr/>
                    <a:lstStyle/>
                    <a:p>
                      <a:pPr algn="ctr"/>
                      <a:r>
                        <a:rPr lang="en-US" sz="2400" b="1" dirty="0"/>
                        <a:t>0</a:t>
                      </a:r>
                    </a:p>
                  </a:txBody>
                  <a:tcPr/>
                </a:tc>
                <a:tc>
                  <a:txBody>
                    <a:bodyPr/>
                    <a:lstStyle/>
                    <a:p>
                      <a:pPr algn="ctr"/>
                      <a:r>
                        <a:rPr lang="en-US" sz="2400" b="1" dirty="0"/>
                        <a:t>0</a:t>
                      </a:r>
                    </a:p>
                  </a:txBody>
                  <a:tcPr/>
                </a:tc>
                <a:tc>
                  <a:txBody>
                    <a:bodyPr/>
                    <a:lstStyle/>
                    <a:p>
                      <a:pPr algn="ctr"/>
                      <a:endParaRPr lang="en-US" sz="2400" b="1" dirty="0"/>
                    </a:p>
                  </a:txBody>
                  <a:tcPr>
                    <a:solidFill>
                      <a:schemeClr val="bg1">
                        <a:lumMod val="65000"/>
                      </a:schemeClr>
                    </a:solidFill>
                  </a:tcPr>
                </a:tc>
                <a:tc>
                  <a:txBody>
                    <a:bodyPr/>
                    <a:lstStyle/>
                    <a:p>
                      <a:pPr algn="ctr"/>
                      <a:r>
                        <a:rPr lang="en-US" sz="2400" b="1" dirty="0"/>
                        <a:t>0</a:t>
                      </a:r>
                    </a:p>
                  </a:txBody>
                  <a:tcPr/>
                </a:tc>
                <a:tc>
                  <a:txBody>
                    <a:bodyPr/>
                    <a:lstStyle/>
                    <a:p>
                      <a:pPr algn="ctr"/>
                      <a:r>
                        <a:rPr lang="en-US" sz="2400" b="1" dirty="0"/>
                        <a:t>0</a:t>
                      </a:r>
                    </a:p>
                  </a:txBody>
                  <a:tcPr/>
                </a:tc>
                <a:tc>
                  <a:txBody>
                    <a:bodyPr/>
                    <a:lstStyle/>
                    <a:p>
                      <a:pPr algn="ctr"/>
                      <a:r>
                        <a:rPr lang="en-US" sz="2400" b="1" dirty="0"/>
                        <a:t>-1.3</a:t>
                      </a:r>
                    </a:p>
                  </a:txBody>
                  <a:tcPr/>
                </a:tc>
                <a:extLst>
                  <a:ext uri="{0D108BD9-81ED-4DB2-BD59-A6C34878D82A}">
                    <a16:rowId xmlns:a16="http://schemas.microsoft.com/office/drawing/2014/main" val="10004"/>
                  </a:ext>
                </a:extLst>
              </a:tr>
              <a:tr h="370840">
                <a:tc>
                  <a:txBody>
                    <a:bodyPr/>
                    <a:lstStyle/>
                    <a:p>
                      <a:pPr algn="ctr"/>
                      <a:r>
                        <a:rPr lang="en-US" sz="2400" b="1" dirty="0"/>
                        <a:t>19.0</a:t>
                      </a:r>
                    </a:p>
                  </a:txBody>
                  <a:tcPr/>
                </a:tc>
                <a:tc>
                  <a:txBody>
                    <a:bodyPr/>
                    <a:lstStyle/>
                    <a:p>
                      <a:pPr algn="ctr"/>
                      <a:endParaRPr lang="en-US" sz="2400" b="1" dirty="0"/>
                    </a:p>
                  </a:txBody>
                  <a:tcPr>
                    <a:solidFill>
                      <a:schemeClr val="bg1">
                        <a:lumMod val="65000"/>
                      </a:schemeClr>
                    </a:solidFill>
                  </a:tcPr>
                </a:tc>
                <a:tc>
                  <a:txBody>
                    <a:bodyPr/>
                    <a:lstStyle/>
                    <a:p>
                      <a:pPr algn="ctr"/>
                      <a:r>
                        <a:rPr lang="en-US" sz="2400" b="1" dirty="0"/>
                        <a:t>-0.9</a:t>
                      </a:r>
                    </a:p>
                  </a:txBody>
                  <a:tcPr/>
                </a:tc>
                <a:tc>
                  <a:txBody>
                    <a:bodyPr/>
                    <a:lstStyle/>
                    <a:p>
                      <a:pPr algn="ctr"/>
                      <a:r>
                        <a:rPr lang="en-US" sz="2400" b="1" dirty="0"/>
                        <a:t>0</a:t>
                      </a:r>
                    </a:p>
                  </a:txBody>
                  <a:tcPr/>
                </a:tc>
                <a:tc>
                  <a:txBody>
                    <a:bodyPr/>
                    <a:lstStyle/>
                    <a:p>
                      <a:pPr algn="ctr"/>
                      <a:r>
                        <a:rPr lang="en-US" sz="2400" b="1" dirty="0"/>
                        <a:t>0</a:t>
                      </a:r>
                    </a:p>
                  </a:txBody>
                  <a:tcPr/>
                </a:tc>
                <a:tc>
                  <a:txBody>
                    <a:bodyPr/>
                    <a:lstStyle/>
                    <a:p>
                      <a:pPr algn="ctr"/>
                      <a:endParaRPr lang="en-US" sz="2400" b="1" dirty="0"/>
                    </a:p>
                  </a:txBody>
                  <a:tcPr>
                    <a:solidFill>
                      <a:schemeClr val="bg1">
                        <a:lumMod val="65000"/>
                      </a:schemeClr>
                    </a:solidFill>
                  </a:tcPr>
                </a:tc>
                <a:tc>
                  <a:txBody>
                    <a:bodyPr/>
                    <a:lstStyle/>
                    <a:p>
                      <a:pPr algn="ctr"/>
                      <a:r>
                        <a:rPr lang="en-US" sz="2400" b="1" dirty="0"/>
                        <a:t>0</a:t>
                      </a:r>
                    </a:p>
                  </a:txBody>
                  <a:tcPr/>
                </a:tc>
                <a:tc>
                  <a:txBody>
                    <a:bodyPr/>
                    <a:lstStyle/>
                    <a:p>
                      <a:pPr algn="ctr"/>
                      <a:r>
                        <a:rPr lang="en-US" sz="2400" b="1" dirty="0"/>
                        <a:t>0</a:t>
                      </a:r>
                    </a:p>
                  </a:txBody>
                  <a:tcPr/>
                </a:tc>
                <a:tc>
                  <a:txBody>
                    <a:bodyPr/>
                    <a:lstStyle/>
                    <a:p>
                      <a:pPr algn="ctr"/>
                      <a:r>
                        <a:rPr lang="en-US" sz="2400" b="1" dirty="0"/>
                        <a:t>-1.3</a:t>
                      </a:r>
                    </a:p>
                  </a:txBody>
                  <a:tcPr/>
                </a:tc>
                <a:extLst>
                  <a:ext uri="{0D108BD9-81ED-4DB2-BD59-A6C34878D82A}">
                    <a16:rowId xmlns:a16="http://schemas.microsoft.com/office/drawing/2014/main" val="10005"/>
                  </a:ext>
                </a:extLst>
              </a:tr>
            </a:tbl>
          </a:graphicData>
        </a:graphic>
      </p:graphicFrame>
      <p:sp>
        <p:nvSpPr>
          <p:cNvPr id="2" name="Title 1"/>
          <p:cNvSpPr>
            <a:spLocks noGrp="1"/>
          </p:cNvSpPr>
          <p:nvPr>
            <p:ph type="title"/>
          </p:nvPr>
        </p:nvSpPr>
        <p:spPr/>
        <p:txBody>
          <a:bodyPr/>
          <a:lstStyle/>
          <a:p>
            <a:r>
              <a:rPr lang="en-US" dirty="0"/>
              <a:t>How a model sees the coefficients</a:t>
            </a:r>
          </a:p>
        </p:txBody>
      </p:sp>
      <p:sp>
        <p:nvSpPr>
          <p:cNvPr id="9" name="TextBox 8"/>
          <p:cNvSpPr txBox="1"/>
          <p:nvPr/>
        </p:nvSpPr>
        <p:spPr>
          <a:xfrm>
            <a:off x="111764" y="3628947"/>
            <a:ext cx="2191241" cy="584775"/>
          </a:xfrm>
          <a:prstGeom prst="rect">
            <a:avLst/>
          </a:prstGeom>
          <a:noFill/>
        </p:spPr>
        <p:txBody>
          <a:bodyPr wrap="none" rtlCol="0">
            <a:spAutoFit/>
          </a:bodyPr>
          <a:lstStyle/>
          <a:p>
            <a:r>
              <a:rPr lang="en-US" sz="3200" b="1" dirty="0"/>
              <a:t>Model view</a:t>
            </a:r>
          </a:p>
        </p:txBody>
      </p:sp>
      <p:graphicFrame>
        <p:nvGraphicFramePr>
          <p:cNvPr id="10" name="Table 9"/>
          <p:cNvGraphicFramePr>
            <a:graphicFrameLocks noGrp="1"/>
          </p:cNvGraphicFramePr>
          <p:nvPr/>
        </p:nvGraphicFramePr>
        <p:xfrm>
          <a:off x="9072885" y="4124638"/>
          <a:ext cx="995680" cy="2656840"/>
        </p:xfrm>
        <a:graphic>
          <a:graphicData uri="http://schemas.openxmlformats.org/drawingml/2006/table">
            <a:tbl>
              <a:tblPr firstRow="1" bandRow="1">
                <a:tableStyleId>{7E9639D4-E3E2-4D34-9284-5A2195B3D0D7}</a:tableStyleId>
              </a:tblPr>
              <a:tblGrid>
                <a:gridCol w="995680">
                  <a:extLst>
                    <a:ext uri="{9D8B030D-6E8A-4147-A177-3AD203B41FA5}">
                      <a16:colId xmlns:a16="http://schemas.microsoft.com/office/drawing/2014/main" val="20000"/>
                    </a:ext>
                  </a:extLst>
                </a:gridCol>
              </a:tblGrid>
              <a:tr h="370840">
                <a:tc>
                  <a:txBody>
                    <a:bodyPr/>
                    <a:lstStyle/>
                    <a:p>
                      <a:pPr algn="ctr"/>
                      <a:r>
                        <a:rPr lang="en-US" i="1" dirty="0"/>
                        <a:t>Total</a:t>
                      </a:r>
                    </a:p>
                  </a:txBody>
                  <a:tcPr/>
                </a:tc>
                <a:extLst>
                  <a:ext uri="{0D108BD9-81ED-4DB2-BD59-A6C34878D82A}">
                    <a16:rowId xmlns:a16="http://schemas.microsoft.com/office/drawing/2014/main" val="10000"/>
                  </a:ext>
                </a:extLst>
              </a:tr>
              <a:tr h="370840">
                <a:tc>
                  <a:txBody>
                    <a:bodyPr/>
                    <a:lstStyle/>
                    <a:p>
                      <a:pPr algn="ctr"/>
                      <a:endParaRPr lang="en-US" sz="2400" b="1" dirty="0"/>
                    </a:p>
                  </a:txBody>
                  <a:tcPr/>
                </a:tc>
                <a:extLst>
                  <a:ext uri="{0D108BD9-81ED-4DB2-BD59-A6C34878D82A}">
                    <a16:rowId xmlns:a16="http://schemas.microsoft.com/office/drawing/2014/main" val="10001"/>
                  </a:ext>
                </a:extLst>
              </a:tr>
              <a:tr h="370840">
                <a:tc>
                  <a:txBody>
                    <a:bodyPr/>
                    <a:lstStyle/>
                    <a:p>
                      <a:pPr algn="ctr"/>
                      <a:endParaRPr lang="en-US" sz="2400" b="1" dirty="0"/>
                    </a:p>
                  </a:txBody>
                  <a:tcPr/>
                </a:tc>
                <a:extLst>
                  <a:ext uri="{0D108BD9-81ED-4DB2-BD59-A6C34878D82A}">
                    <a16:rowId xmlns:a16="http://schemas.microsoft.com/office/drawing/2014/main" val="10002"/>
                  </a:ext>
                </a:extLst>
              </a:tr>
              <a:tr h="370840">
                <a:tc>
                  <a:txBody>
                    <a:bodyPr/>
                    <a:lstStyle/>
                    <a:p>
                      <a:pPr algn="ctr"/>
                      <a:endParaRPr lang="en-US" sz="2400" b="1" dirty="0"/>
                    </a:p>
                  </a:txBody>
                  <a:tcPr/>
                </a:tc>
                <a:extLst>
                  <a:ext uri="{0D108BD9-81ED-4DB2-BD59-A6C34878D82A}">
                    <a16:rowId xmlns:a16="http://schemas.microsoft.com/office/drawing/2014/main" val="10003"/>
                  </a:ext>
                </a:extLst>
              </a:tr>
              <a:tr h="370840">
                <a:tc>
                  <a:txBody>
                    <a:bodyPr/>
                    <a:lstStyle/>
                    <a:p>
                      <a:pPr algn="ctr"/>
                      <a:endParaRPr lang="en-US" sz="2400" b="1" dirty="0"/>
                    </a:p>
                  </a:txBody>
                  <a:tcPr/>
                </a:tc>
                <a:extLst>
                  <a:ext uri="{0D108BD9-81ED-4DB2-BD59-A6C34878D82A}">
                    <a16:rowId xmlns:a16="http://schemas.microsoft.com/office/drawing/2014/main" val="10004"/>
                  </a:ext>
                </a:extLst>
              </a:tr>
              <a:tr h="370840">
                <a:tc>
                  <a:txBody>
                    <a:bodyPr/>
                    <a:lstStyle/>
                    <a:p>
                      <a:pPr algn="ctr"/>
                      <a:endParaRPr lang="en-US" sz="2400" b="1" dirty="0"/>
                    </a:p>
                  </a:txBody>
                  <a:tcPr/>
                </a:tc>
                <a:extLst>
                  <a:ext uri="{0D108BD9-81ED-4DB2-BD59-A6C34878D82A}">
                    <a16:rowId xmlns:a16="http://schemas.microsoft.com/office/drawing/2014/main" val="10005"/>
                  </a:ext>
                </a:extLst>
              </a:tr>
            </a:tbl>
          </a:graphicData>
        </a:graphic>
      </p:graphicFrame>
      <p:sp>
        <p:nvSpPr>
          <p:cNvPr id="6" name="TextBox 5"/>
          <p:cNvSpPr txBox="1"/>
          <p:nvPr/>
        </p:nvSpPr>
        <p:spPr>
          <a:xfrm>
            <a:off x="7954299" y="2362815"/>
            <a:ext cx="4228531" cy="1384995"/>
          </a:xfrm>
          <a:prstGeom prst="rect">
            <a:avLst/>
          </a:prstGeom>
          <a:noFill/>
        </p:spPr>
        <p:txBody>
          <a:bodyPr wrap="square" rtlCol="0">
            <a:spAutoFit/>
          </a:bodyPr>
          <a:lstStyle/>
          <a:p>
            <a:r>
              <a:rPr lang="en-US" sz="2800" b="1" dirty="0">
                <a:solidFill>
                  <a:schemeClr val="accent5">
                    <a:lumMod val="75000"/>
                  </a:schemeClr>
                </a:solidFill>
              </a:rPr>
              <a:t>From this, we can get the </a:t>
            </a:r>
            <a:r>
              <a:rPr lang="en-US" sz="2800" b="1" u="sng" dirty="0">
                <a:solidFill>
                  <a:schemeClr val="accent5">
                    <a:lumMod val="75000"/>
                  </a:schemeClr>
                </a:solidFill>
              </a:rPr>
              <a:t>fitted value</a:t>
            </a:r>
            <a:r>
              <a:rPr lang="en-US" sz="2800" b="1" dirty="0">
                <a:solidFill>
                  <a:schemeClr val="accent5">
                    <a:lumMod val="75000"/>
                  </a:schemeClr>
                </a:solidFill>
              </a:rPr>
              <a:t>, the prediction based on the coefficients</a:t>
            </a:r>
          </a:p>
        </p:txBody>
      </p:sp>
      <p:sp>
        <p:nvSpPr>
          <p:cNvPr id="11" name="Down Arrow 10"/>
          <p:cNvSpPr/>
          <p:nvPr/>
        </p:nvSpPr>
        <p:spPr>
          <a:xfrm>
            <a:off x="9287129" y="3760445"/>
            <a:ext cx="647469" cy="292282"/>
          </a:xfrm>
          <a:prstGeom prst="downArrow">
            <a:avLst/>
          </a:prstGeom>
          <a:solidFill>
            <a:schemeClr val="accent5">
              <a:lumMod val="7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3" name="Picture 12"/>
          <p:cNvPicPr>
            <a:picLocks noChangeAspect="1"/>
          </p:cNvPicPr>
          <p:nvPr/>
        </p:nvPicPr>
        <p:blipFill rotWithShape="1">
          <a:blip r:embed="rId3">
            <a:extLst>
              <a:ext uri="{28A0092B-C50C-407E-A947-70E740481C1C}">
                <a14:useLocalDpi xmlns:a14="http://schemas.microsoft.com/office/drawing/2010/main" val="0"/>
              </a:ext>
            </a:extLst>
          </a:blip>
          <a:srcRect l="21034" t="1042" r="4483" b="65127"/>
          <a:stretch/>
        </p:blipFill>
        <p:spPr>
          <a:xfrm>
            <a:off x="639293" y="1381364"/>
            <a:ext cx="2377440" cy="2322408"/>
          </a:xfrm>
          <a:prstGeom prst="rect">
            <a:avLst/>
          </a:prstGeom>
          <a:ln>
            <a:solidFill>
              <a:schemeClr val="tx1"/>
            </a:solidFill>
          </a:ln>
        </p:spPr>
      </p:pic>
      <p:sp>
        <p:nvSpPr>
          <p:cNvPr id="14" name="TextBox 13"/>
          <p:cNvSpPr txBox="1"/>
          <p:nvPr/>
        </p:nvSpPr>
        <p:spPr>
          <a:xfrm rot="16200000">
            <a:off x="-567108" y="2272851"/>
            <a:ext cx="1942519" cy="584775"/>
          </a:xfrm>
          <a:prstGeom prst="rect">
            <a:avLst/>
          </a:prstGeom>
          <a:noFill/>
        </p:spPr>
        <p:txBody>
          <a:bodyPr wrap="none" rtlCol="0">
            <a:spAutoFit/>
          </a:bodyPr>
          <a:lstStyle/>
          <a:p>
            <a:r>
              <a:rPr lang="en-US" sz="3200" b="1" dirty="0"/>
              <a:t>Data table</a:t>
            </a:r>
          </a:p>
        </p:txBody>
      </p:sp>
      <p:pic>
        <p:nvPicPr>
          <p:cNvPr id="15" name="Picture 14"/>
          <p:cNvPicPr>
            <a:picLocks noChangeAspect="1"/>
          </p:cNvPicPr>
          <p:nvPr/>
        </p:nvPicPr>
        <p:blipFill rotWithShape="1">
          <a:blip r:embed="rId4">
            <a:extLst>
              <a:ext uri="{28A0092B-C50C-407E-A947-70E740481C1C}">
                <a14:useLocalDpi xmlns:a14="http://schemas.microsoft.com/office/drawing/2010/main" val="0"/>
              </a:ext>
            </a:extLst>
          </a:blip>
          <a:srcRect l="2363" t="43138" r="54819" b="22043"/>
          <a:stretch/>
        </p:blipFill>
        <p:spPr>
          <a:xfrm>
            <a:off x="4293374" y="1408711"/>
            <a:ext cx="3362961" cy="2296160"/>
          </a:xfrm>
          <a:prstGeom prst="rect">
            <a:avLst/>
          </a:prstGeom>
          <a:ln>
            <a:solidFill>
              <a:schemeClr val="tx1"/>
            </a:solidFill>
          </a:ln>
        </p:spPr>
      </p:pic>
      <p:sp>
        <p:nvSpPr>
          <p:cNvPr id="16" name="TextBox 15"/>
          <p:cNvSpPr txBox="1"/>
          <p:nvPr/>
        </p:nvSpPr>
        <p:spPr>
          <a:xfrm rot="16200000">
            <a:off x="2578822" y="2018182"/>
            <a:ext cx="2350854" cy="1077218"/>
          </a:xfrm>
          <a:prstGeom prst="rect">
            <a:avLst/>
          </a:prstGeom>
          <a:noFill/>
        </p:spPr>
        <p:txBody>
          <a:bodyPr wrap="square" rtlCol="0">
            <a:spAutoFit/>
          </a:bodyPr>
          <a:lstStyle/>
          <a:p>
            <a:pPr algn="ctr"/>
            <a:r>
              <a:rPr lang="en-US" sz="3200" b="1" dirty="0"/>
              <a:t>Model Summary</a:t>
            </a:r>
          </a:p>
        </p:txBody>
      </p:sp>
      <p:sp>
        <p:nvSpPr>
          <p:cNvPr id="17" name="&quot;No&quot; Symbol 9">
            <a:extLst>
              <a:ext uri="{FF2B5EF4-FFF2-40B4-BE49-F238E27FC236}">
                <a16:creationId xmlns:a16="http://schemas.microsoft.com/office/drawing/2014/main" id="{A152D744-E2E5-4C12-89DF-1EE4C628809D}"/>
              </a:ext>
            </a:extLst>
          </p:cNvPr>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341926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p:cNvGraphicFramePr>
            <a:graphicFrameLocks noGrp="1"/>
          </p:cNvGraphicFramePr>
          <p:nvPr/>
        </p:nvGraphicFramePr>
        <p:xfrm>
          <a:off x="111764" y="4124638"/>
          <a:ext cx="8961121" cy="2656840"/>
        </p:xfrm>
        <a:graphic>
          <a:graphicData uri="http://schemas.openxmlformats.org/drawingml/2006/table">
            <a:tbl>
              <a:tblPr firstRow="1" bandRow="1">
                <a:tableStyleId>{7E9639D4-E3E2-4D34-9284-5A2195B3D0D7}</a:tableStyleId>
              </a:tblPr>
              <a:tblGrid>
                <a:gridCol w="871727">
                  <a:extLst>
                    <a:ext uri="{9D8B030D-6E8A-4147-A177-3AD203B41FA5}">
                      <a16:colId xmlns:a16="http://schemas.microsoft.com/office/drawing/2014/main" val="20000"/>
                    </a:ext>
                  </a:extLst>
                </a:gridCol>
                <a:gridCol w="871727">
                  <a:extLst>
                    <a:ext uri="{9D8B030D-6E8A-4147-A177-3AD203B41FA5}">
                      <a16:colId xmlns:a16="http://schemas.microsoft.com/office/drawing/2014/main" val="20001"/>
                    </a:ext>
                  </a:extLst>
                </a:gridCol>
                <a:gridCol w="871727">
                  <a:extLst>
                    <a:ext uri="{9D8B030D-6E8A-4147-A177-3AD203B41FA5}">
                      <a16:colId xmlns:a16="http://schemas.microsoft.com/office/drawing/2014/main" val="20002"/>
                    </a:ext>
                  </a:extLst>
                </a:gridCol>
                <a:gridCol w="871727">
                  <a:extLst>
                    <a:ext uri="{9D8B030D-6E8A-4147-A177-3AD203B41FA5}">
                      <a16:colId xmlns:a16="http://schemas.microsoft.com/office/drawing/2014/main" val="20003"/>
                    </a:ext>
                  </a:extLst>
                </a:gridCol>
                <a:gridCol w="871727">
                  <a:extLst>
                    <a:ext uri="{9D8B030D-6E8A-4147-A177-3AD203B41FA5}">
                      <a16:colId xmlns:a16="http://schemas.microsoft.com/office/drawing/2014/main" val="20004"/>
                    </a:ext>
                  </a:extLst>
                </a:gridCol>
                <a:gridCol w="782321">
                  <a:extLst>
                    <a:ext uri="{9D8B030D-6E8A-4147-A177-3AD203B41FA5}">
                      <a16:colId xmlns:a16="http://schemas.microsoft.com/office/drawing/2014/main" val="20005"/>
                    </a:ext>
                  </a:extLst>
                </a:gridCol>
                <a:gridCol w="1412240">
                  <a:extLst>
                    <a:ext uri="{9D8B030D-6E8A-4147-A177-3AD203B41FA5}">
                      <a16:colId xmlns:a16="http://schemas.microsoft.com/office/drawing/2014/main" val="20006"/>
                    </a:ext>
                  </a:extLst>
                </a:gridCol>
                <a:gridCol w="1036321">
                  <a:extLst>
                    <a:ext uri="{9D8B030D-6E8A-4147-A177-3AD203B41FA5}">
                      <a16:colId xmlns:a16="http://schemas.microsoft.com/office/drawing/2014/main" val="20007"/>
                    </a:ext>
                  </a:extLst>
                </a:gridCol>
                <a:gridCol w="1371604">
                  <a:extLst>
                    <a:ext uri="{9D8B030D-6E8A-4147-A177-3AD203B41FA5}">
                      <a16:colId xmlns:a16="http://schemas.microsoft.com/office/drawing/2014/main" val="20008"/>
                    </a:ext>
                  </a:extLst>
                </a:gridCol>
              </a:tblGrid>
              <a:tr h="370840">
                <a:tc>
                  <a:txBody>
                    <a:bodyPr/>
                    <a:lstStyle/>
                    <a:p>
                      <a:pPr algn="ctr"/>
                      <a:r>
                        <a:rPr lang="en-US" sz="1400" dirty="0"/>
                        <a:t>intercept</a:t>
                      </a:r>
                    </a:p>
                  </a:txBody>
                  <a:tcPr anchor="ctr"/>
                </a:tc>
                <a:tc>
                  <a:txBody>
                    <a:bodyPr/>
                    <a:lstStyle/>
                    <a:p>
                      <a:pPr algn="ctr"/>
                      <a:r>
                        <a:rPr lang="en-US" dirty="0"/>
                        <a:t>block1</a:t>
                      </a:r>
                    </a:p>
                  </a:txBody>
                  <a:tcPr anchor="ctr">
                    <a:solidFill>
                      <a:schemeClr val="bg1">
                        <a:lumMod val="65000"/>
                      </a:schemeClr>
                    </a:solidFill>
                  </a:tcPr>
                </a:tc>
                <a:tc>
                  <a:txBody>
                    <a:bodyPr/>
                    <a:lstStyle/>
                    <a:p>
                      <a:pPr algn="ctr"/>
                      <a:r>
                        <a:rPr lang="en-US" dirty="0"/>
                        <a:t>block2</a:t>
                      </a:r>
                    </a:p>
                  </a:txBody>
                  <a:tcPr anchor="ctr"/>
                </a:tc>
                <a:tc>
                  <a:txBody>
                    <a:bodyPr/>
                    <a:lstStyle/>
                    <a:p>
                      <a:pPr algn="ctr"/>
                      <a:r>
                        <a:rPr lang="en-US" dirty="0"/>
                        <a:t>block3</a:t>
                      </a:r>
                    </a:p>
                  </a:txBody>
                  <a:tcPr anchor="ctr"/>
                </a:tc>
                <a:tc>
                  <a:txBody>
                    <a:bodyPr/>
                    <a:lstStyle/>
                    <a:p>
                      <a:pPr algn="ctr"/>
                      <a:r>
                        <a:rPr lang="en-US" dirty="0"/>
                        <a:t>block4</a:t>
                      </a:r>
                    </a:p>
                  </a:txBody>
                  <a:tcPr anchor="ctr"/>
                </a:tc>
                <a:tc>
                  <a:txBody>
                    <a:bodyPr/>
                    <a:lstStyle/>
                    <a:p>
                      <a:pPr algn="ctr"/>
                      <a:r>
                        <a:rPr lang="en-US" dirty="0"/>
                        <a:t>Anne</a:t>
                      </a:r>
                    </a:p>
                  </a:txBody>
                  <a:tcPr anchor="ctr">
                    <a:solidFill>
                      <a:schemeClr val="bg1">
                        <a:lumMod val="65000"/>
                      </a:schemeClr>
                    </a:solidFill>
                  </a:tcPr>
                </a:tc>
                <a:tc>
                  <a:txBody>
                    <a:bodyPr/>
                    <a:lstStyle/>
                    <a:p>
                      <a:pPr algn="ctr"/>
                      <a:r>
                        <a:rPr lang="en-US" dirty="0"/>
                        <a:t>Cumberland</a:t>
                      </a:r>
                    </a:p>
                  </a:txBody>
                  <a:tcPr anchor="ctr"/>
                </a:tc>
                <a:tc>
                  <a:txBody>
                    <a:bodyPr/>
                    <a:lstStyle/>
                    <a:p>
                      <a:pPr algn="ctr"/>
                      <a:r>
                        <a:rPr lang="en-US" dirty="0"/>
                        <a:t>Heritage</a:t>
                      </a:r>
                      <a:endParaRPr lang="en-US" sz="1800" dirty="0"/>
                    </a:p>
                  </a:txBody>
                  <a:tcPr anchor="ctr"/>
                </a:tc>
                <a:tc>
                  <a:txBody>
                    <a:bodyPr/>
                    <a:lstStyle/>
                    <a:p>
                      <a:pPr algn="ctr"/>
                      <a:r>
                        <a:rPr lang="en-US" dirty="0" err="1"/>
                        <a:t>JewellBlack</a:t>
                      </a:r>
                      <a:endParaRPr lang="en-US" dirty="0"/>
                    </a:p>
                  </a:txBody>
                  <a:tcPr anchor="ctr"/>
                </a:tc>
                <a:extLst>
                  <a:ext uri="{0D108BD9-81ED-4DB2-BD59-A6C34878D82A}">
                    <a16:rowId xmlns:a16="http://schemas.microsoft.com/office/drawing/2014/main" val="10000"/>
                  </a:ext>
                </a:extLst>
              </a:tr>
              <a:tr h="370840">
                <a:tc>
                  <a:txBody>
                    <a:bodyPr/>
                    <a:lstStyle/>
                    <a:p>
                      <a:pPr algn="ctr"/>
                      <a:r>
                        <a:rPr lang="en-US" sz="2400" b="1" dirty="0"/>
                        <a:t>19.0</a:t>
                      </a:r>
                    </a:p>
                  </a:txBody>
                  <a:tcPr/>
                </a:tc>
                <a:tc>
                  <a:txBody>
                    <a:bodyPr/>
                    <a:lstStyle/>
                    <a:p>
                      <a:pPr algn="ctr"/>
                      <a:endParaRPr lang="en-US" sz="2400" b="1" dirty="0"/>
                    </a:p>
                  </a:txBody>
                  <a:tcPr>
                    <a:solidFill>
                      <a:schemeClr val="bg1">
                        <a:lumMod val="65000"/>
                      </a:schemeClr>
                    </a:solidFill>
                  </a:tcPr>
                </a:tc>
                <a:tc>
                  <a:txBody>
                    <a:bodyPr/>
                    <a:lstStyle/>
                    <a:p>
                      <a:pPr algn="ctr"/>
                      <a:r>
                        <a:rPr lang="en-US" sz="2400" b="1" dirty="0"/>
                        <a:t>0</a:t>
                      </a:r>
                    </a:p>
                  </a:txBody>
                  <a:tcPr/>
                </a:tc>
                <a:tc>
                  <a:txBody>
                    <a:bodyPr/>
                    <a:lstStyle/>
                    <a:p>
                      <a:pPr algn="ctr"/>
                      <a:r>
                        <a:rPr lang="en-US" sz="2400" b="1" dirty="0"/>
                        <a:t>0</a:t>
                      </a:r>
                    </a:p>
                  </a:txBody>
                  <a:tcPr/>
                </a:tc>
                <a:tc>
                  <a:txBody>
                    <a:bodyPr/>
                    <a:lstStyle/>
                    <a:p>
                      <a:pPr algn="ctr"/>
                      <a:r>
                        <a:rPr lang="en-US" sz="2400" b="1" dirty="0"/>
                        <a:t>0</a:t>
                      </a:r>
                    </a:p>
                  </a:txBody>
                  <a:tcPr/>
                </a:tc>
                <a:tc>
                  <a:txBody>
                    <a:bodyPr/>
                    <a:lstStyle/>
                    <a:p>
                      <a:pPr algn="ctr"/>
                      <a:endParaRPr lang="en-US" sz="2400" b="1" dirty="0"/>
                    </a:p>
                  </a:txBody>
                  <a:tcPr>
                    <a:solidFill>
                      <a:schemeClr val="bg1">
                        <a:lumMod val="65000"/>
                      </a:schemeClr>
                    </a:solidFill>
                  </a:tcPr>
                </a:tc>
                <a:tc>
                  <a:txBody>
                    <a:bodyPr/>
                    <a:lstStyle/>
                    <a:p>
                      <a:pPr algn="ctr"/>
                      <a:r>
                        <a:rPr lang="en-US" sz="2400" b="1" dirty="0"/>
                        <a:t>0</a:t>
                      </a:r>
                    </a:p>
                  </a:txBody>
                  <a:tcPr/>
                </a:tc>
                <a:tc>
                  <a:txBody>
                    <a:bodyPr/>
                    <a:lstStyle/>
                    <a:p>
                      <a:pPr algn="ctr"/>
                      <a:r>
                        <a:rPr lang="en-US" sz="2400" b="1" dirty="0"/>
                        <a:t>-4.8</a:t>
                      </a:r>
                    </a:p>
                  </a:txBody>
                  <a:tcPr/>
                </a:tc>
                <a:tc>
                  <a:txBody>
                    <a:bodyPr/>
                    <a:lstStyle/>
                    <a:p>
                      <a:pPr algn="ctr"/>
                      <a:r>
                        <a:rPr lang="en-US" sz="2400" b="1" dirty="0"/>
                        <a:t>0</a:t>
                      </a:r>
                    </a:p>
                  </a:txBody>
                  <a:tcPr/>
                </a:tc>
                <a:extLst>
                  <a:ext uri="{0D108BD9-81ED-4DB2-BD59-A6C34878D82A}">
                    <a16:rowId xmlns:a16="http://schemas.microsoft.com/office/drawing/2014/main" val="10001"/>
                  </a:ext>
                </a:extLst>
              </a:tr>
              <a:tr h="370840">
                <a:tc>
                  <a:txBody>
                    <a:bodyPr/>
                    <a:lstStyle/>
                    <a:p>
                      <a:pPr algn="ctr"/>
                      <a:r>
                        <a:rPr lang="en-US" sz="2400" b="1" dirty="0"/>
                        <a:t>19.0</a:t>
                      </a:r>
                    </a:p>
                  </a:txBody>
                  <a:tcPr/>
                </a:tc>
                <a:tc>
                  <a:txBody>
                    <a:bodyPr/>
                    <a:lstStyle/>
                    <a:p>
                      <a:pPr algn="ctr"/>
                      <a:endParaRPr lang="en-US" sz="2400" b="1" dirty="0"/>
                    </a:p>
                  </a:txBody>
                  <a:tcPr>
                    <a:solidFill>
                      <a:schemeClr val="bg1">
                        <a:lumMod val="65000"/>
                      </a:schemeClr>
                    </a:solidFill>
                  </a:tcPr>
                </a:tc>
                <a:tc>
                  <a:txBody>
                    <a:bodyPr/>
                    <a:lstStyle/>
                    <a:p>
                      <a:pPr algn="ctr"/>
                      <a:r>
                        <a:rPr lang="en-US" sz="2400" b="1" dirty="0"/>
                        <a:t>0</a:t>
                      </a:r>
                    </a:p>
                  </a:txBody>
                  <a:tcPr/>
                </a:tc>
                <a:tc>
                  <a:txBody>
                    <a:bodyPr/>
                    <a:lstStyle/>
                    <a:p>
                      <a:pPr algn="ctr"/>
                      <a:r>
                        <a:rPr lang="en-US" sz="2400" b="1" dirty="0"/>
                        <a:t>0</a:t>
                      </a:r>
                    </a:p>
                  </a:txBody>
                  <a:tcPr/>
                </a:tc>
                <a:tc>
                  <a:txBody>
                    <a:bodyPr/>
                    <a:lstStyle/>
                    <a:p>
                      <a:pPr algn="ctr"/>
                      <a:r>
                        <a:rPr lang="en-US" sz="2400" b="1" dirty="0"/>
                        <a:t>0</a:t>
                      </a:r>
                    </a:p>
                  </a:txBody>
                  <a:tcPr/>
                </a:tc>
                <a:tc>
                  <a:txBody>
                    <a:bodyPr/>
                    <a:lstStyle/>
                    <a:p>
                      <a:pPr algn="ctr"/>
                      <a:endParaRPr lang="en-US" sz="2400" b="1" dirty="0"/>
                    </a:p>
                  </a:txBody>
                  <a:tcPr>
                    <a:solidFill>
                      <a:schemeClr val="bg1">
                        <a:lumMod val="65000"/>
                      </a:schemeClr>
                    </a:solidFill>
                  </a:tcPr>
                </a:tc>
                <a:tc>
                  <a:txBody>
                    <a:bodyPr/>
                    <a:lstStyle/>
                    <a:p>
                      <a:pPr algn="ctr"/>
                      <a:r>
                        <a:rPr lang="en-US" sz="2400" b="1" dirty="0"/>
                        <a:t>0</a:t>
                      </a:r>
                    </a:p>
                  </a:txBody>
                  <a:tcPr/>
                </a:tc>
                <a:tc>
                  <a:txBody>
                    <a:bodyPr/>
                    <a:lstStyle/>
                    <a:p>
                      <a:pPr algn="ctr"/>
                      <a:r>
                        <a:rPr lang="en-US" sz="2400" b="1" dirty="0"/>
                        <a:t>0</a:t>
                      </a:r>
                    </a:p>
                  </a:txBody>
                  <a:tcPr/>
                </a:tc>
                <a:tc>
                  <a:txBody>
                    <a:bodyPr/>
                    <a:lstStyle/>
                    <a:p>
                      <a:pPr algn="ctr"/>
                      <a:r>
                        <a:rPr lang="en-US" sz="2400" b="1" dirty="0"/>
                        <a:t>0</a:t>
                      </a:r>
                    </a:p>
                  </a:txBody>
                  <a:tcPr/>
                </a:tc>
                <a:extLst>
                  <a:ext uri="{0D108BD9-81ED-4DB2-BD59-A6C34878D82A}">
                    <a16:rowId xmlns:a16="http://schemas.microsoft.com/office/drawing/2014/main" val="10002"/>
                  </a:ext>
                </a:extLst>
              </a:tr>
              <a:tr h="370840">
                <a:tc>
                  <a:txBody>
                    <a:bodyPr/>
                    <a:lstStyle/>
                    <a:p>
                      <a:pPr algn="ctr"/>
                      <a:r>
                        <a:rPr lang="en-US" sz="2400" b="1" dirty="0"/>
                        <a:t>19.0</a:t>
                      </a:r>
                    </a:p>
                  </a:txBody>
                  <a:tcPr/>
                </a:tc>
                <a:tc>
                  <a:txBody>
                    <a:bodyPr/>
                    <a:lstStyle/>
                    <a:p>
                      <a:pPr algn="ctr"/>
                      <a:endParaRPr lang="en-US" sz="2400" b="1"/>
                    </a:p>
                  </a:txBody>
                  <a:tcPr>
                    <a:solidFill>
                      <a:schemeClr val="bg1">
                        <a:lumMod val="65000"/>
                      </a:schemeClr>
                    </a:solidFill>
                  </a:tcPr>
                </a:tc>
                <a:tc>
                  <a:txBody>
                    <a:bodyPr/>
                    <a:lstStyle/>
                    <a:p>
                      <a:pPr algn="ctr"/>
                      <a:r>
                        <a:rPr lang="en-US" sz="2400" b="1" dirty="0"/>
                        <a:t>0</a:t>
                      </a:r>
                    </a:p>
                  </a:txBody>
                  <a:tcPr/>
                </a:tc>
                <a:tc>
                  <a:txBody>
                    <a:bodyPr/>
                    <a:lstStyle/>
                    <a:p>
                      <a:pPr algn="ctr"/>
                      <a:r>
                        <a:rPr lang="en-US" sz="2400" b="1" dirty="0"/>
                        <a:t>0</a:t>
                      </a:r>
                    </a:p>
                  </a:txBody>
                  <a:tcPr/>
                </a:tc>
                <a:tc>
                  <a:txBody>
                    <a:bodyPr/>
                    <a:lstStyle/>
                    <a:p>
                      <a:pPr algn="ctr"/>
                      <a:r>
                        <a:rPr lang="en-US" sz="2400" b="1" dirty="0"/>
                        <a:t>0</a:t>
                      </a:r>
                    </a:p>
                  </a:txBody>
                  <a:tcPr/>
                </a:tc>
                <a:tc>
                  <a:txBody>
                    <a:bodyPr/>
                    <a:lstStyle/>
                    <a:p>
                      <a:pPr algn="ctr"/>
                      <a:endParaRPr lang="en-US" sz="2400" b="1" dirty="0"/>
                    </a:p>
                  </a:txBody>
                  <a:tcPr>
                    <a:solidFill>
                      <a:schemeClr val="bg1">
                        <a:lumMod val="65000"/>
                      </a:schemeClr>
                    </a:solidFill>
                  </a:tcPr>
                </a:tc>
                <a:tc>
                  <a:txBody>
                    <a:bodyPr/>
                    <a:lstStyle/>
                    <a:p>
                      <a:pPr algn="ctr"/>
                      <a:r>
                        <a:rPr lang="en-US" sz="2400" b="1" dirty="0"/>
                        <a:t>1.4</a:t>
                      </a:r>
                    </a:p>
                  </a:txBody>
                  <a:tcPr/>
                </a:tc>
                <a:tc>
                  <a:txBody>
                    <a:bodyPr/>
                    <a:lstStyle/>
                    <a:p>
                      <a:pPr algn="ctr"/>
                      <a:r>
                        <a:rPr lang="en-US" sz="2400" b="1" dirty="0"/>
                        <a:t>0</a:t>
                      </a:r>
                    </a:p>
                  </a:txBody>
                  <a:tcPr/>
                </a:tc>
                <a:tc>
                  <a:txBody>
                    <a:bodyPr/>
                    <a:lstStyle/>
                    <a:p>
                      <a:pPr algn="ctr"/>
                      <a:r>
                        <a:rPr lang="en-US" sz="2400" b="1" dirty="0"/>
                        <a:t>0</a:t>
                      </a:r>
                    </a:p>
                  </a:txBody>
                  <a:tcPr/>
                </a:tc>
                <a:extLst>
                  <a:ext uri="{0D108BD9-81ED-4DB2-BD59-A6C34878D82A}">
                    <a16:rowId xmlns:a16="http://schemas.microsoft.com/office/drawing/2014/main" val="10003"/>
                  </a:ext>
                </a:extLst>
              </a:tr>
              <a:tr h="370840">
                <a:tc>
                  <a:txBody>
                    <a:bodyPr/>
                    <a:lstStyle/>
                    <a:p>
                      <a:pPr algn="ctr"/>
                      <a:r>
                        <a:rPr lang="en-US" sz="2400" b="1" dirty="0"/>
                        <a:t>19.0</a:t>
                      </a:r>
                    </a:p>
                  </a:txBody>
                  <a:tcPr/>
                </a:tc>
                <a:tc>
                  <a:txBody>
                    <a:bodyPr/>
                    <a:lstStyle/>
                    <a:p>
                      <a:pPr algn="ctr"/>
                      <a:endParaRPr lang="en-US" sz="2400" b="1"/>
                    </a:p>
                  </a:txBody>
                  <a:tcPr>
                    <a:solidFill>
                      <a:schemeClr val="bg1">
                        <a:lumMod val="65000"/>
                      </a:schemeClr>
                    </a:solidFill>
                  </a:tcPr>
                </a:tc>
                <a:tc>
                  <a:txBody>
                    <a:bodyPr/>
                    <a:lstStyle/>
                    <a:p>
                      <a:pPr algn="ctr"/>
                      <a:r>
                        <a:rPr lang="en-US" sz="2400" b="1" dirty="0"/>
                        <a:t>0</a:t>
                      </a:r>
                    </a:p>
                  </a:txBody>
                  <a:tcPr/>
                </a:tc>
                <a:tc>
                  <a:txBody>
                    <a:bodyPr/>
                    <a:lstStyle/>
                    <a:p>
                      <a:pPr algn="ctr"/>
                      <a:r>
                        <a:rPr lang="en-US" sz="2400" b="1" dirty="0"/>
                        <a:t>0</a:t>
                      </a:r>
                    </a:p>
                  </a:txBody>
                  <a:tcPr/>
                </a:tc>
                <a:tc>
                  <a:txBody>
                    <a:bodyPr/>
                    <a:lstStyle/>
                    <a:p>
                      <a:pPr algn="ctr"/>
                      <a:r>
                        <a:rPr lang="en-US" sz="2400" b="1" dirty="0"/>
                        <a:t>0</a:t>
                      </a:r>
                    </a:p>
                  </a:txBody>
                  <a:tcPr/>
                </a:tc>
                <a:tc>
                  <a:txBody>
                    <a:bodyPr/>
                    <a:lstStyle/>
                    <a:p>
                      <a:pPr algn="ctr"/>
                      <a:endParaRPr lang="en-US" sz="2400" b="1" dirty="0"/>
                    </a:p>
                  </a:txBody>
                  <a:tcPr>
                    <a:solidFill>
                      <a:schemeClr val="bg1">
                        <a:lumMod val="65000"/>
                      </a:schemeClr>
                    </a:solidFill>
                  </a:tcPr>
                </a:tc>
                <a:tc>
                  <a:txBody>
                    <a:bodyPr/>
                    <a:lstStyle/>
                    <a:p>
                      <a:pPr algn="ctr"/>
                      <a:r>
                        <a:rPr lang="en-US" sz="2400" b="1" dirty="0"/>
                        <a:t>0</a:t>
                      </a:r>
                    </a:p>
                  </a:txBody>
                  <a:tcPr/>
                </a:tc>
                <a:tc>
                  <a:txBody>
                    <a:bodyPr/>
                    <a:lstStyle/>
                    <a:p>
                      <a:pPr algn="ctr"/>
                      <a:r>
                        <a:rPr lang="en-US" sz="2400" b="1" dirty="0"/>
                        <a:t>0</a:t>
                      </a:r>
                    </a:p>
                  </a:txBody>
                  <a:tcPr/>
                </a:tc>
                <a:tc>
                  <a:txBody>
                    <a:bodyPr/>
                    <a:lstStyle/>
                    <a:p>
                      <a:pPr algn="ctr"/>
                      <a:r>
                        <a:rPr lang="en-US" sz="2400" b="1" dirty="0"/>
                        <a:t>-1.3</a:t>
                      </a:r>
                    </a:p>
                  </a:txBody>
                  <a:tcPr/>
                </a:tc>
                <a:extLst>
                  <a:ext uri="{0D108BD9-81ED-4DB2-BD59-A6C34878D82A}">
                    <a16:rowId xmlns:a16="http://schemas.microsoft.com/office/drawing/2014/main" val="10004"/>
                  </a:ext>
                </a:extLst>
              </a:tr>
              <a:tr h="370840">
                <a:tc>
                  <a:txBody>
                    <a:bodyPr/>
                    <a:lstStyle/>
                    <a:p>
                      <a:pPr algn="ctr"/>
                      <a:r>
                        <a:rPr lang="en-US" sz="2400" b="1" dirty="0"/>
                        <a:t>19.0</a:t>
                      </a:r>
                    </a:p>
                  </a:txBody>
                  <a:tcPr/>
                </a:tc>
                <a:tc>
                  <a:txBody>
                    <a:bodyPr/>
                    <a:lstStyle/>
                    <a:p>
                      <a:pPr algn="ctr"/>
                      <a:endParaRPr lang="en-US" sz="2400" b="1" dirty="0"/>
                    </a:p>
                  </a:txBody>
                  <a:tcPr>
                    <a:solidFill>
                      <a:schemeClr val="bg1">
                        <a:lumMod val="65000"/>
                      </a:schemeClr>
                    </a:solidFill>
                  </a:tcPr>
                </a:tc>
                <a:tc>
                  <a:txBody>
                    <a:bodyPr/>
                    <a:lstStyle/>
                    <a:p>
                      <a:pPr algn="ctr"/>
                      <a:r>
                        <a:rPr lang="en-US" sz="2400" b="1" dirty="0"/>
                        <a:t>-0.9</a:t>
                      </a:r>
                    </a:p>
                  </a:txBody>
                  <a:tcPr/>
                </a:tc>
                <a:tc>
                  <a:txBody>
                    <a:bodyPr/>
                    <a:lstStyle/>
                    <a:p>
                      <a:pPr algn="ctr"/>
                      <a:r>
                        <a:rPr lang="en-US" sz="2400" b="1" dirty="0"/>
                        <a:t>0</a:t>
                      </a:r>
                    </a:p>
                  </a:txBody>
                  <a:tcPr/>
                </a:tc>
                <a:tc>
                  <a:txBody>
                    <a:bodyPr/>
                    <a:lstStyle/>
                    <a:p>
                      <a:pPr algn="ctr"/>
                      <a:r>
                        <a:rPr lang="en-US" sz="2400" b="1" dirty="0"/>
                        <a:t>0</a:t>
                      </a:r>
                    </a:p>
                  </a:txBody>
                  <a:tcPr/>
                </a:tc>
                <a:tc>
                  <a:txBody>
                    <a:bodyPr/>
                    <a:lstStyle/>
                    <a:p>
                      <a:pPr algn="ctr"/>
                      <a:endParaRPr lang="en-US" sz="2400" b="1" dirty="0"/>
                    </a:p>
                  </a:txBody>
                  <a:tcPr>
                    <a:solidFill>
                      <a:schemeClr val="bg1">
                        <a:lumMod val="65000"/>
                      </a:schemeClr>
                    </a:solidFill>
                  </a:tcPr>
                </a:tc>
                <a:tc>
                  <a:txBody>
                    <a:bodyPr/>
                    <a:lstStyle/>
                    <a:p>
                      <a:pPr algn="ctr"/>
                      <a:r>
                        <a:rPr lang="en-US" sz="2400" b="1" dirty="0"/>
                        <a:t>0</a:t>
                      </a:r>
                    </a:p>
                  </a:txBody>
                  <a:tcPr/>
                </a:tc>
                <a:tc>
                  <a:txBody>
                    <a:bodyPr/>
                    <a:lstStyle/>
                    <a:p>
                      <a:pPr algn="ctr"/>
                      <a:r>
                        <a:rPr lang="en-US" sz="2400" b="1" dirty="0"/>
                        <a:t>0</a:t>
                      </a:r>
                    </a:p>
                  </a:txBody>
                  <a:tcPr/>
                </a:tc>
                <a:tc>
                  <a:txBody>
                    <a:bodyPr/>
                    <a:lstStyle/>
                    <a:p>
                      <a:pPr algn="ctr"/>
                      <a:r>
                        <a:rPr lang="en-US" sz="2400" b="1" dirty="0"/>
                        <a:t>-1.3</a:t>
                      </a:r>
                    </a:p>
                  </a:txBody>
                  <a:tcPr/>
                </a:tc>
                <a:extLst>
                  <a:ext uri="{0D108BD9-81ED-4DB2-BD59-A6C34878D82A}">
                    <a16:rowId xmlns:a16="http://schemas.microsoft.com/office/drawing/2014/main" val="10005"/>
                  </a:ext>
                </a:extLst>
              </a:tr>
            </a:tbl>
          </a:graphicData>
        </a:graphic>
      </p:graphicFrame>
      <p:sp>
        <p:nvSpPr>
          <p:cNvPr id="2" name="Title 1"/>
          <p:cNvSpPr>
            <a:spLocks noGrp="1"/>
          </p:cNvSpPr>
          <p:nvPr>
            <p:ph type="title"/>
          </p:nvPr>
        </p:nvSpPr>
        <p:spPr/>
        <p:txBody>
          <a:bodyPr/>
          <a:lstStyle/>
          <a:p>
            <a:r>
              <a:rPr lang="en-US" dirty="0"/>
              <a:t>How a model sees the coefficients</a:t>
            </a:r>
          </a:p>
        </p:txBody>
      </p:sp>
      <p:sp>
        <p:nvSpPr>
          <p:cNvPr id="9" name="TextBox 8"/>
          <p:cNvSpPr txBox="1"/>
          <p:nvPr/>
        </p:nvSpPr>
        <p:spPr>
          <a:xfrm>
            <a:off x="111764" y="3628947"/>
            <a:ext cx="2191241" cy="584775"/>
          </a:xfrm>
          <a:prstGeom prst="rect">
            <a:avLst/>
          </a:prstGeom>
          <a:noFill/>
        </p:spPr>
        <p:txBody>
          <a:bodyPr wrap="none" rtlCol="0">
            <a:spAutoFit/>
          </a:bodyPr>
          <a:lstStyle/>
          <a:p>
            <a:r>
              <a:rPr lang="en-US" sz="3200" b="1" dirty="0"/>
              <a:t>Model view</a:t>
            </a:r>
          </a:p>
        </p:txBody>
      </p:sp>
      <p:graphicFrame>
        <p:nvGraphicFramePr>
          <p:cNvPr id="10" name="Table 9"/>
          <p:cNvGraphicFramePr>
            <a:graphicFrameLocks noGrp="1"/>
          </p:cNvGraphicFramePr>
          <p:nvPr/>
        </p:nvGraphicFramePr>
        <p:xfrm>
          <a:off x="9072885" y="4124638"/>
          <a:ext cx="995680" cy="2656840"/>
        </p:xfrm>
        <a:graphic>
          <a:graphicData uri="http://schemas.openxmlformats.org/drawingml/2006/table">
            <a:tbl>
              <a:tblPr firstRow="1" bandRow="1">
                <a:tableStyleId>{7E9639D4-E3E2-4D34-9284-5A2195B3D0D7}</a:tableStyleId>
              </a:tblPr>
              <a:tblGrid>
                <a:gridCol w="995680">
                  <a:extLst>
                    <a:ext uri="{9D8B030D-6E8A-4147-A177-3AD203B41FA5}">
                      <a16:colId xmlns:a16="http://schemas.microsoft.com/office/drawing/2014/main" val="20000"/>
                    </a:ext>
                  </a:extLst>
                </a:gridCol>
              </a:tblGrid>
              <a:tr h="370840">
                <a:tc>
                  <a:txBody>
                    <a:bodyPr/>
                    <a:lstStyle/>
                    <a:p>
                      <a:pPr algn="ctr"/>
                      <a:r>
                        <a:rPr lang="en-US" i="1" dirty="0"/>
                        <a:t>Total</a:t>
                      </a:r>
                    </a:p>
                  </a:txBody>
                  <a:tcPr/>
                </a:tc>
                <a:extLst>
                  <a:ext uri="{0D108BD9-81ED-4DB2-BD59-A6C34878D82A}">
                    <a16:rowId xmlns:a16="http://schemas.microsoft.com/office/drawing/2014/main" val="10000"/>
                  </a:ext>
                </a:extLst>
              </a:tr>
              <a:tr h="370840">
                <a:tc>
                  <a:txBody>
                    <a:bodyPr/>
                    <a:lstStyle/>
                    <a:p>
                      <a:pPr algn="ctr"/>
                      <a:r>
                        <a:rPr lang="en-US" sz="2400" b="1" dirty="0">
                          <a:solidFill>
                            <a:schemeClr val="accent5">
                              <a:lumMod val="75000"/>
                            </a:schemeClr>
                          </a:solidFill>
                        </a:rPr>
                        <a:t>14.2</a:t>
                      </a:r>
                    </a:p>
                  </a:txBody>
                  <a:tcPr/>
                </a:tc>
                <a:extLst>
                  <a:ext uri="{0D108BD9-81ED-4DB2-BD59-A6C34878D82A}">
                    <a16:rowId xmlns:a16="http://schemas.microsoft.com/office/drawing/2014/main" val="10001"/>
                  </a:ext>
                </a:extLst>
              </a:tr>
              <a:tr h="370840">
                <a:tc>
                  <a:txBody>
                    <a:bodyPr/>
                    <a:lstStyle/>
                    <a:p>
                      <a:pPr algn="ctr"/>
                      <a:r>
                        <a:rPr lang="en-US" sz="2400" b="1" dirty="0">
                          <a:solidFill>
                            <a:schemeClr val="accent5">
                              <a:lumMod val="75000"/>
                            </a:schemeClr>
                          </a:solidFill>
                        </a:rPr>
                        <a:t>19</a:t>
                      </a:r>
                    </a:p>
                  </a:txBody>
                  <a:tcPr/>
                </a:tc>
                <a:extLst>
                  <a:ext uri="{0D108BD9-81ED-4DB2-BD59-A6C34878D82A}">
                    <a16:rowId xmlns:a16="http://schemas.microsoft.com/office/drawing/2014/main" val="10002"/>
                  </a:ext>
                </a:extLst>
              </a:tr>
              <a:tr h="370840">
                <a:tc>
                  <a:txBody>
                    <a:bodyPr/>
                    <a:lstStyle/>
                    <a:p>
                      <a:pPr algn="ctr"/>
                      <a:r>
                        <a:rPr lang="en-US" sz="2400" b="1" dirty="0">
                          <a:solidFill>
                            <a:schemeClr val="accent5">
                              <a:lumMod val="75000"/>
                            </a:schemeClr>
                          </a:solidFill>
                        </a:rPr>
                        <a:t>20.4</a:t>
                      </a:r>
                    </a:p>
                  </a:txBody>
                  <a:tcPr/>
                </a:tc>
                <a:extLst>
                  <a:ext uri="{0D108BD9-81ED-4DB2-BD59-A6C34878D82A}">
                    <a16:rowId xmlns:a16="http://schemas.microsoft.com/office/drawing/2014/main" val="10003"/>
                  </a:ext>
                </a:extLst>
              </a:tr>
              <a:tr h="370840">
                <a:tc>
                  <a:txBody>
                    <a:bodyPr/>
                    <a:lstStyle/>
                    <a:p>
                      <a:pPr algn="ctr"/>
                      <a:r>
                        <a:rPr lang="en-US" sz="2400" b="1" dirty="0">
                          <a:solidFill>
                            <a:schemeClr val="accent5">
                              <a:lumMod val="75000"/>
                            </a:schemeClr>
                          </a:solidFill>
                        </a:rPr>
                        <a:t>17.7</a:t>
                      </a:r>
                    </a:p>
                  </a:txBody>
                  <a:tcPr/>
                </a:tc>
                <a:extLst>
                  <a:ext uri="{0D108BD9-81ED-4DB2-BD59-A6C34878D82A}">
                    <a16:rowId xmlns:a16="http://schemas.microsoft.com/office/drawing/2014/main" val="10004"/>
                  </a:ext>
                </a:extLst>
              </a:tr>
              <a:tr h="370840">
                <a:tc>
                  <a:txBody>
                    <a:bodyPr/>
                    <a:lstStyle/>
                    <a:p>
                      <a:pPr algn="ctr"/>
                      <a:r>
                        <a:rPr lang="en-US" sz="2400" b="1" dirty="0">
                          <a:solidFill>
                            <a:schemeClr val="accent5">
                              <a:lumMod val="75000"/>
                            </a:schemeClr>
                          </a:solidFill>
                        </a:rPr>
                        <a:t>16.8</a:t>
                      </a:r>
                    </a:p>
                  </a:txBody>
                  <a:tcPr/>
                </a:tc>
                <a:extLst>
                  <a:ext uri="{0D108BD9-81ED-4DB2-BD59-A6C34878D82A}">
                    <a16:rowId xmlns:a16="http://schemas.microsoft.com/office/drawing/2014/main" val="10005"/>
                  </a:ext>
                </a:extLst>
              </a:tr>
            </a:tbl>
          </a:graphicData>
        </a:graphic>
      </p:graphicFrame>
      <p:sp>
        <p:nvSpPr>
          <p:cNvPr id="6" name="TextBox 5"/>
          <p:cNvSpPr txBox="1"/>
          <p:nvPr/>
        </p:nvSpPr>
        <p:spPr>
          <a:xfrm>
            <a:off x="7954299" y="2362815"/>
            <a:ext cx="4228531" cy="1384995"/>
          </a:xfrm>
          <a:prstGeom prst="rect">
            <a:avLst/>
          </a:prstGeom>
          <a:noFill/>
        </p:spPr>
        <p:txBody>
          <a:bodyPr wrap="square" rtlCol="0">
            <a:spAutoFit/>
          </a:bodyPr>
          <a:lstStyle/>
          <a:p>
            <a:r>
              <a:rPr lang="en-US" sz="2800" b="1" dirty="0">
                <a:solidFill>
                  <a:schemeClr val="accent5">
                    <a:lumMod val="75000"/>
                  </a:schemeClr>
                </a:solidFill>
              </a:rPr>
              <a:t>From this, we can get the </a:t>
            </a:r>
            <a:r>
              <a:rPr lang="en-US" sz="2800" b="1" u="sng" dirty="0">
                <a:solidFill>
                  <a:schemeClr val="accent5">
                    <a:lumMod val="75000"/>
                  </a:schemeClr>
                </a:solidFill>
              </a:rPr>
              <a:t>fitted value</a:t>
            </a:r>
            <a:r>
              <a:rPr lang="en-US" sz="2800" b="1" dirty="0">
                <a:solidFill>
                  <a:schemeClr val="accent5">
                    <a:lumMod val="75000"/>
                  </a:schemeClr>
                </a:solidFill>
              </a:rPr>
              <a:t>, the prediction based on the coefficients</a:t>
            </a:r>
          </a:p>
        </p:txBody>
      </p:sp>
      <p:sp>
        <p:nvSpPr>
          <p:cNvPr id="11" name="Down Arrow 10"/>
          <p:cNvSpPr/>
          <p:nvPr/>
        </p:nvSpPr>
        <p:spPr>
          <a:xfrm>
            <a:off x="9287129" y="3760445"/>
            <a:ext cx="647469" cy="292282"/>
          </a:xfrm>
          <a:prstGeom prst="downArrow">
            <a:avLst/>
          </a:prstGeom>
          <a:solidFill>
            <a:schemeClr val="accent5">
              <a:lumMod val="7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3" name="Picture 12"/>
          <p:cNvPicPr>
            <a:picLocks noChangeAspect="1"/>
          </p:cNvPicPr>
          <p:nvPr/>
        </p:nvPicPr>
        <p:blipFill rotWithShape="1">
          <a:blip r:embed="rId3">
            <a:extLst>
              <a:ext uri="{28A0092B-C50C-407E-A947-70E740481C1C}">
                <a14:useLocalDpi xmlns:a14="http://schemas.microsoft.com/office/drawing/2010/main" val="0"/>
              </a:ext>
            </a:extLst>
          </a:blip>
          <a:srcRect l="21034" t="1042" r="4483" b="65127"/>
          <a:stretch/>
        </p:blipFill>
        <p:spPr>
          <a:xfrm>
            <a:off x="639293" y="1381364"/>
            <a:ext cx="2377440" cy="2322408"/>
          </a:xfrm>
          <a:prstGeom prst="rect">
            <a:avLst/>
          </a:prstGeom>
          <a:ln>
            <a:solidFill>
              <a:schemeClr val="tx1"/>
            </a:solidFill>
          </a:ln>
        </p:spPr>
      </p:pic>
      <p:sp>
        <p:nvSpPr>
          <p:cNvPr id="14" name="TextBox 13"/>
          <p:cNvSpPr txBox="1"/>
          <p:nvPr/>
        </p:nvSpPr>
        <p:spPr>
          <a:xfrm rot="16200000">
            <a:off x="-567108" y="2272851"/>
            <a:ext cx="1942519" cy="584775"/>
          </a:xfrm>
          <a:prstGeom prst="rect">
            <a:avLst/>
          </a:prstGeom>
          <a:noFill/>
        </p:spPr>
        <p:txBody>
          <a:bodyPr wrap="none" rtlCol="0">
            <a:spAutoFit/>
          </a:bodyPr>
          <a:lstStyle/>
          <a:p>
            <a:r>
              <a:rPr lang="en-US" sz="3200" b="1" dirty="0"/>
              <a:t>Data table</a:t>
            </a:r>
          </a:p>
        </p:txBody>
      </p:sp>
      <p:pic>
        <p:nvPicPr>
          <p:cNvPr id="15" name="Picture 14"/>
          <p:cNvPicPr>
            <a:picLocks noChangeAspect="1"/>
          </p:cNvPicPr>
          <p:nvPr/>
        </p:nvPicPr>
        <p:blipFill rotWithShape="1">
          <a:blip r:embed="rId4">
            <a:extLst>
              <a:ext uri="{28A0092B-C50C-407E-A947-70E740481C1C}">
                <a14:useLocalDpi xmlns:a14="http://schemas.microsoft.com/office/drawing/2010/main" val="0"/>
              </a:ext>
            </a:extLst>
          </a:blip>
          <a:srcRect l="2363" t="43138" r="54819" b="22043"/>
          <a:stretch/>
        </p:blipFill>
        <p:spPr>
          <a:xfrm>
            <a:off x="4293374" y="1408711"/>
            <a:ext cx="3362961" cy="2296160"/>
          </a:xfrm>
          <a:prstGeom prst="rect">
            <a:avLst/>
          </a:prstGeom>
          <a:ln>
            <a:solidFill>
              <a:schemeClr val="tx1"/>
            </a:solidFill>
          </a:ln>
        </p:spPr>
      </p:pic>
      <p:sp>
        <p:nvSpPr>
          <p:cNvPr id="16" name="TextBox 15"/>
          <p:cNvSpPr txBox="1"/>
          <p:nvPr/>
        </p:nvSpPr>
        <p:spPr>
          <a:xfrm rot="16200000">
            <a:off x="2578822" y="2018182"/>
            <a:ext cx="2350854" cy="1077218"/>
          </a:xfrm>
          <a:prstGeom prst="rect">
            <a:avLst/>
          </a:prstGeom>
          <a:noFill/>
        </p:spPr>
        <p:txBody>
          <a:bodyPr wrap="square" rtlCol="0">
            <a:spAutoFit/>
          </a:bodyPr>
          <a:lstStyle/>
          <a:p>
            <a:pPr algn="ctr"/>
            <a:r>
              <a:rPr lang="en-US" sz="3200" b="1" dirty="0"/>
              <a:t>Model Summary</a:t>
            </a:r>
          </a:p>
        </p:txBody>
      </p:sp>
      <p:sp>
        <p:nvSpPr>
          <p:cNvPr id="3" name="TextBox 2"/>
          <p:cNvSpPr txBox="1"/>
          <p:nvPr/>
        </p:nvSpPr>
        <p:spPr>
          <a:xfrm>
            <a:off x="10255941" y="4180344"/>
            <a:ext cx="2016370" cy="2677656"/>
          </a:xfrm>
          <a:prstGeom prst="rect">
            <a:avLst/>
          </a:prstGeom>
          <a:noFill/>
        </p:spPr>
        <p:txBody>
          <a:bodyPr wrap="square" rtlCol="0">
            <a:spAutoFit/>
          </a:bodyPr>
          <a:lstStyle/>
          <a:p>
            <a:r>
              <a:rPr lang="en-US" sz="2400" b="1" dirty="0">
                <a:solidFill>
                  <a:schemeClr val="accent4">
                    <a:lumMod val="75000"/>
                  </a:schemeClr>
                </a:solidFill>
              </a:rPr>
              <a:t>The fitted value is just the sum of the intercept and all applicable coefficients</a:t>
            </a:r>
          </a:p>
        </p:txBody>
      </p:sp>
      <p:sp>
        <p:nvSpPr>
          <p:cNvPr id="17" name="&quot;No&quot; Symbol 9">
            <a:extLst>
              <a:ext uri="{FF2B5EF4-FFF2-40B4-BE49-F238E27FC236}">
                <a16:creationId xmlns:a16="http://schemas.microsoft.com/office/drawing/2014/main" id="{F7D4EDBD-2C27-4CA5-A268-57DB2065D7AC}"/>
              </a:ext>
            </a:extLst>
          </p:cNvPr>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573315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p:cNvGraphicFramePr>
            <a:graphicFrameLocks noGrp="1"/>
          </p:cNvGraphicFramePr>
          <p:nvPr/>
        </p:nvGraphicFramePr>
        <p:xfrm>
          <a:off x="111764" y="4124638"/>
          <a:ext cx="8961121" cy="2656840"/>
        </p:xfrm>
        <a:graphic>
          <a:graphicData uri="http://schemas.openxmlformats.org/drawingml/2006/table">
            <a:tbl>
              <a:tblPr firstRow="1" bandRow="1">
                <a:tableStyleId>{7E9639D4-E3E2-4D34-9284-5A2195B3D0D7}</a:tableStyleId>
              </a:tblPr>
              <a:tblGrid>
                <a:gridCol w="871727">
                  <a:extLst>
                    <a:ext uri="{9D8B030D-6E8A-4147-A177-3AD203B41FA5}">
                      <a16:colId xmlns:a16="http://schemas.microsoft.com/office/drawing/2014/main" val="20000"/>
                    </a:ext>
                  </a:extLst>
                </a:gridCol>
                <a:gridCol w="871727">
                  <a:extLst>
                    <a:ext uri="{9D8B030D-6E8A-4147-A177-3AD203B41FA5}">
                      <a16:colId xmlns:a16="http://schemas.microsoft.com/office/drawing/2014/main" val="20001"/>
                    </a:ext>
                  </a:extLst>
                </a:gridCol>
                <a:gridCol w="871727">
                  <a:extLst>
                    <a:ext uri="{9D8B030D-6E8A-4147-A177-3AD203B41FA5}">
                      <a16:colId xmlns:a16="http://schemas.microsoft.com/office/drawing/2014/main" val="20002"/>
                    </a:ext>
                  </a:extLst>
                </a:gridCol>
                <a:gridCol w="871727">
                  <a:extLst>
                    <a:ext uri="{9D8B030D-6E8A-4147-A177-3AD203B41FA5}">
                      <a16:colId xmlns:a16="http://schemas.microsoft.com/office/drawing/2014/main" val="20003"/>
                    </a:ext>
                  </a:extLst>
                </a:gridCol>
                <a:gridCol w="871727">
                  <a:extLst>
                    <a:ext uri="{9D8B030D-6E8A-4147-A177-3AD203B41FA5}">
                      <a16:colId xmlns:a16="http://schemas.microsoft.com/office/drawing/2014/main" val="20004"/>
                    </a:ext>
                  </a:extLst>
                </a:gridCol>
                <a:gridCol w="782321">
                  <a:extLst>
                    <a:ext uri="{9D8B030D-6E8A-4147-A177-3AD203B41FA5}">
                      <a16:colId xmlns:a16="http://schemas.microsoft.com/office/drawing/2014/main" val="20005"/>
                    </a:ext>
                  </a:extLst>
                </a:gridCol>
                <a:gridCol w="1412240">
                  <a:extLst>
                    <a:ext uri="{9D8B030D-6E8A-4147-A177-3AD203B41FA5}">
                      <a16:colId xmlns:a16="http://schemas.microsoft.com/office/drawing/2014/main" val="20006"/>
                    </a:ext>
                  </a:extLst>
                </a:gridCol>
                <a:gridCol w="1036321">
                  <a:extLst>
                    <a:ext uri="{9D8B030D-6E8A-4147-A177-3AD203B41FA5}">
                      <a16:colId xmlns:a16="http://schemas.microsoft.com/office/drawing/2014/main" val="20007"/>
                    </a:ext>
                  </a:extLst>
                </a:gridCol>
                <a:gridCol w="1371604">
                  <a:extLst>
                    <a:ext uri="{9D8B030D-6E8A-4147-A177-3AD203B41FA5}">
                      <a16:colId xmlns:a16="http://schemas.microsoft.com/office/drawing/2014/main" val="20008"/>
                    </a:ext>
                  </a:extLst>
                </a:gridCol>
              </a:tblGrid>
              <a:tr h="370840">
                <a:tc>
                  <a:txBody>
                    <a:bodyPr/>
                    <a:lstStyle/>
                    <a:p>
                      <a:pPr algn="ctr"/>
                      <a:r>
                        <a:rPr lang="en-US" sz="1400" dirty="0"/>
                        <a:t>intercept</a:t>
                      </a:r>
                      <a:endParaRPr lang="en-US" dirty="0"/>
                    </a:p>
                  </a:txBody>
                  <a:tcPr anchor="ctr"/>
                </a:tc>
                <a:tc>
                  <a:txBody>
                    <a:bodyPr/>
                    <a:lstStyle/>
                    <a:p>
                      <a:pPr algn="ctr"/>
                      <a:r>
                        <a:rPr lang="en-US" dirty="0"/>
                        <a:t>block1</a:t>
                      </a:r>
                    </a:p>
                  </a:txBody>
                  <a:tcPr>
                    <a:solidFill>
                      <a:schemeClr val="bg1">
                        <a:lumMod val="65000"/>
                      </a:schemeClr>
                    </a:solidFill>
                  </a:tcPr>
                </a:tc>
                <a:tc>
                  <a:txBody>
                    <a:bodyPr/>
                    <a:lstStyle/>
                    <a:p>
                      <a:pPr algn="ctr"/>
                      <a:r>
                        <a:rPr lang="en-US" dirty="0"/>
                        <a:t>block2</a:t>
                      </a:r>
                    </a:p>
                  </a:txBody>
                  <a:tcPr/>
                </a:tc>
                <a:tc>
                  <a:txBody>
                    <a:bodyPr/>
                    <a:lstStyle/>
                    <a:p>
                      <a:pPr algn="ctr"/>
                      <a:r>
                        <a:rPr lang="en-US" dirty="0"/>
                        <a:t>block3</a:t>
                      </a:r>
                    </a:p>
                  </a:txBody>
                  <a:tcPr/>
                </a:tc>
                <a:tc>
                  <a:txBody>
                    <a:bodyPr/>
                    <a:lstStyle/>
                    <a:p>
                      <a:pPr algn="ctr"/>
                      <a:r>
                        <a:rPr lang="en-US" dirty="0"/>
                        <a:t>block4</a:t>
                      </a:r>
                    </a:p>
                  </a:txBody>
                  <a:tcPr/>
                </a:tc>
                <a:tc>
                  <a:txBody>
                    <a:bodyPr/>
                    <a:lstStyle/>
                    <a:p>
                      <a:pPr algn="ctr"/>
                      <a:r>
                        <a:rPr lang="en-US" dirty="0"/>
                        <a:t>Anne</a:t>
                      </a:r>
                    </a:p>
                  </a:txBody>
                  <a:tcPr>
                    <a:solidFill>
                      <a:schemeClr val="bg1">
                        <a:lumMod val="65000"/>
                      </a:schemeClr>
                    </a:solidFill>
                  </a:tcPr>
                </a:tc>
                <a:tc>
                  <a:txBody>
                    <a:bodyPr/>
                    <a:lstStyle/>
                    <a:p>
                      <a:pPr algn="ctr"/>
                      <a:r>
                        <a:rPr lang="en-US" dirty="0"/>
                        <a:t>Cumberland</a:t>
                      </a:r>
                    </a:p>
                  </a:txBody>
                  <a:tcPr/>
                </a:tc>
                <a:tc>
                  <a:txBody>
                    <a:bodyPr/>
                    <a:lstStyle/>
                    <a:p>
                      <a:pPr algn="ctr"/>
                      <a:r>
                        <a:rPr lang="en-US" dirty="0"/>
                        <a:t>Heritage</a:t>
                      </a:r>
                      <a:endParaRPr lang="en-US" sz="1800" dirty="0"/>
                    </a:p>
                  </a:txBody>
                  <a:tcPr/>
                </a:tc>
                <a:tc>
                  <a:txBody>
                    <a:bodyPr/>
                    <a:lstStyle/>
                    <a:p>
                      <a:pPr algn="ctr"/>
                      <a:r>
                        <a:rPr lang="en-US" dirty="0" err="1"/>
                        <a:t>JewellBlack</a:t>
                      </a:r>
                      <a:endParaRPr lang="en-US" dirty="0"/>
                    </a:p>
                  </a:txBody>
                  <a:tcPr/>
                </a:tc>
                <a:extLst>
                  <a:ext uri="{0D108BD9-81ED-4DB2-BD59-A6C34878D82A}">
                    <a16:rowId xmlns:a16="http://schemas.microsoft.com/office/drawing/2014/main" val="10000"/>
                  </a:ext>
                </a:extLst>
              </a:tr>
              <a:tr h="370840">
                <a:tc>
                  <a:txBody>
                    <a:bodyPr/>
                    <a:lstStyle/>
                    <a:p>
                      <a:pPr algn="ctr"/>
                      <a:r>
                        <a:rPr lang="en-US" sz="2400" b="1" dirty="0"/>
                        <a:t>19.0</a:t>
                      </a:r>
                    </a:p>
                  </a:txBody>
                  <a:tcPr/>
                </a:tc>
                <a:tc>
                  <a:txBody>
                    <a:bodyPr/>
                    <a:lstStyle/>
                    <a:p>
                      <a:pPr algn="ctr"/>
                      <a:endParaRPr lang="en-US" sz="2400" b="1" dirty="0"/>
                    </a:p>
                  </a:txBody>
                  <a:tcPr>
                    <a:solidFill>
                      <a:schemeClr val="bg1">
                        <a:lumMod val="65000"/>
                      </a:schemeClr>
                    </a:solidFill>
                  </a:tcPr>
                </a:tc>
                <a:tc>
                  <a:txBody>
                    <a:bodyPr/>
                    <a:lstStyle/>
                    <a:p>
                      <a:pPr algn="ctr"/>
                      <a:r>
                        <a:rPr lang="en-US" sz="2400" b="1" dirty="0"/>
                        <a:t>0</a:t>
                      </a:r>
                    </a:p>
                  </a:txBody>
                  <a:tcPr/>
                </a:tc>
                <a:tc>
                  <a:txBody>
                    <a:bodyPr/>
                    <a:lstStyle/>
                    <a:p>
                      <a:pPr algn="ctr"/>
                      <a:r>
                        <a:rPr lang="en-US" sz="2400" b="1" dirty="0"/>
                        <a:t>0</a:t>
                      </a:r>
                    </a:p>
                  </a:txBody>
                  <a:tcPr/>
                </a:tc>
                <a:tc>
                  <a:txBody>
                    <a:bodyPr/>
                    <a:lstStyle/>
                    <a:p>
                      <a:pPr algn="ctr"/>
                      <a:r>
                        <a:rPr lang="en-US" sz="2400" b="1" dirty="0"/>
                        <a:t>0</a:t>
                      </a:r>
                    </a:p>
                  </a:txBody>
                  <a:tcPr/>
                </a:tc>
                <a:tc>
                  <a:txBody>
                    <a:bodyPr/>
                    <a:lstStyle/>
                    <a:p>
                      <a:pPr algn="ctr"/>
                      <a:endParaRPr lang="en-US" sz="2400" b="1" dirty="0"/>
                    </a:p>
                  </a:txBody>
                  <a:tcPr>
                    <a:solidFill>
                      <a:schemeClr val="bg1">
                        <a:lumMod val="65000"/>
                      </a:schemeClr>
                    </a:solidFill>
                  </a:tcPr>
                </a:tc>
                <a:tc>
                  <a:txBody>
                    <a:bodyPr/>
                    <a:lstStyle/>
                    <a:p>
                      <a:pPr algn="ctr"/>
                      <a:r>
                        <a:rPr lang="en-US" sz="2400" b="1" dirty="0"/>
                        <a:t>0</a:t>
                      </a:r>
                    </a:p>
                  </a:txBody>
                  <a:tcPr/>
                </a:tc>
                <a:tc>
                  <a:txBody>
                    <a:bodyPr/>
                    <a:lstStyle/>
                    <a:p>
                      <a:pPr algn="ctr"/>
                      <a:r>
                        <a:rPr lang="en-US" sz="2400" b="1" dirty="0"/>
                        <a:t>-4.8</a:t>
                      </a:r>
                    </a:p>
                  </a:txBody>
                  <a:tcPr/>
                </a:tc>
                <a:tc>
                  <a:txBody>
                    <a:bodyPr/>
                    <a:lstStyle/>
                    <a:p>
                      <a:pPr algn="ctr"/>
                      <a:r>
                        <a:rPr lang="en-US" sz="2400" b="1" dirty="0"/>
                        <a:t>0</a:t>
                      </a:r>
                    </a:p>
                  </a:txBody>
                  <a:tcPr/>
                </a:tc>
                <a:extLst>
                  <a:ext uri="{0D108BD9-81ED-4DB2-BD59-A6C34878D82A}">
                    <a16:rowId xmlns:a16="http://schemas.microsoft.com/office/drawing/2014/main" val="10001"/>
                  </a:ext>
                </a:extLst>
              </a:tr>
              <a:tr h="370840">
                <a:tc>
                  <a:txBody>
                    <a:bodyPr/>
                    <a:lstStyle/>
                    <a:p>
                      <a:pPr algn="ctr"/>
                      <a:r>
                        <a:rPr lang="en-US" sz="2400" b="1" dirty="0"/>
                        <a:t>19.0</a:t>
                      </a:r>
                    </a:p>
                  </a:txBody>
                  <a:tcPr/>
                </a:tc>
                <a:tc>
                  <a:txBody>
                    <a:bodyPr/>
                    <a:lstStyle/>
                    <a:p>
                      <a:pPr algn="ctr"/>
                      <a:endParaRPr lang="en-US" sz="2400" b="1" dirty="0"/>
                    </a:p>
                  </a:txBody>
                  <a:tcPr>
                    <a:solidFill>
                      <a:schemeClr val="bg1">
                        <a:lumMod val="65000"/>
                      </a:schemeClr>
                    </a:solidFill>
                  </a:tcPr>
                </a:tc>
                <a:tc>
                  <a:txBody>
                    <a:bodyPr/>
                    <a:lstStyle/>
                    <a:p>
                      <a:pPr algn="ctr"/>
                      <a:r>
                        <a:rPr lang="en-US" sz="2400" b="1" dirty="0"/>
                        <a:t>0</a:t>
                      </a:r>
                    </a:p>
                  </a:txBody>
                  <a:tcPr/>
                </a:tc>
                <a:tc>
                  <a:txBody>
                    <a:bodyPr/>
                    <a:lstStyle/>
                    <a:p>
                      <a:pPr algn="ctr"/>
                      <a:r>
                        <a:rPr lang="en-US" sz="2400" b="1" dirty="0"/>
                        <a:t>0</a:t>
                      </a:r>
                    </a:p>
                  </a:txBody>
                  <a:tcPr/>
                </a:tc>
                <a:tc>
                  <a:txBody>
                    <a:bodyPr/>
                    <a:lstStyle/>
                    <a:p>
                      <a:pPr algn="ctr"/>
                      <a:r>
                        <a:rPr lang="en-US" sz="2400" b="1" dirty="0"/>
                        <a:t>0</a:t>
                      </a:r>
                    </a:p>
                  </a:txBody>
                  <a:tcPr/>
                </a:tc>
                <a:tc>
                  <a:txBody>
                    <a:bodyPr/>
                    <a:lstStyle/>
                    <a:p>
                      <a:pPr algn="ctr"/>
                      <a:endParaRPr lang="en-US" sz="2400" b="1" dirty="0"/>
                    </a:p>
                  </a:txBody>
                  <a:tcPr>
                    <a:solidFill>
                      <a:schemeClr val="bg1">
                        <a:lumMod val="65000"/>
                      </a:schemeClr>
                    </a:solidFill>
                  </a:tcPr>
                </a:tc>
                <a:tc>
                  <a:txBody>
                    <a:bodyPr/>
                    <a:lstStyle/>
                    <a:p>
                      <a:pPr algn="ctr"/>
                      <a:r>
                        <a:rPr lang="en-US" sz="2400" b="1" dirty="0"/>
                        <a:t>0</a:t>
                      </a:r>
                    </a:p>
                  </a:txBody>
                  <a:tcPr/>
                </a:tc>
                <a:tc>
                  <a:txBody>
                    <a:bodyPr/>
                    <a:lstStyle/>
                    <a:p>
                      <a:pPr algn="ctr"/>
                      <a:r>
                        <a:rPr lang="en-US" sz="2400" b="1" dirty="0"/>
                        <a:t>0</a:t>
                      </a:r>
                    </a:p>
                  </a:txBody>
                  <a:tcPr/>
                </a:tc>
                <a:tc>
                  <a:txBody>
                    <a:bodyPr/>
                    <a:lstStyle/>
                    <a:p>
                      <a:pPr algn="ctr"/>
                      <a:r>
                        <a:rPr lang="en-US" sz="2400" b="1" dirty="0"/>
                        <a:t>0</a:t>
                      </a:r>
                    </a:p>
                  </a:txBody>
                  <a:tcPr/>
                </a:tc>
                <a:extLst>
                  <a:ext uri="{0D108BD9-81ED-4DB2-BD59-A6C34878D82A}">
                    <a16:rowId xmlns:a16="http://schemas.microsoft.com/office/drawing/2014/main" val="10002"/>
                  </a:ext>
                </a:extLst>
              </a:tr>
              <a:tr h="370840">
                <a:tc>
                  <a:txBody>
                    <a:bodyPr/>
                    <a:lstStyle/>
                    <a:p>
                      <a:pPr algn="ctr"/>
                      <a:r>
                        <a:rPr lang="en-US" sz="2400" b="1" dirty="0"/>
                        <a:t>19.0</a:t>
                      </a:r>
                    </a:p>
                  </a:txBody>
                  <a:tcPr/>
                </a:tc>
                <a:tc>
                  <a:txBody>
                    <a:bodyPr/>
                    <a:lstStyle/>
                    <a:p>
                      <a:pPr algn="ctr"/>
                      <a:endParaRPr lang="en-US" sz="2400" b="1"/>
                    </a:p>
                  </a:txBody>
                  <a:tcPr>
                    <a:solidFill>
                      <a:schemeClr val="bg1">
                        <a:lumMod val="65000"/>
                      </a:schemeClr>
                    </a:solidFill>
                  </a:tcPr>
                </a:tc>
                <a:tc>
                  <a:txBody>
                    <a:bodyPr/>
                    <a:lstStyle/>
                    <a:p>
                      <a:pPr algn="ctr"/>
                      <a:r>
                        <a:rPr lang="en-US" sz="2400" b="1" dirty="0"/>
                        <a:t>0</a:t>
                      </a:r>
                    </a:p>
                  </a:txBody>
                  <a:tcPr/>
                </a:tc>
                <a:tc>
                  <a:txBody>
                    <a:bodyPr/>
                    <a:lstStyle/>
                    <a:p>
                      <a:pPr algn="ctr"/>
                      <a:r>
                        <a:rPr lang="en-US" sz="2400" b="1" dirty="0"/>
                        <a:t>0</a:t>
                      </a:r>
                    </a:p>
                  </a:txBody>
                  <a:tcPr/>
                </a:tc>
                <a:tc>
                  <a:txBody>
                    <a:bodyPr/>
                    <a:lstStyle/>
                    <a:p>
                      <a:pPr algn="ctr"/>
                      <a:r>
                        <a:rPr lang="en-US" sz="2400" b="1" dirty="0"/>
                        <a:t>0</a:t>
                      </a:r>
                    </a:p>
                  </a:txBody>
                  <a:tcPr/>
                </a:tc>
                <a:tc>
                  <a:txBody>
                    <a:bodyPr/>
                    <a:lstStyle/>
                    <a:p>
                      <a:pPr algn="ctr"/>
                      <a:endParaRPr lang="en-US" sz="2400" b="1" dirty="0"/>
                    </a:p>
                  </a:txBody>
                  <a:tcPr>
                    <a:solidFill>
                      <a:schemeClr val="bg1">
                        <a:lumMod val="65000"/>
                      </a:schemeClr>
                    </a:solidFill>
                  </a:tcPr>
                </a:tc>
                <a:tc>
                  <a:txBody>
                    <a:bodyPr/>
                    <a:lstStyle/>
                    <a:p>
                      <a:pPr algn="ctr"/>
                      <a:r>
                        <a:rPr lang="en-US" sz="2400" b="1" dirty="0"/>
                        <a:t>1.4</a:t>
                      </a:r>
                    </a:p>
                  </a:txBody>
                  <a:tcPr/>
                </a:tc>
                <a:tc>
                  <a:txBody>
                    <a:bodyPr/>
                    <a:lstStyle/>
                    <a:p>
                      <a:pPr algn="ctr"/>
                      <a:r>
                        <a:rPr lang="en-US" sz="2400" b="1" dirty="0"/>
                        <a:t>0</a:t>
                      </a:r>
                    </a:p>
                  </a:txBody>
                  <a:tcPr/>
                </a:tc>
                <a:tc>
                  <a:txBody>
                    <a:bodyPr/>
                    <a:lstStyle/>
                    <a:p>
                      <a:pPr algn="ctr"/>
                      <a:r>
                        <a:rPr lang="en-US" sz="2400" b="1" dirty="0"/>
                        <a:t>0</a:t>
                      </a:r>
                    </a:p>
                  </a:txBody>
                  <a:tcPr/>
                </a:tc>
                <a:extLst>
                  <a:ext uri="{0D108BD9-81ED-4DB2-BD59-A6C34878D82A}">
                    <a16:rowId xmlns:a16="http://schemas.microsoft.com/office/drawing/2014/main" val="10003"/>
                  </a:ext>
                </a:extLst>
              </a:tr>
              <a:tr h="370840">
                <a:tc>
                  <a:txBody>
                    <a:bodyPr/>
                    <a:lstStyle/>
                    <a:p>
                      <a:pPr algn="ctr"/>
                      <a:r>
                        <a:rPr lang="en-US" sz="2400" b="1" dirty="0"/>
                        <a:t>19.0</a:t>
                      </a:r>
                    </a:p>
                  </a:txBody>
                  <a:tcPr/>
                </a:tc>
                <a:tc>
                  <a:txBody>
                    <a:bodyPr/>
                    <a:lstStyle/>
                    <a:p>
                      <a:pPr algn="ctr"/>
                      <a:endParaRPr lang="en-US" sz="2400" b="1"/>
                    </a:p>
                  </a:txBody>
                  <a:tcPr>
                    <a:solidFill>
                      <a:schemeClr val="bg1">
                        <a:lumMod val="65000"/>
                      </a:schemeClr>
                    </a:solidFill>
                  </a:tcPr>
                </a:tc>
                <a:tc>
                  <a:txBody>
                    <a:bodyPr/>
                    <a:lstStyle/>
                    <a:p>
                      <a:pPr algn="ctr"/>
                      <a:r>
                        <a:rPr lang="en-US" sz="2400" b="1" dirty="0"/>
                        <a:t>0</a:t>
                      </a:r>
                    </a:p>
                  </a:txBody>
                  <a:tcPr/>
                </a:tc>
                <a:tc>
                  <a:txBody>
                    <a:bodyPr/>
                    <a:lstStyle/>
                    <a:p>
                      <a:pPr algn="ctr"/>
                      <a:r>
                        <a:rPr lang="en-US" sz="2400" b="1" dirty="0"/>
                        <a:t>0</a:t>
                      </a:r>
                    </a:p>
                  </a:txBody>
                  <a:tcPr/>
                </a:tc>
                <a:tc>
                  <a:txBody>
                    <a:bodyPr/>
                    <a:lstStyle/>
                    <a:p>
                      <a:pPr algn="ctr"/>
                      <a:r>
                        <a:rPr lang="en-US" sz="2400" b="1" dirty="0"/>
                        <a:t>0</a:t>
                      </a:r>
                    </a:p>
                  </a:txBody>
                  <a:tcPr/>
                </a:tc>
                <a:tc>
                  <a:txBody>
                    <a:bodyPr/>
                    <a:lstStyle/>
                    <a:p>
                      <a:pPr algn="ctr"/>
                      <a:endParaRPr lang="en-US" sz="2400" b="1" dirty="0"/>
                    </a:p>
                  </a:txBody>
                  <a:tcPr>
                    <a:solidFill>
                      <a:schemeClr val="bg1">
                        <a:lumMod val="65000"/>
                      </a:schemeClr>
                    </a:solidFill>
                  </a:tcPr>
                </a:tc>
                <a:tc>
                  <a:txBody>
                    <a:bodyPr/>
                    <a:lstStyle/>
                    <a:p>
                      <a:pPr algn="ctr"/>
                      <a:r>
                        <a:rPr lang="en-US" sz="2400" b="1" dirty="0"/>
                        <a:t>0</a:t>
                      </a:r>
                    </a:p>
                  </a:txBody>
                  <a:tcPr/>
                </a:tc>
                <a:tc>
                  <a:txBody>
                    <a:bodyPr/>
                    <a:lstStyle/>
                    <a:p>
                      <a:pPr algn="ctr"/>
                      <a:r>
                        <a:rPr lang="en-US" sz="2400" b="1" dirty="0"/>
                        <a:t>0</a:t>
                      </a:r>
                    </a:p>
                  </a:txBody>
                  <a:tcPr/>
                </a:tc>
                <a:tc>
                  <a:txBody>
                    <a:bodyPr/>
                    <a:lstStyle/>
                    <a:p>
                      <a:pPr algn="ctr"/>
                      <a:r>
                        <a:rPr lang="en-US" sz="2400" b="1" dirty="0"/>
                        <a:t>-1.3</a:t>
                      </a:r>
                    </a:p>
                  </a:txBody>
                  <a:tcPr/>
                </a:tc>
                <a:extLst>
                  <a:ext uri="{0D108BD9-81ED-4DB2-BD59-A6C34878D82A}">
                    <a16:rowId xmlns:a16="http://schemas.microsoft.com/office/drawing/2014/main" val="10004"/>
                  </a:ext>
                </a:extLst>
              </a:tr>
              <a:tr h="370840">
                <a:tc>
                  <a:txBody>
                    <a:bodyPr/>
                    <a:lstStyle/>
                    <a:p>
                      <a:pPr algn="ctr"/>
                      <a:r>
                        <a:rPr lang="en-US" sz="2400" b="1" dirty="0"/>
                        <a:t>19.0</a:t>
                      </a:r>
                    </a:p>
                  </a:txBody>
                  <a:tcPr/>
                </a:tc>
                <a:tc>
                  <a:txBody>
                    <a:bodyPr/>
                    <a:lstStyle/>
                    <a:p>
                      <a:pPr algn="ctr"/>
                      <a:endParaRPr lang="en-US" sz="2400" b="1" dirty="0"/>
                    </a:p>
                  </a:txBody>
                  <a:tcPr>
                    <a:solidFill>
                      <a:schemeClr val="bg1">
                        <a:lumMod val="65000"/>
                      </a:schemeClr>
                    </a:solidFill>
                  </a:tcPr>
                </a:tc>
                <a:tc>
                  <a:txBody>
                    <a:bodyPr/>
                    <a:lstStyle/>
                    <a:p>
                      <a:pPr algn="ctr"/>
                      <a:r>
                        <a:rPr lang="en-US" sz="2400" b="1" dirty="0"/>
                        <a:t>-0.9</a:t>
                      </a:r>
                    </a:p>
                  </a:txBody>
                  <a:tcPr/>
                </a:tc>
                <a:tc>
                  <a:txBody>
                    <a:bodyPr/>
                    <a:lstStyle/>
                    <a:p>
                      <a:pPr algn="ctr"/>
                      <a:r>
                        <a:rPr lang="en-US" sz="2400" b="1" dirty="0"/>
                        <a:t>0</a:t>
                      </a:r>
                    </a:p>
                  </a:txBody>
                  <a:tcPr/>
                </a:tc>
                <a:tc>
                  <a:txBody>
                    <a:bodyPr/>
                    <a:lstStyle/>
                    <a:p>
                      <a:pPr algn="ctr"/>
                      <a:r>
                        <a:rPr lang="en-US" sz="2400" b="1" dirty="0"/>
                        <a:t>0</a:t>
                      </a:r>
                    </a:p>
                  </a:txBody>
                  <a:tcPr/>
                </a:tc>
                <a:tc>
                  <a:txBody>
                    <a:bodyPr/>
                    <a:lstStyle/>
                    <a:p>
                      <a:pPr algn="ctr"/>
                      <a:endParaRPr lang="en-US" sz="2400" b="1" dirty="0"/>
                    </a:p>
                  </a:txBody>
                  <a:tcPr>
                    <a:solidFill>
                      <a:schemeClr val="bg1">
                        <a:lumMod val="65000"/>
                      </a:schemeClr>
                    </a:solidFill>
                  </a:tcPr>
                </a:tc>
                <a:tc>
                  <a:txBody>
                    <a:bodyPr/>
                    <a:lstStyle/>
                    <a:p>
                      <a:pPr algn="ctr"/>
                      <a:r>
                        <a:rPr lang="en-US" sz="2400" b="1" dirty="0"/>
                        <a:t>0</a:t>
                      </a:r>
                    </a:p>
                  </a:txBody>
                  <a:tcPr/>
                </a:tc>
                <a:tc>
                  <a:txBody>
                    <a:bodyPr/>
                    <a:lstStyle/>
                    <a:p>
                      <a:pPr algn="ctr"/>
                      <a:r>
                        <a:rPr lang="en-US" sz="2400" b="1" dirty="0"/>
                        <a:t>0</a:t>
                      </a:r>
                    </a:p>
                  </a:txBody>
                  <a:tcPr/>
                </a:tc>
                <a:tc>
                  <a:txBody>
                    <a:bodyPr/>
                    <a:lstStyle/>
                    <a:p>
                      <a:pPr algn="ctr"/>
                      <a:r>
                        <a:rPr lang="en-US" sz="2400" b="1" dirty="0"/>
                        <a:t>-1.3</a:t>
                      </a:r>
                    </a:p>
                  </a:txBody>
                  <a:tcPr/>
                </a:tc>
                <a:extLst>
                  <a:ext uri="{0D108BD9-81ED-4DB2-BD59-A6C34878D82A}">
                    <a16:rowId xmlns:a16="http://schemas.microsoft.com/office/drawing/2014/main" val="10005"/>
                  </a:ext>
                </a:extLst>
              </a:tr>
            </a:tbl>
          </a:graphicData>
        </a:graphic>
      </p:graphicFrame>
      <p:sp>
        <p:nvSpPr>
          <p:cNvPr id="2" name="Title 1"/>
          <p:cNvSpPr>
            <a:spLocks noGrp="1"/>
          </p:cNvSpPr>
          <p:nvPr>
            <p:ph type="title"/>
          </p:nvPr>
        </p:nvSpPr>
        <p:spPr/>
        <p:txBody>
          <a:bodyPr/>
          <a:lstStyle/>
          <a:p>
            <a:r>
              <a:rPr lang="en-US" dirty="0"/>
              <a:t>How a model sees the coefficients</a:t>
            </a:r>
          </a:p>
        </p:txBody>
      </p:sp>
      <p:sp>
        <p:nvSpPr>
          <p:cNvPr id="9" name="TextBox 8"/>
          <p:cNvSpPr txBox="1"/>
          <p:nvPr/>
        </p:nvSpPr>
        <p:spPr>
          <a:xfrm>
            <a:off x="111764" y="3628947"/>
            <a:ext cx="2191241" cy="584775"/>
          </a:xfrm>
          <a:prstGeom prst="rect">
            <a:avLst/>
          </a:prstGeom>
          <a:noFill/>
        </p:spPr>
        <p:txBody>
          <a:bodyPr wrap="none" rtlCol="0">
            <a:spAutoFit/>
          </a:bodyPr>
          <a:lstStyle/>
          <a:p>
            <a:r>
              <a:rPr lang="en-US" sz="3200" b="1" dirty="0"/>
              <a:t>Model view</a:t>
            </a:r>
          </a:p>
        </p:txBody>
      </p:sp>
      <p:sp>
        <p:nvSpPr>
          <p:cNvPr id="6" name="TextBox 5"/>
          <p:cNvSpPr txBox="1"/>
          <p:nvPr/>
        </p:nvSpPr>
        <p:spPr>
          <a:xfrm>
            <a:off x="8005918" y="2186379"/>
            <a:ext cx="4125293" cy="1815882"/>
          </a:xfrm>
          <a:prstGeom prst="rect">
            <a:avLst/>
          </a:prstGeom>
          <a:noFill/>
        </p:spPr>
        <p:txBody>
          <a:bodyPr wrap="square" rtlCol="0">
            <a:spAutoFit/>
          </a:bodyPr>
          <a:lstStyle/>
          <a:p>
            <a:r>
              <a:rPr lang="en-US" sz="2800" b="1" dirty="0">
                <a:solidFill>
                  <a:schemeClr val="accent6">
                    <a:lumMod val="75000"/>
                  </a:schemeClr>
                </a:solidFill>
              </a:rPr>
              <a:t>The fitted values are usually close to the actual values but not exact matches</a:t>
            </a:r>
          </a:p>
        </p:txBody>
      </p:sp>
      <p:sp>
        <p:nvSpPr>
          <p:cNvPr id="11" name="Down Arrow 10"/>
          <p:cNvSpPr/>
          <p:nvPr/>
        </p:nvSpPr>
        <p:spPr>
          <a:xfrm>
            <a:off x="10232009" y="3775193"/>
            <a:ext cx="647469" cy="292282"/>
          </a:xfrm>
          <a:prstGeom prst="downArrow">
            <a:avLst/>
          </a:prstGeom>
          <a:solidFill>
            <a:schemeClr val="accent6">
              <a:lumMod val="7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aphicFrame>
        <p:nvGraphicFramePr>
          <p:cNvPr id="13" name="Table 12"/>
          <p:cNvGraphicFramePr>
            <a:graphicFrameLocks noGrp="1"/>
          </p:cNvGraphicFramePr>
          <p:nvPr/>
        </p:nvGraphicFramePr>
        <p:xfrm>
          <a:off x="9072885" y="4124638"/>
          <a:ext cx="1991360" cy="2656840"/>
        </p:xfrm>
        <a:graphic>
          <a:graphicData uri="http://schemas.openxmlformats.org/drawingml/2006/table">
            <a:tbl>
              <a:tblPr firstRow="1" bandRow="1">
                <a:tableStyleId>{7E9639D4-E3E2-4D34-9284-5A2195B3D0D7}</a:tableStyleId>
              </a:tblPr>
              <a:tblGrid>
                <a:gridCol w="995680">
                  <a:extLst>
                    <a:ext uri="{9D8B030D-6E8A-4147-A177-3AD203B41FA5}">
                      <a16:colId xmlns:a16="http://schemas.microsoft.com/office/drawing/2014/main" val="20000"/>
                    </a:ext>
                  </a:extLst>
                </a:gridCol>
                <a:gridCol w="995680">
                  <a:extLst>
                    <a:ext uri="{9D8B030D-6E8A-4147-A177-3AD203B41FA5}">
                      <a16:colId xmlns:a16="http://schemas.microsoft.com/office/drawing/2014/main" val="20001"/>
                    </a:ext>
                  </a:extLst>
                </a:gridCol>
              </a:tblGrid>
              <a:tr h="370840">
                <a:tc>
                  <a:txBody>
                    <a:bodyPr/>
                    <a:lstStyle/>
                    <a:p>
                      <a:pPr algn="ctr"/>
                      <a:r>
                        <a:rPr lang="en-US" i="1" dirty="0"/>
                        <a:t>Total</a:t>
                      </a:r>
                    </a:p>
                  </a:txBody>
                  <a:tcPr/>
                </a:tc>
                <a:tc>
                  <a:txBody>
                    <a:bodyPr/>
                    <a:lstStyle/>
                    <a:p>
                      <a:pPr algn="ctr"/>
                      <a:r>
                        <a:rPr lang="en-US" dirty="0"/>
                        <a:t>Actual</a:t>
                      </a:r>
                    </a:p>
                  </a:txBody>
                  <a:tcPr/>
                </a:tc>
                <a:extLst>
                  <a:ext uri="{0D108BD9-81ED-4DB2-BD59-A6C34878D82A}">
                    <a16:rowId xmlns:a16="http://schemas.microsoft.com/office/drawing/2014/main" val="10000"/>
                  </a:ext>
                </a:extLst>
              </a:tr>
              <a:tr h="370840">
                <a:tc>
                  <a:txBody>
                    <a:bodyPr/>
                    <a:lstStyle/>
                    <a:p>
                      <a:pPr algn="ctr"/>
                      <a:r>
                        <a:rPr lang="en-US" sz="2400" b="1" dirty="0">
                          <a:solidFill>
                            <a:schemeClr val="accent5">
                              <a:lumMod val="75000"/>
                            </a:schemeClr>
                          </a:solidFill>
                        </a:rPr>
                        <a:t>14.2</a:t>
                      </a:r>
                    </a:p>
                  </a:txBody>
                  <a:tcPr/>
                </a:tc>
                <a:tc>
                  <a:txBody>
                    <a:bodyPr/>
                    <a:lstStyle/>
                    <a:p>
                      <a:pPr algn="ctr"/>
                      <a:r>
                        <a:rPr lang="en-US" sz="2400" b="1" dirty="0">
                          <a:solidFill>
                            <a:schemeClr val="accent6">
                              <a:lumMod val="75000"/>
                            </a:schemeClr>
                          </a:solidFill>
                        </a:rPr>
                        <a:t>13.8</a:t>
                      </a:r>
                    </a:p>
                  </a:txBody>
                  <a:tcPr/>
                </a:tc>
                <a:extLst>
                  <a:ext uri="{0D108BD9-81ED-4DB2-BD59-A6C34878D82A}">
                    <a16:rowId xmlns:a16="http://schemas.microsoft.com/office/drawing/2014/main" val="10001"/>
                  </a:ext>
                </a:extLst>
              </a:tr>
              <a:tr h="370840">
                <a:tc>
                  <a:txBody>
                    <a:bodyPr/>
                    <a:lstStyle/>
                    <a:p>
                      <a:pPr algn="ctr"/>
                      <a:r>
                        <a:rPr lang="en-US" sz="2400" b="1" dirty="0">
                          <a:solidFill>
                            <a:schemeClr val="accent5">
                              <a:lumMod val="75000"/>
                            </a:schemeClr>
                          </a:solidFill>
                        </a:rPr>
                        <a:t>19</a:t>
                      </a:r>
                    </a:p>
                  </a:txBody>
                  <a:tcPr/>
                </a:tc>
                <a:tc>
                  <a:txBody>
                    <a:bodyPr/>
                    <a:lstStyle/>
                    <a:p>
                      <a:pPr algn="ctr"/>
                      <a:r>
                        <a:rPr lang="en-US" sz="2400" b="1" dirty="0">
                          <a:solidFill>
                            <a:schemeClr val="accent6">
                              <a:lumMod val="75000"/>
                            </a:schemeClr>
                          </a:solidFill>
                        </a:rPr>
                        <a:t>18.6</a:t>
                      </a:r>
                    </a:p>
                  </a:txBody>
                  <a:tcPr/>
                </a:tc>
                <a:extLst>
                  <a:ext uri="{0D108BD9-81ED-4DB2-BD59-A6C34878D82A}">
                    <a16:rowId xmlns:a16="http://schemas.microsoft.com/office/drawing/2014/main" val="10002"/>
                  </a:ext>
                </a:extLst>
              </a:tr>
              <a:tr h="370840">
                <a:tc>
                  <a:txBody>
                    <a:bodyPr/>
                    <a:lstStyle/>
                    <a:p>
                      <a:pPr algn="ctr"/>
                      <a:r>
                        <a:rPr lang="en-US" sz="2400" b="1" dirty="0">
                          <a:solidFill>
                            <a:schemeClr val="accent5">
                              <a:lumMod val="75000"/>
                            </a:schemeClr>
                          </a:solidFill>
                        </a:rPr>
                        <a:t>20.4</a:t>
                      </a:r>
                    </a:p>
                  </a:txBody>
                  <a:tcPr/>
                </a:tc>
                <a:tc>
                  <a:txBody>
                    <a:bodyPr/>
                    <a:lstStyle/>
                    <a:p>
                      <a:pPr algn="ctr"/>
                      <a:r>
                        <a:rPr lang="en-US" sz="2400" b="1" dirty="0">
                          <a:solidFill>
                            <a:schemeClr val="accent6">
                              <a:lumMod val="75000"/>
                            </a:schemeClr>
                          </a:solidFill>
                        </a:rPr>
                        <a:t>21.3</a:t>
                      </a:r>
                    </a:p>
                  </a:txBody>
                  <a:tcPr/>
                </a:tc>
                <a:extLst>
                  <a:ext uri="{0D108BD9-81ED-4DB2-BD59-A6C34878D82A}">
                    <a16:rowId xmlns:a16="http://schemas.microsoft.com/office/drawing/2014/main" val="10003"/>
                  </a:ext>
                </a:extLst>
              </a:tr>
              <a:tr h="370840">
                <a:tc>
                  <a:txBody>
                    <a:bodyPr/>
                    <a:lstStyle/>
                    <a:p>
                      <a:pPr algn="ctr"/>
                      <a:r>
                        <a:rPr lang="en-US" sz="2400" b="1" dirty="0">
                          <a:solidFill>
                            <a:schemeClr val="accent5">
                              <a:lumMod val="75000"/>
                            </a:schemeClr>
                          </a:solidFill>
                        </a:rPr>
                        <a:t>17.7</a:t>
                      </a:r>
                    </a:p>
                  </a:txBody>
                  <a:tcPr/>
                </a:tc>
                <a:tc>
                  <a:txBody>
                    <a:bodyPr/>
                    <a:lstStyle/>
                    <a:p>
                      <a:pPr algn="ctr"/>
                      <a:r>
                        <a:rPr lang="en-US" sz="2400" b="1" dirty="0">
                          <a:solidFill>
                            <a:schemeClr val="accent6">
                              <a:lumMod val="75000"/>
                            </a:schemeClr>
                          </a:solidFill>
                        </a:rPr>
                        <a:t>17.6</a:t>
                      </a:r>
                    </a:p>
                  </a:txBody>
                  <a:tcPr/>
                </a:tc>
                <a:extLst>
                  <a:ext uri="{0D108BD9-81ED-4DB2-BD59-A6C34878D82A}">
                    <a16:rowId xmlns:a16="http://schemas.microsoft.com/office/drawing/2014/main" val="10004"/>
                  </a:ext>
                </a:extLst>
              </a:tr>
              <a:tr h="370840">
                <a:tc>
                  <a:txBody>
                    <a:bodyPr/>
                    <a:lstStyle/>
                    <a:p>
                      <a:pPr algn="ctr"/>
                      <a:r>
                        <a:rPr lang="en-US" sz="2400" b="1" dirty="0">
                          <a:solidFill>
                            <a:schemeClr val="accent5">
                              <a:lumMod val="75000"/>
                            </a:schemeClr>
                          </a:solidFill>
                        </a:rPr>
                        <a:t>16.8</a:t>
                      </a:r>
                    </a:p>
                  </a:txBody>
                  <a:tcPr/>
                </a:tc>
                <a:tc>
                  <a:txBody>
                    <a:bodyPr/>
                    <a:lstStyle/>
                    <a:p>
                      <a:pPr algn="ctr"/>
                      <a:r>
                        <a:rPr lang="en-US" sz="2400" b="1" dirty="0">
                          <a:solidFill>
                            <a:schemeClr val="accent6">
                              <a:lumMod val="75000"/>
                            </a:schemeClr>
                          </a:solidFill>
                        </a:rPr>
                        <a:t>18.0</a:t>
                      </a:r>
                    </a:p>
                  </a:txBody>
                  <a:tcPr/>
                </a:tc>
                <a:extLst>
                  <a:ext uri="{0D108BD9-81ED-4DB2-BD59-A6C34878D82A}">
                    <a16:rowId xmlns:a16="http://schemas.microsoft.com/office/drawing/2014/main" val="10005"/>
                  </a:ext>
                </a:extLst>
              </a:tr>
            </a:tbl>
          </a:graphicData>
        </a:graphic>
      </p:graphicFrame>
      <p:pic>
        <p:nvPicPr>
          <p:cNvPr id="14" name="Picture 13"/>
          <p:cNvPicPr>
            <a:picLocks noChangeAspect="1"/>
          </p:cNvPicPr>
          <p:nvPr/>
        </p:nvPicPr>
        <p:blipFill rotWithShape="1">
          <a:blip r:embed="rId3">
            <a:extLst>
              <a:ext uri="{28A0092B-C50C-407E-A947-70E740481C1C}">
                <a14:useLocalDpi xmlns:a14="http://schemas.microsoft.com/office/drawing/2010/main" val="0"/>
              </a:ext>
            </a:extLst>
          </a:blip>
          <a:srcRect l="21034" t="1042" r="4483" b="65127"/>
          <a:stretch/>
        </p:blipFill>
        <p:spPr>
          <a:xfrm>
            <a:off x="639293" y="1381364"/>
            <a:ext cx="2377440" cy="2322408"/>
          </a:xfrm>
          <a:prstGeom prst="rect">
            <a:avLst/>
          </a:prstGeom>
          <a:ln>
            <a:solidFill>
              <a:schemeClr val="tx1"/>
            </a:solidFill>
          </a:ln>
        </p:spPr>
      </p:pic>
      <p:sp>
        <p:nvSpPr>
          <p:cNvPr id="15" name="TextBox 14"/>
          <p:cNvSpPr txBox="1"/>
          <p:nvPr/>
        </p:nvSpPr>
        <p:spPr>
          <a:xfrm rot="16200000">
            <a:off x="-567108" y="2272851"/>
            <a:ext cx="1942519" cy="584775"/>
          </a:xfrm>
          <a:prstGeom prst="rect">
            <a:avLst/>
          </a:prstGeom>
          <a:noFill/>
        </p:spPr>
        <p:txBody>
          <a:bodyPr wrap="none" rtlCol="0">
            <a:spAutoFit/>
          </a:bodyPr>
          <a:lstStyle/>
          <a:p>
            <a:r>
              <a:rPr lang="en-US" sz="3200" b="1" dirty="0"/>
              <a:t>Data table</a:t>
            </a:r>
          </a:p>
        </p:txBody>
      </p:sp>
      <p:pic>
        <p:nvPicPr>
          <p:cNvPr id="16" name="Picture 15"/>
          <p:cNvPicPr>
            <a:picLocks noChangeAspect="1"/>
          </p:cNvPicPr>
          <p:nvPr/>
        </p:nvPicPr>
        <p:blipFill rotWithShape="1">
          <a:blip r:embed="rId4">
            <a:extLst>
              <a:ext uri="{28A0092B-C50C-407E-A947-70E740481C1C}">
                <a14:useLocalDpi xmlns:a14="http://schemas.microsoft.com/office/drawing/2010/main" val="0"/>
              </a:ext>
            </a:extLst>
          </a:blip>
          <a:srcRect l="2363" t="43138" r="54819" b="22043"/>
          <a:stretch/>
        </p:blipFill>
        <p:spPr>
          <a:xfrm>
            <a:off x="4293374" y="1408711"/>
            <a:ext cx="3362961" cy="2296160"/>
          </a:xfrm>
          <a:prstGeom prst="rect">
            <a:avLst/>
          </a:prstGeom>
          <a:ln>
            <a:solidFill>
              <a:schemeClr val="tx1"/>
            </a:solidFill>
          </a:ln>
        </p:spPr>
      </p:pic>
      <p:sp>
        <p:nvSpPr>
          <p:cNvPr id="17" name="TextBox 16"/>
          <p:cNvSpPr txBox="1"/>
          <p:nvPr/>
        </p:nvSpPr>
        <p:spPr>
          <a:xfrm rot="16200000">
            <a:off x="2578822" y="2018182"/>
            <a:ext cx="2350854" cy="1077218"/>
          </a:xfrm>
          <a:prstGeom prst="rect">
            <a:avLst/>
          </a:prstGeom>
          <a:noFill/>
        </p:spPr>
        <p:txBody>
          <a:bodyPr wrap="square" rtlCol="0">
            <a:spAutoFit/>
          </a:bodyPr>
          <a:lstStyle/>
          <a:p>
            <a:pPr algn="ctr"/>
            <a:r>
              <a:rPr lang="en-US" sz="3200" b="1" dirty="0"/>
              <a:t>Model Summary</a:t>
            </a:r>
          </a:p>
        </p:txBody>
      </p:sp>
      <p:sp>
        <p:nvSpPr>
          <p:cNvPr id="3" name="Rounded Rectangle 2"/>
          <p:cNvSpPr/>
          <p:nvPr/>
        </p:nvSpPr>
        <p:spPr>
          <a:xfrm>
            <a:off x="2497015" y="1408711"/>
            <a:ext cx="519718" cy="2295061"/>
          </a:xfrm>
          <a:prstGeom prst="roundRect">
            <a:avLst/>
          </a:prstGeom>
          <a:noFill/>
          <a:ln w="571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quot;No&quot; Symbol 9">
            <a:extLst>
              <a:ext uri="{FF2B5EF4-FFF2-40B4-BE49-F238E27FC236}">
                <a16:creationId xmlns:a16="http://schemas.microsoft.com/office/drawing/2014/main" id="{03E3BE10-186C-4EBC-B254-5E3CC5EF4ABA}"/>
              </a:ext>
            </a:extLst>
          </p:cNvPr>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464334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p:cNvGraphicFramePr>
            <a:graphicFrameLocks noGrp="1"/>
          </p:cNvGraphicFramePr>
          <p:nvPr/>
        </p:nvGraphicFramePr>
        <p:xfrm>
          <a:off x="111764" y="4124638"/>
          <a:ext cx="8961121" cy="2656840"/>
        </p:xfrm>
        <a:graphic>
          <a:graphicData uri="http://schemas.openxmlformats.org/drawingml/2006/table">
            <a:tbl>
              <a:tblPr firstRow="1" bandRow="1">
                <a:tableStyleId>{7E9639D4-E3E2-4D34-9284-5A2195B3D0D7}</a:tableStyleId>
              </a:tblPr>
              <a:tblGrid>
                <a:gridCol w="871727">
                  <a:extLst>
                    <a:ext uri="{9D8B030D-6E8A-4147-A177-3AD203B41FA5}">
                      <a16:colId xmlns:a16="http://schemas.microsoft.com/office/drawing/2014/main" val="20000"/>
                    </a:ext>
                  </a:extLst>
                </a:gridCol>
                <a:gridCol w="871727">
                  <a:extLst>
                    <a:ext uri="{9D8B030D-6E8A-4147-A177-3AD203B41FA5}">
                      <a16:colId xmlns:a16="http://schemas.microsoft.com/office/drawing/2014/main" val="20001"/>
                    </a:ext>
                  </a:extLst>
                </a:gridCol>
                <a:gridCol w="871727">
                  <a:extLst>
                    <a:ext uri="{9D8B030D-6E8A-4147-A177-3AD203B41FA5}">
                      <a16:colId xmlns:a16="http://schemas.microsoft.com/office/drawing/2014/main" val="20002"/>
                    </a:ext>
                  </a:extLst>
                </a:gridCol>
                <a:gridCol w="871727">
                  <a:extLst>
                    <a:ext uri="{9D8B030D-6E8A-4147-A177-3AD203B41FA5}">
                      <a16:colId xmlns:a16="http://schemas.microsoft.com/office/drawing/2014/main" val="20003"/>
                    </a:ext>
                  </a:extLst>
                </a:gridCol>
                <a:gridCol w="871727">
                  <a:extLst>
                    <a:ext uri="{9D8B030D-6E8A-4147-A177-3AD203B41FA5}">
                      <a16:colId xmlns:a16="http://schemas.microsoft.com/office/drawing/2014/main" val="20004"/>
                    </a:ext>
                  </a:extLst>
                </a:gridCol>
                <a:gridCol w="782321">
                  <a:extLst>
                    <a:ext uri="{9D8B030D-6E8A-4147-A177-3AD203B41FA5}">
                      <a16:colId xmlns:a16="http://schemas.microsoft.com/office/drawing/2014/main" val="20005"/>
                    </a:ext>
                  </a:extLst>
                </a:gridCol>
                <a:gridCol w="1412240">
                  <a:extLst>
                    <a:ext uri="{9D8B030D-6E8A-4147-A177-3AD203B41FA5}">
                      <a16:colId xmlns:a16="http://schemas.microsoft.com/office/drawing/2014/main" val="20006"/>
                    </a:ext>
                  </a:extLst>
                </a:gridCol>
                <a:gridCol w="1036321">
                  <a:extLst>
                    <a:ext uri="{9D8B030D-6E8A-4147-A177-3AD203B41FA5}">
                      <a16:colId xmlns:a16="http://schemas.microsoft.com/office/drawing/2014/main" val="20007"/>
                    </a:ext>
                  </a:extLst>
                </a:gridCol>
                <a:gridCol w="1371604">
                  <a:extLst>
                    <a:ext uri="{9D8B030D-6E8A-4147-A177-3AD203B41FA5}">
                      <a16:colId xmlns:a16="http://schemas.microsoft.com/office/drawing/2014/main" val="20008"/>
                    </a:ext>
                  </a:extLst>
                </a:gridCol>
              </a:tblGrid>
              <a:tr h="370840">
                <a:tc>
                  <a:txBody>
                    <a:bodyPr/>
                    <a:lstStyle/>
                    <a:p>
                      <a:pPr algn="ctr"/>
                      <a:r>
                        <a:rPr lang="en-US" sz="1400" dirty="0"/>
                        <a:t>intercept</a:t>
                      </a:r>
                    </a:p>
                  </a:txBody>
                  <a:tcPr anchor="ctr"/>
                </a:tc>
                <a:tc>
                  <a:txBody>
                    <a:bodyPr/>
                    <a:lstStyle/>
                    <a:p>
                      <a:pPr algn="ctr"/>
                      <a:r>
                        <a:rPr lang="en-US" dirty="0"/>
                        <a:t>block1</a:t>
                      </a:r>
                    </a:p>
                  </a:txBody>
                  <a:tcPr>
                    <a:solidFill>
                      <a:schemeClr val="bg1">
                        <a:lumMod val="65000"/>
                      </a:schemeClr>
                    </a:solidFill>
                  </a:tcPr>
                </a:tc>
                <a:tc>
                  <a:txBody>
                    <a:bodyPr/>
                    <a:lstStyle/>
                    <a:p>
                      <a:pPr algn="ctr"/>
                      <a:r>
                        <a:rPr lang="en-US" dirty="0"/>
                        <a:t>block2</a:t>
                      </a:r>
                    </a:p>
                  </a:txBody>
                  <a:tcPr/>
                </a:tc>
                <a:tc>
                  <a:txBody>
                    <a:bodyPr/>
                    <a:lstStyle/>
                    <a:p>
                      <a:pPr algn="ctr"/>
                      <a:r>
                        <a:rPr lang="en-US" dirty="0"/>
                        <a:t>block3</a:t>
                      </a:r>
                    </a:p>
                  </a:txBody>
                  <a:tcPr/>
                </a:tc>
                <a:tc>
                  <a:txBody>
                    <a:bodyPr/>
                    <a:lstStyle/>
                    <a:p>
                      <a:pPr algn="ctr"/>
                      <a:r>
                        <a:rPr lang="en-US" dirty="0"/>
                        <a:t>block4</a:t>
                      </a:r>
                    </a:p>
                  </a:txBody>
                  <a:tcPr/>
                </a:tc>
                <a:tc>
                  <a:txBody>
                    <a:bodyPr/>
                    <a:lstStyle/>
                    <a:p>
                      <a:pPr algn="ctr"/>
                      <a:r>
                        <a:rPr lang="en-US" dirty="0"/>
                        <a:t>Anne</a:t>
                      </a:r>
                    </a:p>
                  </a:txBody>
                  <a:tcPr>
                    <a:solidFill>
                      <a:schemeClr val="bg1">
                        <a:lumMod val="65000"/>
                      </a:schemeClr>
                    </a:solidFill>
                  </a:tcPr>
                </a:tc>
                <a:tc>
                  <a:txBody>
                    <a:bodyPr/>
                    <a:lstStyle/>
                    <a:p>
                      <a:pPr algn="ctr"/>
                      <a:r>
                        <a:rPr lang="en-US" dirty="0"/>
                        <a:t>Cumberland</a:t>
                      </a:r>
                    </a:p>
                  </a:txBody>
                  <a:tcPr/>
                </a:tc>
                <a:tc>
                  <a:txBody>
                    <a:bodyPr/>
                    <a:lstStyle/>
                    <a:p>
                      <a:pPr algn="ctr"/>
                      <a:r>
                        <a:rPr lang="en-US" dirty="0"/>
                        <a:t>Heritage</a:t>
                      </a:r>
                      <a:endParaRPr lang="en-US" sz="1800" dirty="0"/>
                    </a:p>
                  </a:txBody>
                  <a:tcPr/>
                </a:tc>
                <a:tc>
                  <a:txBody>
                    <a:bodyPr/>
                    <a:lstStyle/>
                    <a:p>
                      <a:pPr algn="ctr"/>
                      <a:r>
                        <a:rPr lang="en-US" dirty="0" err="1"/>
                        <a:t>JewellBlack</a:t>
                      </a:r>
                      <a:endParaRPr lang="en-US" dirty="0"/>
                    </a:p>
                  </a:txBody>
                  <a:tcPr/>
                </a:tc>
                <a:extLst>
                  <a:ext uri="{0D108BD9-81ED-4DB2-BD59-A6C34878D82A}">
                    <a16:rowId xmlns:a16="http://schemas.microsoft.com/office/drawing/2014/main" val="10000"/>
                  </a:ext>
                </a:extLst>
              </a:tr>
              <a:tr h="370840">
                <a:tc>
                  <a:txBody>
                    <a:bodyPr/>
                    <a:lstStyle/>
                    <a:p>
                      <a:pPr algn="ctr"/>
                      <a:r>
                        <a:rPr lang="en-US" sz="2400" b="1" dirty="0"/>
                        <a:t>19.0</a:t>
                      </a:r>
                    </a:p>
                  </a:txBody>
                  <a:tcPr/>
                </a:tc>
                <a:tc>
                  <a:txBody>
                    <a:bodyPr/>
                    <a:lstStyle/>
                    <a:p>
                      <a:pPr algn="ctr"/>
                      <a:endParaRPr lang="en-US" sz="2400" b="1" dirty="0"/>
                    </a:p>
                  </a:txBody>
                  <a:tcPr>
                    <a:solidFill>
                      <a:schemeClr val="bg1">
                        <a:lumMod val="65000"/>
                      </a:schemeClr>
                    </a:solidFill>
                  </a:tcPr>
                </a:tc>
                <a:tc>
                  <a:txBody>
                    <a:bodyPr/>
                    <a:lstStyle/>
                    <a:p>
                      <a:pPr algn="ctr"/>
                      <a:r>
                        <a:rPr lang="en-US" sz="2400" b="1" dirty="0"/>
                        <a:t>0</a:t>
                      </a:r>
                    </a:p>
                  </a:txBody>
                  <a:tcPr/>
                </a:tc>
                <a:tc>
                  <a:txBody>
                    <a:bodyPr/>
                    <a:lstStyle/>
                    <a:p>
                      <a:pPr algn="ctr"/>
                      <a:r>
                        <a:rPr lang="en-US" sz="2400" b="1" dirty="0"/>
                        <a:t>0</a:t>
                      </a:r>
                    </a:p>
                  </a:txBody>
                  <a:tcPr/>
                </a:tc>
                <a:tc>
                  <a:txBody>
                    <a:bodyPr/>
                    <a:lstStyle/>
                    <a:p>
                      <a:pPr algn="ctr"/>
                      <a:r>
                        <a:rPr lang="en-US" sz="2400" b="1" dirty="0"/>
                        <a:t>0</a:t>
                      </a:r>
                    </a:p>
                  </a:txBody>
                  <a:tcPr/>
                </a:tc>
                <a:tc>
                  <a:txBody>
                    <a:bodyPr/>
                    <a:lstStyle/>
                    <a:p>
                      <a:pPr algn="ctr"/>
                      <a:endParaRPr lang="en-US" sz="2400" b="1" dirty="0"/>
                    </a:p>
                  </a:txBody>
                  <a:tcPr>
                    <a:solidFill>
                      <a:schemeClr val="bg1">
                        <a:lumMod val="65000"/>
                      </a:schemeClr>
                    </a:solidFill>
                  </a:tcPr>
                </a:tc>
                <a:tc>
                  <a:txBody>
                    <a:bodyPr/>
                    <a:lstStyle/>
                    <a:p>
                      <a:pPr algn="ctr"/>
                      <a:r>
                        <a:rPr lang="en-US" sz="2400" b="1" dirty="0"/>
                        <a:t>0</a:t>
                      </a:r>
                    </a:p>
                  </a:txBody>
                  <a:tcPr/>
                </a:tc>
                <a:tc>
                  <a:txBody>
                    <a:bodyPr/>
                    <a:lstStyle/>
                    <a:p>
                      <a:pPr algn="ctr"/>
                      <a:r>
                        <a:rPr lang="en-US" sz="2400" b="1" dirty="0"/>
                        <a:t>-4.8</a:t>
                      </a:r>
                    </a:p>
                  </a:txBody>
                  <a:tcPr/>
                </a:tc>
                <a:tc>
                  <a:txBody>
                    <a:bodyPr/>
                    <a:lstStyle/>
                    <a:p>
                      <a:pPr algn="ctr"/>
                      <a:r>
                        <a:rPr lang="en-US" sz="2400" b="1" dirty="0"/>
                        <a:t>0</a:t>
                      </a:r>
                    </a:p>
                  </a:txBody>
                  <a:tcPr/>
                </a:tc>
                <a:extLst>
                  <a:ext uri="{0D108BD9-81ED-4DB2-BD59-A6C34878D82A}">
                    <a16:rowId xmlns:a16="http://schemas.microsoft.com/office/drawing/2014/main" val="10001"/>
                  </a:ext>
                </a:extLst>
              </a:tr>
              <a:tr h="370840">
                <a:tc>
                  <a:txBody>
                    <a:bodyPr/>
                    <a:lstStyle/>
                    <a:p>
                      <a:pPr algn="ctr"/>
                      <a:r>
                        <a:rPr lang="en-US" sz="2400" b="1" dirty="0"/>
                        <a:t>19.0</a:t>
                      </a:r>
                    </a:p>
                  </a:txBody>
                  <a:tcPr/>
                </a:tc>
                <a:tc>
                  <a:txBody>
                    <a:bodyPr/>
                    <a:lstStyle/>
                    <a:p>
                      <a:pPr algn="ctr"/>
                      <a:endParaRPr lang="en-US" sz="2400" b="1" dirty="0"/>
                    </a:p>
                  </a:txBody>
                  <a:tcPr>
                    <a:solidFill>
                      <a:schemeClr val="bg1">
                        <a:lumMod val="65000"/>
                      </a:schemeClr>
                    </a:solidFill>
                  </a:tcPr>
                </a:tc>
                <a:tc>
                  <a:txBody>
                    <a:bodyPr/>
                    <a:lstStyle/>
                    <a:p>
                      <a:pPr algn="ctr"/>
                      <a:r>
                        <a:rPr lang="en-US" sz="2400" b="1" dirty="0"/>
                        <a:t>0</a:t>
                      </a:r>
                    </a:p>
                  </a:txBody>
                  <a:tcPr/>
                </a:tc>
                <a:tc>
                  <a:txBody>
                    <a:bodyPr/>
                    <a:lstStyle/>
                    <a:p>
                      <a:pPr algn="ctr"/>
                      <a:r>
                        <a:rPr lang="en-US" sz="2400" b="1" dirty="0"/>
                        <a:t>0</a:t>
                      </a:r>
                    </a:p>
                  </a:txBody>
                  <a:tcPr/>
                </a:tc>
                <a:tc>
                  <a:txBody>
                    <a:bodyPr/>
                    <a:lstStyle/>
                    <a:p>
                      <a:pPr algn="ctr"/>
                      <a:r>
                        <a:rPr lang="en-US" sz="2400" b="1" dirty="0"/>
                        <a:t>0</a:t>
                      </a:r>
                    </a:p>
                  </a:txBody>
                  <a:tcPr/>
                </a:tc>
                <a:tc>
                  <a:txBody>
                    <a:bodyPr/>
                    <a:lstStyle/>
                    <a:p>
                      <a:pPr algn="ctr"/>
                      <a:endParaRPr lang="en-US" sz="2400" b="1" dirty="0"/>
                    </a:p>
                  </a:txBody>
                  <a:tcPr>
                    <a:solidFill>
                      <a:schemeClr val="bg1">
                        <a:lumMod val="65000"/>
                      </a:schemeClr>
                    </a:solidFill>
                  </a:tcPr>
                </a:tc>
                <a:tc>
                  <a:txBody>
                    <a:bodyPr/>
                    <a:lstStyle/>
                    <a:p>
                      <a:pPr algn="ctr"/>
                      <a:r>
                        <a:rPr lang="en-US" sz="2400" b="1" dirty="0"/>
                        <a:t>0</a:t>
                      </a:r>
                    </a:p>
                  </a:txBody>
                  <a:tcPr/>
                </a:tc>
                <a:tc>
                  <a:txBody>
                    <a:bodyPr/>
                    <a:lstStyle/>
                    <a:p>
                      <a:pPr algn="ctr"/>
                      <a:r>
                        <a:rPr lang="en-US" sz="2400" b="1" dirty="0"/>
                        <a:t>0</a:t>
                      </a:r>
                    </a:p>
                  </a:txBody>
                  <a:tcPr/>
                </a:tc>
                <a:tc>
                  <a:txBody>
                    <a:bodyPr/>
                    <a:lstStyle/>
                    <a:p>
                      <a:pPr algn="ctr"/>
                      <a:r>
                        <a:rPr lang="en-US" sz="2400" b="1" dirty="0"/>
                        <a:t>0</a:t>
                      </a:r>
                    </a:p>
                  </a:txBody>
                  <a:tcPr/>
                </a:tc>
                <a:extLst>
                  <a:ext uri="{0D108BD9-81ED-4DB2-BD59-A6C34878D82A}">
                    <a16:rowId xmlns:a16="http://schemas.microsoft.com/office/drawing/2014/main" val="10002"/>
                  </a:ext>
                </a:extLst>
              </a:tr>
              <a:tr h="370840">
                <a:tc>
                  <a:txBody>
                    <a:bodyPr/>
                    <a:lstStyle/>
                    <a:p>
                      <a:pPr algn="ctr"/>
                      <a:r>
                        <a:rPr lang="en-US" sz="2400" b="1" dirty="0"/>
                        <a:t>19.0</a:t>
                      </a:r>
                    </a:p>
                  </a:txBody>
                  <a:tcPr/>
                </a:tc>
                <a:tc>
                  <a:txBody>
                    <a:bodyPr/>
                    <a:lstStyle/>
                    <a:p>
                      <a:pPr algn="ctr"/>
                      <a:endParaRPr lang="en-US" sz="2400" b="1"/>
                    </a:p>
                  </a:txBody>
                  <a:tcPr>
                    <a:solidFill>
                      <a:schemeClr val="bg1">
                        <a:lumMod val="65000"/>
                      </a:schemeClr>
                    </a:solidFill>
                  </a:tcPr>
                </a:tc>
                <a:tc>
                  <a:txBody>
                    <a:bodyPr/>
                    <a:lstStyle/>
                    <a:p>
                      <a:pPr algn="ctr"/>
                      <a:r>
                        <a:rPr lang="en-US" sz="2400" b="1" dirty="0"/>
                        <a:t>0</a:t>
                      </a:r>
                    </a:p>
                  </a:txBody>
                  <a:tcPr/>
                </a:tc>
                <a:tc>
                  <a:txBody>
                    <a:bodyPr/>
                    <a:lstStyle/>
                    <a:p>
                      <a:pPr algn="ctr"/>
                      <a:r>
                        <a:rPr lang="en-US" sz="2400" b="1" dirty="0"/>
                        <a:t>0</a:t>
                      </a:r>
                    </a:p>
                  </a:txBody>
                  <a:tcPr/>
                </a:tc>
                <a:tc>
                  <a:txBody>
                    <a:bodyPr/>
                    <a:lstStyle/>
                    <a:p>
                      <a:pPr algn="ctr"/>
                      <a:r>
                        <a:rPr lang="en-US" sz="2400" b="1" dirty="0"/>
                        <a:t>0</a:t>
                      </a:r>
                    </a:p>
                  </a:txBody>
                  <a:tcPr/>
                </a:tc>
                <a:tc>
                  <a:txBody>
                    <a:bodyPr/>
                    <a:lstStyle/>
                    <a:p>
                      <a:pPr algn="ctr"/>
                      <a:endParaRPr lang="en-US" sz="2400" b="1" dirty="0"/>
                    </a:p>
                  </a:txBody>
                  <a:tcPr>
                    <a:solidFill>
                      <a:schemeClr val="bg1">
                        <a:lumMod val="65000"/>
                      </a:schemeClr>
                    </a:solidFill>
                  </a:tcPr>
                </a:tc>
                <a:tc>
                  <a:txBody>
                    <a:bodyPr/>
                    <a:lstStyle/>
                    <a:p>
                      <a:pPr algn="ctr"/>
                      <a:r>
                        <a:rPr lang="en-US" sz="2400" b="1" dirty="0"/>
                        <a:t>1.4</a:t>
                      </a:r>
                    </a:p>
                  </a:txBody>
                  <a:tcPr/>
                </a:tc>
                <a:tc>
                  <a:txBody>
                    <a:bodyPr/>
                    <a:lstStyle/>
                    <a:p>
                      <a:pPr algn="ctr"/>
                      <a:r>
                        <a:rPr lang="en-US" sz="2400" b="1" dirty="0"/>
                        <a:t>0</a:t>
                      </a:r>
                    </a:p>
                  </a:txBody>
                  <a:tcPr/>
                </a:tc>
                <a:tc>
                  <a:txBody>
                    <a:bodyPr/>
                    <a:lstStyle/>
                    <a:p>
                      <a:pPr algn="ctr"/>
                      <a:r>
                        <a:rPr lang="en-US" sz="2400" b="1" dirty="0"/>
                        <a:t>0</a:t>
                      </a:r>
                    </a:p>
                  </a:txBody>
                  <a:tcPr/>
                </a:tc>
                <a:extLst>
                  <a:ext uri="{0D108BD9-81ED-4DB2-BD59-A6C34878D82A}">
                    <a16:rowId xmlns:a16="http://schemas.microsoft.com/office/drawing/2014/main" val="10003"/>
                  </a:ext>
                </a:extLst>
              </a:tr>
              <a:tr h="370840">
                <a:tc>
                  <a:txBody>
                    <a:bodyPr/>
                    <a:lstStyle/>
                    <a:p>
                      <a:pPr algn="ctr"/>
                      <a:r>
                        <a:rPr lang="en-US" sz="2400" b="1" dirty="0"/>
                        <a:t>19.0</a:t>
                      </a:r>
                    </a:p>
                  </a:txBody>
                  <a:tcPr/>
                </a:tc>
                <a:tc>
                  <a:txBody>
                    <a:bodyPr/>
                    <a:lstStyle/>
                    <a:p>
                      <a:pPr algn="ctr"/>
                      <a:endParaRPr lang="en-US" sz="2400" b="1"/>
                    </a:p>
                  </a:txBody>
                  <a:tcPr>
                    <a:solidFill>
                      <a:schemeClr val="bg1">
                        <a:lumMod val="65000"/>
                      </a:schemeClr>
                    </a:solidFill>
                  </a:tcPr>
                </a:tc>
                <a:tc>
                  <a:txBody>
                    <a:bodyPr/>
                    <a:lstStyle/>
                    <a:p>
                      <a:pPr algn="ctr"/>
                      <a:r>
                        <a:rPr lang="en-US" sz="2400" b="1" dirty="0"/>
                        <a:t>0</a:t>
                      </a:r>
                    </a:p>
                  </a:txBody>
                  <a:tcPr/>
                </a:tc>
                <a:tc>
                  <a:txBody>
                    <a:bodyPr/>
                    <a:lstStyle/>
                    <a:p>
                      <a:pPr algn="ctr"/>
                      <a:r>
                        <a:rPr lang="en-US" sz="2400" b="1" dirty="0"/>
                        <a:t>0</a:t>
                      </a:r>
                    </a:p>
                  </a:txBody>
                  <a:tcPr/>
                </a:tc>
                <a:tc>
                  <a:txBody>
                    <a:bodyPr/>
                    <a:lstStyle/>
                    <a:p>
                      <a:pPr algn="ctr"/>
                      <a:r>
                        <a:rPr lang="en-US" sz="2400" b="1" dirty="0"/>
                        <a:t>0</a:t>
                      </a:r>
                    </a:p>
                  </a:txBody>
                  <a:tcPr/>
                </a:tc>
                <a:tc>
                  <a:txBody>
                    <a:bodyPr/>
                    <a:lstStyle/>
                    <a:p>
                      <a:pPr algn="ctr"/>
                      <a:endParaRPr lang="en-US" sz="2400" b="1" dirty="0"/>
                    </a:p>
                  </a:txBody>
                  <a:tcPr>
                    <a:solidFill>
                      <a:schemeClr val="bg1">
                        <a:lumMod val="65000"/>
                      </a:schemeClr>
                    </a:solidFill>
                  </a:tcPr>
                </a:tc>
                <a:tc>
                  <a:txBody>
                    <a:bodyPr/>
                    <a:lstStyle/>
                    <a:p>
                      <a:pPr algn="ctr"/>
                      <a:r>
                        <a:rPr lang="en-US" sz="2400" b="1" dirty="0"/>
                        <a:t>0</a:t>
                      </a:r>
                    </a:p>
                  </a:txBody>
                  <a:tcPr/>
                </a:tc>
                <a:tc>
                  <a:txBody>
                    <a:bodyPr/>
                    <a:lstStyle/>
                    <a:p>
                      <a:pPr algn="ctr"/>
                      <a:r>
                        <a:rPr lang="en-US" sz="2400" b="1" dirty="0"/>
                        <a:t>0</a:t>
                      </a:r>
                    </a:p>
                  </a:txBody>
                  <a:tcPr/>
                </a:tc>
                <a:tc>
                  <a:txBody>
                    <a:bodyPr/>
                    <a:lstStyle/>
                    <a:p>
                      <a:pPr algn="ctr"/>
                      <a:r>
                        <a:rPr lang="en-US" sz="2400" b="1" dirty="0"/>
                        <a:t>-1.3</a:t>
                      </a:r>
                    </a:p>
                  </a:txBody>
                  <a:tcPr/>
                </a:tc>
                <a:extLst>
                  <a:ext uri="{0D108BD9-81ED-4DB2-BD59-A6C34878D82A}">
                    <a16:rowId xmlns:a16="http://schemas.microsoft.com/office/drawing/2014/main" val="10004"/>
                  </a:ext>
                </a:extLst>
              </a:tr>
              <a:tr h="370840">
                <a:tc>
                  <a:txBody>
                    <a:bodyPr/>
                    <a:lstStyle/>
                    <a:p>
                      <a:pPr algn="ctr"/>
                      <a:r>
                        <a:rPr lang="en-US" sz="2400" b="1" dirty="0"/>
                        <a:t>19.0</a:t>
                      </a:r>
                    </a:p>
                  </a:txBody>
                  <a:tcPr/>
                </a:tc>
                <a:tc>
                  <a:txBody>
                    <a:bodyPr/>
                    <a:lstStyle/>
                    <a:p>
                      <a:pPr algn="ctr"/>
                      <a:endParaRPr lang="en-US" sz="2400" b="1" dirty="0"/>
                    </a:p>
                  </a:txBody>
                  <a:tcPr>
                    <a:solidFill>
                      <a:schemeClr val="bg1">
                        <a:lumMod val="65000"/>
                      </a:schemeClr>
                    </a:solidFill>
                  </a:tcPr>
                </a:tc>
                <a:tc>
                  <a:txBody>
                    <a:bodyPr/>
                    <a:lstStyle/>
                    <a:p>
                      <a:pPr algn="ctr"/>
                      <a:r>
                        <a:rPr lang="en-US" sz="2400" b="1" dirty="0"/>
                        <a:t>-0.9</a:t>
                      </a:r>
                    </a:p>
                  </a:txBody>
                  <a:tcPr/>
                </a:tc>
                <a:tc>
                  <a:txBody>
                    <a:bodyPr/>
                    <a:lstStyle/>
                    <a:p>
                      <a:pPr algn="ctr"/>
                      <a:r>
                        <a:rPr lang="en-US" sz="2400" b="1" dirty="0"/>
                        <a:t>0</a:t>
                      </a:r>
                    </a:p>
                  </a:txBody>
                  <a:tcPr/>
                </a:tc>
                <a:tc>
                  <a:txBody>
                    <a:bodyPr/>
                    <a:lstStyle/>
                    <a:p>
                      <a:pPr algn="ctr"/>
                      <a:r>
                        <a:rPr lang="en-US" sz="2400" b="1" dirty="0"/>
                        <a:t>0</a:t>
                      </a:r>
                    </a:p>
                  </a:txBody>
                  <a:tcPr/>
                </a:tc>
                <a:tc>
                  <a:txBody>
                    <a:bodyPr/>
                    <a:lstStyle/>
                    <a:p>
                      <a:pPr algn="ctr"/>
                      <a:endParaRPr lang="en-US" sz="2400" b="1" dirty="0"/>
                    </a:p>
                  </a:txBody>
                  <a:tcPr>
                    <a:solidFill>
                      <a:schemeClr val="bg1">
                        <a:lumMod val="65000"/>
                      </a:schemeClr>
                    </a:solidFill>
                  </a:tcPr>
                </a:tc>
                <a:tc>
                  <a:txBody>
                    <a:bodyPr/>
                    <a:lstStyle/>
                    <a:p>
                      <a:pPr algn="ctr"/>
                      <a:r>
                        <a:rPr lang="en-US" sz="2400" b="1" dirty="0"/>
                        <a:t>0</a:t>
                      </a:r>
                    </a:p>
                  </a:txBody>
                  <a:tcPr/>
                </a:tc>
                <a:tc>
                  <a:txBody>
                    <a:bodyPr/>
                    <a:lstStyle/>
                    <a:p>
                      <a:pPr algn="ctr"/>
                      <a:r>
                        <a:rPr lang="en-US" sz="2400" b="1" dirty="0"/>
                        <a:t>0</a:t>
                      </a:r>
                    </a:p>
                  </a:txBody>
                  <a:tcPr/>
                </a:tc>
                <a:tc>
                  <a:txBody>
                    <a:bodyPr/>
                    <a:lstStyle/>
                    <a:p>
                      <a:pPr algn="ctr"/>
                      <a:r>
                        <a:rPr lang="en-US" sz="2400" b="1" dirty="0"/>
                        <a:t>-1.3</a:t>
                      </a:r>
                    </a:p>
                  </a:txBody>
                  <a:tcPr/>
                </a:tc>
                <a:extLst>
                  <a:ext uri="{0D108BD9-81ED-4DB2-BD59-A6C34878D82A}">
                    <a16:rowId xmlns:a16="http://schemas.microsoft.com/office/drawing/2014/main" val="10005"/>
                  </a:ext>
                </a:extLst>
              </a:tr>
            </a:tbl>
          </a:graphicData>
        </a:graphic>
      </p:graphicFrame>
      <p:sp>
        <p:nvSpPr>
          <p:cNvPr id="2" name="Title 1"/>
          <p:cNvSpPr>
            <a:spLocks noGrp="1"/>
          </p:cNvSpPr>
          <p:nvPr>
            <p:ph type="title"/>
          </p:nvPr>
        </p:nvSpPr>
        <p:spPr/>
        <p:txBody>
          <a:bodyPr/>
          <a:lstStyle/>
          <a:p>
            <a:r>
              <a:rPr lang="en-US" dirty="0"/>
              <a:t>How a model sees the coefficients</a:t>
            </a:r>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l="21034" t="1042" r="4483" b="65127"/>
          <a:stretch/>
        </p:blipFill>
        <p:spPr>
          <a:xfrm>
            <a:off x="639293" y="1381364"/>
            <a:ext cx="2377440" cy="2322408"/>
          </a:xfrm>
          <a:prstGeom prst="rect">
            <a:avLst/>
          </a:prstGeom>
          <a:ln>
            <a:solidFill>
              <a:schemeClr val="tx1"/>
            </a:solidFill>
          </a:ln>
        </p:spPr>
      </p:pic>
      <p:sp>
        <p:nvSpPr>
          <p:cNvPr id="5" name="TextBox 4"/>
          <p:cNvSpPr txBox="1"/>
          <p:nvPr/>
        </p:nvSpPr>
        <p:spPr>
          <a:xfrm rot="16200000">
            <a:off x="-567108" y="2272851"/>
            <a:ext cx="1942519" cy="584775"/>
          </a:xfrm>
          <a:prstGeom prst="rect">
            <a:avLst/>
          </a:prstGeom>
          <a:noFill/>
        </p:spPr>
        <p:txBody>
          <a:bodyPr wrap="none" rtlCol="0">
            <a:spAutoFit/>
          </a:bodyPr>
          <a:lstStyle/>
          <a:p>
            <a:r>
              <a:rPr lang="en-US" sz="3200" b="1" dirty="0"/>
              <a:t>Data table</a:t>
            </a:r>
          </a:p>
        </p:txBody>
      </p:sp>
      <p:pic>
        <p:nvPicPr>
          <p:cNvPr id="7" name="Picture 6"/>
          <p:cNvPicPr>
            <a:picLocks noChangeAspect="1"/>
          </p:cNvPicPr>
          <p:nvPr/>
        </p:nvPicPr>
        <p:blipFill rotWithShape="1">
          <a:blip r:embed="rId4">
            <a:extLst>
              <a:ext uri="{28A0092B-C50C-407E-A947-70E740481C1C}">
                <a14:useLocalDpi xmlns:a14="http://schemas.microsoft.com/office/drawing/2010/main" val="0"/>
              </a:ext>
            </a:extLst>
          </a:blip>
          <a:srcRect l="2363" t="43138" r="54819" b="22043"/>
          <a:stretch/>
        </p:blipFill>
        <p:spPr>
          <a:xfrm>
            <a:off x="4293374" y="1408711"/>
            <a:ext cx="3362961" cy="2296160"/>
          </a:xfrm>
          <a:prstGeom prst="rect">
            <a:avLst/>
          </a:prstGeom>
          <a:ln>
            <a:solidFill>
              <a:schemeClr val="tx1"/>
            </a:solidFill>
          </a:ln>
        </p:spPr>
      </p:pic>
      <p:sp>
        <p:nvSpPr>
          <p:cNvPr id="8" name="TextBox 7"/>
          <p:cNvSpPr txBox="1"/>
          <p:nvPr/>
        </p:nvSpPr>
        <p:spPr>
          <a:xfrm rot="16200000">
            <a:off x="2578822" y="2018182"/>
            <a:ext cx="2350854" cy="1077218"/>
          </a:xfrm>
          <a:prstGeom prst="rect">
            <a:avLst/>
          </a:prstGeom>
          <a:noFill/>
        </p:spPr>
        <p:txBody>
          <a:bodyPr wrap="square" rtlCol="0">
            <a:spAutoFit/>
          </a:bodyPr>
          <a:lstStyle/>
          <a:p>
            <a:pPr algn="ctr"/>
            <a:r>
              <a:rPr lang="en-US" sz="3200" b="1" dirty="0"/>
              <a:t>Model Summary</a:t>
            </a:r>
          </a:p>
        </p:txBody>
      </p:sp>
      <p:sp>
        <p:nvSpPr>
          <p:cNvPr id="9" name="TextBox 8"/>
          <p:cNvSpPr txBox="1"/>
          <p:nvPr/>
        </p:nvSpPr>
        <p:spPr>
          <a:xfrm>
            <a:off x="111764" y="3628947"/>
            <a:ext cx="2191241" cy="584775"/>
          </a:xfrm>
          <a:prstGeom prst="rect">
            <a:avLst/>
          </a:prstGeom>
          <a:noFill/>
        </p:spPr>
        <p:txBody>
          <a:bodyPr wrap="none" rtlCol="0">
            <a:spAutoFit/>
          </a:bodyPr>
          <a:lstStyle/>
          <a:p>
            <a:r>
              <a:rPr lang="en-US" sz="3200" b="1" dirty="0"/>
              <a:t>Model view</a:t>
            </a:r>
          </a:p>
        </p:txBody>
      </p:sp>
      <p:graphicFrame>
        <p:nvGraphicFramePr>
          <p:cNvPr id="10" name="Table 9"/>
          <p:cNvGraphicFramePr>
            <a:graphicFrameLocks noGrp="1"/>
          </p:cNvGraphicFramePr>
          <p:nvPr/>
        </p:nvGraphicFramePr>
        <p:xfrm>
          <a:off x="9072885" y="4124638"/>
          <a:ext cx="2987040" cy="2656840"/>
        </p:xfrm>
        <a:graphic>
          <a:graphicData uri="http://schemas.openxmlformats.org/drawingml/2006/table">
            <a:tbl>
              <a:tblPr firstRow="1" bandRow="1">
                <a:tableStyleId>{7E9639D4-E3E2-4D34-9284-5A2195B3D0D7}</a:tableStyleId>
              </a:tblPr>
              <a:tblGrid>
                <a:gridCol w="995680">
                  <a:extLst>
                    <a:ext uri="{9D8B030D-6E8A-4147-A177-3AD203B41FA5}">
                      <a16:colId xmlns:a16="http://schemas.microsoft.com/office/drawing/2014/main" val="20000"/>
                    </a:ext>
                  </a:extLst>
                </a:gridCol>
                <a:gridCol w="995680">
                  <a:extLst>
                    <a:ext uri="{9D8B030D-6E8A-4147-A177-3AD203B41FA5}">
                      <a16:colId xmlns:a16="http://schemas.microsoft.com/office/drawing/2014/main" val="20001"/>
                    </a:ext>
                  </a:extLst>
                </a:gridCol>
                <a:gridCol w="995680">
                  <a:extLst>
                    <a:ext uri="{9D8B030D-6E8A-4147-A177-3AD203B41FA5}">
                      <a16:colId xmlns:a16="http://schemas.microsoft.com/office/drawing/2014/main" val="20002"/>
                    </a:ext>
                  </a:extLst>
                </a:gridCol>
              </a:tblGrid>
              <a:tr h="370840">
                <a:tc>
                  <a:txBody>
                    <a:bodyPr/>
                    <a:lstStyle/>
                    <a:p>
                      <a:pPr algn="ctr"/>
                      <a:r>
                        <a:rPr lang="en-US" i="1" dirty="0"/>
                        <a:t>Total</a:t>
                      </a:r>
                    </a:p>
                  </a:txBody>
                  <a:tcPr/>
                </a:tc>
                <a:tc>
                  <a:txBody>
                    <a:bodyPr/>
                    <a:lstStyle/>
                    <a:p>
                      <a:pPr algn="ctr"/>
                      <a:r>
                        <a:rPr lang="en-US" dirty="0"/>
                        <a:t>Actual</a:t>
                      </a:r>
                    </a:p>
                  </a:txBody>
                  <a:tcPr/>
                </a:tc>
                <a:tc>
                  <a:txBody>
                    <a:bodyPr/>
                    <a:lstStyle/>
                    <a:p>
                      <a:pPr algn="ctr"/>
                      <a:r>
                        <a:rPr lang="en-US" dirty="0"/>
                        <a:t>Error</a:t>
                      </a:r>
                    </a:p>
                  </a:txBody>
                  <a:tcPr/>
                </a:tc>
                <a:extLst>
                  <a:ext uri="{0D108BD9-81ED-4DB2-BD59-A6C34878D82A}">
                    <a16:rowId xmlns:a16="http://schemas.microsoft.com/office/drawing/2014/main" val="10000"/>
                  </a:ext>
                </a:extLst>
              </a:tr>
              <a:tr h="370840">
                <a:tc>
                  <a:txBody>
                    <a:bodyPr/>
                    <a:lstStyle/>
                    <a:p>
                      <a:pPr algn="ctr"/>
                      <a:r>
                        <a:rPr lang="en-US" sz="2400" b="1" dirty="0">
                          <a:solidFill>
                            <a:schemeClr val="accent5">
                              <a:lumMod val="75000"/>
                            </a:schemeClr>
                          </a:solidFill>
                        </a:rPr>
                        <a:t>14.2</a:t>
                      </a:r>
                    </a:p>
                  </a:txBody>
                  <a:tcPr/>
                </a:tc>
                <a:tc>
                  <a:txBody>
                    <a:bodyPr/>
                    <a:lstStyle/>
                    <a:p>
                      <a:pPr algn="ctr"/>
                      <a:r>
                        <a:rPr lang="en-US" sz="2400" b="1" dirty="0">
                          <a:solidFill>
                            <a:schemeClr val="accent6">
                              <a:lumMod val="75000"/>
                            </a:schemeClr>
                          </a:solidFill>
                        </a:rPr>
                        <a:t>13.8</a:t>
                      </a:r>
                    </a:p>
                  </a:txBody>
                  <a:tcPr/>
                </a:tc>
                <a:tc>
                  <a:txBody>
                    <a:bodyPr/>
                    <a:lstStyle/>
                    <a:p>
                      <a:pPr algn="ctr"/>
                      <a:r>
                        <a:rPr lang="en-US" sz="2400" b="1" dirty="0">
                          <a:solidFill>
                            <a:srgbClr val="C00000"/>
                          </a:solidFill>
                        </a:rPr>
                        <a:t>0.4</a:t>
                      </a:r>
                    </a:p>
                  </a:txBody>
                  <a:tcPr/>
                </a:tc>
                <a:extLst>
                  <a:ext uri="{0D108BD9-81ED-4DB2-BD59-A6C34878D82A}">
                    <a16:rowId xmlns:a16="http://schemas.microsoft.com/office/drawing/2014/main" val="10001"/>
                  </a:ext>
                </a:extLst>
              </a:tr>
              <a:tr h="370840">
                <a:tc>
                  <a:txBody>
                    <a:bodyPr/>
                    <a:lstStyle/>
                    <a:p>
                      <a:pPr algn="ctr"/>
                      <a:r>
                        <a:rPr lang="en-US" sz="2400" b="1" dirty="0">
                          <a:solidFill>
                            <a:schemeClr val="accent5">
                              <a:lumMod val="75000"/>
                            </a:schemeClr>
                          </a:solidFill>
                        </a:rPr>
                        <a:t>19</a:t>
                      </a:r>
                    </a:p>
                  </a:txBody>
                  <a:tcPr/>
                </a:tc>
                <a:tc>
                  <a:txBody>
                    <a:bodyPr/>
                    <a:lstStyle/>
                    <a:p>
                      <a:pPr algn="ctr"/>
                      <a:r>
                        <a:rPr lang="en-US" sz="2400" b="1" dirty="0">
                          <a:solidFill>
                            <a:schemeClr val="accent6">
                              <a:lumMod val="75000"/>
                            </a:schemeClr>
                          </a:solidFill>
                        </a:rPr>
                        <a:t>18.6</a:t>
                      </a:r>
                    </a:p>
                  </a:txBody>
                  <a:tcPr/>
                </a:tc>
                <a:tc>
                  <a:txBody>
                    <a:bodyPr/>
                    <a:lstStyle/>
                    <a:p>
                      <a:pPr algn="ctr"/>
                      <a:r>
                        <a:rPr lang="en-US" sz="2400" b="1" dirty="0">
                          <a:solidFill>
                            <a:srgbClr val="C00000"/>
                          </a:solidFill>
                        </a:rPr>
                        <a:t>0.4</a:t>
                      </a:r>
                    </a:p>
                  </a:txBody>
                  <a:tcPr/>
                </a:tc>
                <a:extLst>
                  <a:ext uri="{0D108BD9-81ED-4DB2-BD59-A6C34878D82A}">
                    <a16:rowId xmlns:a16="http://schemas.microsoft.com/office/drawing/2014/main" val="10002"/>
                  </a:ext>
                </a:extLst>
              </a:tr>
              <a:tr h="370840">
                <a:tc>
                  <a:txBody>
                    <a:bodyPr/>
                    <a:lstStyle/>
                    <a:p>
                      <a:pPr algn="ctr"/>
                      <a:r>
                        <a:rPr lang="en-US" sz="2400" b="1" dirty="0">
                          <a:solidFill>
                            <a:schemeClr val="accent5">
                              <a:lumMod val="75000"/>
                            </a:schemeClr>
                          </a:solidFill>
                        </a:rPr>
                        <a:t>20.4</a:t>
                      </a:r>
                    </a:p>
                  </a:txBody>
                  <a:tcPr/>
                </a:tc>
                <a:tc>
                  <a:txBody>
                    <a:bodyPr/>
                    <a:lstStyle/>
                    <a:p>
                      <a:pPr algn="ctr"/>
                      <a:r>
                        <a:rPr lang="en-US" sz="2400" b="1" dirty="0">
                          <a:solidFill>
                            <a:schemeClr val="accent6">
                              <a:lumMod val="75000"/>
                            </a:schemeClr>
                          </a:solidFill>
                        </a:rPr>
                        <a:t>21.3</a:t>
                      </a:r>
                    </a:p>
                  </a:txBody>
                  <a:tcPr/>
                </a:tc>
                <a:tc>
                  <a:txBody>
                    <a:bodyPr/>
                    <a:lstStyle/>
                    <a:p>
                      <a:pPr algn="ctr"/>
                      <a:r>
                        <a:rPr lang="en-US" sz="2400" b="1" dirty="0">
                          <a:solidFill>
                            <a:srgbClr val="C00000"/>
                          </a:solidFill>
                        </a:rPr>
                        <a:t>-0.9</a:t>
                      </a:r>
                    </a:p>
                  </a:txBody>
                  <a:tcPr/>
                </a:tc>
                <a:extLst>
                  <a:ext uri="{0D108BD9-81ED-4DB2-BD59-A6C34878D82A}">
                    <a16:rowId xmlns:a16="http://schemas.microsoft.com/office/drawing/2014/main" val="10003"/>
                  </a:ext>
                </a:extLst>
              </a:tr>
              <a:tr h="370840">
                <a:tc>
                  <a:txBody>
                    <a:bodyPr/>
                    <a:lstStyle/>
                    <a:p>
                      <a:pPr algn="ctr"/>
                      <a:r>
                        <a:rPr lang="en-US" sz="2400" b="1" dirty="0">
                          <a:solidFill>
                            <a:schemeClr val="accent5">
                              <a:lumMod val="75000"/>
                            </a:schemeClr>
                          </a:solidFill>
                        </a:rPr>
                        <a:t>17.7</a:t>
                      </a:r>
                    </a:p>
                  </a:txBody>
                  <a:tcPr/>
                </a:tc>
                <a:tc>
                  <a:txBody>
                    <a:bodyPr/>
                    <a:lstStyle/>
                    <a:p>
                      <a:pPr algn="ctr"/>
                      <a:r>
                        <a:rPr lang="en-US" sz="2400" b="1" dirty="0">
                          <a:solidFill>
                            <a:schemeClr val="accent6">
                              <a:lumMod val="75000"/>
                            </a:schemeClr>
                          </a:solidFill>
                        </a:rPr>
                        <a:t>17.6</a:t>
                      </a:r>
                    </a:p>
                  </a:txBody>
                  <a:tcPr/>
                </a:tc>
                <a:tc>
                  <a:txBody>
                    <a:bodyPr/>
                    <a:lstStyle/>
                    <a:p>
                      <a:pPr algn="ctr"/>
                      <a:r>
                        <a:rPr lang="en-US" sz="2400" b="1" dirty="0">
                          <a:solidFill>
                            <a:srgbClr val="C00000"/>
                          </a:solidFill>
                        </a:rPr>
                        <a:t>0.1</a:t>
                      </a:r>
                    </a:p>
                  </a:txBody>
                  <a:tcPr/>
                </a:tc>
                <a:extLst>
                  <a:ext uri="{0D108BD9-81ED-4DB2-BD59-A6C34878D82A}">
                    <a16:rowId xmlns:a16="http://schemas.microsoft.com/office/drawing/2014/main" val="10004"/>
                  </a:ext>
                </a:extLst>
              </a:tr>
              <a:tr h="370840">
                <a:tc>
                  <a:txBody>
                    <a:bodyPr/>
                    <a:lstStyle/>
                    <a:p>
                      <a:pPr algn="ctr"/>
                      <a:r>
                        <a:rPr lang="en-US" sz="2400" b="1" dirty="0">
                          <a:solidFill>
                            <a:schemeClr val="accent5">
                              <a:lumMod val="75000"/>
                            </a:schemeClr>
                          </a:solidFill>
                        </a:rPr>
                        <a:t>16.8</a:t>
                      </a:r>
                    </a:p>
                  </a:txBody>
                  <a:tcPr/>
                </a:tc>
                <a:tc>
                  <a:txBody>
                    <a:bodyPr/>
                    <a:lstStyle/>
                    <a:p>
                      <a:pPr algn="ctr"/>
                      <a:r>
                        <a:rPr lang="en-US" sz="2400" b="1" dirty="0">
                          <a:solidFill>
                            <a:schemeClr val="accent6">
                              <a:lumMod val="75000"/>
                            </a:schemeClr>
                          </a:solidFill>
                        </a:rPr>
                        <a:t>18.0</a:t>
                      </a:r>
                    </a:p>
                  </a:txBody>
                  <a:tcPr/>
                </a:tc>
                <a:tc>
                  <a:txBody>
                    <a:bodyPr/>
                    <a:lstStyle/>
                    <a:p>
                      <a:pPr algn="ctr"/>
                      <a:r>
                        <a:rPr lang="en-US" sz="2400" b="1" dirty="0">
                          <a:solidFill>
                            <a:srgbClr val="C00000"/>
                          </a:solidFill>
                        </a:rPr>
                        <a:t>-1.2</a:t>
                      </a:r>
                    </a:p>
                  </a:txBody>
                  <a:tcPr/>
                </a:tc>
                <a:extLst>
                  <a:ext uri="{0D108BD9-81ED-4DB2-BD59-A6C34878D82A}">
                    <a16:rowId xmlns:a16="http://schemas.microsoft.com/office/drawing/2014/main" val="10005"/>
                  </a:ext>
                </a:extLst>
              </a:tr>
            </a:tbl>
          </a:graphicData>
        </a:graphic>
      </p:graphicFrame>
      <p:sp>
        <p:nvSpPr>
          <p:cNvPr id="6" name="TextBox 5"/>
          <p:cNvSpPr txBox="1"/>
          <p:nvPr/>
        </p:nvSpPr>
        <p:spPr>
          <a:xfrm>
            <a:off x="8279891" y="2083108"/>
            <a:ext cx="3795344" cy="1815882"/>
          </a:xfrm>
          <a:prstGeom prst="rect">
            <a:avLst/>
          </a:prstGeom>
          <a:noFill/>
        </p:spPr>
        <p:txBody>
          <a:bodyPr wrap="square" rtlCol="0">
            <a:spAutoFit/>
          </a:bodyPr>
          <a:lstStyle/>
          <a:p>
            <a:r>
              <a:rPr lang="en-US" sz="2800" b="1" dirty="0">
                <a:solidFill>
                  <a:srgbClr val="C00000"/>
                </a:solidFill>
              </a:rPr>
              <a:t>The difference between fitted and actual values is the “residual error,” or residuals</a:t>
            </a:r>
          </a:p>
        </p:txBody>
      </p:sp>
      <p:sp>
        <p:nvSpPr>
          <p:cNvPr id="11" name="Down Arrow 10"/>
          <p:cNvSpPr/>
          <p:nvPr/>
        </p:nvSpPr>
        <p:spPr>
          <a:xfrm>
            <a:off x="11268329" y="3775193"/>
            <a:ext cx="647469" cy="292282"/>
          </a:xfrm>
          <a:prstGeom prst="downArrow">
            <a:avLst/>
          </a:prstGeom>
          <a:solidFill>
            <a:srgbClr val="C0000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quot;No&quot; Symbol 9">
            <a:extLst>
              <a:ext uri="{FF2B5EF4-FFF2-40B4-BE49-F238E27FC236}">
                <a16:creationId xmlns:a16="http://schemas.microsoft.com/office/drawing/2014/main" id="{2335AF68-B460-46DA-803B-44F2E1560D1E}"/>
              </a:ext>
            </a:extLst>
          </p:cNvPr>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598844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Questions on statistical models?</a:t>
            </a:r>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1645373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5"/>
            <a:ext cx="11069097" cy="1325563"/>
          </a:xfrm>
        </p:spPr>
        <p:txBody>
          <a:bodyPr>
            <a:normAutofit/>
          </a:bodyPr>
          <a:lstStyle/>
          <a:p>
            <a:r>
              <a:rPr lang="en-US" dirty="0"/>
              <a:t>R tip: Linear regression utility functions</a:t>
            </a:r>
          </a:p>
        </p:txBody>
      </p:sp>
      <p:sp>
        <p:nvSpPr>
          <p:cNvPr id="3" name="Content Placeholder 2"/>
          <p:cNvSpPr>
            <a:spLocks noGrp="1"/>
          </p:cNvSpPr>
          <p:nvPr>
            <p:ph idx="1"/>
          </p:nvPr>
        </p:nvSpPr>
        <p:spPr>
          <a:xfrm>
            <a:off x="838200" y="1825624"/>
            <a:ext cx="10515600" cy="2862489"/>
          </a:xfrm>
        </p:spPr>
        <p:txBody>
          <a:bodyPr/>
          <a:lstStyle/>
          <a:p>
            <a:r>
              <a:rPr lang="en-US" dirty="0"/>
              <a:t>Because they are so important, R includes functions to easily work with coefficients and residuals</a:t>
            </a:r>
          </a:p>
          <a:p>
            <a:pPr lvl="1"/>
            <a:r>
              <a:rPr lang="en-US" dirty="0" err="1"/>
              <a:t>coef</a:t>
            </a:r>
            <a:r>
              <a:rPr lang="en-US" dirty="0"/>
              <a:t>() / coefficients() gets you the coefficients</a:t>
            </a:r>
          </a:p>
          <a:p>
            <a:pPr lvl="1"/>
            <a:r>
              <a:rPr lang="en-US" dirty="0" err="1"/>
              <a:t>resid</a:t>
            </a:r>
            <a:r>
              <a:rPr lang="en-US" dirty="0"/>
              <a:t>() / residuals() gets you the residuals</a:t>
            </a:r>
          </a:p>
          <a:p>
            <a:endParaRPr lang="en-US" dirty="0"/>
          </a:p>
        </p:txBody>
      </p:sp>
      <p:pic>
        <p:nvPicPr>
          <p:cNvPr id="5" name="Picture 4">
            <a:extLst>
              <a:ext uri="{FF2B5EF4-FFF2-40B4-BE49-F238E27FC236}">
                <a16:creationId xmlns:a16="http://schemas.microsoft.com/office/drawing/2014/main" id="{7F5CB27B-4279-41A5-9A10-4DFED6412B92}"/>
              </a:ext>
            </a:extLst>
          </p:cNvPr>
          <p:cNvPicPr>
            <a:picLocks noChangeAspect="1"/>
          </p:cNvPicPr>
          <p:nvPr/>
        </p:nvPicPr>
        <p:blipFill rotWithShape="1">
          <a:blip r:embed="rId2">
            <a:extLst>
              <a:ext uri="{28A0092B-C50C-407E-A947-70E740481C1C}">
                <a14:useLocalDpi xmlns:a14="http://schemas.microsoft.com/office/drawing/2010/main" val="0"/>
              </a:ext>
            </a:extLst>
          </a:blip>
          <a:srcRect t="67808"/>
          <a:stretch/>
        </p:blipFill>
        <p:spPr>
          <a:xfrm>
            <a:off x="438861" y="4049484"/>
            <a:ext cx="11314277" cy="914399"/>
          </a:xfrm>
          <a:prstGeom prst="rect">
            <a:avLst/>
          </a:prstGeom>
        </p:spPr>
      </p:pic>
      <p:pic>
        <p:nvPicPr>
          <p:cNvPr id="6" name="Picture 5">
            <a:extLst>
              <a:ext uri="{FF2B5EF4-FFF2-40B4-BE49-F238E27FC236}">
                <a16:creationId xmlns:a16="http://schemas.microsoft.com/office/drawing/2014/main" id="{68F97E8E-E02A-431E-B13F-276C8B48B939}"/>
              </a:ext>
            </a:extLst>
          </p:cNvPr>
          <p:cNvPicPr>
            <a:picLocks noChangeAspect="1"/>
          </p:cNvPicPr>
          <p:nvPr/>
        </p:nvPicPr>
        <p:blipFill rotWithShape="1">
          <a:blip r:embed="rId3">
            <a:extLst>
              <a:ext uri="{28A0092B-C50C-407E-A947-70E740481C1C}">
                <a14:useLocalDpi xmlns:a14="http://schemas.microsoft.com/office/drawing/2010/main" val="0"/>
              </a:ext>
            </a:extLst>
          </a:blip>
          <a:srcRect t="18392" b="50574"/>
          <a:stretch/>
        </p:blipFill>
        <p:spPr>
          <a:xfrm>
            <a:off x="438861" y="5194999"/>
            <a:ext cx="11213917" cy="1567540"/>
          </a:xfrm>
          <a:prstGeom prst="rect">
            <a:avLst/>
          </a:prstGeom>
        </p:spPr>
      </p:pic>
    </p:spTree>
    <p:extLst>
      <p:ext uri="{BB962C8B-B14F-4D97-AF65-F5344CB8AC3E}">
        <p14:creationId xmlns:p14="http://schemas.microsoft.com/office/powerpoint/2010/main" val="1010808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 tip: </a:t>
            </a:r>
            <a:r>
              <a:rPr lang="en-US" dirty="0" err="1"/>
              <a:t>model.matrix</a:t>
            </a:r>
            <a:r>
              <a:rPr lang="en-US" dirty="0"/>
              <a:t>()</a:t>
            </a:r>
          </a:p>
        </p:txBody>
      </p:sp>
      <p:sp>
        <p:nvSpPr>
          <p:cNvPr id="3" name="Content Placeholder 2"/>
          <p:cNvSpPr>
            <a:spLocks noGrp="1"/>
          </p:cNvSpPr>
          <p:nvPr>
            <p:ph idx="1"/>
          </p:nvPr>
        </p:nvSpPr>
        <p:spPr/>
        <p:txBody>
          <a:bodyPr/>
          <a:lstStyle/>
          <a:p>
            <a:r>
              <a:rPr lang="en-US" dirty="0"/>
              <a:t>You can see the incidence matrix R made for your data using </a:t>
            </a:r>
            <a:r>
              <a:rPr lang="en-US" dirty="0" err="1"/>
              <a:t>model.matrix</a:t>
            </a:r>
            <a:r>
              <a:rPr lang="en-US" dirty="0"/>
              <a:t>()</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2007" y="2888737"/>
            <a:ext cx="6438621" cy="3755035"/>
          </a:xfrm>
          <a:prstGeom prst="rect">
            <a:avLst/>
          </a:prstGeom>
        </p:spPr>
      </p:pic>
    </p:spTree>
    <p:extLst>
      <p:ext uri="{BB962C8B-B14F-4D97-AF65-F5344CB8AC3E}">
        <p14:creationId xmlns:p14="http://schemas.microsoft.com/office/powerpoint/2010/main" val="3364948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 tip: </a:t>
            </a:r>
            <a:r>
              <a:rPr lang="en-US" dirty="0" err="1"/>
              <a:t>model.matrix</a:t>
            </a:r>
            <a:r>
              <a:rPr lang="en-US" dirty="0"/>
              <a:t>()</a:t>
            </a:r>
          </a:p>
        </p:txBody>
      </p:sp>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t="-1" b="18844"/>
          <a:stretch/>
        </p:blipFill>
        <p:spPr>
          <a:xfrm>
            <a:off x="204267" y="1495365"/>
            <a:ext cx="11783466" cy="5471492"/>
          </a:xfrm>
          <a:prstGeom prst="rect">
            <a:avLst/>
          </a:prstGeom>
        </p:spPr>
      </p:pic>
      <p:sp>
        <p:nvSpPr>
          <p:cNvPr id="7" name="TextBox 6"/>
          <p:cNvSpPr txBox="1"/>
          <p:nvPr/>
        </p:nvSpPr>
        <p:spPr>
          <a:xfrm>
            <a:off x="3817257" y="5286803"/>
            <a:ext cx="4005942" cy="1384995"/>
          </a:xfrm>
          <a:prstGeom prst="rect">
            <a:avLst/>
          </a:prstGeom>
          <a:noFill/>
        </p:spPr>
        <p:txBody>
          <a:bodyPr wrap="square" rtlCol="0">
            <a:spAutoFit/>
          </a:bodyPr>
          <a:lstStyle/>
          <a:p>
            <a:r>
              <a:rPr lang="en-US" sz="2800" b="1" dirty="0">
                <a:solidFill>
                  <a:schemeClr val="accent4">
                    <a:lumMod val="75000"/>
                  </a:schemeClr>
                </a:solidFill>
              </a:rPr>
              <a:t>Don’t worry about this stuff; outside the scope of this class</a:t>
            </a:r>
          </a:p>
        </p:txBody>
      </p:sp>
      <p:cxnSp>
        <p:nvCxnSpPr>
          <p:cNvPr id="9" name="Straight Arrow Connector 8"/>
          <p:cNvCxnSpPr/>
          <p:nvPr/>
        </p:nvCxnSpPr>
        <p:spPr>
          <a:xfrm flipH="1">
            <a:off x="3091543" y="5457371"/>
            <a:ext cx="725714" cy="0"/>
          </a:xfrm>
          <a:prstGeom prst="straightConnector1">
            <a:avLst/>
          </a:prstGeom>
          <a:ln w="76200">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7995023" y="5717691"/>
            <a:ext cx="3372009" cy="954107"/>
          </a:xfrm>
          <a:prstGeom prst="rect">
            <a:avLst/>
          </a:prstGeom>
          <a:noFill/>
        </p:spPr>
        <p:txBody>
          <a:bodyPr wrap="square" rtlCol="0">
            <a:spAutoFit/>
          </a:bodyPr>
          <a:lstStyle/>
          <a:p>
            <a:r>
              <a:rPr lang="en-US" sz="2800" b="1" dirty="0">
                <a:solidFill>
                  <a:schemeClr val="accent5">
                    <a:lumMod val="75000"/>
                  </a:schemeClr>
                </a:solidFill>
              </a:rPr>
              <a:t>Incidence matrix of factor levels</a:t>
            </a:r>
          </a:p>
        </p:txBody>
      </p:sp>
      <p:sp>
        <p:nvSpPr>
          <p:cNvPr id="11" name="Left Brace 10"/>
          <p:cNvSpPr/>
          <p:nvPr/>
        </p:nvSpPr>
        <p:spPr>
          <a:xfrm rot="16200000">
            <a:off x="6589485" y="214816"/>
            <a:ext cx="696686" cy="9956798"/>
          </a:xfrm>
          <a:prstGeom prst="leftBrace">
            <a:avLst>
              <a:gd name="adj1" fmla="val 8333"/>
              <a:gd name="adj2" fmla="val 65598"/>
            </a:avLst>
          </a:prstGeom>
          <a:ln w="762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862763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P spid="1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8C03C-1676-420B-8DB9-885CF5C00C3E}"/>
              </a:ext>
            </a:extLst>
          </p:cNvPr>
          <p:cNvSpPr>
            <a:spLocks noGrp="1"/>
          </p:cNvSpPr>
          <p:nvPr>
            <p:ph type="title"/>
          </p:nvPr>
        </p:nvSpPr>
        <p:spPr/>
        <p:txBody>
          <a:bodyPr/>
          <a:lstStyle/>
          <a:p>
            <a:r>
              <a:rPr lang="en-US" dirty="0"/>
              <a:t>Questions on utility functions?</a:t>
            </a:r>
          </a:p>
        </p:txBody>
      </p:sp>
      <p:sp>
        <p:nvSpPr>
          <p:cNvPr id="3" name="Content Placeholder 2">
            <a:extLst>
              <a:ext uri="{FF2B5EF4-FFF2-40B4-BE49-F238E27FC236}">
                <a16:creationId xmlns:a16="http://schemas.microsoft.com/office/drawing/2014/main" id="{450A4795-5063-458A-A496-17A3E4603C44}"/>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488252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31377" y="1273127"/>
            <a:ext cx="7560623" cy="5500649"/>
          </a:xfrm>
          <a:prstGeom prst="rect">
            <a:avLst/>
          </a:prstGeom>
        </p:spPr>
      </p:pic>
      <p:sp>
        <p:nvSpPr>
          <p:cNvPr id="2" name="Title 1"/>
          <p:cNvSpPr>
            <a:spLocks noGrp="1"/>
          </p:cNvSpPr>
          <p:nvPr>
            <p:ph type="title"/>
          </p:nvPr>
        </p:nvSpPr>
        <p:spPr/>
        <p:txBody>
          <a:bodyPr/>
          <a:lstStyle/>
          <a:p>
            <a:r>
              <a:rPr lang="en-US" dirty="0"/>
              <a:t>Limits of linear regression</a:t>
            </a:r>
          </a:p>
        </p:txBody>
      </p:sp>
      <p:sp>
        <p:nvSpPr>
          <p:cNvPr id="3" name="Content Placeholder 2"/>
          <p:cNvSpPr>
            <a:spLocks noGrp="1"/>
          </p:cNvSpPr>
          <p:nvPr>
            <p:ph idx="1"/>
          </p:nvPr>
        </p:nvSpPr>
        <p:spPr>
          <a:xfrm>
            <a:off x="838200" y="1825624"/>
            <a:ext cx="3926305" cy="5032375"/>
          </a:xfrm>
        </p:spPr>
        <p:txBody>
          <a:bodyPr/>
          <a:lstStyle/>
          <a:p>
            <a:r>
              <a:rPr lang="en-US" dirty="0"/>
              <a:t>Linear regression is powerful but not perfect</a:t>
            </a:r>
          </a:p>
          <a:p>
            <a:r>
              <a:rPr lang="en-US" dirty="0"/>
              <a:t>These four datasets all have the same regression line</a:t>
            </a:r>
          </a:p>
          <a:p>
            <a:pPr lvl="1"/>
            <a:r>
              <a:rPr lang="en-US" dirty="0"/>
              <a:t>Also mean, variance, &amp; correlation</a:t>
            </a:r>
          </a:p>
          <a:p>
            <a:pPr lvl="1"/>
            <a:r>
              <a:rPr lang="en-US" u="sng" dirty="0"/>
              <a:t>Always</a:t>
            </a:r>
            <a:r>
              <a:rPr lang="en-US" dirty="0"/>
              <a:t> look at your data</a:t>
            </a:r>
          </a:p>
        </p:txBody>
      </p:sp>
      <p:sp>
        <p:nvSpPr>
          <p:cNvPr id="5" name="TextBox 4"/>
          <p:cNvSpPr txBox="1"/>
          <p:nvPr/>
        </p:nvSpPr>
        <p:spPr>
          <a:xfrm>
            <a:off x="7652085" y="6550223"/>
            <a:ext cx="4630883" cy="307777"/>
          </a:xfrm>
          <a:prstGeom prst="rect">
            <a:avLst/>
          </a:prstGeom>
          <a:noFill/>
        </p:spPr>
        <p:txBody>
          <a:bodyPr wrap="none" rtlCol="0">
            <a:spAutoFit/>
          </a:bodyPr>
          <a:lstStyle/>
          <a:p>
            <a:r>
              <a:rPr lang="en-US" sz="1400" i="1" dirty="0"/>
              <a:t>Wikimedia (Shultz), based on </a:t>
            </a:r>
            <a:r>
              <a:rPr lang="en-US" sz="1400" i="1" dirty="0" err="1"/>
              <a:t>Anscombe</a:t>
            </a:r>
            <a:r>
              <a:rPr lang="en-US" sz="1400" i="1" dirty="0"/>
              <a:t> 1973, </a:t>
            </a:r>
            <a:r>
              <a:rPr lang="en-US" sz="1400" dirty="0"/>
              <a:t>Am Stat</a:t>
            </a:r>
            <a:r>
              <a:rPr lang="en-US" sz="1400" i="1" dirty="0"/>
              <a:t> </a:t>
            </a:r>
            <a:r>
              <a:rPr lang="en-US" sz="1400" b="1" i="1" dirty="0"/>
              <a:t>27</a:t>
            </a:r>
            <a:r>
              <a:rPr lang="en-US" sz="1400" i="1" dirty="0"/>
              <a:t>:17</a:t>
            </a:r>
          </a:p>
        </p:txBody>
      </p:sp>
    </p:spTree>
    <p:extLst>
      <p:ext uri="{BB962C8B-B14F-4D97-AF65-F5344CB8AC3E}">
        <p14:creationId xmlns:p14="http://schemas.microsoft.com/office/powerpoint/2010/main" val="2456583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Assumptions of linear regression</a:t>
            </a:r>
          </a:p>
        </p:txBody>
      </p:sp>
      <p:sp>
        <p:nvSpPr>
          <p:cNvPr id="3" name="Content Placeholder 2"/>
          <p:cNvSpPr>
            <a:spLocks noGrp="1"/>
          </p:cNvSpPr>
          <p:nvPr>
            <p:ph idx="1"/>
          </p:nvPr>
        </p:nvSpPr>
        <p:spPr/>
        <p:txBody>
          <a:bodyPr/>
          <a:lstStyle/>
          <a:p>
            <a:r>
              <a:rPr lang="en-US" dirty="0"/>
              <a:t>Linear regression has similar assumptions to ANOVA</a:t>
            </a:r>
          </a:p>
          <a:p>
            <a:pPr lvl="1"/>
            <a:r>
              <a:rPr lang="en-US" dirty="0"/>
              <a:t>Linear relationship between dependent and independent variables</a:t>
            </a:r>
          </a:p>
          <a:p>
            <a:pPr lvl="1"/>
            <a:r>
              <a:rPr lang="en-US" dirty="0"/>
              <a:t>No </a:t>
            </a:r>
            <a:r>
              <a:rPr lang="en-US" dirty="0" err="1"/>
              <a:t>multicollinearity</a:t>
            </a:r>
            <a:endParaRPr lang="en-US" dirty="0"/>
          </a:p>
          <a:p>
            <a:pPr lvl="1"/>
            <a:r>
              <a:rPr lang="en-US" dirty="0"/>
              <a:t>Residuals are normally distributed</a:t>
            </a:r>
          </a:p>
          <a:p>
            <a:pPr lvl="1"/>
            <a:r>
              <a:rPr lang="en-US" dirty="0"/>
              <a:t>Residuals are uncorrelated</a:t>
            </a:r>
          </a:p>
          <a:p>
            <a:pPr lvl="1"/>
            <a:r>
              <a:rPr lang="en-US" dirty="0"/>
              <a:t>Homoscedasticity</a:t>
            </a:r>
          </a:p>
          <a:p>
            <a:pPr lvl="1"/>
            <a:endParaRPr lang="en-US" dirty="0"/>
          </a:p>
        </p:txBody>
      </p:sp>
      <p:sp>
        <p:nvSpPr>
          <p:cNvPr id="4" name="TextBox 3">
            <a:extLst>
              <a:ext uri="{FF2B5EF4-FFF2-40B4-BE49-F238E27FC236}">
                <a16:creationId xmlns:a16="http://schemas.microsoft.com/office/drawing/2014/main" id="{3A102638-5AEB-49A8-B4D1-E884C071FC0D}"/>
              </a:ext>
            </a:extLst>
          </p:cNvPr>
          <p:cNvSpPr txBox="1"/>
          <p:nvPr/>
        </p:nvSpPr>
        <p:spPr>
          <a:xfrm>
            <a:off x="7480300" y="4002157"/>
            <a:ext cx="4432432" cy="707886"/>
          </a:xfrm>
          <a:prstGeom prst="rect">
            <a:avLst/>
          </a:prstGeom>
          <a:noFill/>
        </p:spPr>
        <p:txBody>
          <a:bodyPr wrap="none" rtlCol="0">
            <a:spAutoFit/>
          </a:bodyPr>
          <a:lstStyle/>
          <a:p>
            <a:r>
              <a:rPr lang="en-US" sz="4000" b="1" dirty="0">
                <a:solidFill>
                  <a:schemeClr val="accent1">
                    <a:lumMod val="75000"/>
                  </a:schemeClr>
                </a:solidFill>
              </a:rPr>
              <a:t>Shared with ANOVA</a:t>
            </a:r>
          </a:p>
        </p:txBody>
      </p:sp>
      <p:sp>
        <p:nvSpPr>
          <p:cNvPr id="5" name="Right Brace 4">
            <a:extLst>
              <a:ext uri="{FF2B5EF4-FFF2-40B4-BE49-F238E27FC236}">
                <a16:creationId xmlns:a16="http://schemas.microsoft.com/office/drawing/2014/main" id="{7FD54D65-432B-4E86-9F28-DFAC42EBFE86}"/>
              </a:ext>
            </a:extLst>
          </p:cNvPr>
          <p:cNvSpPr/>
          <p:nvPr/>
        </p:nvSpPr>
        <p:spPr>
          <a:xfrm>
            <a:off x="6794500" y="3632200"/>
            <a:ext cx="406400" cy="1447800"/>
          </a:xfrm>
          <a:prstGeom prst="rightBrace">
            <a:avLst/>
          </a:prstGeom>
          <a:ln w="571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768797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fade">
                                      <p:cBhvr>
                                        <p:cTn id="19" dur="500"/>
                                        <p:tgtEl>
                                          <p:spTgt spid="3">
                                            <p:txEl>
                                              <p:pRg st="5" end="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l="49767" b="51224"/>
          <a:stretch/>
        </p:blipFill>
        <p:spPr>
          <a:xfrm>
            <a:off x="7639291" y="3840718"/>
            <a:ext cx="4271058" cy="3017282"/>
          </a:xfrm>
          <a:prstGeom prst="rect">
            <a:avLst/>
          </a:prstGeom>
        </p:spPr>
      </p:pic>
      <p:sp>
        <p:nvSpPr>
          <p:cNvPr id="2" name="Title 1"/>
          <p:cNvSpPr>
            <a:spLocks noGrp="1"/>
          </p:cNvSpPr>
          <p:nvPr>
            <p:ph type="title"/>
          </p:nvPr>
        </p:nvSpPr>
        <p:spPr/>
        <p:txBody>
          <a:bodyPr/>
          <a:lstStyle/>
          <a:p>
            <a:r>
              <a:rPr lang="en-US" dirty="0"/>
              <a:t>Linear regression assumption # 1</a:t>
            </a:r>
            <a:br>
              <a:rPr lang="en-US" dirty="0"/>
            </a:br>
            <a:r>
              <a:rPr lang="en-US" sz="2800" dirty="0"/>
              <a:t>Linearity of the relationship</a:t>
            </a:r>
            <a:endParaRPr lang="en-US" dirty="0"/>
          </a:p>
        </p:txBody>
      </p:sp>
      <p:sp>
        <p:nvSpPr>
          <p:cNvPr id="3" name="Content Placeholder 2"/>
          <p:cNvSpPr>
            <a:spLocks noGrp="1"/>
          </p:cNvSpPr>
          <p:nvPr>
            <p:ph idx="1"/>
          </p:nvPr>
        </p:nvSpPr>
        <p:spPr>
          <a:xfrm>
            <a:off x="838200" y="1825625"/>
            <a:ext cx="7021010" cy="4110718"/>
          </a:xfrm>
        </p:spPr>
        <p:txBody>
          <a:bodyPr/>
          <a:lstStyle/>
          <a:p>
            <a:r>
              <a:rPr lang="en-US" dirty="0"/>
              <a:t>Linear regression assumes all independent variables have a linear relationship with the dependent variable.</a:t>
            </a:r>
          </a:p>
          <a:p>
            <a:r>
              <a:rPr lang="en-US" dirty="0"/>
              <a:t>If this is not true, you will get an incorrect answer</a:t>
            </a:r>
          </a:p>
          <a:p>
            <a:pPr lvl="1"/>
            <a:r>
              <a:rPr lang="en-US" dirty="0"/>
              <a:t>Sometimes even a highly significant one</a:t>
            </a:r>
          </a:p>
          <a:p>
            <a:endParaRPr lang="en-US" dirty="0"/>
          </a:p>
        </p:txBody>
      </p:sp>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l="-330" t="1871" r="50097" b="49353"/>
          <a:stretch/>
        </p:blipFill>
        <p:spPr>
          <a:xfrm>
            <a:off x="7639291" y="1192047"/>
            <a:ext cx="4271058" cy="3017282"/>
          </a:xfrm>
          <a:prstGeom prst="rect">
            <a:avLst/>
          </a:prstGeom>
        </p:spPr>
      </p:pic>
    </p:spTree>
    <p:extLst>
      <p:ext uri="{BB962C8B-B14F-4D97-AF65-F5344CB8AC3E}">
        <p14:creationId xmlns:p14="http://schemas.microsoft.com/office/powerpoint/2010/main" val="14304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regression assumption # 2</a:t>
            </a:r>
            <a:br>
              <a:rPr lang="en-US" dirty="0"/>
            </a:br>
            <a:r>
              <a:rPr lang="en-US" sz="2800" dirty="0"/>
              <a:t>No </a:t>
            </a:r>
            <a:r>
              <a:rPr lang="en-US" sz="2800" dirty="0" err="1"/>
              <a:t>multicollinearity</a:t>
            </a:r>
            <a:r>
              <a:rPr lang="en-US" sz="2800" dirty="0"/>
              <a:t> (= independence)</a:t>
            </a:r>
            <a:endParaRPr lang="en-US" dirty="0"/>
          </a:p>
        </p:txBody>
      </p:sp>
      <p:sp>
        <p:nvSpPr>
          <p:cNvPr id="3" name="Content Placeholder 2"/>
          <p:cNvSpPr>
            <a:spLocks noGrp="1"/>
          </p:cNvSpPr>
          <p:nvPr>
            <p:ph idx="1"/>
          </p:nvPr>
        </p:nvSpPr>
        <p:spPr>
          <a:xfrm>
            <a:off x="838200" y="1825625"/>
            <a:ext cx="5632048" cy="4598324"/>
          </a:xfrm>
        </p:spPr>
        <p:txBody>
          <a:bodyPr/>
          <a:lstStyle/>
          <a:p>
            <a:r>
              <a:rPr lang="en-US" dirty="0"/>
              <a:t>Linear regression assumes the independent variables are uncorrelated with each other</a:t>
            </a:r>
          </a:p>
          <a:p>
            <a:r>
              <a:rPr lang="en-US" dirty="0"/>
              <a:t>If correlation among them exists (“multicollinearity”), it can throw off the trustworthiness of results</a:t>
            </a:r>
          </a:p>
          <a:p>
            <a:pPr lvl="1"/>
            <a:r>
              <a:rPr lang="en-US" dirty="0"/>
              <a:t>Worst case is perfect correlation, which causes singularities</a:t>
            </a:r>
          </a:p>
          <a:p>
            <a:endParaRPr lang="en-US" dirty="0"/>
          </a:p>
        </p:txBody>
      </p:sp>
      <p:pic>
        <p:nvPicPr>
          <p:cNvPr id="4" name="Picture 3"/>
          <p:cNvPicPr>
            <a:picLocks noChangeAspect="1"/>
          </p:cNvPicPr>
          <p:nvPr/>
        </p:nvPicPr>
        <p:blipFill rotWithShape="1">
          <a:blip r:embed="rId3" cstate="print">
            <a:extLst>
              <a:ext uri="{28A0092B-C50C-407E-A947-70E740481C1C}">
                <a14:useLocalDpi xmlns:a14="http://schemas.microsoft.com/office/drawing/2010/main" val="0"/>
              </a:ext>
            </a:extLst>
          </a:blip>
          <a:srcRect l="13381" t="12756" r="6699" b="14917"/>
          <a:stretch/>
        </p:blipFill>
        <p:spPr>
          <a:xfrm>
            <a:off x="7817701" y="1581842"/>
            <a:ext cx="2344872" cy="2122057"/>
          </a:xfrm>
          <a:prstGeom prst="rect">
            <a:avLst/>
          </a:prstGeom>
          <a:ln w="57150">
            <a:solidFill>
              <a:schemeClr val="tx1"/>
            </a:solidFill>
          </a:ln>
        </p:spPr>
      </p:pic>
      <p:pic>
        <p:nvPicPr>
          <p:cNvPr id="6" name="Picture 5"/>
          <p:cNvPicPr>
            <a:picLocks noChangeAspect="1"/>
          </p:cNvPicPr>
          <p:nvPr/>
        </p:nvPicPr>
        <p:blipFill rotWithShape="1">
          <a:blip r:embed="rId4" cstate="print">
            <a:extLst>
              <a:ext uri="{28A0092B-C50C-407E-A947-70E740481C1C}">
                <a14:useLocalDpi xmlns:a14="http://schemas.microsoft.com/office/drawing/2010/main" val="0"/>
              </a:ext>
            </a:extLst>
          </a:blip>
          <a:srcRect l="12095" t="11990" r="6356" b="14779"/>
          <a:stretch/>
        </p:blipFill>
        <p:spPr>
          <a:xfrm>
            <a:off x="7824235" y="4283313"/>
            <a:ext cx="2392618" cy="2148582"/>
          </a:xfrm>
          <a:prstGeom prst="rect">
            <a:avLst/>
          </a:prstGeom>
          <a:ln w="57150">
            <a:solidFill>
              <a:schemeClr val="tx1"/>
            </a:solidFill>
          </a:ln>
        </p:spPr>
      </p:pic>
      <p:sp>
        <p:nvSpPr>
          <p:cNvPr id="12" name="TextBox 11"/>
          <p:cNvSpPr txBox="1"/>
          <p:nvPr/>
        </p:nvSpPr>
        <p:spPr>
          <a:xfrm>
            <a:off x="10216853" y="2165816"/>
            <a:ext cx="2502775" cy="954107"/>
          </a:xfrm>
          <a:prstGeom prst="rect">
            <a:avLst/>
          </a:prstGeom>
          <a:noFill/>
        </p:spPr>
        <p:txBody>
          <a:bodyPr wrap="square" rtlCol="0">
            <a:spAutoFit/>
          </a:bodyPr>
          <a:lstStyle/>
          <a:p>
            <a:r>
              <a:rPr lang="en-US" sz="2800" b="1" dirty="0">
                <a:solidFill>
                  <a:schemeClr val="accent5"/>
                </a:solidFill>
              </a:rPr>
              <a:t>Little/no collinearity</a:t>
            </a:r>
          </a:p>
        </p:txBody>
      </p:sp>
      <p:sp>
        <p:nvSpPr>
          <p:cNvPr id="13" name="TextBox 12"/>
          <p:cNvSpPr txBox="1"/>
          <p:nvPr/>
        </p:nvSpPr>
        <p:spPr>
          <a:xfrm>
            <a:off x="10216853" y="4880550"/>
            <a:ext cx="2502775" cy="954107"/>
          </a:xfrm>
          <a:prstGeom prst="rect">
            <a:avLst/>
          </a:prstGeom>
          <a:noFill/>
        </p:spPr>
        <p:txBody>
          <a:bodyPr wrap="square" rtlCol="0">
            <a:spAutoFit/>
          </a:bodyPr>
          <a:lstStyle/>
          <a:p>
            <a:r>
              <a:rPr lang="en-US" sz="2800" b="1" dirty="0">
                <a:solidFill>
                  <a:srgbClr val="C00000"/>
                </a:solidFill>
              </a:rPr>
              <a:t>Strong collinearity</a:t>
            </a:r>
          </a:p>
        </p:txBody>
      </p:sp>
      <p:sp>
        <p:nvSpPr>
          <p:cNvPr id="14" name="TextBox 13"/>
          <p:cNvSpPr txBox="1"/>
          <p:nvPr/>
        </p:nvSpPr>
        <p:spPr>
          <a:xfrm>
            <a:off x="8835468" y="3703899"/>
            <a:ext cx="540026" cy="461665"/>
          </a:xfrm>
          <a:prstGeom prst="rect">
            <a:avLst/>
          </a:prstGeom>
          <a:noFill/>
        </p:spPr>
        <p:txBody>
          <a:bodyPr wrap="square" rtlCol="0">
            <a:spAutoFit/>
          </a:bodyPr>
          <a:lstStyle/>
          <a:p>
            <a:r>
              <a:rPr lang="en-US" sz="2400" b="1" dirty="0"/>
              <a:t>X</a:t>
            </a:r>
            <a:r>
              <a:rPr lang="en-US" sz="2400" b="1" baseline="-25000" dirty="0"/>
              <a:t>1</a:t>
            </a:r>
          </a:p>
        </p:txBody>
      </p:sp>
      <p:sp>
        <p:nvSpPr>
          <p:cNvPr id="15" name="TextBox 14"/>
          <p:cNvSpPr txBox="1"/>
          <p:nvPr/>
        </p:nvSpPr>
        <p:spPr>
          <a:xfrm>
            <a:off x="7371271" y="2358369"/>
            <a:ext cx="540026" cy="461665"/>
          </a:xfrm>
          <a:prstGeom prst="rect">
            <a:avLst/>
          </a:prstGeom>
          <a:noFill/>
        </p:spPr>
        <p:txBody>
          <a:bodyPr wrap="square" rtlCol="0">
            <a:spAutoFit/>
          </a:bodyPr>
          <a:lstStyle/>
          <a:p>
            <a:r>
              <a:rPr lang="en-US" sz="2400" b="1" dirty="0"/>
              <a:t>X</a:t>
            </a:r>
            <a:r>
              <a:rPr lang="en-US" sz="2400" b="1" baseline="-25000" dirty="0"/>
              <a:t>2</a:t>
            </a:r>
          </a:p>
        </p:txBody>
      </p:sp>
      <p:sp>
        <p:nvSpPr>
          <p:cNvPr id="16" name="TextBox 15"/>
          <p:cNvSpPr txBox="1"/>
          <p:nvPr/>
        </p:nvSpPr>
        <p:spPr>
          <a:xfrm>
            <a:off x="8835468" y="6431895"/>
            <a:ext cx="540026" cy="461665"/>
          </a:xfrm>
          <a:prstGeom prst="rect">
            <a:avLst/>
          </a:prstGeom>
          <a:noFill/>
        </p:spPr>
        <p:txBody>
          <a:bodyPr wrap="square" rtlCol="0">
            <a:spAutoFit/>
          </a:bodyPr>
          <a:lstStyle/>
          <a:p>
            <a:r>
              <a:rPr lang="en-US" sz="2400" b="1" dirty="0"/>
              <a:t>X</a:t>
            </a:r>
            <a:r>
              <a:rPr lang="en-US" sz="2400" b="1" baseline="-25000" dirty="0"/>
              <a:t>1</a:t>
            </a:r>
          </a:p>
        </p:txBody>
      </p:sp>
      <p:sp>
        <p:nvSpPr>
          <p:cNvPr id="17" name="TextBox 16"/>
          <p:cNvSpPr txBox="1"/>
          <p:nvPr/>
        </p:nvSpPr>
        <p:spPr>
          <a:xfrm>
            <a:off x="7371271" y="5086365"/>
            <a:ext cx="540026" cy="461665"/>
          </a:xfrm>
          <a:prstGeom prst="rect">
            <a:avLst/>
          </a:prstGeom>
          <a:noFill/>
        </p:spPr>
        <p:txBody>
          <a:bodyPr wrap="square" rtlCol="0">
            <a:spAutoFit/>
          </a:bodyPr>
          <a:lstStyle/>
          <a:p>
            <a:r>
              <a:rPr lang="en-US" sz="2400" b="1" dirty="0"/>
              <a:t>X</a:t>
            </a:r>
            <a:r>
              <a:rPr lang="en-US" sz="2400" b="1" baseline="-25000" dirty="0"/>
              <a:t>2</a:t>
            </a:r>
          </a:p>
        </p:txBody>
      </p:sp>
    </p:spTree>
    <p:extLst>
      <p:ext uri="{BB962C8B-B14F-4D97-AF65-F5344CB8AC3E}">
        <p14:creationId xmlns:p14="http://schemas.microsoft.com/office/powerpoint/2010/main" val="2398127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500"/>
                                        <p:tgtEl>
                                          <p:spTgt spid="16"/>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0"/>
                                        <p:tgtEl>
                                          <p:spTgt spid="1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1" end="1"/>
                                            </p:txEl>
                                          </p:spTgt>
                                        </p:tgtEl>
                                        <p:attrNameLst>
                                          <p:attrName>style.visibility</p:attrName>
                                        </p:attrNameLst>
                                      </p:cBhvr>
                                      <p:to>
                                        <p:strVal val="visible"/>
                                      </p:to>
                                    </p:set>
                                    <p:animEffect transition="in" filter="fade">
                                      <p:cBhvr>
                                        <p:cTn id="35" dur="500"/>
                                        <p:tgtEl>
                                          <p:spTgt spid="3">
                                            <p:txEl>
                                              <p:pRg st="1" end="1"/>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3">
                                            <p:txEl>
                                              <p:pRg st="2" end="2"/>
                                            </p:txEl>
                                          </p:spTgt>
                                        </p:tgtEl>
                                        <p:attrNameLst>
                                          <p:attrName>style.visibility</p:attrName>
                                        </p:attrNameLst>
                                      </p:cBhvr>
                                      <p:to>
                                        <p:strVal val="visible"/>
                                      </p:to>
                                    </p:set>
                                    <p:animEffect transition="in" filter="fade">
                                      <p:cBhvr>
                                        <p:cTn id="38"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P spid="16" grpId="0"/>
      <p:bldP spid="1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regression assumption # 3</a:t>
            </a:r>
            <a:br>
              <a:rPr lang="en-US" dirty="0"/>
            </a:br>
            <a:r>
              <a:rPr lang="en-US" sz="2800" dirty="0"/>
              <a:t>Residuals are normally distributed</a:t>
            </a:r>
            <a:endParaRPr lang="en-US" dirty="0"/>
          </a:p>
        </p:txBody>
      </p:sp>
      <p:sp>
        <p:nvSpPr>
          <p:cNvPr id="3" name="Content Placeholder 2"/>
          <p:cNvSpPr>
            <a:spLocks noGrp="1"/>
          </p:cNvSpPr>
          <p:nvPr>
            <p:ph idx="1"/>
          </p:nvPr>
        </p:nvSpPr>
        <p:spPr>
          <a:xfrm>
            <a:off x="838200" y="1825625"/>
            <a:ext cx="7460848" cy="4110718"/>
          </a:xfrm>
        </p:spPr>
        <p:txBody>
          <a:bodyPr/>
          <a:lstStyle/>
          <a:p>
            <a:r>
              <a:rPr lang="en-US" dirty="0"/>
              <a:t>Linear regression assumes the residuals are (roughly) normally distributed</a:t>
            </a:r>
          </a:p>
          <a:p>
            <a:r>
              <a:rPr lang="en-US" dirty="0"/>
              <a:t>If they aren’t, you may need to apply a transformation (</a:t>
            </a:r>
            <a:r>
              <a:rPr lang="en-US" dirty="0" err="1"/>
              <a:t>eg</a:t>
            </a:r>
            <a:r>
              <a:rPr lang="en-US" dirty="0"/>
              <a:t>, log) or use a more advanced regression method</a:t>
            </a:r>
          </a:p>
          <a:p>
            <a:endParaRPr lang="en-US" dirty="0"/>
          </a:p>
        </p:txBody>
      </p:sp>
      <p:pic>
        <p:nvPicPr>
          <p:cNvPr id="7" name="Picture 6"/>
          <p:cNvPicPr>
            <a:picLocks noChangeAspect="1"/>
          </p:cNvPicPr>
          <p:nvPr/>
        </p:nvPicPr>
        <p:blipFill rotWithShape="1">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p:blipFill>
        <p:spPr>
          <a:xfrm>
            <a:off x="1129626" y="4653304"/>
            <a:ext cx="10284768" cy="2204696"/>
          </a:xfrm>
          <a:prstGeom prst="rect">
            <a:avLst/>
          </a:prstGeom>
        </p:spPr>
      </p:pic>
      <p:pic>
        <p:nvPicPr>
          <p:cNvPr id="8" name="Picture 7"/>
          <p:cNvPicPr>
            <a:picLocks noChangeAspect="1"/>
          </p:cNvPicPr>
          <p:nvPr/>
        </p:nvPicPr>
        <p:blipFill rotWithShape="1">
          <a:blip r:embed="rId4" cstate="print">
            <a:duotone>
              <a:schemeClr val="accent5">
                <a:shade val="45000"/>
                <a:satMod val="135000"/>
              </a:schemeClr>
              <a:prstClr val="white"/>
            </a:duotone>
            <a:extLst>
              <a:ext uri="{28A0092B-C50C-407E-A947-70E740481C1C}">
                <a14:useLocalDpi xmlns:a14="http://schemas.microsoft.com/office/drawing/2010/main" val="0"/>
              </a:ext>
            </a:extLst>
          </a:blip>
          <a:srcRect t="1" r="69395" b="-12006"/>
          <a:stretch/>
        </p:blipFill>
        <p:spPr>
          <a:xfrm>
            <a:off x="8763131" y="1825625"/>
            <a:ext cx="2999952" cy="2381417"/>
          </a:xfrm>
          <a:prstGeom prst="rect">
            <a:avLst/>
          </a:prstGeom>
        </p:spPr>
      </p:pic>
      <p:sp>
        <p:nvSpPr>
          <p:cNvPr id="5" name="TextBox 4"/>
          <p:cNvSpPr txBox="1"/>
          <p:nvPr/>
        </p:nvSpPr>
        <p:spPr>
          <a:xfrm>
            <a:off x="10538068" y="1944547"/>
            <a:ext cx="1225015" cy="646331"/>
          </a:xfrm>
          <a:prstGeom prst="rect">
            <a:avLst/>
          </a:prstGeom>
          <a:noFill/>
        </p:spPr>
        <p:txBody>
          <a:bodyPr wrap="none" rtlCol="0">
            <a:spAutoFit/>
          </a:bodyPr>
          <a:lstStyle/>
          <a:p>
            <a:r>
              <a:rPr lang="en-US" sz="3600" b="1" dirty="0">
                <a:solidFill>
                  <a:schemeClr val="accent5"/>
                </a:solidFill>
              </a:rPr>
              <a:t>Good</a:t>
            </a:r>
          </a:p>
        </p:txBody>
      </p:sp>
      <p:sp>
        <p:nvSpPr>
          <p:cNvPr id="9" name="TextBox 8"/>
          <p:cNvSpPr txBox="1"/>
          <p:nvPr/>
        </p:nvSpPr>
        <p:spPr>
          <a:xfrm>
            <a:off x="1129626" y="4644017"/>
            <a:ext cx="1082925" cy="646331"/>
          </a:xfrm>
          <a:prstGeom prst="rect">
            <a:avLst/>
          </a:prstGeom>
          <a:noFill/>
        </p:spPr>
        <p:txBody>
          <a:bodyPr wrap="none" rtlCol="0">
            <a:spAutoFit/>
          </a:bodyPr>
          <a:lstStyle/>
          <a:p>
            <a:r>
              <a:rPr lang="en-US" sz="3600" b="1" dirty="0">
                <a:solidFill>
                  <a:srgbClr val="C00000"/>
                </a:solidFill>
              </a:rPr>
              <a:t>Poor</a:t>
            </a:r>
          </a:p>
        </p:txBody>
      </p:sp>
      <p:sp>
        <p:nvSpPr>
          <p:cNvPr id="10" name="TextBox 9"/>
          <p:cNvSpPr txBox="1"/>
          <p:nvPr/>
        </p:nvSpPr>
        <p:spPr>
          <a:xfrm>
            <a:off x="5636579" y="4644018"/>
            <a:ext cx="918841" cy="646331"/>
          </a:xfrm>
          <a:prstGeom prst="rect">
            <a:avLst/>
          </a:prstGeom>
          <a:noFill/>
        </p:spPr>
        <p:txBody>
          <a:bodyPr wrap="none" rtlCol="0">
            <a:spAutoFit/>
          </a:bodyPr>
          <a:lstStyle/>
          <a:p>
            <a:r>
              <a:rPr lang="en-US" sz="3600" b="1" dirty="0">
                <a:solidFill>
                  <a:srgbClr val="C00000"/>
                </a:solidFill>
              </a:rPr>
              <a:t>Bad</a:t>
            </a:r>
          </a:p>
        </p:txBody>
      </p:sp>
      <p:sp>
        <p:nvSpPr>
          <p:cNvPr id="11" name="TextBox 10"/>
          <p:cNvSpPr txBox="1"/>
          <p:nvPr/>
        </p:nvSpPr>
        <p:spPr>
          <a:xfrm>
            <a:off x="9085292" y="4644019"/>
            <a:ext cx="1827103" cy="646331"/>
          </a:xfrm>
          <a:prstGeom prst="rect">
            <a:avLst/>
          </a:prstGeom>
          <a:noFill/>
        </p:spPr>
        <p:txBody>
          <a:bodyPr wrap="none" rtlCol="0">
            <a:spAutoFit/>
          </a:bodyPr>
          <a:lstStyle/>
          <a:p>
            <a:r>
              <a:rPr lang="en-US" sz="3600" b="1" dirty="0">
                <a:solidFill>
                  <a:srgbClr val="C00000"/>
                </a:solidFill>
              </a:rPr>
              <a:t>Abysmal</a:t>
            </a:r>
          </a:p>
        </p:txBody>
      </p:sp>
    </p:spTree>
    <p:extLst>
      <p:ext uri="{BB962C8B-B14F-4D97-AF65-F5344CB8AC3E}">
        <p14:creationId xmlns:p14="http://schemas.microsoft.com/office/powerpoint/2010/main" val="1506357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regression assumption # 4</a:t>
            </a:r>
            <a:br>
              <a:rPr lang="en-US" dirty="0"/>
            </a:br>
            <a:r>
              <a:rPr lang="en-US" sz="2800" dirty="0"/>
              <a:t>Residuals are uncorrelated</a:t>
            </a:r>
            <a:endParaRPr lang="en-US" dirty="0"/>
          </a:p>
        </p:txBody>
      </p:sp>
      <p:sp>
        <p:nvSpPr>
          <p:cNvPr id="3" name="Content Placeholder 2"/>
          <p:cNvSpPr>
            <a:spLocks noGrp="1"/>
          </p:cNvSpPr>
          <p:nvPr>
            <p:ph idx="1"/>
          </p:nvPr>
        </p:nvSpPr>
        <p:spPr>
          <a:xfrm>
            <a:off x="838200" y="1825625"/>
            <a:ext cx="10678610" cy="1994021"/>
          </a:xfrm>
        </p:spPr>
        <p:txBody>
          <a:bodyPr/>
          <a:lstStyle/>
          <a:p>
            <a:r>
              <a:rPr lang="en-US" dirty="0"/>
              <a:t>Linear regression assumes the residuals are uncorrelated with each other.</a:t>
            </a:r>
          </a:p>
          <a:p>
            <a:pPr lvl="1"/>
            <a:r>
              <a:rPr lang="en-US" dirty="0"/>
              <a:t>By implication, this also means the original data is uncorrelated, but this is harder to see because of the effect of your X variables</a:t>
            </a:r>
          </a:p>
          <a:p>
            <a:pPr marL="0" indent="0">
              <a:buNone/>
            </a:pPr>
            <a:endParaRPr lang="en-US" dirty="0"/>
          </a:p>
        </p:txBody>
      </p:sp>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l="13039" t="12626" r="6574" b="9076"/>
          <a:stretch/>
        </p:blipFill>
        <p:spPr>
          <a:xfrm>
            <a:off x="972275" y="3954583"/>
            <a:ext cx="2696901" cy="2626851"/>
          </a:xfrm>
          <a:prstGeom prst="rect">
            <a:avLst/>
          </a:prstGeom>
          <a:ln w="38100">
            <a:solidFill>
              <a:schemeClr val="tx1"/>
            </a:solidFill>
          </a:ln>
        </p:spPr>
      </p:pic>
      <p:pic>
        <p:nvPicPr>
          <p:cNvPr id="7" name="Picture 6"/>
          <p:cNvPicPr>
            <a:picLocks noChangeAspect="1"/>
          </p:cNvPicPr>
          <p:nvPr/>
        </p:nvPicPr>
        <p:blipFill rotWithShape="1">
          <a:blip r:embed="rId4" cstate="print">
            <a:extLst>
              <a:ext uri="{28A0092B-C50C-407E-A947-70E740481C1C}">
                <a14:useLocalDpi xmlns:a14="http://schemas.microsoft.com/office/drawing/2010/main" val="0"/>
              </a:ext>
            </a:extLst>
          </a:blip>
          <a:srcRect l="12267" t="12872" r="6303" b="8021"/>
          <a:stretch/>
        </p:blipFill>
        <p:spPr>
          <a:xfrm>
            <a:off x="4270759" y="3954583"/>
            <a:ext cx="2731925" cy="2654021"/>
          </a:xfrm>
          <a:prstGeom prst="rect">
            <a:avLst/>
          </a:prstGeom>
          <a:ln w="38100">
            <a:solidFill>
              <a:schemeClr val="tx1"/>
            </a:solidFill>
          </a:ln>
        </p:spPr>
      </p:pic>
      <p:sp>
        <p:nvSpPr>
          <p:cNvPr id="18" name="TextBox 17"/>
          <p:cNvSpPr txBox="1"/>
          <p:nvPr/>
        </p:nvSpPr>
        <p:spPr>
          <a:xfrm>
            <a:off x="1809914" y="5866741"/>
            <a:ext cx="1861022" cy="461665"/>
          </a:xfrm>
          <a:prstGeom prst="rect">
            <a:avLst/>
          </a:prstGeom>
          <a:solidFill>
            <a:srgbClr val="FFFFFF">
              <a:alpha val="69804"/>
            </a:srgbClr>
          </a:solidFill>
        </p:spPr>
        <p:txBody>
          <a:bodyPr wrap="none" rtlCol="0">
            <a:spAutoFit/>
          </a:bodyPr>
          <a:lstStyle/>
          <a:p>
            <a:r>
              <a:rPr lang="en-US" sz="2400" b="1" dirty="0">
                <a:solidFill>
                  <a:schemeClr val="accent5"/>
                </a:solidFill>
              </a:rPr>
              <a:t>Uncorrelated</a:t>
            </a:r>
          </a:p>
        </p:txBody>
      </p:sp>
      <p:sp>
        <p:nvSpPr>
          <p:cNvPr id="19" name="TextBox 18"/>
          <p:cNvSpPr txBox="1"/>
          <p:nvPr/>
        </p:nvSpPr>
        <p:spPr>
          <a:xfrm>
            <a:off x="5470405" y="5866741"/>
            <a:ext cx="1532279" cy="461665"/>
          </a:xfrm>
          <a:prstGeom prst="rect">
            <a:avLst/>
          </a:prstGeom>
          <a:solidFill>
            <a:srgbClr val="FFFFFF">
              <a:alpha val="69804"/>
            </a:srgbClr>
          </a:solidFill>
        </p:spPr>
        <p:txBody>
          <a:bodyPr wrap="none" rtlCol="0">
            <a:spAutoFit/>
          </a:bodyPr>
          <a:lstStyle/>
          <a:p>
            <a:r>
              <a:rPr lang="en-US" sz="2400" b="1" dirty="0">
                <a:solidFill>
                  <a:srgbClr val="C00000"/>
                </a:solidFill>
              </a:rPr>
              <a:t>Correlated</a:t>
            </a:r>
          </a:p>
        </p:txBody>
      </p:sp>
      <p:sp>
        <p:nvSpPr>
          <p:cNvPr id="8" name="Rounded Rectangle 7"/>
          <p:cNvSpPr/>
          <p:nvPr/>
        </p:nvSpPr>
        <p:spPr>
          <a:xfrm>
            <a:off x="7234177" y="4352081"/>
            <a:ext cx="4803494" cy="1696918"/>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200" b="1" dirty="0"/>
              <a:t>Note: This assumption is </a:t>
            </a:r>
            <a:r>
              <a:rPr lang="en-US" sz="3200" b="1" u="sng" dirty="0"/>
              <a:t>almost always</a:t>
            </a:r>
            <a:r>
              <a:rPr lang="en-US" sz="3200" b="1" dirty="0"/>
              <a:t> violated in agricultural experiments</a:t>
            </a:r>
          </a:p>
        </p:txBody>
      </p:sp>
    </p:spTree>
    <p:extLst>
      <p:ext uri="{BB962C8B-B14F-4D97-AF65-F5344CB8AC3E}">
        <p14:creationId xmlns:p14="http://schemas.microsoft.com/office/powerpoint/2010/main" val="1361651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500"/>
                                        <p:tgtEl>
                                          <p:spTgt spid="1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8"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regression assumption # 5</a:t>
            </a:r>
            <a:br>
              <a:rPr lang="en-US" dirty="0"/>
            </a:br>
            <a:r>
              <a:rPr lang="en-US" sz="2800" dirty="0"/>
              <a:t>Homoscedasticity</a:t>
            </a:r>
            <a:endParaRPr lang="en-US" dirty="0"/>
          </a:p>
        </p:txBody>
      </p:sp>
      <p:sp>
        <p:nvSpPr>
          <p:cNvPr id="3" name="Content Placeholder 2"/>
          <p:cNvSpPr>
            <a:spLocks noGrp="1"/>
          </p:cNvSpPr>
          <p:nvPr>
            <p:ph idx="1"/>
          </p:nvPr>
        </p:nvSpPr>
        <p:spPr>
          <a:xfrm>
            <a:off x="838200" y="1825625"/>
            <a:ext cx="10678610" cy="1994021"/>
          </a:xfrm>
        </p:spPr>
        <p:txBody>
          <a:bodyPr/>
          <a:lstStyle/>
          <a:p>
            <a:r>
              <a:rPr lang="en-US" dirty="0"/>
              <a:t>Finally, linear regression assumes that the errors are “homoscedastic”, meaning they all have the same variance</a:t>
            </a:r>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l="5714" t="9646" r="4160" b="62405"/>
          <a:stretch/>
        </p:blipFill>
        <p:spPr>
          <a:xfrm>
            <a:off x="4732704" y="4778589"/>
            <a:ext cx="6705344" cy="2079411"/>
          </a:xfrm>
          <a:prstGeom prst="rect">
            <a:avLst/>
          </a:prstGeom>
        </p:spPr>
      </p:pic>
      <p:pic>
        <p:nvPicPr>
          <p:cNvPr id="10" name="Picture 9"/>
          <p:cNvPicPr>
            <a:picLocks noChangeAspect="1"/>
          </p:cNvPicPr>
          <p:nvPr/>
        </p:nvPicPr>
        <p:blipFill rotWithShape="1">
          <a:blip r:embed="rId3">
            <a:extLst>
              <a:ext uri="{28A0092B-C50C-407E-A947-70E740481C1C}">
                <a14:useLocalDpi xmlns:a14="http://schemas.microsoft.com/office/drawing/2010/main" val="0"/>
              </a:ext>
            </a:extLst>
          </a:blip>
          <a:srcRect l="6138" t="59333" r="3737" b="12718"/>
          <a:stretch/>
        </p:blipFill>
        <p:spPr>
          <a:xfrm>
            <a:off x="4811466" y="2822635"/>
            <a:ext cx="6705344" cy="2079411"/>
          </a:xfrm>
          <a:prstGeom prst="rect">
            <a:avLst/>
          </a:prstGeom>
        </p:spPr>
      </p:pic>
      <p:sp>
        <p:nvSpPr>
          <p:cNvPr id="6" name="TextBox 5"/>
          <p:cNvSpPr txBox="1"/>
          <p:nvPr/>
        </p:nvSpPr>
        <p:spPr>
          <a:xfrm>
            <a:off x="1840374" y="3662195"/>
            <a:ext cx="2757678" cy="584775"/>
          </a:xfrm>
          <a:prstGeom prst="rect">
            <a:avLst/>
          </a:prstGeom>
          <a:noFill/>
        </p:spPr>
        <p:txBody>
          <a:bodyPr wrap="none" rtlCol="0">
            <a:spAutoFit/>
          </a:bodyPr>
          <a:lstStyle/>
          <a:p>
            <a:r>
              <a:rPr lang="en-US" sz="3200" b="1" dirty="0">
                <a:solidFill>
                  <a:schemeClr val="accent5"/>
                </a:solidFill>
              </a:rPr>
              <a:t>Homoscedastic</a:t>
            </a:r>
          </a:p>
        </p:txBody>
      </p:sp>
      <p:sp>
        <p:nvSpPr>
          <p:cNvPr id="12" name="TextBox 11"/>
          <p:cNvSpPr txBox="1"/>
          <p:nvPr/>
        </p:nvSpPr>
        <p:spPr>
          <a:xfrm>
            <a:off x="1840374" y="5498765"/>
            <a:ext cx="2892330" cy="584775"/>
          </a:xfrm>
          <a:prstGeom prst="rect">
            <a:avLst/>
          </a:prstGeom>
          <a:noFill/>
        </p:spPr>
        <p:txBody>
          <a:bodyPr wrap="none" rtlCol="0">
            <a:spAutoFit/>
          </a:bodyPr>
          <a:lstStyle/>
          <a:p>
            <a:r>
              <a:rPr lang="en-US" sz="3200" b="1" dirty="0">
                <a:solidFill>
                  <a:srgbClr val="C00000"/>
                </a:solidFill>
              </a:rPr>
              <a:t>Heteroscedastic</a:t>
            </a:r>
          </a:p>
        </p:txBody>
      </p:sp>
    </p:spTree>
    <p:extLst>
      <p:ext uri="{BB962C8B-B14F-4D97-AF65-F5344CB8AC3E}">
        <p14:creationId xmlns:p14="http://schemas.microsoft.com/office/powerpoint/2010/main" val="2852696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regression assumptions</a:t>
            </a:r>
          </a:p>
        </p:txBody>
      </p:sp>
      <p:sp>
        <p:nvSpPr>
          <p:cNvPr id="3" name="Content Placeholder 2"/>
          <p:cNvSpPr>
            <a:spLocks noGrp="1"/>
          </p:cNvSpPr>
          <p:nvPr>
            <p:ph idx="1"/>
          </p:nvPr>
        </p:nvSpPr>
        <p:spPr/>
        <p:txBody>
          <a:bodyPr/>
          <a:lstStyle/>
          <a:p>
            <a:r>
              <a:rPr lang="en-US" dirty="0"/>
              <a:t>No dataset perfectly fits every one of these assumptions</a:t>
            </a:r>
          </a:p>
          <a:p>
            <a:r>
              <a:rPr lang="en-US" dirty="0"/>
              <a:t>However, many times you can get “close enough” to get a reasonable analysis</a:t>
            </a:r>
          </a:p>
          <a:p>
            <a:r>
              <a:rPr lang="en-US" dirty="0"/>
              <a:t>Severe violations, however, can cause problems and must be guarded against</a:t>
            </a:r>
          </a:p>
        </p:txBody>
      </p:sp>
    </p:spTree>
    <p:extLst>
      <p:ext uri="{BB962C8B-B14F-4D97-AF65-F5344CB8AC3E}">
        <p14:creationId xmlns:p14="http://schemas.microsoft.com/office/powerpoint/2010/main" val="3033208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39B37-9C76-489A-8426-1ED03A69D693}"/>
              </a:ext>
            </a:extLst>
          </p:cNvPr>
          <p:cNvSpPr>
            <a:spLocks noGrp="1"/>
          </p:cNvSpPr>
          <p:nvPr>
            <p:ph type="title"/>
          </p:nvPr>
        </p:nvSpPr>
        <p:spPr/>
        <p:txBody>
          <a:bodyPr/>
          <a:lstStyle/>
          <a:p>
            <a:r>
              <a:rPr lang="en-US" dirty="0"/>
              <a:t>Questions on linear regression assumptions?</a:t>
            </a:r>
          </a:p>
        </p:txBody>
      </p:sp>
      <p:sp>
        <p:nvSpPr>
          <p:cNvPr id="3" name="Content Placeholder 2">
            <a:extLst>
              <a:ext uri="{FF2B5EF4-FFF2-40B4-BE49-F238E27FC236}">
                <a16:creationId xmlns:a16="http://schemas.microsoft.com/office/drawing/2014/main" id="{60988CF2-EC1A-4852-9EC8-A176E3DA8C0A}"/>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19997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value of residuals</a:t>
            </a:r>
          </a:p>
        </p:txBody>
      </p:sp>
      <p:sp>
        <p:nvSpPr>
          <p:cNvPr id="3" name="Content Placeholder 2"/>
          <p:cNvSpPr>
            <a:spLocks noGrp="1"/>
          </p:cNvSpPr>
          <p:nvPr>
            <p:ph idx="1"/>
          </p:nvPr>
        </p:nvSpPr>
        <p:spPr>
          <a:xfrm>
            <a:off x="838200" y="1825624"/>
            <a:ext cx="10515600" cy="4887691"/>
          </a:xfrm>
        </p:spPr>
        <p:txBody>
          <a:bodyPr/>
          <a:lstStyle/>
          <a:p>
            <a:r>
              <a:rPr lang="en-US" dirty="0"/>
              <a:t>Because your residuals are everything you </a:t>
            </a:r>
            <a:r>
              <a:rPr lang="en-US" u="sng" dirty="0"/>
              <a:t>can’t</a:t>
            </a:r>
            <a:r>
              <a:rPr lang="en-US" dirty="0"/>
              <a:t> explain, they are extremely useful for diagnosing problems with your model</a:t>
            </a:r>
          </a:p>
          <a:p>
            <a:pPr lvl="1"/>
            <a:r>
              <a:rPr lang="en-US" dirty="0"/>
              <a:t>Outliers</a:t>
            </a:r>
          </a:p>
          <a:p>
            <a:pPr lvl="1"/>
            <a:r>
              <a:rPr lang="en-US" dirty="0"/>
              <a:t>Violations of assumptions</a:t>
            </a:r>
          </a:p>
          <a:p>
            <a:pPr lvl="1"/>
            <a:r>
              <a:rPr lang="en-US" dirty="0"/>
              <a:t>Excessive leverage (will explain in a bit)</a:t>
            </a:r>
          </a:p>
          <a:p>
            <a:pPr lvl="1"/>
            <a:r>
              <a:rPr lang="en-US" dirty="0"/>
              <a:t>Etc.</a:t>
            </a:r>
          </a:p>
          <a:p>
            <a:r>
              <a:rPr lang="en-US" dirty="0"/>
              <a:t>Because they are so useful, R includes several default diagnostic plots to check them</a:t>
            </a:r>
          </a:p>
          <a:p>
            <a:endParaRPr lang="en-US" dirty="0"/>
          </a:p>
        </p:txBody>
      </p:sp>
    </p:spTree>
    <p:extLst>
      <p:ext uri="{BB962C8B-B14F-4D97-AF65-F5344CB8AC3E}">
        <p14:creationId xmlns:p14="http://schemas.microsoft.com/office/powerpoint/2010/main" val="1637410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 diagnostic plots</a:t>
            </a:r>
          </a:p>
        </p:txBody>
      </p:sp>
      <p:sp>
        <p:nvSpPr>
          <p:cNvPr id="3" name="Content Placeholder 2"/>
          <p:cNvSpPr>
            <a:spLocks noGrp="1"/>
          </p:cNvSpPr>
          <p:nvPr>
            <p:ph idx="1"/>
          </p:nvPr>
        </p:nvSpPr>
        <p:spPr>
          <a:xfrm>
            <a:off x="838200" y="1825625"/>
            <a:ext cx="10515600" cy="794270"/>
          </a:xfrm>
        </p:spPr>
        <p:txBody>
          <a:bodyPr/>
          <a:lstStyle/>
          <a:p>
            <a:r>
              <a:rPr lang="en-US" dirty="0"/>
              <a:t>To see your diagnostics, all you have to do is plot the model</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2552" y="2438400"/>
            <a:ext cx="7536862" cy="1105225"/>
          </a:xfrm>
          <a:prstGeom prst="rect">
            <a:avLst/>
          </a:prstGeom>
          <a:ln>
            <a:solidFill>
              <a:schemeClr val="tx1"/>
            </a:solidFill>
          </a:ln>
        </p:spPr>
      </p:pic>
      <p:sp>
        <p:nvSpPr>
          <p:cNvPr id="5" name="Content Placeholder 2"/>
          <p:cNvSpPr txBox="1">
            <a:spLocks/>
          </p:cNvSpPr>
          <p:nvPr/>
        </p:nvSpPr>
        <p:spPr>
          <a:xfrm>
            <a:off x="838200" y="3691077"/>
            <a:ext cx="10515600" cy="2651849"/>
          </a:xfrm>
          <a:prstGeom prst="rect">
            <a:avLst/>
          </a:prstGeom>
        </p:spPr>
        <p:txBody>
          <a:bodyPr vert="horz" lIns="91440" tIns="45720" rIns="91440" bIns="45720" rtlCol="0">
            <a:noAutofit/>
          </a:bodyPr>
          <a:lstStyle>
            <a:lvl1pPr marL="465138" indent="-465138"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914400" indent="-4572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262063" indent="-347663"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712913" indent="-34131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176463" indent="-34766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Four diagnostic plots will be output by default</a:t>
            </a:r>
          </a:p>
          <a:p>
            <a:pPr lvl="1"/>
            <a:r>
              <a:rPr lang="en-US" dirty="0"/>
              <a:t>When working interactively (e.g., in </a:t>
            </a:r>
            <a:r>
              <a:rPr lang="en-US" dirty="0" err="1"/>
              <a:t>Rstudio</a:t>
            </a:r>
            <a:r>
              <a:rPr lang="en-US" dirty="0"/>
              <a:t> or the command-line), they’re plotted one at a time</a:t>
            </a:r>
          </a:p>
          <a:p>
            <a:pPr lvl="1"/>
            <a:r>
              <a:rPr lang="en-US" dirty="0"/>
              <a:t>Press “enter” to move between them</a:t>
            </a:r>
          </a:p>
        </p:txBody>
      </p:sp>
    </p:spTree>
    <p:extLst>
      <p:ext uri="{BB962C8B-B14F-4D97-AF65-F5344CB8AC3E}">
        <p14:creationId xmlns:p14="http://schemas.microsoft.com/office/powerpoint/2010/main" val="3020074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59400" y="352485"/>
            <a:ext cx="6932600" cy="6702768"/>
          </a:xfrm>
          <a:prstGeom prst="rect">
            <a:avLst/>
          </a:prstGeom>
        </p:spPr>
      </p:pic>
      <p:sp>
        <p:nvSpPr>
          <p:cNvPr id="2" name="Title 1"/>
          <p:cNvSpPr>
            <a:spLocks noGrp="1"/>
          </p:cNvSpPr>
          <p:nvPr>
            <p:ph type="title"/>
          </p:nvPr>
        </p:nvSpPr>
        <p:spPr/>
        <p:txBody>
          <a:bodyPr/>
          <a:lstStyle/>
          <a:p>
            <a:r>
              <a:rPr lang="en-US" dirty="0"/>
              <a:t>Diagnostic plot 1:</a:t>
            </a:r>
            <a:br>
              <a:rPr lang="en-US" dirty="0"/>
            </a:br>
            <a:r>
              <a:rPr lang="en-US" sz="2800" dirty="0"/>
              <a:t>Residuals versus Fitted</a:t>
            </a:r>
          </a:p>
        </p:txBody>
      </p:sp>
      <p:sp>
        <p:nvSpPr>
          <p:cNvPr id="3" name="Content Placeholder 2"/>
          <p:cNvSpPr>
            <a:spLocks noGrp="1"/>
          </p:cNvSpPr>
          <p:nvPr>
            <p:ph idx="1"/>
          </p:nvPr>
        </p:nvSpPr>
        <p:spPr>
          <a:xfrm>
            <a:off x="838200" y="1825625"/>
            <a:ext cx="4806984" cy="4110718"/>
          </a:xfrm>
        </p:spPr>
        <p:txBody>
          <a:bodyPr/>
          <a:lstStyle/>
          <a:p>
            <a:r>
              <a:rPr lang="en-US" dirty="0"/>
              <a:t>The first plot shows your fitted values versus the residuals</a:t>
            </a:r>
          </a:p>
          <a:p>
            <a:r>
              <a:rPr lang="en-US" dirty="0"/>
              <a:t>The idea is to look for any outliers or patterns</a:t>
            </a:r>
          </a:p>
          <a:p>
            <a:pPr lvl="1"/>
            <a:r>
              <a:rPr lang="en-US" dirty="0"/>
              <a:t>R labels the most extreme values (default 3) to make them easy to find</a:t>
            </a:r>
          </a:p>
        </p:txBody>
      </p:sp>
      <p:sp>
        <p:nvSpPr>
          <p:cNvPr id="5" name="Oval 4"/>
          <p:cNvSpPr/>
          <p:nvPr/>
        </p:nvSpPr>
        <p:spPr>
          <a:xfrm>
            <a:off x="8606061" y="1259644"/>
            <a:ext cx="688407" cy="418404"/>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7631539" y="4352455"/>
            <a:ext cx="688407" cy="418404"/>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8497634" y="4381483"/>
            <a:ext cx="688407" cy="418404"/>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9436633" y="3599558"/>
            <a:ext cx="1259501" cy="1200329"/>
          </a:xfrm>
          <a:prstGeom prst="rect">
            <a:avLst/>
          </a:prstGeom>
          <a:solidFill>
            <a:srgbClr val="FFFFFF">
              <a:alpha val="89804"/>
            </a:srgbClr>
          </a:solidFill>
        </p:spPr>
        <p:txBody>
          <a:bodyPr wrap="square" rtlCol="0">
            <a:spAutoFit/>
          </a:bodyPr>
          <a:lstStyle/>
          <a:p>
            <a:r>
              <a:rPr lang="en-US" sz="2400" b="1" dirty="0">
                <a:solidFill>
                  <a:srgbClr val="FF0000"/>
                </a:solidFill>
              </a:rPr>
              <a:t>3 most extreme points</a:t>
            </a:r>
          </a:p>
        </p:txBody>
      </p:sp>
    </p:spTree>
    <p:extLst>
      <p:ext uri="{BB962C8B-B14F-4D97-AF65-F5344CB8AC3E}">
        <p14:creationId xmlns:p14="http://schemas.microsoft.com/office/powerpoint/2010/main" val="2804370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t="13167" r="51158"/>
          <a:stretch/>
        </p:blipFill>
        <p:spPr>
          <a:xfrm>
            <a:off x="508000" y="2325071"/>
            <a:ext cx="5660571" cy="4658663"/>
          </a:xfrm>
          <a:prstGeom prst="rect">
            <a:avLst/>
          </a:prstGeom>
        </p:spPr>
      </p:pic>
      <p:sp>
        <p:nvSpPr>
          <p:cNvPr id="2" name="Title 1"/>
          <p:cNvSpPr>
            <a:spLocks noGrp="1"/>
          </p:cNvSpPr>
          <p:nvPr>
            <p:ph type="title"/>
          </p:nvPr>
        </p:nvSpPr>
        <p:spPr/>
        <p:txBody>
          <a:bodyPr/>
          <a:lstStyle/>
          <a:p>
            <a:r>
              <a:rPr lang="en-US" dirty="0"/>
              <a:t>Diagnostic plot 1:</a:t>
            </a:r>
            <a:br>
              <a:rPr lang="en-US" dirty="0"/>
            </a:br>
            <a:r>
              <a:rPr lang="en-US" sz="2800" dirty="0"/>
              <a:t>Residuals versus Fitted</a:t>
            </a:r>
          </a:p>
        </p:txBody>
      </p:sp>
      <p:sp>
        <p:nvSpPr>
          <p:cNvPr id="9" name="TextBox 8"/>
          <p:cNvSpPr txBox="1"/>
          <p:nvPr/>
        </p:nvSpPr>
        <p:spPr>
          <a:xfrm>
            <a:off x="0" y="6273225"/>
            <a:ext cx="2453833" cy="584775"/>
          </a:xfrm>
          <a:prstGeom prst="rect">
            <a:avLst/>
          </a:prstGeom>
          <a:noFill/>
        </p:spPr>
        <p:txBody>
          <a:bodyPr wrap="square" rtlCol="0">
            <a:spAutoFit/>
          </a:bodyPr>
          <a:lstStyle/>
          <a:p>
            <a:r>
              <a:rPr lang="en-US" sz="1600" i="1" dirty="0"/>
              <a:t>http://data.library.virginia.edu/diagnostic-plots/</a:t>
            </a:r>
          </a:p>
        </p:txBody>
      </p:sp>
      <p:sp>
        <p:nvSpPr>
          <p:cNvPr id="3" name="Content Placeholder 2"/>
          <p:cNvSpPr>
            <a:spLocks noGrp="1"/>
          </p:cNvSpPr>
          <p:nvPr>
            <p:ph idx="1"/>
          </p:nvPr>
        </p:nvSpPr>
        <p:spPr>
          <a:xfrm>
            <a:off x="838199" y="1825625"/>
            <a:ext cx="10802881" cy="408289"/>
          </a:xfrm>
        </p:spPr>
        <p:txBody>
          <a:bodyPr/>
          <a:lstStyle/>
          <a:p>
            <a:r>
              <a:rPr lang="en-US" dirty="0"/>
              <a:t>Fitted versus residual plots are also good to identify patterns</a:t>
            </a:r>
          </a:p>
        </p:txBody>
      </p:sp>
      <p:sp>
        <p:nvSpPr>
          <p:cNvPr id="5" name="TextBox 4"/>
          <p:cNvSpPr txBox="1"/>
          <p:nvPr/>
        </p:nvSpPr>
        <p:spPr>
          <a:xfrm>
            <a:off x="1828800" y="2325071"/>
            <a:ext cx="3369064" cy="584775"/>
          </a:xfrm>
          <a:prstGeom prst="rect">
            <a:avLst/>
          </a:prstGeom>
          <a:noFill/>
        </p:spPr>
        <p:txBody>
          <a:bodyPr wrap="none" rtlCol="0">
            <a:spAutoFit/>
          </a:bodyPr>
          <a:lstStyle/>
          <a:p>
            <a:r>
              <a:rPr lang="en-US" sz="3200" b="1" dirty="0">
                <a:solidFill>
                  <a:schemeClr val="accent4">
                    <a:lumMod val="75000"/>
                  </a:schemeClr>
                </a:solidFill>
              </a:rPr>
              <a:t>No strong patterns</a:t>
            </a:r>
          </a:p>
        </p:txBody>
      </p:sp>
    </p:spTree>
    <p:extLst>
      <p:ext uri="{BB962C8B-B14F-4D97-AF65-F5344CB8AC3E}">
        <p14:creationId xmlns:p14="http://schemas.microsoft.com/office/powerpoint/2010/main" val="3950757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t="13167"/>
          <a:stretch/>
        </p:blipFill>
        <p:spPr>
          <a:xfrm>
            <a:off x="508000" y="2325071"/>
            <a:ext cx="11589518" cy="4658663"/>
          </a:xfrm>
          <a:prstGeom prst="rect">
            <a:avLst/>
          </a:prstGeom>
        </p:spPr>
      </p:pic>
      <p:sp>
        <p:nvSpPr>
          <p:cNvPr id="2" name="Title 1"/>
          <p:cNvSpPr>
            <a:spLocks noGrp="1"/>
          </p:cNvSpPr>
          <p:nvPr>
            <p:ph type="title"/>
          </p:nvPr>
        </p:nvSpPr>
        <p:spPr/>
        <p:txBody>
          <a:bodyPr/>
          <a:lstStyle/>
          <a:p>
            <a:r>
              <a:rPr lang="en-US" dirty="0"/>
              <a:t>Diagnostic plot 1:</a:t>
            </a:r>
            <a:br>
              <a:rPr lang="en-US" dirty="0"/>
            </a:br>
            <a:r>
              <a:rPr lang="en-US" sz="2800" dirty="0"/>
              <a:t>Residuals versus Fitted</a:t>
            </a:r>
          </a:p>
        </p:txBody>
      </p:sp>
      <p:sp>
        <p:nvSpPr>
          <p:cNvPr id="9" name="TextBox 8"/>
          <p:cNvSpPr txBox="1"/>
          <p:nvPr/>
        </p:nvSpPr>
        <p:spPr>
          <a:xfrm>
            <a:off x="0" y="6273225"/>
            <a:ext cx="2453833" cy="584775"/>
          </a:xfrm>
          <a:prstGeom prst="rect">
            <a:avLst/>
          </a:prstGeom>
          <a:noFill/>
        </p:spPr>
        <p:txBody>
          <a:bodyPr wrap="square" rtlCol="0">
            <a:spAutoFit/>
          </a:bodyPr>
          <a:lstStyle/>
          <a:p>
            <a:r>
              <a:rPr lang="en-US" sz="1600" i="1" dirty="0"/>
              <a:t>http://data.library.virginia.edu/diagnostic-plots/</a:t>
            </a:r>
          </a:p>
        </p:txBody>
      </p:sp>
      <p:sp>
        <p:nvSpPr>
          <p:cNvPr id="3" name="Content Placeholder 2"/>
          <p:cNvSpPr>
            <a:spLocks noGrp="1"/>
          </p:cNvSpPr>
          <p:nvPr>
            <p:ph idx="1"/>
          </p:nvPr>
        </p:nvSpPr>
        <p:spPr>
          <a:xfrm>
            <a:off x="838199" y="1825625"/>
            <a:ext cx="10802881" cy="408289"/>
          </a:xfrm>
        </p:spPr>
        <p:txBody>
          <a:bodyPr/>
          <a:lstStyle/>
          <a:p>
            <a:r>
              <a:rPr lang="en-US" dirty="0"/>
              <a:t>Fitted versus residual plots are also good to identify patterns</a:t>
            </a:r>
          </a:p>
        </p:txBody>
      </p:sp>
      <p:sp>
        <p:nvSpPr>
          <p:cNvPr id="7" name="TextBox 6"/>
          <p:cNvSpPr txBox="1"/>
          <p:nvPr/>
        </p:nvSpPr>
        <p:spPr>
          <a:xfrm>
            <a:off x="1828800" y="2266456"/>
            <a:ext cx="3369064" cy="584775"/>
          </a:xfrm>
          <a:prstGeom prst="rect">
            <a:avLst/>
          </a:prstGeom>
          <a:noFill/>
        </p:spPr>
        <p:txBody>
          <a:bodyPr wrap="none" rtlCol="0">
            <a:spAutoFit/>
          </a:bodyPr>
          <a:lstStyle/>
          <a:p>
            <a:r>
              <a:rPr lang="en-US" sz="3200" b="1" dirty="0">
                <a:solidFill>
                  <a:schemeClr val="accent4">
                    <a:lumMod val="75000"/>
                  </a:schemeClr>
                </a:solidFill>
              </a:rPr>
              <a:t>No strong patterns</a:t>
            </a:r>
          </a:p>
        </p:txBody>
      </p:sp>
      <p:sp>
        <p:nvSpPr>
          <p:cNvPr id="8" name="TextBox 7"/>
          <p:cNvSpPr txBox="1"/>
          <p:nvPr/>
        </p:nvSpPr>
        <p:spPr>
          <a:xfrm>
            <a:off x="7641771" y="2266455"/>
            <a:ext cx="4149726" cy="584775"/>
          </a:xfrm>
          <a:prstGeom prst="rect">
            <a:avLst/>
          </a:prstGeom>
          <a:noFill/>
        </p:spPr>
        <p:txBody>
          <a:bodyPr wrap="none" rtlCol="0">
            <a:spAutoFit/>
          </a:bodyPr>
          <a:lstStyle/>
          <a:p>
            <a:r>
              <a:rPr lang="en-US" sz="3200" b="1" dirty="0">
                <a:solidFill>
                  <a:srgbClr val="C00000"/>
                </a:solidFill>
                <a:effectLst>
                  <a:glow rad="228600">
                    <a:schemeClr val="bg1">
                      <a:alpha val="40000"/>
                    </a:schemeClr>
                  </a:glow>
                </a:effectLst>
              </a:rPr>
              <a:t>Very suspicious pattern</a:t>
            </a:r>
          </a:p>
        </p:txBody>
      </p:sp>
    </p:spTree>
    <p:extLst>
      <p:ext uri="{BB962C8B-B14F-4D97-AF65-F5344CB8AC3E}">
        <p14:creationId xmlns:p14="http://schemas.microsoft.com/office/powerpoint/2010/main" val="709298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Diagnostic plot 2:</a:t>
            </a:r>
            <a:br>
              <a:rPr lang="en-US" dirty="0"/>
            </a:br>
            <a:r>
              <a:rPr lang="en-US" sz="2800" dirty="0"/>
              <a:t>Quantile-Quantile plot</a:t>
            </a:r>
          </a:p>
        </p:txBody>
      </p:sp>
      <p:sp>
        <p:nvSpPr>
          <p:cNvPr id="3" name="Content Placeholder 2"/>
          <p:cNvSpPr>
            <a:spLocks noGrp="1"/>
          </p:cNvSpPr>
          <p:nvPr>
            <p:ph idx="1"/>
          </p:nvPr>
        </p:nvSpPr>
        <p:spPr>
          <a:xfrm>
            <a:off x="838200" y="1825625"/>
            <a:ext cx="5742834" cy="4110718"/>
          </a:xfrm>
        </p:spPr>
        <p:txBody>
          <a:bodyPr/>
          <a:lstStyle/>
          <a:p>
            <a:r>
              <a:rPr lang="en-US" dirty="0"/>
              <a:t>A quantile-quantile plot shows the (sorted) residuals plotted against what you’d expect from chance</a:t>
            </a:r>
          </a:p>
          <a:p>
            <a:pPr lvl="1"/>
            <a:r>
              <a:rPr lang="en-US" dirty="0"/>
              <a:t>Residuals should be normally distributed around a mean of 0</a:t>
            </a:r>
          </a:p>
          <a:p>
            <a:r>
              <a:rPr lang="en-US" dirty="0"/>
              <a:t>Any significant/systematic deviations from the dashed line may be problematic</a:t>
            </a:r>
          </a:p>
          <a:p>
            <a:pPr lvl="1"/>
            <a:endParaRPr lang="en-US" dirty="0"/>
          </a:p>
          <a:p>
            <a:pPr lvl="1"/>
            <a:endParaRPr lang="en-US" dirty="0"/>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1034" y="1027906"/>
            <a:ext cx="5610966" cy="5252315"/>
          </a:xfrm>
          <a:prstGeom prst="rect">
            <a:avLst/>
          </a:prstGeom>
        </p:spPr>
      </p:pic>
      <p:sp>
        <p:nvSpPr>
          <p:cNvPr id="4" name="TextBox 3"/>
          <p:cNvSpPr txBox="1"/>
          <p:nvPr/>
        </p:nvSpPr>
        <p:spPr>
          <a:xfrm>
            <a:off x="7818532" y="1564014"/>
            <a:ext cx="2631754" cy="954107"/>
          </a:xfrm>
          <a:prstGeom prst="rect">
            <a:avLst/>
          </a:prstGeom>
          <a:noFill/>
        </p:spPr>
        <p:txBody>
          <a:bodyPr wrap="square" rtlCol="0">
            <a:spAutoFit/>
          </a:bodyPr>
          <a:lstStyle/>
          <a:p>
            <a:r>
              <a:rPr lang="en-US" sz="2800" b="1" dirty="0">
                <a:solidFill>
                  <a:schemeClr val="accent6">
                    <a:lumMod val="75000"/>
                  </a:schemeClr>
                </a:solidFill>
              </a:rPr>
              <a:t>A little noise, but nothing big</a:t>
            </a:r>
          </a:p>
        </p:txBody>
      </p:sp>
      <p:sp>
        <p:nvSpPr>
          <p:cNvPr id="5" name="TextBox 4"/>
          <p:cNvSpPr txBox="1"/>
          <p:nvPr/>
        </p:nvSpPr>
        <p:spPr>
          <a:xfrm>
            <a:off x="8757138" y="4990683"/>
            <a:ext cx="2096792" cy="584775"/>
          </a:xfrm>
          <a:prstGeom prst="rect">
            <a:avLst/>
          </a:prstGeom>
          <a:noFill/>
        </p:spPr>
        <p:txBody>
          <a:bodyPr wrap="none" rtlCol="0">
            <a:spAutoFit/>
          </a:bodyPr>
          <a:lstStyle/>
          <a:p>
            <a:r>
              <a:rPr lang="en-US" sz="3200" b="1" dirty="0">
                <a:solidFill>
                  <a:schemeClr val="accent5">
                    <a:lumMod val="75000"/>
                  </a:schemeClr>
                </a:solidFill>
              </a:rPr>
              <a:t>Theoretical</a:t>
            </a:r>
          </a:p>
        </p:txBody>
      </p:sp>
      <p:sp>
        <p:nvSpPr>
          <p:cNvPr id="7" name="TextBox 6"/>
          <p:cNvSpPr txBox="1"/>
          <p:nvPr/>
        </p:nvSpPr>
        <p:spPr>
          <a:xfrm rot="16200000">
            <a:off x="6524553" y="2833700"/>
            <a:ext cx="1269899" cy="584775"/>
          </a:xfrm>
          <a:prstGeom prst="rect">
            <a:avLst/>
          </a:prstGeom>
          <a:noFill/>
        </p:spPr>
        <p:txBody>
          <a:bodyPr wrap="none" rtlCol="0">
            <a:spAutoFit/>
          </a:bodyPr>
          <a:lstStyle/>
          <a:p>
            <a:r>
              <a:rPr lang="en-US" sz="3200" b="1" dirty="0">
                <a:solidFill>
                  <a:schemeClr val="accent5">
                    <a:lumMod val="75000"/>
                  </a:schemeClr>
                </a:solidFill>
              </a:rPr>
              <a:t>Actual</a:t>
            </a:r>
          </a:p>
        </p:txBody>
      </p:sp>
    </p:spTree>
    <p:extLst>
      <p:ext uri="{BB962C8B-B14F-4D97-AF65-F5344CB8AC3E}">
        <p14:creationId xmlns:p14="http://schemas.microsoft.com/office/powerpoint/2010/main" val="1608946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rotWithShape="1">
          <a:blip r:embed="rId3">
            <a:extLst>
              <a:ext uri="{28A0092B-C50C-407E-A947-70E740481C1C}">
                <a14:useLocalDpi xmlns:a14="http://schemas.microsoft.com/office/drawing/2010/main" val="0"/>
              </a:ext>
            </a:extLst>
          </a:blip>
          <a:srcRect t="18984" r="52038"/>
          <a:stretch/>
        </p:blipFill>
        <p:spPr>
          <a:xfrm>
            <a:off x="406400" y="2369992"/>
            <a:ext cx="5455138" cy="4607332"/>
          </a:xfrm>
          <a:prstGeom prst="rect">
            <a:avLst/>
          </a:prstGeom>
        </p:spPr>
      </p:pic>
      <p:sp>
        <p:nvSpPr>
          <p:cNvPr id="2" name="Title 1"/>
          <p:cNvSpPr>
            <a:spLocks noGrp="1"/>
          </p:cNvSpPr>
          <p:nvPr>
            <p:ph type="title"/>
          </p:nvPr>
        </p:nvSpPr>
        <p:spPr/>
        <p:txBody>
          <a:bodyPr/>
          <a:lstStyle/>
          <a:p>
            <a:r>
              <a:rPr lang="en-US" dirty="0"/>
              <a:t>Diagnostic plot 2:</a:t>
            </a:r>
            <a:br>
              <a:rPr lang="en-US" dirty="0"/>
            </a:br>
            <a:r>
              <a:rPr lang="en-US" sz="2800" dirty="0"/>
              <a:t>Quantile-Quantile plot</a:t>
            </a:r>
          </a:p>
        </p:txBody>
      </p:sp>
      <p:sp>
        <p:nvSpPr>
          <p:cNvPr id="4" name="Content Placeholder 3"/>
          <p:cNvSpPr>
            <a:spLocks noGrp="1"/>
          </p:cNvSpPr>
          <p:nvPr>
            <p:ph idx="1"/>
          </p:nvPr>
        </p:nvSpPr>
        <p:spPr>
          <a:xfrm>
            <a:off x="838200" y="1825625"/>
            <a:ext cx="10515600" cy="484438"/>
          </a:xfrm>
        </p:spPr>
        <p:txBody>
          <a:bodyPr/>
          <a:lstStyle/>
          <a:p>
            <a:r>
              <a:rPr lang="en-US" dirty="0"/>
              <a:t>What to look out for:</a:t>
            </a:r>
          </a:p>
        </p:txBody>
      </p:sp>
      <p:sp>
        <p:nvSpPr>
          <p:cNvPr id="8" name="TextBox 7"/>
          <p:cNvSpPr txBox="1"/>
          <p:nvPr/>
        </p:nvSpPr>
        <p:spPr>
          <a:xfrm>
            <a:off x="0" y="6273225"/>
            <a:ext cx="2453833" cy="584775"/>
          </a:xfrm>
          <a:prstGeom prst="rect">
            <a:avLst/>
          </a:prstGeom>
          <a:noFill/>
        </p:spPr>
        <p:txBody>
          <a:bodyPr wrap="square" rtlCol="0">
            <a:spAutoFit/>
          </a:bodyPr>
          <a:lstStyle/>
          <a:p>
            <a:r>
              <a:rPr lang="en-US" sz="1600" i="1" dirty="0"/>
              <a:t>http://data.library.virginia.edu/diagnostic-plots/</a:t>
            </a:r>
          </a:p>
        </p:txBody>
      </p:sp>
      <p:cxnSp>
        <p:nvCxnSpPr>
          <p:cNvPr id="7" name="Straight Connector 6"/>
          <p:cNvCxnSpPr/>
          <p:nvPr/>
        </p:nvCxnSpPr>
        <p:spPr>
          <a:xfrm flipV="1">
            <a:off x="1523997" y="2408440"/>
            <a:ext cx="4042614" cy="2564067"/>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7" name="Oval 16"/>
          <p:cNvSpPr/>
          <p:nvPr/>
        </p:nvSpPr>
        <p:spPr>
          <a:xfrm rot="16200000">
            <a:off x="1533364" y="5081328"/>
            <a:ext cx="537396" cy="705855"/>
          </a:xfrm>
          <a:prstGeom prst="ellipse">
            <a:avLst/>
          </a:prstGeom>
          <a:noFill/>
          <a:ln w="762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264229" y="5118186"/>
            <a:ext cx="3302382" cy="523220"/>
          </a:xfrm>
          <a:prstGeom prst="rect">
            <a:avLst/>
          </a:prstGeom>
          <a:noFill/>
        </p:spPr>
        <p:txBody>
          <a:bodyPr wrap="square" rtlCol="0">
            <a:spAutoFit/>
          </a:bodyPr>
          <a:lstStyle/>
          <a:p>
            <a:r>
              <a:rPr lang="en-US" sz="2800" b="1" dirty="0">
                <a:solidFill>
                  <a:srgbClr val="C00000"/>
                </a:solidFill>
              </a:rPr>
              <a:t>Outlier value</a:t>
            </a:r>
          </a:p>
        </p:txBody>
      </p:sp>
    </p:spTree>
    <p:extLst>
      <p:ext uri="{BB962C8B-B14F-4D97-AF65-F5344CB8AC3E}">
        <p14:creationId xmlns:p14="http://schemas.microsoft.com/office/powerpoint/2010/main" val="385439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t="18984"/>
          <a:stretch/>
        </p:blipFill>
        <p:spPr>
          <a:xfrm>
            <a:off x="406400" y="2369992"/>
            <a:ext cx="11373852" cy="4607332"/>
          </a:xfrm>
          <a:prstGeom prst="rect">
            <a:avLst/>
          </a:prstGeom>
        </p:spPr>
      </p:pic>
      <p:sp>
        <p:nvSpPr>
          <p:cNvPr id="2" name="Title 1"/>
          <p:cNvSpPr>
            <a:spLocks noGrp="1"/>
          </p:cNvSpPr>
          <p:nvPr>
            <p:ph type="title"/>
          </p:nvPr>
        </p:nvSpPr>
        <p:spPr/>
        <p:txBody>
          <a:bodyPr/>
          <a:lstStyle/>
          <a:p>
            <a:r>
              <a:rPr lang="en-US" dirty="0"/>
              <a:t>Diagnostic plot 2:</a:t>
            </a:r>
            <a:br>
              <a:rPr lang="en-US" dirty="0"/>
            </a:br>
            <a:r>
              <a:rPr lang="en-US" sz="2800" dirty="0"/>
              <a:t>Quantile-Quantile plot</a:t>
            </a:r>
          </a:p>
        </p:txBody>
      </p:sp>
      <p:sp>
        <p:nvSpPr>
          <p:cNvPr id="4" name="Content Placeholder 3"/>
          <p:cNvSpPr>
            <a:spLocks noGrp="1"/>
          </p:cNvSpPr>
          <p:nvPr>
            <p:ph idx="1"/>
          </p:nvPr>
        </p:nvSpPr>
        <p:spPr>
          <a:xfrm>
            <a:off x="838200" y="1825625"/>
            <a:ext cx="10515600" cy="484438"/>
          </a:xfrm>
        </p:spPr>
        <p:txBody>
          <a:bodyPr/>
          <a:lstStyle/>
          <a:p>
            <a:r>
              <a:rPr lang="en-US" dirty="0"/>
              <a:t>What to look out for:</a:t>
            </a:r>
          </a:p>
        </p:txBody>
      </p:sp>
      <p:sp>
        <p:nvSpPr>
          <p:cNvPr id="8" name="TextBox 7"/>
          <p:cNvSpPr txBox="1"/>
          <p:nvPr/>
        </p:nvSpPr>
        <p:spPr>
          <a:xfrm>
            <a:off x="0" y="6273225"/>
            <a:ext cx="2453833" cy="584775"/>
          </a:xfrm>
          <a:prstGeom prst="rect">
            <a:avLst/>
          </a:prstGeom>
          <a:noFill/>
        </p:spPr>
        <p:txBody>
          <a:bodyPr wrap="square" rtlCol="0">
            <a:spAutoFit/>
          </a:bodyPr>
          <a:lstStyle/>
          <a:p>
            <a:r>
              <a:rPr lang="en-US" sz="1600" i="1" dirty="0"/>
              <a:t>http://data.library.virginia.edu/diagnostic-plots/</a:t>
            </a:r>
          </a:p>
        </p:txBody>
      </p:sp>
      <p:cxnSp>
        <p:nvCxnSpPr>
          <p:cNvPr id="12" name="Straight Connector 11"/>
          <p:cNvCxnSpPr/>
          <p:nvPr/>
        </p:nvCxnSpPr>
        <p:spPr>
          <a:xfrm flipV="1">
            <a:off x="8036354" y="4131796"/>
            <a:ext cx="3139646" cy="1472865"/>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5" name="Oval 14"/>
          <p:cNvSpPr/>
          <p:nvPr/>
        </p:nvSpPr>
        <p:spPr>
          <a:xfrm rot="1555460">
            <a:off x="10025619" y="2157519"/>
            <a:ext cx="914400" cy="2840616"/>
          </a:xfrm>
          <a:prstGeom prst="ellipse">
            <a:avLst/>
          </a:prstGeom>
          <a:noFill/>
          <a:ln w="762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rot="15718703">
            <a:off x="7888769" y="4674267"/>
            <a:ext cx="405793" cy="1352166"/>
          </a:xfrm>
          <a:prstGeom prst="ellipse">
            <a:avLst/>
          </a:prstGeom>
          <a:noFill/>
          <a:ln w="762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p:nvCxnSpPr>
        <p:spPr>
          <a:xfrm flipV="1">
            <a:off x="1523997" y="2408440"/>
            <a:ext cx="4042614" cy="2564067"/>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2264229" y="5118186"/>
            <a:ext cx="3302382" cy="523220"/>
          </a:xfrm>
          <a:prstGeom prst="rect">
            <a:avLst/>
          </a:prstGeom>
          <a:noFill/>
        </p:spPr>
        <p:txBody>
          <a:bodyPr wrap="square" rtlCol="0">
            <a:spAutoFit/>
          </a:bodyPr>
          <a:lstStyle/>
          <a:p>
            <a:r>
              <a:rPr lang="en-US" sz="2800" b="1" dirty="0">
                <a:solidFill>
                  <a:srgbClr val="C00000"/>
                </a:solidFill>
              </a:rPr>
              <a:t>Outlier value</a:t>
            </a:r>
          </a:p>
        </p:txBody>
      </p:sp>
      <p:sp>
        <p:nvSpPr>
          <p:cNvPr id="14" name="Oval 13"/>
          <p:cNvSpPr/>
          <p:nvPr/>
        </p:nvSpPr>
        <p:spPr>
          <a:xfrm rot="16200000">
            <a:off x="1533364" y="5081328"/>
            <a:ext cx="537396" cy="705855"/>
          </a:xfrm>
          <a:prstGeom prst="ellipse">
            <a:avLst/>
          </a:prstGeom>
          <a:noFill/>
          <a:ln w="762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7180437" y="2515952"/>
            <a:ext cx="3302382" cy="1384995"/>
          </a:xfrm>
          <a:prstGeom prst="rect">
            <a:avLst/>
          </a:prstGeom>
          <a:noFill/>
        </p:spPr>
        <p:txBody>
          <a:bodyPr wrap="square" rtlCol="0">
            <a:spAutoFit/>
          </a:bodyPr>
          <a:lstStyle/>
          <a:p>
            <a:r>
              <a:rPr lang="en-US" sz="2800" b="1" dirty="0">
                <a:solidFill>
                  <a:srgbClr val="C00000"/>
                </a:solidFill>
              </a:rPr>
              <a:t>Systematic departures from expected values</a:t>
            </a:r>
          </a:p>
        </p:txBody>
      </p:sp>
    </p:spTree>
    <p:extLst>
      <p:ext uri="{BB962C8B-B14F-4D97-AF65-F5344CB8AC3E}">
        <p14:creationId xmlns:p14="http://schemas.microsoft.com/office/powerpoint/2010/main" val="2080136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8"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Diagnostic plot 3:</a:t>
            </a:r>
            <a:br>
              <a:rPr lang="en-US" dirty="0"/>
            </a:br>
            <a:r>
              <a:rPr lang="en-US" sz="2800" dirty="0"/>
              <a:t>Scale-location plot</a:t>
            </a:r>
          </a:p>
        </p:txBody>
      </p:sp>
      <p:sp>
        <p:nvSpPr>
          <p:cNvPr id="3" name="Content Placeholder 2"/>
          <p:cNvSpPr>
            <a:spLocks noGrp="1"/>
          </p:cNvSpPr>
          <p:nvPr>
            <p:ph idx="1"/>
          </p:nvPr>
        </p:nvSpPr>
        <p:spPr>
          <a:xfrm>
            <a:off x="838200" y="1825625"/>
            <a:ext cx="5742834" cy="4110718"/>
          </a:xfrm>
        </p:spPr>
        <p:txBody>
          <a:bodyPr/>
          <a:lstStyle/>
          <a:p>
            <a:r>
              <a:rPr lang="en-US" dirty="0"/>
              <a:t>Scale-location plots use “standardized” residuals to look for homoscedasticity (= equal variance)</a:t>
            </a:r>
          </a:p>
          <a:p>
            <a:pPr lvl="1"/>
            <a:r>
              <a:rPr lang="en-US" dirty="0"/>
              <a:t>Standardized = scaled to the expected standard deviation</a:t>
            </a:r>
          </a:p>
          <a:p>
            <a:r>
              <a:rPr lang="en-US" dirty="0"/>
              <a:t>Should have a roughly horizontal line with a random spread of points around it </a:t>
            </a:r>
          </a:p>
          <a:p>
            <a:pPr lvl="1"/>
            <a:endParaRPr lang="en-US" dirty="0"/>
          </a:p>
          <a:p>
            <a:pPr lvl="1"/>
            <a:endParaRPr lang="en-US" dirty="0"/>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959879"/>
            <a:ext cx="6241143" cy="5842210"/>
          </a:xfrm>
          <a:prstGeom prst="rect">
            <a:avLst/>
          </a:prstGeom>
        </p:spPr>
      </p:pic>
    </p:spTree>
    <p:extLst>
      <p:ext uri="{BB962C8B-B14F-4D97-AF65-F5344CB8AC3E}">
        <p14:creationId xmlns:p14="http://schemas.microsoft.com/office/powerpoint/2010/main" val="3298007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3">
            <a:extLst>
              <a:ext uri="{28A0092B-C50C-407E-A947-70E740481C1C}">
                <a14:useLocalDpi xmlns:a14="http://schemas.microsoft.com/office/drawing/2010/main" val="0"/>
              </a:ext>
            </a:extLst>
          </a:blip>
          <a:srcRect t="18406" r="52979"/>
          <a:stretch/>
        </p:blipFill>
        <p:spPr>
          <a:xfrm>
            <a:off x="420914" y="2343088"/>
            <a:ext cx="5341257" cy="4634235"/>
          </a:xfrm>
          <a:prstGeom prst="rect">
            <a:avLst/>
          </a:prstGeom>
        </p:spPr>
      </p:pic>
      <p:sp>
        <p:nvSpPr>
          <p:cNvPr id="2" name="Title 1"/>
          <p:cNvSpPr>
            <a:spLocks noGrp="1"/>
          </p:cNvSpPr>
          <p:nvPr>
            <p:ph type="title"/>
          </p:nvPr>
        </p:nvSpPr>
        <p:spPr/>
        <p:txBody>
          <a:bodyPr/>
          <a:lstStyle/>
          <a:p>
            <a:r>
              <a:rPr lang="en-US" dirty="0"/>
              <a:t>Diagnostic plot 3:</a:t>
            </a:r>
            <a:br>
              <a:rPr lang="en-US" dirty="0"/>
            </a:br>
            <a:r>
              <a:rPr lang="en-US" sz="2800" dirty="0"/>
              <a:t>Scale-location plot</a:t>
            </a:r>
          </a:p>
        </p:txBody>
      </p:sp>
      <p:sp>
        <p:nvSpPr>
          <p:cNvPr id="4" name="Content Placeholder 3"/>
          <p:cNvSpPr>
            <a:spLocks noGrp="1"/>
          </p:cNvSpPr>
          <p:nvPr>
            <p:ph idx="1"/>
          </p:nvPr>
        </p:nvSpPr>
        <p:spPr>
          <a:xfrm>
            <a:off x="838200" y="1825625"/>
            <a:ext cx="10515600" cy="484438"/>
          </a:xfrm>
        </p:spPr>
        <p:txBody>
          <a:bodyPr/>
          <a:lstStyle/>
          <a:p>
            <a:r>
              <a:rPr lang="en-US" dirty="0"/>
              <a:t>What to look out for:</a:t>
            </a:r>
          </a:p>
        </p:txBody>
      </p:sp>
      <p:sp>
        <p:nvSpPr>
          <p:cNvPr id="8" name="TextBox 7"/>
          <p:cNvSpPr txBox="1"/>
          <p:nvPr/>
        </p:nvSpPr>
        <p:spPr>
          <a:xfrm>
            <a:off x="0" y="6273225"/>
            <a:ext cx="2453833" cy="584775"/>
          </a:xfrm>
          <a:prstGeom prst="rect">
            <a:avLst/>
          </a:prstGeom>
          <a:noFill/>
        </p:spPr>
        <p:txBody>
          <a:bodyPr wrap="square" rtlCol="0">
            <a:spAutoFit/>
          </a:bodyPr>
          <a:lstStyle/>
          <a:p>
            <a:r>
              <a:rPr lang="en-US" sz="1600" i="1" dirty="0"/>
              <a:t>http://data.library.virginia.edu/diagnostic-plots/</a:t>
            </a:r>
          </a:p>
        </p:txBody>
      </p:sp>
      <p:sp>
        <p:nvSpPr>
          <p:cNvPr id="9" name="TextBox 8"/>
          <p:cNvSpPr txBox="1"/>
          <p:nvPr/>
        </p:nvSpPr>
        <p:spPr>
          <a:xfrm>
            <a:off x="1520945" y="2343088"/>
            <a:ext cx="3027432" cy="523220"/>
          </a:xfrm>
          <a:prstGeom prst="rect">
            <a:avLst/>
          </a:prstGeom>
          <a:noFill/>
        </p:spPr>
        <p:txBody>
          <a:bodyPr wrap="none" rtlCol="0">
            <a:spAutoFit/>
          </a:bodyPr>
          <a:lstStyle/>
          <a:p>
            <a:r>
              <a:rPr lang="en-US" sz="2800" b="1" dirty="0">
                <a:solidFill>
                  <a:srgbClr val="FF0000"/>
                </a:solidFill>
              </a:rPr>
              <a:t>No apparent issues</a:t>
            </a:r>
          </a:p>
        </p:txBody>
      </p:sp>
    </p:spTree>
    <p:extLst>
      <p:ext uri="{BB962C8B-B14F-4D97-AF65-F5344CB8AC3E}">
        <p14:creationId xmlns:p14="http://schemas.microsoft.com/office/powerpoint/2010/main" val="44315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t="18406"/>
          <a:stretch/>
        </p:blipFill>
        <p:spPr>
          <a:xfrm>
            <a:off x="420914" y="2343088"/>
            <a:ext cx="11359338" cy="4634235"/>
          </a:xfrm>
          <a:prstGeom prst="rect">
            <a:avLst/>
          </a:prstGeom>
        </p:spPr>
      </p:pic>
      <p:sp>
        <p:nvSpPr>
          <p:cNvPr id="2" name="Title 1"/>
          <p:cNvSpPr>
            <a:spLocks noGrp="1"/>
          </p:cNvSpPr>
          <p:nvPr>
            <p:ph type="title"/>
          </p:nvPr>
        </p:nvSpPr>
        <p:spPr/>
        <p:txBody>
          <a:bodyPr/>
          <a:lstStyle/>
          <a:p>
            <a:r>
              <a:rPr lang="en-US" dirty="0"/>
              <a:t>Diagnostic plot 3:</a:t>
            </a:r>
            <a:br>
              <a:rPr lang="en-US" dirty="0"/>
            </a:br>
            <a:r>
              <a:rPr lang="en-US" sz="2800" dirty="0"/>
              <a:t>Scale-location plot</a:t>
            </a:r>
          </a:p>
        </p:txBody>
      </p:sp>
      <p:sp>
        <p:nvSpPr>
          <p:cNvPr id="4" name="Content Placeholder 3"/>
          <p:cNvSpPr>
            <a:spLocks noGrp="1"/>
          </p:cNvSpPr>
          <p:nvPr>
            <p:ph idx="1"/>
          </p:nvPr>
        </p:nvSpPr>
        <p:spPr>
          <a:xfrm>
            <a:off x="838200" y="1825625"/>
            <a:ext cx="10515600" cy="484438"/>
          </a:xfrm>
        </p:spPr>
        <p:txBody>
          <a:bodyPr/>
          <a:lstStyle/>
          <a:p>
            <a:r>
              <a:rPr lang="en-US" dirty="0"/>
              <a:t>What to look out for:</a:t>
            </a:r>
          </a:p>
        </p:txBody>
      </p:sp>
      <p:sp>
        <p:nvSpPr>
          <p:cNvPr id="8" name="TextBox 7"/>
          <p:cNvSpPr txBox="1"/>
          <p:nvPr/>
        </p:nvSpPr>
        <p:spPr>
          <a:xfrm>
            <a:off x="0" y="6273225"/>
            <a:ext cx="2453833" cy="584775"/>
          </a:xfrm>
          <a:prstGeom prst="rect">
            <a:avLst/>
          </a:prstGeom>
          <a:noFill/>
        </p:spPr>
        <p:txBody>
          <a:bodyPr wrap="square" rtlCol="0">
            <a:spAutoFit/>
          </a:bodyPr>
          <a:lstStyle/>
          <a:p>
            <a:r>
              <a:rPr lang="en-US" sz="1600" i="1" dirty="0"/>
              <a:t>http://data.library.virginia.edu/diagnostic-plots/</a:t>
            </a:r>
          </a:p>
        </p:txBody>
      </p:sp>
      <p:sp>
        <p:nvSpPr>
          <p:cNvPr id="3" name="TextBox 2"/>
          <p:cNvSpPr txBox="1"/>
          <p:nvPr/>
        </p:nvSpPr>
        <p:spPr>
          <a:xfrm>
            <a:off x="1520945" y="2343088"/>
            <a:ext cx="3027432" cy="523220"/>
          </a:xfrm>
          <a:prstGeom prst="rect">
            <a:avLst/>
          </a:prstGeom>
          <a:noFill/>
        </p:spPr>
        <p:txBody>
          <a:bodyPr wrap="none" rtlCol="0">
            <a:spAutoFit/>
          </a:bodyPr>
          <a:lstStyle/>
          <a:p>
            <a:r>
              <a:rPr lang="en-US" sz="2800" b="1" dirty="0">
                <a:solidFill>
                  <a:srgbClr val="FF0000"/>
                </a:solidFill>
              </a:rPr>
              <a:t>No apparent issues</a:t>
            </a:r>
          </a:p>
        </p:txBody>
      </p:sp>
      <p:sp>
        <p:nvSpPr>
          <p:cNvPr id="13" name="TextBox 12"/>
          <p:cNvSpPr txBox="1"/>
          <p:nvPr/>
        </p:nvSpPr>
        <p:spPr>
          <a:xfrm>
            <a:off x="7190301" y="2363515"/>
            <a:ext cx="1445076" cy="523220"/>
          </a:xfrm>
          <a:prstGeom prst="rect">
            <a:avLst/>
          </a:prstGeom>
          <a:noFill/>
        </p:spPr>
        <p:txBody>
          <a:bodyPr wrap="none" rtlCol="0">
            <a:spAutoFit/>
          </a:bodyPr>
          <a:lstStyle/>
          <a:p>
            <a:r>
              <a:rPr lang="en-US" sz="2800" b="1" dirty="0">
                <a:solidFill>
                  <a:srgbClr val="FF0000"/>
                </a:solidFill>
              </a:rPr>
              <a:t>Problem</a:t>
            </a:r>
          </a:p>
        </p:txBody>
      </p:sp>
      <p:sp>
        <p:nvSpPr>
          <p:cNvPr id="9" name="Right Triangle 8"/>
          <p:cNvSpPr/>
          <p:nvPr/>
        </p:nvSpPr>
        <p:spPr>
          <a:xfrm flipH="1">
            <a:off x="7117731" y="2386945"/>
            <a:ext cx="3423411" cy="3020032"/>
          </a:xfrm>
          <a:prstGeom prst="rtTriangl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77034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9"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14077" y="1181818"/>
            <a:ext cx="5786974" cy="5443571"/>
          </a:xfrm>
          <a:prstGeom prst="rect">
            <a:avLst/>
          </a:prstGeom>
        </p:spPr>
      </p:pic>
      <p:sp>
        <p:nvSpPr>
          <p:cNvPr id="2" name="Title 1"/>
          <p:cNvSpPr>
            <a:spLocks noGrp="1"/>
          </p:cNvSpPr>
          <p:nvPr>
            <p:ph type="title"/>
          </p:nvPr>
        </p:nvSpPr>
        <p:spPr/>
        <p:txBody>
          <a:bodyPr/>
          <a:lstStyle/>
          <a:p>
            <a:r>
              <a:rPr lang="en-US" dirty="0"/>
              <a:t>Diagnostic plot 4:</a:t>
            </a:r>
            <a:br>
              <a:rPr lang="en-US" dirty="0"/>
            </a:br>
            <a:r>
              <a:rPr lang="en-US" sz="2800" dirty="0"/>
              <a:t>Residuals verses Leverage</a:t>
            </a:r>
          </a:p>
        </p:txBody>
      </p:sp>
      <p:sp>
        <p:nvSpPr>
          <p:cNvPr id="3" name="Content Placeholder 2"/>
          <p:cNvSpPr>
            <a:spLocks noGrp="1"/>
          </p:cNvSpPr>
          <p:nvPr>
            <p:ph idx="1"/>
          </p:nvPr>
        </p:nvSpPr>
        <p:spPr>
          <a:xfrm>
            <a:off x="838200" y="1825624"/>
            <a:ext cx="5742834" cy="4543091"/>
          </a:xfrm>
        </p:spPr>
        <p:txBody>
          <a:bodyPr/>
          <a:lstStyle/>
          <a:p>
            <a:r>
              <a:rPr lang="en-US" dirty="0"/>
              <a:t>This plot lets you look at “leverage”, or how much any individual point can influence the results</a:t>
            </a:r>
          </a:p>
          <a:p>
            <a:pPr lvl="1"/>
            <a:r>
              <a:rPr lang="en-US" dirty="0"/>
              <a:t>May or may not appear as an outlier in the original data; these are the points that “buck the trend”</a:t>
            </a:r>
          </a:p>
          <a:p>
            <a:r>
              <a:rPr lang="en-US" dirty="0"/>
              <a:t>Again, look for any outliers or extreme values</a:t>
            </a:r>
          </a:p>
        </p:txBody>
      </p:sp>
    </p:spTree>
    <p:extLst>
      <p:ext uri="{BB962C8B-B14F-4D97-AF65-F5344CB8AC3E}">
        <p14:creationId xmlns:p14="http://schemas.microsoft.com/office/powerpoint/2010/main" val="897619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rotWithShape="1">
          <a:blip r:embed="rId3">
            <a:extLst>
              <a:ext uri="{28A0092B-C50C-407E-A947-70E740481C1C}">
                <a14:useLocalDpi xmlns:a14="http://schemas.microsoft.com/office/drawing/2010/main" val="0"/>
              </a:ext>
            </a:extLst>
          </a:blip>
          <a:srcRect l="48565" t="19048"/>
          <a:stretch/>
        </p:blipFill>
        <p:spPr>
          <a:xfrm>
            <a:off x="6125028" y="2313061"/>
            <a:ext cx="5718055" cy="4499810"/>
          </a:xfrm>
          <a:prstGeom prst="rect">
            <a:avLst/>
          </a:prstGeom>
        </p:spPr>
      </p:pic>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t="19048" r="51159"/>
          <a:stretch/>
        </p:blipFill>
        <p:spPr>
          <a:xfrm>
            <a:off x="825864" y="2358190"/>
            <a:ext cx="5429793" cy="4499810"/>
          </a:xfrm>
          <a:prstGeom prst="rect">
            <a:avLst/>
          </a:prstGeom>
        </p:spPr>
      </p:pic>
      <p:sp>
        <p:nvSpPr>
          <p:cNvPr id="2" name="Title 1"/>
          <p:cNvSpPr>
            <a:spLocks noGrp="1"/>
          </p:cNvSpPr>
          <p:nvPr>
            <p:ph type="title"/>
          </p:nvPr>
        </p:nvSpPr>
        <p:spPr/>
        <p:txBody>
          <a:bodyPr/>
          <a:lstStyle/>
          <a:p>
            <a:r>
              <a:rPr lang="en-US" dirty="0"/>
              <a:t>Diagnostic plot 4:</a:t>
            </a:r>
            <a:br>
              <a:rPr lang="en-US" dirty="0"/>
            </a:br>
            <a:r>
              <a:rPr lang="en-US" sz="2800" dirty="0"/>
              <a:t>Residuals verses Leverage</a:t>
            </a:r>
            <a:endParaRPr lang="en-US" dirty="0"/>
          </a:p>
        </p:txBody>
      </p:sp>
      <p:sp>
        <p:nvSpPr>
          <p:cNvPr id="3" name="Content Placeholder 2"/>
          <p:cNvSpPr>
            <a:spLocks noGrp="1"/>
          </p:cNvSpPr>
          <p:nvPr>
            <p:ph idx="1"/>
          </p:nvPr>
        </p:nvSpPr>
        <p:spPr>
          <a:xfrm>
            <a:off x="725906" y="1825625"/>
            <a:ext cx="11674642" cy="532564"/>
          </a:xfrm>
        </p:spPr>
        <p:txBody>
          <a:bodyPr/>
          <a:lstStyle/>
          <a:p>
            <a:r>
              <a:rPr lang="en-US" dirty="0"/>
              <a:t>This plot looks a little different with unbalanced/quantitative data</a:t>
            </a:r>
          </a:p>
        </p:txBody>
      </p:sp>
      <p:sp>
        <p:nvSpPr>
          <p:cNvPr id="4" name="TextBox 3"/>
          <p:cNvSpPr txBox="1"/>
          <p:nvPr/>
        </p:nvSpPr>
        <p:spPr>
          <a:xfrm>
            <a:off x="0" y="6273225"/>
            <a:ext cx="2453833" cy="584775"/>
          </a:xfrm>
          <a:prstGeom prst="rect">
            <a:avLst/>
          </a:prstGeom>
          <a:noFill/>
        </p:spPr>
        <p:txBody>
          <a:bodyPr wrap="square" rtlCol="0">
            <a:spAutoFit/>
          </a:bodyPr>
          <a:lstStyle/>
          <a:p>
            <a:r>
              <a:rPr lang="en-US" sz="1600" i="1" dirty="0"/>
              <a:t>http://data.library.virginia.edu/diagnostic-plots/</a:t>
            </a:r>
          </a:p>
        </p:txBody>
      </p:sp>
      <p:sp>
        <p:nvSpPr>
          <p:cNvPr id="6" name="TextBox 5"/>
          <p:cNvSpPr txBox="1"/>
          <p:nvPr/>
        </p:nvSpPr>
        <p:spPr>
          <a:xfrm>
            <a:off x="8053136" y="365125"/>
            <a:ext cx="4138863" cy="1384995"/>
          </a:xfrm>
          <a:prstGeom prst="rect">
            <a:avLst/>
          </a:prstGeom>
          <a:noFill/>
        </p:spPr>
        <p:txBody>
          <a:bodyPr wrap="square" rtlCol="0">
            <a:spAutoFit/>
          </a:bodyPr>
          <a:lstStyle/>
          <a:p>
            <a:r>
              <a:rPr lang="en-US" sz="2800" b="1" dirty="0">
                <a:solidFill>
                  <a:srgbClr val="FF0000"/>
                </a:solidFill>
              </a:rPr>
              <a:t>Cook’s distance guidelines; anything outside these has excess leverage</a:t>
            </a:r>
          </a:p>
        </p:txBody>
      </p:sp>
      <p:cxnSp>
        <p:nvCxnSpPr>
          <p:cNvPr id="8" name="Straight Arrow Connector 7"/>
          <p:cNvCxnSpPr/>
          <p:nvPr/>
        </p:nvCxnSpPr>
        <p:spPr>
          <a:xfrm flipH="1">
            <a:off x="8775032" y="1825625"/>
            <a:ext cx="80210" cy="1446964"/>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4759160" y="5911766"/>
            <a:ext cx="4796590" cy="523220"/>
          </a:xfrm>
          <a:prstGeom prst="rect">
            <a:avLst/>
          </a:prstGeom>
          <a:noFill/>
        </p:spPr>
        <p:txBody>
          <a:bodyPr wrap="square" rtlCol="0">
            <a:spAutoFit/>
          </a:bodyPr>
          <a:lstStyle/>
          <a:p>
            <a:r>
              <a:rPr lang="en-US" sz="2800" b="1" dirty="0">
                <a:solidFill>
                  <a:srgbClr val="FF0000"/>
                </a:solidFill>
              </a:rPr>
              <a:t>Look for problem points here</a:t>
            </a:r>
          </a:p>
        </p:txBody>
      </p:sp>
      <p:sp>
        <p:nvSpPr>
          <p:cNvPr id="12" name="Oval 11"/>
          <p:cNvSpPr/>
          <p:nvPr/>
        </p:nvSpPr>
        <p:spPr>
          <a:xfrm>
            <a:off x="9047749" y="2313061"/>
            <a:ext cx="2388116" cy="1087954"/>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10058401" y="5005137"/>
            <a:ext cx="1564106" cy="724784"/>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p:cNvCxnSpPr/>
          <p:nvPr/>
        </p:nvCxnSpPr>
        <p:spPr>
          <a:xfrm flipV="1">
            <a:off x="9047748" y="3401015"/>
            <a:ext cx="850995" cy="2641378"/>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9200148" y="5729921"/>
            <a:ext cx="1119509" cy="46487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5559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par>
                                <p:cTn id="21" presetID="10"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par>
                                <p:cTn id="24" presetID="10" presetClass="entr" presetSubtype="0" fill="hold"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500"/>
                                        <p:tgtEl>
                                          <p:spTgt spid="1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p:bldP spid="12" grpId="0" animBg="1"/>
      <p:bldP spid="13"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3">
            <a:extLst>
              <a:ext uri="{28A0092B-C50C-407E-A947-70E740481C1C}">
                <a14:useLocalDpi xmlns:a14="http://schemas.microsoft.com/office/drawing/2010/main" val="0"/>
              </a:ext>
            </a:extLst>
          </a:blip>
          <a:srcRect l="48232" t="18361" r="2765" b="13378"/>
          <a:stretch/>
        </p:blipFill>
        <p:spPr>
          <a:xfrm>
            <a:off x="6646232" y="1497836"/>
            <a:ext cx="4928937" cy="3433011"/>
          </a:xfrm>
          <a:prstGeom prst="rect">
            <a:avLst/>
          </a:prstGeom>
        </p:spPr>
      </p:pic>
      <p:sp>
        <p:nvSpPr>
          <p:cNvPr id="2" name="Title 1"/>
          <p:cNvSpPr>
            <a:spLocks noGrp="1"/>
          </p:cNvSpPr>
          <p:nvPr>
            <p:ph type="title"/>
          </p:nvPr>
        </p:nvSpPr>
        <p:spPr>
          <a:xfrm>
            <a:off x="838200" y="365125"/>
            <a:ext cx="10515600" cy="1325563"/>
          </a:xfrm>
        </p:spPr>
        <p:txBody>
          <a:bodyPr/>
          <a:lstStyle/>
          <a:p>
            <a:r>
              <a:rPr lang="en-US" dirty="0"/>
              <a:t>So what if you see a problem?</a:t>
            </a:r>
          </a:p>
        </p:txBody>
      </p:sp>
      <p:pic>
        <p:nvPicPr>
          <p:cNvPr id="4" name="Picture 3"/>
          <p:cNvPicPr>
            <a:picLocks noChangeAspect="1"/>
          </p:cNvPicPr>
          <p:nvPr/>
        </p:nvPicPr>
        <p:blipFill rotWithShape="1">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l="11326" b="13361"/>
          <a:stretch/>
        </p:blipFill>
        <p:spPr>
          <a:xfrm>
            <a:off x="1621833" y="1497836"/>
            <a:ext cx="4167787" cy="3401372"/>
          </a:xfrm>
          <a:prstGeom prst="rect">
            <a:avLst/>
          </a:prstGeom>
        </p:spPr>
      </p:pic>
      <p:sp>
        <p:nvSpPr>
          <p:cNvPr id="5" name="Rectangle 4"/>
          <p:cNvSpPr/>
          <p:nvPr/>
        </p:nvSpPr>
        <p:spPr>
          <a:xfrm>
            <a:off x="657727" y="4706357"/>
            <a:ext cx="6096000" cy="2062103"/>
          </a:xfrm>
          <a:prstGeom prst="rect">
            <a:avLst/>
          </a:prstGeom>
        </p:spPr>
        <p:txBody>
          <a:bodyPr>
            <a:spAutoFit/>
          </a:bodyPr>
          <a:lstStyle/>
          <a:p>
            <a:r>
              <a:rPr lang="en-US" sz="3200" b="1" dirty="0"/>
              <a:t>Outliers frequently mean there’s a problem with the data; best options are to either fix them or exclude them.</a:t>
            </a:r>
          </a:p>
        </p:txBody>
      </p:sp>
      <p:sp>
        <p:nvSpPr>
          <p:cNvPr id="6" name="Rectangle 5"/>
          <p:cNvSpPr/>
          <p:nvPr/>
        </p:nvSpPr>
        <p:spPr>
          <a:xfrm>
            <a:off x="6934200" y="4706356"/>
            <a:ext cx="5113421" cy="2062103"/>
          </a:xfrm>
          <a:prstGeom prst="rect">
            <a:avLst/>
          </a:prstGeom>
        </p:spPr>
        <p:txBody>
          <a:bodyPr wrap="square">
            <a:spAutoFit/>
          </a:bodyPr>
          <a:lstStyle/>
          <a:p>
            <a:r>
              <a:rPr lang="en-US" sz="3200" b="1" dirty="0"/>
              <a:t>Patterns usually mean there’s something you’re not capturing in your model and you should change it</a:t>
            </a:r>
          </a:p>
        </p:txBody>
      </p:sp>
      <p:sp>
        <p:nvSpPr>
          <p:cNvPr id="10" name="Oval 9"/>
          <p:cNvSpPr/>
          <p:nvPr/>
        </p:nvSpPr>
        <p:spPr>
          <a:xfrm>
            <a:off x="5151144" y="3499071"/>
            <a:ext cx="415466" cy="405898"/>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Triangle 8"/>
          <p:cNvSpPr/>
          <p:nvPr/>
        </p:nvSpPr>
        <p:spPr>
          <a:xfrm flipH="1">
            <a:off x="7745613" y="1620249"/>
            <a:ext cx="2911642" cy="2502569"/>
          </a:xfrm>
          <a:prstGeom prst="rtTriangl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53421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0" grpId="0" animBg="1"/>
      <p:bldP spid="9"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8BAD3-C1F2-4778-9C86-B64AAE3B8D55}"/>
              </a:ext>
            </a:extLst>
          </p:cNvPr>
          <p:cNvSpPr>
            <a:spLocks noGrp="1"/>
          </p:cNvSpPr>
          <p:nvPr>
            <p:ph type="title"/>
          </p:nvPr>
        </p:nvSpPr>
        <p:spPr/>
        <p:txBody>
          <a:bodyPr/>
          <a:lstStyle/>
          <a:p>
            <a:r>
              <a:rPr lang="en-US" dirty="0"/>
              <a:t>Questions on basic diagnostics?</a:t>
            </a:r>
          </a:p>
        </p:txBody>
      </p:sp>
      <p:sp>
        <p:nvSpPr>
          <p:cNvPr id="3" name="Content Placeholder 2">
            <a:extLst>
              <a:ext uri="{FF2B5EF4-FFF2-40B4-BE49-F238E27FC236}">
                <a16:creationId xmlns:a16="http://schemas.microsoft.com/office/drawing/2014/main" id="{AD395773-457D-48F2-8512-EF5B92D305A2}"/>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6393558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 function: </a:t>
            </a:r>
            <a:r>
              <a:rPr lang="en-US" dirty="0" err="1"/>
              <a:t>gvlma</a:t>
            </a:r>
            <a:r>
              <a:rPr lang="en-US" dirty="0"/>
              <a:t>()</a:t>
            </a:r>
          </a:p>
        </p:txBody>
      </p:sp>
      <p:sp>
        <p:nvSpPr>
          <p:cNvPr id="3" name="Content Placeholder 2"/>
          <p:cNvSpPr>
            <a:spLocks noGrp="1"/>
          </p:cNvSpPr>
          <p:nvPr>
            <p:ph idx="1"/>
          </p:nvPr>
        </p:nvSpPr>
        <p:spPr/>
        <p:txBody>
          <a:bodyPr/>
          <a:lstStyle/>
          <a:p>
            <a:r>
              <a:rPr lang="en-US" dirty="0"/>
              <a:t>The </a:t>
            </a:r>
            <a:r>
              <a:rPr lang="en-US" dirty="0" err="1"/>
              <a:t>gvlma</a:t>
            </a:r>
            <a:r>
              <a:rPr lang="en-US" dirty="0"/>
              <a:t>() function in the </a:t>
            </a:r>
            <a:r>
              <a:rPr lang="en-US" dirty="0" err="1"/>
              <a:t>gvlma</a:t>
            </a:r>
            <a:r>
              <a:rPr lang="en-US" dirty="0"/>
              <a:t> package can quickly test (most) linear regression assumptions for you</a:t>
            </a:r>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b="81587"/>
          <a:stretch/>
        </p:blipFill>
        <p:spPr>
          <a:xfrm>
            <a:off x="1326018" y="2743200"/>
            <a:ext cx="8355011" cy="1610718"/>
          </a:xfrm>
          <a:prstGeom prst="rect">
            <a:avLst/>
          </a:prstGeom>
        </p:spPr>
      </p:pic>
      <p:pic>
        <p:nvPicPr>
          <p:cNvPr id="5" name="Picture 4"/>
          <p:cNvPicPr>
            <a:picLocks noChangeAspect="1"/>
          </p:cNvPicPr>
          <p:nvPr/>
        </p:nvPicPr>
        <p:blipFill rotWithShape="1">
          <a:blip r:embed="rId4">
            <a:extLst>
              <a:ext uri="{28A0092B-C50C-407E-A947-70E740481C1C}">
                <a14:useLocalDpi xmlns:a14="http://schemas.microsoft.com/office/drawing/2010/main" val="0"/>
              </a:ext>
            </a:extLst>
          </a:blip>
          <a:srcRect t="58836"/>
          <a:stretch/>
        </p:blipFill>
        <p:spPr>
          <a:xfrm>
            <a:off x="1361566" y="4194627"/>
            <a:ext cx="8807281" cy="2823029"/>
          </a:xfrm>
          <a:prstGeom prst="rect">
            <a:avLst/>
          </a:prstGeom>
        </p:spPr>
      </p:pic>
      <p:sp>
        <p:nvSpPr>
          <p:cNvPr id="6" name="Rounded Rectangle 5"/>
          <p:cNvSpPr/>
          <p:nvPr/>
        </p:nvSpPr>
        <p:spPr>
          <a:xfrm>
            <a:off x="7968344" y="4847771"/>
            <a:ext cx="2156961" cy="1828800"/>
          </a:xfrm>
          <a:prstGeom prst="roundRect">
            <a:avLst/>
          </a:prstGeom>
          <a:noFill/>
          <a:ln w="762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8908962" y="4295155"/>
            <a:ext cx="3216906" cy="954107"/>
          </a:xfrm>
          <a:prstGeom prst="rect">
            <a:avLst/>
          </a:prstGeom>
          <a:noFill/>
        </p:spPr>
        <p:txBody>
          <a:bodyPr wrap="none" rtlCol="0">
            <a:spAutoFit/>
          </a:bodyPr>
          <a:lstStyle/>
          <a:p>
            <a:pPr algn="r"/>
            <a:r>
              <a:rPr lang="en-US" sz="2800" b="1" dirty="0">
                <a:solidFill>
                  <a:srgbClr val="C00000"/>
                </a:solidFill>
              </a:rPr>
              <a:t>All assumptions met</a:t>
            </a:r>
          </a:p>
          <a:p>
            <a:pPr algn="r"/>
            <a:r>
              <a:rPr lang="en-US" sz="2800" b="1" dirty="0">
                <a:solidFill>
                  <a:srgbClr val="C00000"/>
                </a:solidFill>
              </a:rPr>
              <a:t>(this time)</a:t>
            </a:r>
          </a:p>
        </p:txBody>
      </p:sp>
      <p:sp>
        <p:nvSpPr>
          <p:cNvPr id="9" name="TextBox 8">
            <a:extLst>
              <a:ext uri="{FF2B5EF4-FFF2-40B4-BE49-F238E27FC236}">
                <a16:creationId xmlns:a16="http://schemas.microsoft.com/office/drawing/2014/main" id="{BC0C4973-9AF9-4183-9BCA-F2230F999B25}"/>
              </a:ext>
            </a:extLst>
          </p:cNvPr>
          <p:cNvSpPr txBox="1"/>
          <p:nvPr/>
        </p:nvSpPr>
        <p:spPr>
          <a:xfrm>
            <a:off x="6512477" y="530433"/>
            <a:ext cx="5316849" cy="954107"/>
          </a:xfrm>
          <a:prstGeom prst="rect">
            <a:avLst/>
          </a:prstGeom>
          <a:noFill/>
        </p:spPr>
        <p:txBody>
          <a:bodyPr wrap="square" rtlCol="0">
            <a:spAutoFit/>
          </a:bodyPr>
          <a:lstStyle/>
          <a:p>
            <a:pPr algn="r"/>
            <a:r>
              <a:rPr lang="en-US" sz="2800" i="1" dirty="0">
                <a:solidFill>
                  <a:schemeClr val="accent5">
                    <a:lumMod val="75000"/>
                  </a:schemeClr>
                </a:solidFill>
              </a:rPr>
              <a:t>GVLMA = </a:t>
            </a:r>
            <a:r>
              <a:rPr lang="en-US" sz="2800" b="1" i="1" u="sng" dirty="0">
                <a:solidFill>
                  <a:schemeClr val="accent5">
                    <a:lumMod val="75000"/>
                  </a:schemeClr>
                </a:solidFill>
              </a:rPr>
              <a:t>G</a:t>
            </a:r>
            <a:r>
              <a:rPr lang="en-US" sz="2800" i="1" dirty="0">
                <a:solidFill>
                  <a:schemeClr val="accent5">
                    <a:lumMod val="75000"/>
                  </a:schemeClr>
                </a:solidFill>
              </a:rPr>
              <a:t>lobal </a:t>
            </a:r>
            <a:r>
              <a:rPr lang="en-US" sz="2800" b="1" i="1" u="sng" dirty="0">
                <a:solidFill>
                  <a:schemeClr val="accent5">
                    <a:lumMod val="75000"/>
                  </a:schemeClr>
                </a:solidFill>
              </a:rPr>
              <a:t>V</a:t>
            </a:r>
            <a:r>
              <a:rPr lang="en-US" sz="2800" i="1" dirty="0">
                <a:solidFill>
                  <a:schemeClr val="accent5">
                    <a:lumMod val="75000"/>
                  </a:schemeClr>
                </a:solidFill>
              </a:rPr>
              <a:t>alidation of </a:t>
            </a:r>
            <a:br>
              <a:rPr lang="en-US" sz="2800" i="1" dirty="0">
                <a:solidFill>
                  <a:schemeClr val="accent5">
                    <a:lumMod val="75000"/>
                  </a:schemeClr>
                </a:solidFill>
              </a:rPr>
            </a:br>
            <a:r>
              <a:rPr lang="en-US" sz="2800" b="1" i="1" u="sng" dirty="0">
                <a:solidFill>
                  <a:schemeClr val="accent5">
                    <a:lumMod val="75000"/>
                  </a:schemeClr>
                </a:solidFill>
              </a:rPr>
              <a:t>L</a:t>
            </a:r>
            <a:r>
              <a:rPr lang="en-US" sz="2800" i="1" dirty="0">
                <a:solidFill>
                  <a:schemeClr val="accent5">
                    <a:lumMod val="75000"/>
                  </a:schemeClr>
                </a:solidFill>
              </a:rPr>
              <a:t>inear </a:t>
            </a:r>
            <a:r>
              <a:rPr lang="en-US" sz="2800" b="1" i="1" u="sng" dirty="0">
                <a:solidFill>
                  <a:schemeClr val="accent5">
                    <a:lumMod val="75000"/>
                  </a:schemeClr>
                </a:solidFill>
              </a:rPr>
              <a:t>M</a:t>
            </a:r>
            <a:r>
              <a:rPr lang="en-US" sz="2800" i="1" dirty="0">
                <a:solidFill>
                  <a:schemeClr val="accent5">
                    <a:lumMod val="75000"/>
                  </a:schemeClr>
                </a:solidFill>
              </a:rPr>
              <a:t>odel </a:t>
            </a:r>
            <a:r>
              <a:rPr lang="en-US" sz="2800" b="1" i="1" u="sng" dirty="0">
                <a:solidFill>
                  <a:schemeClr val="accent5">
                    <a:lumMod val="75000"/>
                  </a:schemeClr>
                </a:solidFill>
              </a:rPr>
              <a:t>A</a:t>
            </a:r>
            <a:r>
              <a:rPr lang="en-US" sz="2800" i="1" dirty="0">
                <a:solidFill>
                  <a:schemeClr val="accent5">
                    <a:lumMod val="75000"/>
                  </a:schemeClr>
                </a:solidFill>
              </a:rPr>
              <a:t>ssumptions</a:t>
            </a:r>
          </a:p>
        </p:txBody>
      </p:sp>
    </p:spTree>
    <p:extLst>
      <p:ext uri="{BB962C8B-B14F-4D97-AF65-F5344CB8AC3E}">
        <p14:creationId xmlns:p14="http://schemas.microsoft.com/office/powerpoint/2010/main" val="28078640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Interpreting </a:t>
            </a:r>
            <a:r>
              <a:rPr lang="en-US" dirty="0" err="1"/>
              <a:t>gvlma</a:t>
            </a:r>
            <a:r>
              <a:rPr lang="en-US" dirty="0"/>
              <a:t>() output</a:t>
            </a:r>
          </a:p>
        </p:txBody>
      </p:sp>
      <p:sp>
        <p:nvSpPr>
          <p:cNvPr id="3" name="Content Placeholder 2"/>
          <p:cNvSpPr>
            <a:spLocks noGrp="1"/>
          </p:cNvSpPr>
          <p:nvPr>
            <p:ph idx="1"/>
          </p:nvPr>
        </p:nvSpPr>
        <p:spPr/>
        <p:txBody>
          <a:bodyPr/>
          <a:lstStyle/>
          <a:p>
            <a:r>
              <a:rPr lang="en-US" dirty="0"/>
              <a:t>These tests (sort of) line up against our assumptions</a:t>
            </a:r>
          </a:p>
          <a:p>
            <a:pPr lvl="1"/>
            <a:r>
              <a:rPr lang="en-US" dirty="0"/>
              <a:t>(Note that they don’t test uncorrelated variables)</a:t>
            </a:r>
          </a:p>
        </p:txBody>
      </p:sp>
      <p:sp>
        <p:nvSpPr>
          <p:cNvPr id="5" name="TextBox 4"/>
          <p:cNvSpPr txBox="1"/>
          <p:nvPr/>
        </p:nvSpPr>
        <p:spPr>
          <a:xfrm>
            <a:off x="414864" y="4485393"/>
            <a:ext cx="3008901" cy="461665"/>
          </a:xfrm>
          <a:prstGeom prst="rect">
            <a:avLst/>
          </a:prstGeom>
          <a:noFill/>
        </p:spPr>
        <p:txBody>
          <a:bodyPr wrap="none" rtlCol="0">
            <a:spAutoFit/>
          </a:bodyPr>
          <a:lstStyle/>
          <a:p>
            <a:pPr algn="r"/>
            <a:r>
              <a:rPr lang="en-US" sz="2400" b="1" dirty="0">
                <a:solidFill>
                  <a:schemeClr val="accent2">
                    <a:lumMod val="75000"/>
                  </a:schemeClr>
                </a:solidFill>
              </a:rPr>
              <a:t>Normality of residuals</a:t>
            </a:r>
          </a:p>
        </p:txBody>
      </p:sp>
      <p:sp>
        <p:nvSpPr>
          <p:cNvPr id="6" name="TextBox 5"/>
          <p:cNvSpPr txBox="1"/>
          <p:nvPr/>
        </p:nvSpPr>
        <p:spPr>
          <a:xfrm>
            <a:off x="2123409" y="5136531"/>
            <a:ext cx="1300356" cy="461665"/>
          </a:xfrm>
          <a:prstGeom prst="rect">
            <a:avLst/>
          </a:prstGeom>
          <a:noFill/>
        </p:spPr>
        <p:txBody>
          <a:bodyPr wrap="none" rtlCol="0">
            <a:spAutoFit/>
          </a:bodyPr>
          <a:lstStyle/>
          <a:p>
            <a:pPr algn="r"/>
            <a:r>
              <a:rPr lang="en-US" sz="2400" b="1" dirty="0">
                <a:solidFill>
                  <a:schemeClr val="accent2">
                    <a:lumMod val="75000"/>
                  </a:schemeClr>
                </a:solidFill>
              </a:rPr>
              <a:t>Linearity</a:t>
            </a:r>
          </a:p>
        </p:txBody>
      </p:sp>
      <p:sp>
        <p:nvSpPr>
          <p:cNvPr id="7" name="TextBox 6"/>
          <p:cNvSpPr txBox="1"/>
          <p:nvPr/>
        </p:nvSpPr>
        <p:spPr>
          <a:xfrm>
            <a:off x="1386989" y="5641678"/>
            <a:ext cx="2036776" cy="461665"/>
          </a:xfrm>
          <a:prstGeom prst="rect">
            <a:avLst/>
          </a:prstGeom>
          <a:noFill/>
        </p:spPr>
        <p:txBody>
          <a:bodyPr wrap="none" rtlCol="0">
            <a:spAutoFit/>
          </a:bodyPr>
          <a:lstStyle/>
          <a:p>
            <a:pPr algn="r"/>
            <a:r>
              <a:rPr lang="en-US" sz="2400" b="1" dirty="0">
                <a:solidFill>
                  <a:schemeClr val="accent2">
                    <a:lumMod val="75000"/>
                  </a:schemeClr>
                </a:solidFill>
              </a:rPr>
              <a:t>Equal variance</a:t>
            </a:r>
          </a:p>
        </p:txBody>
      </p:sp>
      <p:sp>
        <p:nvSpPr>
          <p:cNvPr id="8" name="TextBox 7"/>
          <p:cNvSpPr txBox="1"/>
          <p:nvPr/>
        </p:nvSpPr>
        <p:spPr>
          <a:xfrm>
            <a:off x="324903" y="3779675"/>
            <a:ext cx="3098862" cy="461665"/>
          </a:xfrm>
          <a:prstGeom prst="rect">
            <a:avLst/>
          </a:prstGeom>
          <a:noFill/>
        </p:spPr>
        <p:txBody>
          <a:bodyPr wrap="none" rtlCol="0">
            <a:spAutoFit/>
          </a:bodyPr>
          <a:lstStyle/>
          <a:p>
            <a:pPr algn="r"/>
            <a:r>
              <a:rPr lang="en-US" sz="2400" b="1" dirty="0">
                <a:solidFill>
                  <a:schemeClr val="accent2">
                    <a:lumMod val="75000"/>
                  </a:schemeClr>
                </a:solidFill>
              </a:rPr>
              <a:t>Residuals uncorrelated</a:t>
            </a:r>
          </a:p>
        </p:txBody>
      </p:sp>
      <p:grpSp>
        <p:nvGrpSpPr>
          <p:cNvPr id="10" name="Group 9"/>
          <p:cNvGrpSpPr/>
          <p:nvPr/>
        </p:nvGrpSpPr>
        <p:grpSpPr>
          <a:xfrm>
            <a:off x="3621753" y="2997201"/>
            <a:ext cx="8372128" cy="3535680"/>
            <a:chOff x="5165533" y="3312749"/>
            <a:chExt cx="6879147" cy="2905171"/>
          </a:xfrm>
        </p:grpSpPr>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l="33918" t="58836"/>
            <a:stretch/>
          </p:blipFill>
          <p:spPr>
            <a:xfrm>
              <a:off x="6055359" y="3312749"/>
              <a:ext cx="5989321" cy="2905171"/>
            </a:xfrm>
            <a:prstGeom prst="rect">
              <a:avLst/>
            </a:prstGeom>
          </p:spPr>
        </p:pic>
        <p:pic>
          <p:nvPicPr>
            <p:cNvPr id="9" name="Picture 8"/>
            <p:cNvPicPr>
              <a:picLocks noChangeAspect="1"/>
            </p:cNvPicPr>
            <p:nvPr/>
          </p:nvPicPr>
          <p:blipFill rotWithShape="1">
            <a:blip r:embed="rId3">
              <a:extLst>
                <a:ext uri="{28A0092B-C50C-407E-A947-70E740481C1C}">
                  <a14:useLocalDpi xmlns:a14="http://schemas.microsoft.com/office/drawing/2010/main" val="0"/>
                </a:ext>
              </a:extLst>
            </a:blip>
            <a:srcRect t="58836" r="80094"/>
            <a:stretch/>
          </p:blipFill>
          <p:spPr>
            <a:xfrm>
              <a:off x="5165533" y="3312749"/>
              <a:ext cx="1804227" cy="2905171"/>
            </a:xfrm>
            <a:prstGeom prst="rect">
              <a:avLst/>
            </a:prstGeom>
          </p:spPr>
        </p:pic>
      </p:grpSp>
      <p:sp>
        <p:nvSpPr>
          <p:cNvPr id="11" name="Left Brace 10"/>
          <p:cNvSpPr/>
          <p:nvPr/>
        </p:nvSpPr>
        <p:spPr>
          <a:xfrm>
            <a:off x="3454245" y="4353371"/>
            <a:ext cx="294795" cy="750539"/>
          </a:xfrm>
          <a:prstGeom prst="leftBrac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accent2">
                  <a:lumMod val="75000"/>
                </a:schemeClr>
              </a:solidFill>
            </a:endParaRPr>
          </a:p>
        </p:txBody>
      </p:sp>
    </p:spTree>
    <p:extLst>
      <p:ext uri="{BB962C8B-B14F-4D97-AF65-F5344CB8AC3E}">
        <p14:creationId xmlns:p14="http://schemas.microsoft.com/office/powerpoint/2010/main" val="2333385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397D5-9CFD-4C55-A07E-DCBF2C4FB5A3}"/>
              </a:ext>
            </a:extLst>
          </p:cNvPr>
          <p:cNvSpPr>
            <a:spLocks noGrp="1"/>
          </p:cNvSpPr>
          <p:nvPr>
            <p:ph type="title"/>
          </p:nvPr>
        </p:nvSpPr>
        <p:spPr/>
        <p:txBody>
          <a:bodyPr/>
          <a:lstStyle/>
          <a:p>
            <a:r>
              <a:rPr lang="en-US" dirty="0"/>
              <a:t>Plotting with </a:t>
            </a:r>
            <a:r>
              <a:rPr lang="en-US" dirty="0" err="1"/>
              <a:t>gvlma</a:t>
            </a:r>
            <a:r>
              <a:rPr lang="en-US" dirty="0"/>
              <a:t>()</a:t>
            </a:r>
          </a:p>
        </p:txBody>
      </p:sp>
      <p:sp>
        <p:nvSpPr>
          <p:cNvPr id="3" name="Content Placeholder 2">
            <a:extLst>
              <a:ext uri="{FF2B5EF4-FFF2-40B4-BE49-F238E27FC236}">
                <a16:creationId xmlns:a16="http://schemas.microsoft.com/office/drawing/2014/main" id="{00250C33-63CA-4635-8028-BC17A646F88E}"/>
              </a:ext>
            </a:extLst>
          </p:cNvPr>
          <p:cNvSpPr>
            <a:spLocks noGrp="1"/>
          </p:cNvSpPr>
          <p:nvPr>
            <p:ph idx="1"/>
          </p:nvPr>
        </p:nvSpPr>
        <p:spPr/>
        <p:txBody>
          <a:bodyPr/>
          <a:lstStyle/>
          <a:p>
            <a:r>
              <a:rPr lang="en-US" dirty="0"/>
              <a:t>You can also plot the outcome of </a:t>
            </a:r>
            <a:r>
              <a:rPr lang="en-US" dirty="0" err="1"/>
              <a:t>gvlma</a:t>
            </a:r>
            <a:r>
              <a:rPr lang="en-US" dirty="0"/>
              <a:t>()</a:t>
            </a:r>
          </a:p>
          <a:p>
            <a:endParaRPr lang="en-US" dirty="0"/>
          </a:p>
          <a:p>
            <a:endParaRPr lang="en-US" dirty="0"/>
          </a:p>
          <a:p>
            <a:endParaRPr lang="en-US" dirty="0"/>
          </a:p>
          <a:p>
            <a:r>
              <a:rPr lang="en-US" dirty="0"/>
              <a:t>Results are similar to basic plotting, but with:</a:t>
            </a:r>
          </a:p>
          <a:p>
            <a:pPr lvl="1"/>
            <a:r>
              <a:rPr lang="en-US" dirty="0"/>
              <a:t>More plots looking at factor levels</a:t>
            </a:r>
          </a:p>
          <a:p>
            <a:pPr lvl="1"/>
            <a:r>
              <a:rPr lang="en-US" dirty="0"/>
              <a:t>Histogram and scatterplots included</a:t>
            </a:r>
          </a:p>
          <a:p>
            <a:pPr lvl="1"/>
            <a:r>
              <a:rPr lang="en-US" i="1" dirty="0"/>
              <a:t>Note: “Time sequence” usually means the order the data is in.</a:t>
            </a:r>
          </a:p>
        </p:txBody>
      </p:sp>
      <p:pic>
        <p:nvPicPr>
          <p:cNvPr id="5" name="Picture 4">
            <a:extLst>
              <a:ext uri="{FF2B5EF4-FFF2-40B4-BE49-F238E27FC236}">
                <a16:creationId xmlns:a16="http://schemas.microsoft.com/office/drawing/2014/main" id="{7CBA4049-FC4D-4695-9826-F6A3CDC0A4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58667" y="2531783"/>
            <a:ext cx="5822248" cy="1487557"/>
          </a:xfrm>
          <a:prstGeom prst="rect">
            <a:avLst/>
          </a:prstGeom>
        </p:spPr>
      </p:pic>
      <p:sp>
        <p:nvSpPr>
          <p:cNvPr id="6" name="TextBox 5">
            <a:extLst>
              <a:ext uri="{FF2B5EF4-FFF2-40B4-BE49-F238E27FC236}">
                <a16:creationId xmlns:a16="http://schemas.microsoft.com/office/drawing/2014/main" id="{18FAFAB7-D3F0-4BB5-80FE-D3E88119CF67}"/>
              </a:ext>
            </a:extLst>
          </p:cNvPr>
          <p:cNvSpPr txBox="1"/>
          <p:nvPr/>
        </p:nvSpPr>
        <p:spPr>
          <a:xfrm>
            <a:off x="8354290" y="3188343"/>
            <a:ext cx="3910822" cy="830997"/>
          </a:xfrm>
          <a:prstGeom prst="rect">
            <a:avLst/>
          </a:prstGeom>
          <a:noFill/>
        </p:spPr>
        <p:txBody>
          <a:bodyPr wrap="square" rtlCol="0">
            <a:spAutoFit/>
          </a:bodyPr>
          <a:lstStyle/>
          <a:p>
            <a:r>
              <a:rPr lang="en-US" sz="2400" b="1" dirty="0">
                <a:solidFill>
                  <a:schemeClr val="accent2">
                    <a:lumMod val="75000"/>
                  </a:schemeClr>
                </a:solidFill>
              </a:rPr>
              <a:t>So doesn’t try to cram everything into a single plot</a:t>
            </a:r>
          </a:p>
        </p:txBody>
      </p:sp>
      <p:sp>
        <p:nvSpPr>
          <p:cNvPr id="7" name="Rectangle: Rounded Corners 6">
            <a:extLst>
              <a:ext uri="{FF2B5EF4-FFF2-40B4-BE49-F238E27FC236}">
                <a16:creationId xmlns:a16="http://schemas.microsoft.com/office/drawing/2014/main" id="{63D1208E-38B8-4A51-B4AB-2B438E22B868}"/>
              </a:ext>
            </a:extLst>
          </p:cNvPr>
          <p:cNvSpPr/>
          <p:nvPr/>
        </p:nvSpPr>
        <p:spPr>
          <a:xfrm>
            <a:off x="4956464" y="3397827"/>
            <a:ext cx="2140527" cy="332509"/>
          </a:xfrm>
          <a:prstGeom prst="roundRect">
            <a:avLst/>
          </a:prstGeom>
          <a:noFill/>
          <a:ln w="571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B2F06E27-63B9-4DBD-A9D1-C5FF1755CA1C}"/>
              </a:ext>
            </a:extLst>
          </p:cNvPr>
          <p:cNvCxnSpPr>
            <a:stCxn id="7" idx="3"/>
            <a:endCxn id="6" idx="1"/>
          </p:cNvCxnSpPr>
          <p:nvPr/>
        </p:nvCxnSpPr>
        <p:spPr>
          <a:xfrm>
            <a:off x="7096991" y="3564082"/>
            <a:ext cx="1257299" cy="39760"/>
          </a:xfrm>
          <a:prstGeom prst="line">
            <a:avLst/>
          </a:prstGeom>
          <a:ln w="571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4640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7A9F8-148C-4280-A436-D01AD6E44700}"/>
              </a:ext>
            </a:extLst>
          </p:cNvPr>
          <p:cNvSpPr>
            <a:spLocks noGrp="1"/>
          </p:cNvSpPr>
          <p:nvPr>
            <p:ph type="title"/>
          </p:nvPr>
        </p:nvSpPr>
        <p:spPr/>
        <p:txBody>
          <a:bodyPr/>
          <a:lstStyle/>
          <a:p>
            <a:r>
              <a:rPr lang="en-US" dirty="0"/>
              <a:t>Alternative: </a:t>
            </a:r>
            <a:r>
              <a:rPr lang="en-US" dirty="0" err="1"/>
              <a:t>check_model</a:t>
            </a:r>
            <a:r>
              <a:rPr lang="en-US" dirty="0"/>
              <a:t>()</a:t>
            </a:r>
          </a:p>
        </p:txBody>
      </p:sp>
      <p:sp>
        <p:nvSpPr>
          <p:cNvPr id="3" name="Content Placeholder 2">
            <a:extLst>
              <a:ext uri="{FF2B5EF4-FFF2-40B4-BE49-F238E27FC236}">
                <a16:creationId xmlns:a16="http://schemas.microsoft.com/office/drawing/2014/main" id="{839B67C8-04EF-4140-B8FE-E656172CEDBD}"/>
              </a:ext>
            </a:extLst>
          </p:cNvPr>
          <p:cNvSpPr>
            <a:spLocks noGrp="1"/>
          </p:cNvSpPr>
          <p:nvPr>
            <p:ph idx="1"/>
          </p:nvPr>
        </p:nvSpPr>
        <p:spPr>
          <a:xfrm>
            <a:off x="838199" y="1825624"/>
            <a:ext cx="3564543" cy="3747861"/>
          </a:xfrm>
        </p:spPr>
        <p:txBody>
          <a:bodyPr/>
          <a:lstStyle/>
          <a:p>
            <a:r>
              <a:rPr lang="en-US" dirty="0"/>
              <a:t>The </a:t>
            </a:r>
            <a:r>
              <a:rPr lang="en-US" dirty="0" err="1"/>
              <a:t>check_model</a:t>
            </a:r>
            <a:r>
              <a:rPr lang="en-US" dirty="0"/>
              <a:t>() function in the performance package also runs tests and gives graphical output (&amp; guidance)</a:t>
            </a:r>
          </a:p>
        </p:txBody>
      </p:sp>
      <p:pic>
        <p:nvPicPr>
          <p:cNvPr id="5" name="Picture 4">
            <a:extLst>
              <a:ext uri="{FF2B5EF4-FFF2-40B4-BE49-F238E27FC236}">
                <a16:creationId xmlns:a16="http://schemas.microsoft.com/office/drawing/2014/main" id="{8A38BA84-1358-4683-852E-AB136D1179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02743" y="1480367"/>
            <a:ext cx="4433043" cy="690513"/>
          </a:xfrm>
          <a:prstGeom prst="rect">
            <a:avLst/>
          </a:prstGeom>
        </p:spPr>
      </p:pic>
      <p:pic>
        <p:nvPicPr>
          <p:cNvPr id="7" name="Picture 6">
            <a:extLst>
              <a:ext uri="{FF2B5EF4-FFF2-40B4-BE49-F238E27FC236}">
                <a16:creationId xmlns:a16="http://schemas.microsoft.com/office/drawing/2014/main" id="{6295CD56-50EB-4D8C-AAD9-A2A4CEB30D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02743" y="2135326"/>
            <a:ext cx="7645386" cy="4722674"/>
          </a:xfrm>
          <a:prstGeom prst="rect">
            <a:avLst/>
          </a:prstGeom>
        </p:spPr>
      </p:pic>
    </p:spTree>
    <p:extLst>
      <p:ext uri="{BB962C8B-B14F-4D97-AF65-F5344CB8AC3E}">
        <p14:creationId xmlns:p14="http://schemas.microsoft.com/office/powerpoint/2010/main" val="1428895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a:t>
            </a:r>
            <a:br>
              <a:rPr lang="en-US" dirty="0"/>
            </a:br>
            <a:r>
              <a:rPr lang="en-US" sz="2800" dirty="0"/>
              <a:t>Model diagnostics</a:t>
            </a:r>
            <a:endParaRPr lang="en-US" dirty="0"/>
          </a:p>
        </p:txBody>
      </p:sp>
      <p:sp>
        <p:nvSpPr>
          <p:cNvPr id="3" name="Content Placeholder 2"/>
          <p:cNvSpPr>
            <a:spLocks noGrp="1"/>
          </p:cNvSpPr>
          <p:nvPr>
            <p:ph idx="1"/>
          </p:nvPr>
        </p:nvSpPr>
        <p:spPr>
          <a:xfrm>
            <a:off x="838201" y="1825625"/>
            <a:ext cx="6296130" cy="4110718"/>
          </a:xfrm>
        </p:spPr>
        <p:txBody>
          <a:bodyPr/>
          <a:lstStyle/>
          <a:p>
            <a:r>
              <a:rPr lang="en-US" dirty="0"/>
              <a:t>Download “15_sunflower.csv” on sunflower </a:t>
            </a:r>
            <a:r>
              <a:rPr lang="en-US"/>
              <a:t>oil content. </a:t>
            </a:r>
            <a:endParaRPr lang="en-US" dirty="0"/>
          </a:p>
          <a:p>
            <a:pPr lvl="1"/>
            <a:r>
              <a:rPr lang="en-US" dirty="0"/>
              <a:t>Fit a model &amp; check your assumptions</a:t>
            </a:r>
          </a:p>
          <a:p>
            <a:pPr lvl="1"/>
            <a:r>
              <a:rPr lang="en-US" dirty="0"/>
              <a:t>Plot the diagnostics</a:t>
            </a:r>
          </a:p>
          <a:p>
            <a:pPr lvl="1"/>
            <a:r>
              <a:rPr lang="en-US" dirty="0"/>
              <a:t>Do you see any outliers or other problems?</a:t>
            </a:r>
          </a:p>
          <a:p>
            <a:pPr lvl="1"/>
            <a:r>
              <a:rPr lang="en-US" dirty="0"/>
              <a:t>If so, how would you solve them?</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24915" y="-31447"/>
            <a:ext cx="5167086" cy="6889447"/>
          </a:xfrm>
          <a:prstGeom prst="rect">
            <a:avLst/>
          </a:prstGeom>
        </p:spPr>
      </p:pic>
    </p:spTree>
    <p:extLst>
      <p:ext uri="{BB962C8B-B14F-4D97-AF65-F5344CB8AC3E}">
        <p14:creationId xmlns:p14="http://schemas.microsoft.com/office/powerpoint/2010/main" val="1695531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a:t>
            </a:r>
            <a:br>
              <a:rPr lang="en-US" dirty="0"/>
            </a:br>
            <a:r>
              <a:rPr lang="en-US" sz="2800" dirty="0"/>
              <a:t>Model diagnostics</a:t>
            </a:r>
            <a:endParaRPr lang="en-US" dirty="0"/>
          </a:p>
        </p:txBody>
      </p:sp>
      <p:sp>
        <p:nvSpPr>
          <p:cNvPr id="10" name="&quot;No&quot; Symbol 9"/>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4" name="Picture 3">
            <a:extLst>
              <a:ext uri="{FF2B5EF4-FFF2-40B4-BE49-F238E27FC236}">
                <a16:creationId xmlns:a16="http://schemas.microsoft.com/office/drawing/2014/main" id="{4E6D4CC8-07E4-438C-BF4C-629DE8BC421F}"/>
              </a:ext>
            </a:extLst>
          </p:cNvPr>
          <p:cNvPicPr>
            <a:picLocks noChangeAspect="1"/>
          </p:cNvPicPr>
          <p:nvPr/>
        </p:nvPicPr>
        <p:blipFill rotWithShape="1">
          <a:blip r:embed="rId2">
            <a:extLst>
              <a:ext uri="{28A0092B-C50C-407E-A947-70E740481C1C}">
                <a14:useLocalDpi xmlns:a14="http://schemas.microsoft.com/office/drawing/2010/main" val="0"/>
              </a:ext>
            </a:extLst>
          </a:blip>
          <a:srcRect t="23777"/>
          <a:stretch/>
        </p:blipFill>
        <p:spPr>
          <a:xfrm>
            <a:off x="1315721" y="3054000"/>
            <a:ext cx="6802120" cy="1120591"/>
          </a:xfrm>
          <a:prstGeom prst="rect">
            <a:avLst/>
          </a:prstGeom>
        </p:spPr>
      </p:pic>
      <p:sp>
        <p:nvSpPr>
          <p:cNvPr id="7" name="TextBox 6">
            <a:extLst>
              <a:ext uri="{FF2B5EF4-FFF2-40B4-BE49-F238E27FC236}">
                <a16:creationId xmlns:a16="http://schemas.microsoft.com/office/drawing/2014/main" id="{DB9E5D05-7700-4ACB-ABC2-11B0F949D63E}"/>
              </a:ext>
            </a:extLst>
          </p:cNvPr>
          <p:cNvSpPr txBox="1"/>
          <p:nvPr/>
        </p:nvSpPr>
        <p:spPr>
          <a:xfrm>
            <a:off x="838200" y="2336800"/>
            <a:ext cx="1164101" cy="584775"/>
          </a:xfrm>
          <a:prstGeom prst="rect">
            <a:avLst/>
          </a:prstGeom>
          <a:noFill/>
        </p:spPr>
        <p:txBody>
          <a:bodyPr wrap="none" rtlCol="0">
            <a:spAutoFit/>
          </a:bodyPr>
          <a:lstStyle/>
          <a:p>
            <a:r>
              <a:rPr lang="en-US" sz="3200" b="1" dirty="0">
                <a:solidFill>
                  <a:schemeClr val="accent2"/>
                </a:solidFill>
              </a:rPr>
              <a:t>Code:</a:t>
            </a:r>
          </a:p>
        </p:txBody>
      </p:sp>
    </p:spTree>
    <p:extLst>
      <p:ext uri="{BB962C8B-B14F-4D97-AF65-F5344CB8AC3E}">
        <p14:creationId xmlns:p14="http://schemas.microsoft.com/office/powerpoint/2010/main" val="214334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a:t>
            </a:r>
            <a:br>
              <a:rPr lang="en-US" dirty="0"/>
            </a:br>
            <a:r>
              <a:rPr lang="en-US" sz="2800" dirty="0"/>
              <a:t>Model diagnostics</a:t>
            </a:r>
            <a:endParaRPr lang="en-US" dirty="0"/>
          </a:p>
        </p:txBody>
      </p:sp>
      <p:sp>
        <p:nvSpPr>
          <p:cNvPr id="10" name="&quot;No&quot; Symbol 9"/>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7841" y="1560548"/>
            <a:ext cx="8656318" cy="5342184"/>
          </a:xfrm>
          <a:prstGeom prst="rect">
            <a:avLst/>
          </a:prstGeom>
        </p:spPr>
      </p:pic>
      <p:sp>
        <p:nvSpPr>
          <p:cNvPr id="3" name="TextBox 2">
            <a:extLst>
              <a:ext uri="{FF2B5EF4-FFF2-40B4-BE49-F238E27FC236}">
                <a16:creationId xmlns:a16="http://schemas.microsoft.com/office/drawing/2014/main" id="{C6481CE2-7D34-4015-B182-22C779498365}"/>
              </a:ext>
            </a:extLst>
          </p:cNvPr>
          <p:cNvSpPr txBox="1"/>
          <p:nvPr/>
        </p:nvSpPr>
        <p:spPr>
          <a:xfrm>
            <a:off x="6096000" y="2226754"/>
            <a:ext cx="2267865" cy="461665"/>
          </a:xfrm>
          <a:prstGeom prst="rect">
            <a:avLst/>
          </a:prstGeom>
          <a:noFill/>
        </p:spPr>
        <p:txBody>
          <a:bodyPr wrap="none" rtlCol="0">
            <a:spAutoFit/>
          </a:bodyPr>
          <a:lstStyle/>
          <a:p>
            <a:r>
              <a:rPr lang="en-US" sz="2400" b="1" dirty="0">
                <a:solidFill>
                  <a:srgbClr val="C00000"/>
                </a:solidFill>
              </a:rPr>
              <a:t>Possible outliers</a:t>
            </a:r>
          </a:p>
        </p:txBody>
      </p:sp>
      <p:sp>
        <p:nvSpPr>
          <p:cNvPr id="4" name="Rectangle: Rounded Corners 3">
            <a:extLst>
              <a:ext uri="{FF2B5EF4-FFF2-40B4-BE49-F238E27FC236}">
                <a16:creationId xmlns:a16="http://schemas.microsoft.com/office/drawing/2014/main" id="{77AD0C34-78C7-4C97-9875-4F297959F2D6}"/>
              </a:ext>
            </a:extLst>
          </p:cNvPr>
          <p:cNvSpPr/>
          <p:nvPr/>
        </p:nvSpPr>
        <p:spPr>
          <a:xfrm>
            <a:off x="4937760" y="2226753"/>
            <a:ext cx="4924697" cy="461665"/>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871636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a:t>
            </a:r>
            <a:br>
              <a:rPr lang="en-US" dirty="0"/>
            </a:br>
            <a:r>
              <a:rPr lang="en-US" sz="2800" dirty="0"/>
              <a:t>Model diagnostics</a:t>
            </a:r>
            <a:endParaRPr lang="en-US" dirty="0"/>
          </a:p>
        </p:txBody>
      </p:sp>
      <p:sp>
        <p:nvSpPr>
          <p:cNvPr id="10" name="&quot;No&quot; Symbol 9"/>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7841" y="1560548"/>
            <a:ext cx="8656317" cy="5342184"/>
          </a:xfrm>
          <a:prstGeom prst="rect">
            <a:avLst/>
          </a:prstGeom>
        </p:spPr>
      </p:pic>
    </p:spTree>
    <p:extLst>
      <p:ext uri="{BB962C8B-B14F-4D97-AF65-F5344CB8AC3E}">
        <p14:creationId xmlns:p14="http://schemas.microsoft.com/office/powerpoint/2010/main" val="2924232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a:t>
            </a:r>
            <a:br>
              <a:rPr lang="en-US" dirty="0"/>
            </a:br>
            <a:r>
              <a:rPr lang="en-US" sz="2800" dirty="0"/>
              <a:t>Model diagnostics</a:t>
            </a:r>
            <a:endParaRPr lang="en-US" dirty="0"/>
          </a:p>
        </p:txBody>
      </p:sp>
      <p:sp>
        <p:nvSpPr>
          <p:cNvPr id="10" name="&quot;No&quot; Symbol 9"/>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7841" y="1560548"/>
            <a:ext cx="8656317" cy="5342184"/>
          </a:xfrm>
          <a:prstGeom prst="rect">
            <a:avLst/>
          </a:prstGeom>
        </p:spPr>
      </p:pic>
    </p:spTree>
    <p:extLst>
      <p:ext uri="{BB962C8B-B14F-4D97-AF65-F5344CB8AC3E}">
        <p14:creationId xmlns:p14="http://schemas.microsoft.com/office/powerpoint/2010/main" val="2456858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a:t>
            </a:r>
            <a:br>
              <a:rPr lang="en-US" dirty="0"/>
            </a:br>
            <a:r>
              <a:rPr lang="en-US" sz="2800" dirty="0"/>
              <a:t>Model diagnostics</a:t>
            </a:r>
            <a:endParaRPr lang="en-US" dirty="0"/>
          </a:p>
        </p:txBody>
      </p:sp>
      <p:sp>
        <p:nvSpPr>
          <p:cNvPr id="10" name="&quot;No&quot; Symbol 9"/>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7841" y="1560548"/>
            <a:ext cx="8656317" cy="5342184"/>
          </a:xfrm>
          <a:prstGeom prst="rect">
            <a:avLst/>
          </a:prstGeom>
        </p:spPr>
      </p:pic>
    </p:spTree>
    <p:extLst>
      <p:ext uri="{BB962C8B-B14F-4D97-AF65-F5344CB8AC3E}">
        <p14:creationId xmlns:p14="http://schemas.microsoft.com/office/powerpoint/2010/main" val="1548235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a:t>
            </a:r>
            <a:br>
              <a:rPr lang="en-US" dirty="0"/>
            </a:br>
            <a:r>
              <a:rPr lang="en-US" sz="2800" dirty="0"/>
              <a:t>Model diagnostics</a:t>
            </a:r>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1928" y="1853216"/>
            <a:ext cx="6446383" cy="1465008"/>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928" y="3709729"/>
            <a:ext cx="9281160" cy="2663937"/>
          </a:xfrm>
          <a:prstGeom prst="rect">
            <a:avLst/>
          </a:prstGeom>
        </p:spPr>
      </p:pic>
      <p:sp>
        <p:nvSpPr>
          <p:cNvPr id="8" name="TextBox 7"/>
          <p:cNvSpPr txBox="1"/>
          <p:nvPr/>
        </p:nvSpPr>
        <p:spPr>
          <a:xfrm>
            <a:off x="1056640" y="3329310"/>
            <a:ext cx="2978316" cy="369332"/>
          </a:xfrm>
          <a:prstGeom prst="rect">
            <a:avLst/>
          </a:prstGeom>
          <a:noFill/>
        </p:spPr>
        <p:txBody>
          <a:bodyPr wrap="none" rtlCol="0">
            <a:spAutoFit/>
          </a:bodyPr>
          <a:lstStyle/>
          <a:p>
            <a:r>
              <a:rPr lang="en-US" dirty="0">
                <a:solidFill>
                  <a:schemeClr val="bg1">
                    <a:lumMod val="50000"/>
                  </a:schemeClr>
                </a:solidFill>
              </a:rPr>
              <a:t>[…</a:t>
            </a:r>
            <a:r>
              <a:rPr lang="en-US" i="1" dirty="0">
                <a:solidFill>
                  <a:schemeClr val="bg1">
                    <a:lumMod val="50000"/>
                  </a:schemeClr>
                </a:solidFill>
              </a:rPr>
              <a:t>skipped model summary….]</a:t>
            </a:r>
            <a:endParaRPr lang="en-US" dirty="0">
              <a:solidFill>
                <a:schemeClr val="bg1">
                  <a:lumMod val="50000"/>
                </a:schemeClr>
              </a:solidFill>
            </a:endParaRPr>
          </a:p>
        </p:txBody>
      </p:sp>
      <p:sp>
        <p:nvSpPr>
          <p:cNvPr id="9" name="Rounded Rectangle 8"/>
          <p:cNvSpPr/>
          <p:nvPr/>
        </p:nvSpPr>
        <p:spPr>
          <a:xfrm>
            <a:off x="7670800" y="5842000"/>
            <a:ext cx="2428240" cy="375920"/>
          </a:xfrm>
          <a:prstGeom prst="round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quot;No&quot; Symbol 9"/>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039400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a:t>
            </a:r>
            <a:br>
              <a:rPr lang="en-US" dirty="0"/>
            </a:br>
            <a:r>
              <a:rPr lang="en-US" sz="2800" dirty="0"/>
              <a:t>Model diagnostics</a:t>
            </a:r>
            <a:endParaRPr lang="en-US" dirty="0"/>
          </a:p>
        </p:txBody>
      </p:sp>
      <p:sp>
        <p:nvSpPr>
          <p:cNvPr id="10" name="&quot;No&quot; Symbol 9"/>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4" name="Picture 3">
            <a:extLst>
              <a:ext uri="{FF2B5EF4-FFF2-40B4-BE49-F238E27FC236}">
                <a16:creationId xmlns:a16="http://schemas.microsoft.com/office/drawing/2014/main" id="{C48F6D40-8978-465C-B4BD-605AC08917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82267" y="1996624"/>
            <a:ext cx="7309733" cy="4511149"/>
          </a:xfrm>
          <a:prstGeom prst="rect">
            <a:avLst/>
          </a:prstGeom>
        </p:spPr>
      </p:pic>
      <p:sp>
        <p:nvSpPr>
          <p:cNvPr id="14" name="TextBox 13">
            <a:extLst>
              <a:ext uri="{FF2B5EF4-FFF2-40B4-BE49-F238E27FC236}">
                <a16:creationId xmlns:a16="http://schemas.microsoft.com/office/drawing/2014/main" id="{B26D223F-2D47-4885-813A-E00AF1AB5A1E}"/>
              </a:ext>
            </a:extLst>
          </p:cNvPr>
          <p:cNvSpPr txBox="1"/>
          <p:nvPr/>
        </p:nvSpPr>
        <p:spPr>
          <a:xfrm>
            <a:off x="528320" y="3298091"/>
            <a:ext cx="4196080" cy="954107"/>
          </a:xfrm>
          <a:prstGeom prst="rect">
            <a:avLst/>
          </a:prstGeom>
          <a:noFill/>
        </p:spPr>
        <p:txBody>
          <a:bodyPr wrap="square" rtlCol="0">
            <a:spAutoFit/>
          </a:bodyPr>
          <a:lstStyle/>
          <a:p>
            <a:r>
              <a:rPr lang="en-US" sz="2800" b="1" dirty="0">
                <a:solidFill>
                  <a:schemeClr val="accent2"/>
                </a:solidFill>
              </a:rPr>
              <a:t>First several plots are looking at treatment levels</a:t>
            </a:r>
          </a:p>
        </p:txBody>
      </p:sp>
      <p:sp>
        <p:nvSpPr>
          <p:cNvPr id="15" name="Rectangle: Rounded Corners 14">
            <a:extLst>
              <a:ext uri="{FF2B5EF4-FFF2-40B4-BE49-F238E27FC236}">
                <a16:creationId xmlns:a16="http://schemas.microsoft.com/office/drawing/2014/main" id="{6D7DA7C3-7573-4C74-8B7A-12CFBAD86380}"/>
              </a:ext>
            </a:extLst>
          </p:cNvPr>
          <p:cNvSpPr/>
          <p:nvPr/>
        </p:nvSpPr>
        <p:spPr>
          <a:xfrm>
            <a:off x="8026400" y="6055360"/>
            <a:ext cx="1412240" cy="304800"/>
          </a:xfrm>
          <a:prstGeom prst="roundRect">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29301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a:t>
            </a:r>
            <a:br>
              <a:rPr lang="en-US" dirty="0"/>
            </a:br>
            <a:r>
              <a:rPr lang="en-US" sz="2800" dirty="0"/>
              <a:t>Model diagnostics</a:t>
            </a:r>
            <a:endParaRPr lang="en-US" dirty="0"/>
          </a:p>
        </p:txBody>
      </p:sp>
      <p:sp>
        <p:nvSpPr>
          <p:cNvPr id="10" name="&quot;No&quot; Symbol 9"/>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4" name="Picture 3">
            <a:extLst>
              <a:ext uri="{FF2B5EF4-FFF2-40B4-BE49-F238E27FC236}">
                <a16:creationId xmlns:a16="http://schemas.microsoft.com/office/drawing/2014/main" id="{C48F6D40-8978-465C-B4BD-605AC089178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882267" y="1996624"/>
            <a:ext cx="7309733" cy="4511148"/>
          </a:xfrm>
          <a:prstGeom prst="rect">
            <a:avLst/>
          </a:prstGeom>
        </p:spPr>
      </p:pic>
      <p:sp>
        <p:nvSpPr>
          <p:cNvPr id="14" name="TextBox 13">
            <a:extLst>
              <a:ext uri="{FF2B5EF4-FFF2-40B4-BE49-F238E27FC236}">
                <a16:creationId xmlns:a16="http://schemas.microsoft.com/office/drawing/2014/main" id="{B26D223F-2D47-4885-813A-E00AF1AB5A1E}"/>
              </a:ext>
            </a:extLst>
          </p:cNvPr>
          <p:cNvSpPr txBox="1"/>
          <p:nvPr/>
        </p:nvSpPr>
        <p:spPr>
          <a:xfrm>
            <a:off x="528320" y="3298091"/>
            <a:ext cx="4196080" cy="523220"/>
          </a:xfrm>
          <a:prstGeom prst="rect">
            <a:avLst/>
          </a:prstGeom>
          <a:noFill/>
        </p:spPr>
        <p:txBody>
          <a:bodyPr wrap="square" rtlCol="0">
            <a:spAutoFit/>
          </a:bodyPr>
          <a:lstStyle/>
          <a:p>
            <a:r>
              <a:rPr lang="en-US" sz="2800" b="1" dirty="0">
                <a:solidFill>
                  <a:schemeClr val="accent2"/>
                </a:solidFill>
              </a:rPr>
              <a:t>Next raw data (in order)</a:t>
            </a:r>
          </a:p>
        </p:txBody>
      </p:sp>
    </p:spTree>
    <p:extLst>
      <p:ext uri="{BB962C8B-B14F-4D97-AF65-F5344CB8AC3E}">
        <p14:creationId xmlns:p14="http://schemas.microsoft.com/office/powerpoint/2010/main" val="1900691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a:t>
            </a:r>
            <a:br>
              <a:rPr lang="en-US" dirty="0"/>
            </a:br>
            <a:r>
              <a:rPr lang="en-US" sz="2800" dirty="0"/>
              <a:t>Model diagnostics</a:t>
            </a:r>
            <a:endParaRPr lang="en-US" dirty="0"/>
          </a:p>
        </p:txBody>
      </p:sp>
      <p:sp>
        <p:nvSpPr>
          <p:cNvPr id="10" name="&quot;No&quot; Symbol 9"/>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TextBox 13">
            <a:extLst>
              <a:ext uri="{FF2B5EF4-FFF2-40B4-BE49-F238E27FC236}">
                <a16:creationId xmlns:a16="http://schemas.microsoft.com/office/drawing/2014/main" id="{B26D223F-2D47-4885-813A-E00AF1AB5A1E}"/>
              </a:ext>
            </a:extLst>
          </p:cNvPr>
          <p:cNvSpPr txBox="1"/>
          <p:nvPr/>
        </p:nvSpPr>
        <p:spPr>
          <a:xfrm>
            <a:off x="632823" y="2727341"/>
            <a:ext cx="2560320" cy="954107"/>
          </a:xfrm>
          <a:prstGeom prst="rect">
            <a:avLst/>
          </a:prstGeom>
          <a:noFill/>
        </p:spPr>
        <p:txBody>
          <a:bodyPr wrap="square" rtlCol="0">
            <a:spAutoFit/>
          </a:bodyPr>
          <a:lstStyle/>
          <a:p>
            <a:r>
              <a:rPr lang="en-US" sz="2800" b="1" dirty="0">
                <a:solidFill>
                  <a:schemeClr val="accent2"/>
                </a:solidFill>
              </a:rPr>
              <a:t>Next Residuals diagnostics</a:t>
            </a:r>
          </a:p>
        </p:txBody>
      </p:sp>
      <p:grpSp>
        <p:nvGrpSpPr>
          <p:cNvPr id="13" name="Group 12">
            <a:extLst>
              <a:ext uri="{FF2B5EF4-FFF2-40B4-BE49-F238E27FC236}">
                <a16:creationId xmlns:a16="http://schemas.microsoft.com/office/drawing/2014/main" id="{1DD3AAE0-5CC6-406C-BFB5-7DE7105F7E2A}"/>
              </a:ext>
            </a:extLst>
          </p:cNvPr>
          <p:cNvGrpSpPr/>
          <p:nvPr/>
        </p:nvGrpSpPr>
        <p:grpSpPr>
          <a:xfrm>
            <a:off x="3526970" y="1572263"/>
            <a:ext cx="8665029" cy="5294697"/>
            <a:chOff x="-1144862" y="-1282423"/>
            <a:chExt cx="13336862" cy="8149383"/>
          </a:xfrm>
        </p:grpSpPr>
        <p:pic>
          <p:nvPicPr>
            <p:cNvPr id="5" name="Picture 4">
              <a:extLst>
                <a:ext uri="{FF2B5EF4-FFF2-40B4-BE49-F238E27FC236}">
                  <a16:creationId xmlns:a16="http://schemas.microsoft.com/office/drawing/2014/main" id="{F4E0F03B-18E9-4CF5-8A01-8E0C9C5331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4862" y="-1282423"/>
              <a:ext cx="6668431" cy="4115374"/>
            </a:xfrm>
            <a:prstGeom prst="rect">
              <a:avLst/>
            </a:prstGeom>
          </p:spPr>
        </p:pic>
        <p:pic>
          <p:nvPicPr>
            <p:cNvPr id="7" name="Picture 6">
              <a:extLst>
                <a:ext uri="{FF2B5EF4-FFF2-40B4-BE49-F238E27FC236}">
                  <a16:creationId xmlns:a16="http://schemas.microsoft.com/office/drawing/2014/main" id="{D627FEB4-5D56-49BC-B38A-7574997C97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23569" y="-1282423"/>
              <a:ext cx="6668431" cy="4115374"/>
            </a:xfrm>
            <a:prstGeom prst="rect">
              <a:avLst/>
            </a:prstGeom>
          </p:spPr>
        </p:pic>
        <p:pic>
          <p:nvPicPr>
            <p:cNvPr id="9" name="Picture 8">
              <a:extLst>
                <a:ext uri="{FF2B5EF4-FFF2-40B4-BE49-F238E27FC236}">
                  <a16:creationId xmlns:a16="http://schemas.microsoft.com/office/drawing/2014/main" id="{628B32ED-75BF-45E5-8A89-E296D4A37EB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4862" y="2751586"/>
              <a:ext cx="6668431" cy="4115374"/>
            </a:xfrm>
            <a:prstGeom prst="rect">
              <a:avLst/>
            </a:prstGeom>
          </p:spPr>
        </p:pic>
        <p:pic>
          <p:nvPicPr>
            <p:cNvPr id="12" name="Picture 11">
              <a:extLst>
                <a:ext uri="{FF2B5EF4-FFF2-40B4-BE49-F238E27FC236}">
                  <a16:creationId xmlns:a16="http://schemas.microsoft.com/office/drawing/2014/main" id="{B585F4CB-768B-455F-A0C7-625FA3DA7AB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23569" y="2742626"/>
              <a:ext cx="6668431" cy="4115374"/>
            </a:xfrm>
            <a:prstGeom prst="rect">
              <a:avLst/>
            </a:prstGeom>
          </p:spPr>
        </p:pic>
      </p:grpSp>
      <p:sp>
        <p:nvSpPr>
          <p:cNvPr id="15" name="TextBox 14">
            <a:extLst>
              <a:ext uri="{FF2B5EF4-FFF2-40B4-BE49-F238E27FC236}">
                <a16:creationId xmlns:a16="http://schemas.microsoft.com/office/drawing/2014/main" id="{CABDCDB6-3221-4205-8573-FC5C020B1201}"/>
              </a:ext>
            </a:extLst>
          </p:cNvPr>
          <p:cNvSpPr txBox="1"/>
          <p:nvPr/>
        </p:nvSpPr>
        <p:spPr>
          <a:xfrm>
            <a:off x="3989796" y="2028347"/>
            <a:ext cx="3196227" cy="400110"/>
          </a:xfrm>
          <a:prstGeom prst="rect">
            <a:avLst/>
          </a:prstGeom>
          <a:noFill/>
        </p:spPr>
        <p:txBody>
          <a:bodyPr wrap="square" rtlCol="0">
            <a:spAutoFit/>
          </a:bodyPr>
          <a:lstStyle/>
          <a:p>
            <a:r>
              <a:rPr lang="en-US" sz="2000" b="1" dirty="0">
                <a:solidFill>
                  <a:schemeClr val="accent2"/>
                </a:solidFill>
              </a:rPr>
              <a:t>Fitted values vs residuals</a:t>
            </a:r>
          </a:p>
        </p:txBody>
      </p:sp>
      <p:sp>
        <p:nvSpPr>
          <p:cNvPr id="16" name="TextBox 15">
            <a:extLst>
              <a:ext uri="{FF2B5EF4-FFF2-40B4-BE49-F238E27FC236}">
                <a16:creationId xmlns:a16="http://schemas.microsoft.com/office/drawing/2014/main" id="{4C771414-73BB-4033-B8FB-D86545E7B8FB}"/>
              </a:ext>
            </a:extLst>
          </p:cNvPr>
          <p:cNvSpPr txBox="1"/>
          <p:nvPr/>
        </p:nvSpPr>
        <p:spPr>
          <a:xfrm>
            <a:off x="3989796" y="4702127"/>
            <a:ext cx="2560320" cy="400110"/>
          </a:xfrm>
          <a:prstGeom prst="rect">
            <a:avLst/>
          </a:prstGeom>
          <a:noFill/>
        </p:spPr>
        <p:txBody>
          <a:bodyPr wrap="square" rtlCol="0">
            <a:spAutoFit/>
          </a:bodyPr>
          <a:lstStyle/>
          <a:p>
            <a:r>
              <a:rPr lang="en-US" sz="2000" b="1" dirty="0">
                <a:solidFill>
                  <a:schemeClr val="accent2"/>
                </a:solidFill>
              </a:rPr>
              <a:t>QQ plot</a:t>
            </a:r>
          </a:p>
        </p:txBody>
      </p:sp>
      <p:sp>
        <p:nvSpPr>
          <p:cNvPr id="17" name="TextBox 16">
            <a:extLst>
              <a:ext uri="{FF2B5EF4-FFF2-40B4-BE49-F238E27FC236}">
                <a16:creationId xmlns:a16="http://schemas.microsoft.com/office/drawing/2014/main" id="{541DFC71-3F9E-4DF8-94F7-2813872D8617}"/>
              </a:ext>
            </a:extLst>
          </p:cNvPr>
          <p:cNvSpPr txBox="1"/>
          <p:nvPr/>
        </p:nvSpPr>
        <p:spPr>
          <a:xfrm>
            <a:off x="8427629" y="2028347"/>
            <a:ext cx="3196227" cy="400110"/>
          </a:xfrm>
          <a:prstGeom prst="rect">
            <a:avLst/>
          </a:prstGeom>
          <a:noFill/>
        </p:spPr>
        <p:txBody>
          <a:bodyPr wrap="square" rtlCol="0">
            <a:spAutoFit/>
          </a:bodyPr>
          <a:lstStyle/>
          <a:p>
            <a:r>
              <a:rPr lang="en-US" sz="2000" b="1" dirty="0">
                <a:solidFill>
                  <a:schemeClr val="accent2"/>
                </a:solidFill>
              </a:rPr>
              <a:t>Histogram</a:t>
            </a:r>
          </a:p>
        </p:txBody>
      </p:sp>
      <p:sp>
        <p:nvSpPr>
          <p:cNvPr id="18" name="TextBox 17">
            <a:extLst>
              <a:ext uri="{FF2B5EF4-FFF2-40B4-BE49-F238E27FC236}">
                <a16:creationId xmlns:a16="http://schemas.microsoft.com/office/drawing/2014/main" id="{62CA56D4-6345-42F6-ACB0-93800AE9373A}"/>
              </a:ext>
            </a:extLst>
          </p:cNvPr>
          <p:cNvSpPr txBox="1"/>
          <p:nvPr/>
        </p:nvSpPr>
        <p:spPr>
          <a:xfrm>
            <a:off x="8322311" y="4643443"/>
            <a:ext cx="3196227" cy="400110"/>
          </a:xfrm>
          <a:prstGeom prst="rect">
            <a:avLst/>
          </a:prstGeom>
          <a:noFill/>
        </p:spPr>
        <p:txBody>
          <a:bodyPr wrap="square" rtlCol="0">
            <a:spAutoFit/>
          </a:bodyPr>
          <a:lstStyle/>
          <a:p>
            <a:r>
              <a:rPr lang="en-US" sz="2000" b="1" dirty="0">
                <a:solidFill>
                  <a:schemeClr val="accent2"/>
                </a:solidFill>
              </a:rPr>
              <a:t>Residuals (in order)</a:t>
            </a:r>
          </a:p>
        </p:txBody>
      </p:sp>
    </p:spTree>
    <p:extLst>
      <p:ext uri="{BB962C8B-B14F-4D97-AF65-F5344CB8AC3E}">
        <p14:creationId xmlns:p14="http://schemas.microsoft.com/office/powerpoint/2010/main" val="1543892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Questions on model diagnostics?</a:t>
            </a:r>
          </a:p>
        </p:txBody>
      </p:sp>
      <p:sp>
        <p:nvSpPr>
          <p:cNvPr id="3" name="Content Placeholder 2"/>
          <p:cNvSpPr>
            <a:spLocks noGrp="1"/>
          </p:cNvSpPr>
          <p:nvPr>
            <p:ph idx="1"/>
          </p:nvPr>
        </p:nvSpPr>
        <p:spPr/>
        <p:txBody>
          <a:bodyPr/>
          <a:lstStyle/>
          <a:p>
            <a:endParaRPr lang="en-US" dirty="0"/>
          </a:p>
        </p:txBody>
      </p:sp>
    </p:spTree>
    <p:extLst>
      <p:ext uri="{BB962C8B-B14F-4D97-AF65-F5344CB8AC3E}">
        <p14:creationId xmlns:p14="http://schemas.microsoft.com/office/powerpoint/2010/main" val="427873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_activity xmlns="fc9990ba-9daa-45b7-b1fc-e8d7ac0c57b1"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8BD4460E3C6BF449525F77BBA09E18B" ma:contentTypeVersion="22" ma:contentTypeDescription="Create a new document." ma:contentTypeScope="" ma:versionID="90df2d4b9097a3a5b076085c25908613">
  <xsd:schema xmlns:xsd="http://www.w3.org/2001/XMLSchema" xmlns:xs="http://www.w3.org/2001/XMLSchema" xmlns:p="http://schemas.microsoft.com/office/2006/metadata/properties" xmlns:ns1="http://schemas.microsoft.com/sharepoint/v3" xmlns:ns3="6bf038da-c7c4-44e0-8fb4-592d801b951b" xmlns:ns4="fc9990ba-9daa-45b7-b1fc-e8d7ac0c57b1" targetNamespace="http://schemas.microsoft.com/office/2006/metadata/properties" ma:root="true" ma:fieldsID="7788cbf47def9b61b60135562c021d94" ns1:_="" ns3:_="" ns4:_="">
    <xsd:import namespace="http://schemas.microsoft.com/sharepoint/v3"/>
    <xsd:import namespace="6bf038da-c7c4-44e0-8fb4-592d801b951b"/>
    <xsd:import namespace="fc9990ba-9daa-45b7-b1fc-e8d7ac0c57b1"/>
    <xsd:element name="properties">
      <xsd:complexType>
        <xsd:sequence>
          <xsd:element name="documentManagement">
            <xsd:complexType>
              <xsd:all>
                <xsd:element ref="ns3:SharedWithUsers" minOccurs="0"/>
                <xsd:element ref="ns3:SharedWithDetails" minOccurs="0"/>
                <xsd:element ref="ns3:SharingHintHash" minOccurs="0"/>
                <xsd:element ref="ns3:LastSharedByUser" minOccurs="0"/>
                <xsd:element ref="ns3:LastSharedByTime" minOccurs="0"/>
                <xsd:element ref="ns4:MediaServiceMetadata" minOccurs="0"/>
                <xsd:element ref="ns4:MediaServiceFastMetadata" minOccurs="0"/>
                <xsd:element ref="ns4:MediaServiceDateTaken" minOccurs="0"/>
                <xsd:element ref="ns4:MediaServiceAutoTags" minOccurs="0"/>
                <xsd:element ref="ns4:MediaServiceOCR" minOccurs="0"/>
                <xsd:element ref="ns4:MediaServiceGenerationTime" minOccurs="0"/>
                <xsd:element ref="ns4:MediaServiceEventHashCode" minOccurs="0"/>
                <xsd:element ref="ns1:_ip_UnifiedCompliancePolicyProperties" minOccurs="0"/>
                <xsd:element ref="ns1:_ip_UnifiedCompliancePolicyUIAction" minOccurs="0"/>
                <xsd:element ref="ns4:MediaServiceAutoKeyPoints" minOccurs="0"/>
                <xsd:element ref="ns4:MediaServiceKeyPoints" minOccurs="0"/>
                <xsd:element ref="ns4:MediaLengthInSeconds" minOccurs="0"/>
                <xsd:element ref="ns4:_activity" minOccurs="0"/>
                <xsd:element ref="ns4:MediaServiceObjectDetectorVersions" minOccurs="0"/>
                <xsd:element ref="ns4:MediaServiceSystemTags" minOccurs="0"/>
                <xsd:element ref="ns4:MediaServiceLocation" minOccurs="0"/>
                <xsd:element ref="ns4: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bf038da-c7c4-44e0-8fb4-592d801b951b"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element name="LastSharedByUser" ma:index="11" nillable="true" ma:displayName="Last Shared By User" ma:description="" ma:internalName="LastSharedByUser" ma:readOnly="true">
      <xsd:simpleType>
        <xsd:restriction base="dms:Note">
          <xsd:maxLength value="255"/>
        </xsd:restriction>
      </xsd:simpleType>
    </xsd:element>
    <xsd:element name="LastSharedByTime" ma:index="12" nillable="true" ma:displayName="Last Shared By Time" ma:description="" ma:internalName="LastSharedBy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fc9990ba-9daa-45b7-b1fc-e8d7ac0c57b1" elementFormDefault="qualified">
    <xsd:import namespace="http://schemas.microsoft.com/office/2006/documentManagement/types"/>
    <xsd:import namespace="http://schemas.microsoft.com/office/infopath/2007/PartnerControls"/>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AutoKeyPoints" ma:index="22" nillable="true" ma:displayName="MediaServiceAutoKeyPoints" ma:hidden="true" ma:internalName="MediaServiceAutoKeyPoints" ma:readOnly="true">
      <xsd:simpleType>
        <xsd:restriction base="dms:Note"/>
      </xsd:simpleType>
    </xsd:element>
    <xsd:element name="MediaServiceKeyPoints" ma:index="23" nillable="true" ma:displayName="KeyPoints" ma:internalName="MediaServiceKeyPoints" ma:readOnly="true">
      <xsd:simpleType>
        <xsd:restriction base="dms:Note">
          <xsd:maxLength value="255"/>
        </xsd:restriction>
      </xsd:simpleType>
    </xsd:element>
    <xsd:element name="MediaLengthInSeconds" ma:index="24" nillable="true" ma:displayName="Length (seconds)" ma:internalName="MediaLengthInSeconds" ma:readOnly="true">
      <xsd:simpleType>
        <xsd:restriction base="dms:Unknown"/>
      </xsd:simpleType>
    </xsd:element>
    <xsd:element name="_activity" ma:index="25" nillable="true" ma:displayName="_activity" ma:hidden="true" ma:internalName="_activity">
      <xsd:simpleType>
        <xsd:restriction base="dms:Note"/>
      </xsd:simpleType>
    </xsd:element>
    <xsd:element name="MediaServiceObjectDetectorVersions" ma:index="26" nillable="true" ma:displayName="MediaServiceObjectDetectorVersions" ma:hidden="true" ma:indexed="true" ma:internalName="MediaServiceObjectDetectorVersions" ma:readOnly="true">
      <xsd:simpleType>
        <xsd:restriction base="dms:Text"/>
      </xsd:simpleType>
    </xsd:element>
    <xsd:element name="MediaServiceSystemTags" ma:index="27" nillable="true" ma:displayName="MediaServiceSystemTags" ma:hidden="true" ma:internalName="MediaServiceSystemTags" ma:readOnly="true">
      <xsd:simpleType>
        <xsd:restriction base="dms:Note"/>
      </xsd:simpleType>
    </xsd:element>
    <xsd:element name="MediaServiceLocation" ma:index="28" nillable="true" ma:displayName="Location" ma:indexed="true" ma:internalName="MediaServiceLocation" ma:readOnly="true">
      <xsd:simpleType>
        <xsd:restriction base="dms:Text"/>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0CBAEA2-F551-4A78-A179-BC0661DD746C}">
  <ds:schemaRefs>
    <ds:schemaRef ds:uri="http://schemas.microsoft.com/sharepoint/v3/contenttype/forms"/>
  </ds:schemaRefs>
</ds:datastoreItem>
</file>

<file path=customXml/itemProps2.xml><?xml version="1.0" encoding="utf-8"?>
<ds:datastoreItem xmlns:ds="http://schemas.openxmlformats.org/officeDocument/2006/customXml" ds:itemID="{5148DA6A-6C62-4528-925D-C84BEFD9269C}">
  <ds:schemaRefs>
    <ds:schemaRef ds:uri="http://schemas.microsoft.com/office/2006/metadata/properties"/>
    <ds:schemaRef ds:uri="http://schemas.microsoft.com/office/2006/documentManagement/types"/>
    <ds:schemaRef ds:uri="http://purl.org/dc/dcmitype/"/>
    <ds:schemaRef ds:uri="http://www.w3.org/XML/1998/namespace"/>
    <ds:schemaRef ds:uri="http://purl.org/dc/terms/"/>
    <ds:schemaRef ds:uri="fc9990ba-9daa-45b7-b1fc-e8d7ac0c57b1"/>
    <ds:schemaRef ds:uri="http://purl.org/dc/elements/1.1/"/>
    <ds:schemaRef ds:uri="http://schemas.openxmlformats.org/package/2006/metadata/core-properties"/>
    <ds:schemaRef ds:uri="http://schemas.microsoft.com/sharepoint/v3"/>
    <ds:schemaRef ds:uri="http://schemas.microsoft.com/office/infopath/2007/PartnerControls"/>
    <ds:schemaRef ds:uri="6bf038da-c7c4-44e0-8fb4-592d801b951b"/>
  </ds:schemaRefs>
</ds:datastoreItem>
</file>

<file path=customXml/itemProps3.xml><?xml version="1.0" encoding="utf-8"?>
<ds:datastoreItem xmlns:ds="http://schemas.openxmlformats.org/officeDocument/2006/customXml" ds:itemID="{C2C30214-56D9-4959-A848-FE043AA71FF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6bf038da-c7c4-44e0-8fb4-592d801b951b"/>
    <ds:schemaRef ds:uri="fc9990ba-9daa-45b7-b1fc-e8d7ac0c57b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4737</TotalTime>
  <Words>3517</Words>
  <Application>Microsoft Office PowerPoint</Application>
  <PresentationFormat>Widescreen</PresentationFormat>
  <Paragraphs>758</Paragraphs>
  <Slides>70</Slides>
  <Notes>38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70</vt:i4>
      </vt:variant>
    </vt:vector>
  </HeadingPairs>
  <TitlesOfParts>
    <vt:vector size="74" baseType="lpstr">
      <vt:lpstr>Arial</vt:lpstr>
      <vt:lpstr>Calibri</vt:lpstr>
      <vt:lpstr>Calibri Light</vt:lpstr>
      <vt:lpstr>Office Theme</vt:lpstr>
      <vt:lpstr>CRSS (PBGG) 8010: Research Methods and Design in Crop Science</vt:lpstr>
      <vt:lpstr>Lecture outline</vt:lpstr>
      <vt:lpstr>Administrative stuff</vt:lpstr>
      <vt:lpstr>Review: Linear Regression</vt:lpstr>
      <vt:lpstr>Review: Linear Regression</vt:lpstr>
      <vt:lpstr>Review: Linear Regression</vt:lpstr>
      <vt:lpstr>Questions on linear regression so far?</vt:lpstr>
      <vt:lpstr>What is a statistical model?</vt:lpstr>
      <vt:lpstr>What a model actually means</vt:lpstr>
      <vt:lpstr>Raspberry example (cont.)</vt:lpstr>
      <vt:lpstr>Model output</vt:lpstr>
      <vt:lpstr>Coefficients</vt:lpstr>
      <vt:lpstr>Coefficients</vt:lpstr>
      <vt:lpstr>How a model sees the coefficients</vt:lpstr>
      <vt:lpstr>How a model sees the coefficients</vt:lpstr>
      <vt:lpstr>How a model sees the coefficients</vt:lpstr>
      <vt:lpstr>How a model sees the coefficients</vt:lpstr>
      <vt:lpstr>How a model sees the coefficients</vt:lpstr>
      <vt:lpstr>How a model sees the coefficients</vt:lpstr>
      <vt:lpstr>How a model sees the coefficients</vt:lpstr>
      <vt:lpstr>Exercise: Fill out the table</vt:lpstr>
      <vt:lpstr>How a model sees the coefficients</vt:lpstr>
      <vt:lpstr>How a model sees the coefficients</vt:lpstr>
      <vt:lpstr>How a model sees the coefficients</vt:lpstr>
      <vt:lpstr>How a model sees the coefficients</vt:lpstr>
      <vt:lpstr>How a model sees the coefficients</vt:lpstr>
      <vt:lpstr>Questions on statistical models?</vt:lpstr>
      <vt:lpstr>R tip: Linear regression utility functions</vt:lpstr>
      <vt:lpstr>R tip: model.matrix()</vt:lpstr>
      <vt:lpstr>R tip: model.matrix()</vt:lpstr>
      <vt:lpstr>Questions on utility functions?</vt:lpstr>
      <vt:lpstr>Limits of linear regression</vt:lpstr>
      <vt:lpstr>Assumptions of linear regression</vt:lpstr>
      <vt:lpstr>Linear regression assumption # 1 Linearity of the relationship</vt:lpstr>
      <vt:lpstr>Linear regression assumption # 2 No multicollinearity (= independence)</vt:lpstr>
      <vt:lpstr>Linear regression assumption # 3 Residuals are normally distributed</vt:lpstr>
      <vt:lpstr>Linear regression assumption # 4 Residuals are uncorrelated</vt:lpstr>
      <vt:lpstr>Linear regression assumption # 5 Homoscedasticity</vt:lpstr>
      <vt:lpstr>Linear regression assumptions</vt:lpstr>
      <vt:lpstr>Questions on linear regression assumptions?</vt:lpstr>
      <vt:lpstr>The value of residuals</vt:lpstr>
      <vt:lpstr>R diagnostic plots</vt:lpstr>
      <vt:lpstr>Diagnostic plot 1: Residuals versus Fitted</vt:lpstr>
      <vt:lpstr>Diagnostic plot 1: Residuals versus Fitted</vt:lpstr>
      <vt:lpstr>Diagnostic plot 1: Residuals versus Fitted</vt:lpstr>
      <vt:lpstr>Diagnostic plot 2: Quantile-Quantile plot</vt:lpstr>
      <vt:lpstr>Diagnostic plot 2: Quantile-Quantile plot</vt:lpstr>
      <vt:lpstr>Diagnostic plot 2: Quantile-Quantile plot</vt:lpstr>
      <vt:lpstr>Diagnostic plot 3: Scale-location plot</vt:lpstr>
      <vt:lpstr>Diagnostic plot 3: Scale-location plot</vt:lpstr>
      <vt:lpstr>Diagnostic plot 3: Scale-location plot</vt:lpstr>
      <vt:lpstr>Diagnostic plot 4: Residuals verses Leverage</vt:lpstr>
      <vt:lpstr>Diagnostic plot 4: Residuals verses Leverage</vt:lpstr>
      <vt:lpstr>So what if you see a problem?</vt:lpstr>
      <vt:lpstr>Questions on basic diagnostics?</vt:lpstr>
      <vt:lpstr>R function: gvlma()</vt:lpstr>
      <vt:lpstr>Interpreting gvlma() output</vt:lpstr>
      <vt:lpstr>Plotting with gvlma()</vt:lpstr>
      <vt:lpstr>Alternative: check_model()</vt:lpstr>
      <vt:lpstr>In-class exercise: Model diagnostics</vt:lpstr>
      <vt:lpstr>In-class exercise: Model diagnostics</vt:lpstr>
      <vt:lpstr>In-class exercise: Model diagnostics</vt:lpstr>
      <vt:lpstr>In-class exercise: Model diagnostics</vt:lpstr>
      <vt:lpstr>In-class exercise: Model diagnostics</vt:lpstr>
      <vt:lpstr>In-class exercise: Model diagnostics</vt:lpstr>
      <vt:lpstr>In-class exercise: Model diagnostics</vt:lpstr>
      <vt:lpstr>In-class exercise: Model diagnostics</vt:lpstr>
      <vt:lpstr>In-class exercise: Model diagnostics</vt:lpstr>
      <vt:lpstr>In-class exercise: Model diagnostics</vt:lpstr>
      <vt:lpstr>Questions on model diagnostics?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CRSS (PBGG) 8010: Research Methods and Experimental Design for Agriculture</dc:title>
  <dc:creator>Jason Wallace</dc:creator>
  <cp:lastModifiedBy>Jason Wallace</cp:lastModifiedBy>
  <cp:revision>509</cp:revision>
  <dcterms:created xsi:type="dcterms:W3CDTF">2016-05-27T18:28:23Z</dcterms:created>
  <dcterms:modified xsi:type="dcterms:W3CDTF">2026-10-07T13:00:03Z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0x010100D8BD4460E3C6BF449525F77BBA09E18B</vt:lpwstr>
  </property>
</Properties>
</file>