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sldIdLst>
    <p:sldId id="256" r:id="rId2"/>
    <p:sldId id="257" r:id="rId3"/>
    <p:sldId id="330" r:id="rId4"/>
    <p:sldId id="443" r:id="rId5"/>
    <p:sldId id="444" r:id="rId6"/>
    <p:sldId id="445" r:id="rId7"/>
    <p:sldId id="446" r:id="rId8"/>
    <p:sldId id="447" r:id="rId9"/>
    <p:sldId id="448" r:id="rId10"/>
    <p:sldId id="400" r:id="rId11"/>
    <p:sldId id="402" r:id="rId12"/>
    <p:sldId id="404" r:id="rId13"/>
    <p:sldId id="403" r:id="rId14"/>
    <p:sldId id="451" r:id="rId15"/>
    <p:sldId id="406" r:id="rId16"/>
    <p:sldId id="407" r:id="rId17"/>
    <p:sldId id="408" r:id="rId18"/>
    <p:sldId id="409" r:id="rId19"/>
    <p:sldId id="410" r:id="rId20"/>
    <p:sldId id="453" r:id="rId21"/>
    <p:sldId id="413" r:id="rId22"/>
    <p:sldId id="414" r:id="rId23"/>
    <p:sldId id="415" r:id="rId24"/>
    <p:sldId id="417" r:id="rId25"/>
    <p:sldId id="418" r:id="rId26"/>
    <p:sldId id="398" r:id="rId27"/>
    <p:sldId id="419" r:id="rId28"/>
    <p:sldId id="420" r:id="rId29"/>
    <p:sldId id="421" r:id="rId30"/>
    <p:sldId id="399" r:id="rId31"/>
    <p:sldId id="369" r:id="rId32"/>
    <p:sldId id="370" r:id="rId33"/>
    <p:sldId id="371" r:id="rId34"/>
    <p:sldId id="372" r:id="rId35"/>
    <p:sldId id="422" r:id="rId36"/>
    <p:sldId id="373" r:id="rId37"/>
    <p:sldId id="423" r:id="rId38"/>
    <p:sldId id="424" r:id="rId39"/>
    <p:sldId id="426" r:id="rId40"/>
    <p:sldId id="435" r:id="rId41"/>
    <p:sldId id="427" r:id="rId42"/>
    <p:sldId id="436" r:id="rId43"/>
    <p:sldId id="437" r:id="rId44"/>
    <p:sldId id="438" r:id="rId45"/>
    <p:sldId id="439" r:id="rId46"/>
    <p:sldId id="440" r:id="rId47"/>
    <p:sldId id="441" r:id="rId48"/>
    <p:sldId id="442" r:id="rId49"/>
    <p:sldId id="430" r:id="rId50"/>
    <p:sldId id="431" r:id="rId51"/>
    <p:sldId id="432" r:id="rId52"/>
    <p:sldId id="433" r:id="rId53"/>
    <p:sldId id="374" r:id="rId54"/>
    <p:sldId id="376" r:id="rId55"/>
    <p:sldId id="377" r:id="rId56"/>
    <p:sldId id="378" r:id="rId57"/>
    <p:sldId id="379" r:id="rId58"/>
    <p:sldId id="380" r:id="rId59"/>
    <p:sldId id="381" r:id="rId60"/>
    <p:sldId id="382" r:id="rId61"/>
    <p:sldId id="383" r:id="rId62"/>
    <p:sldId id="384" r:id="rId63"/>
    <p:sldId id="385" r:id="rId64"/>
    <p:sldId id="325" r:id="rId65"/>
    <p:sldId id="326" r:id="rId66"/>
    <p:sldId id="301" r:id="rId67"/>
    <p:sldId id="375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A9D18E"/>
    <a:srgbClr val="FFFFFF"/>
    <a:srgbClr val="C0504E"/>
    <a:srgbClr val="4F81BC"/>
    <a:srgbClr val="000000"/>
    <a:srgbClr val="777777"/>
    <a:srgbClr val="F4B183"/>
    <a:srgbClr val="FFD966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1" autoAdjust="0"/>
    <p:restoredTop sz="84746" autoAdjust="0"/>
  </p:normalViewPr>
  <p:slideViewPr>
    <p:cSldViewPr snapToGrid="0">
      <p:cViewPr varScale="1">
        <p:scale>
          <a:sx n="96" d="100"/>
          <a:sy n="96" d="100"/>
        </p:scale>
        <p:origin x="1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9FA04D-5C42-4D62-A2E3-69462FD4FA8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5FD8CC-2567-4E8B-88B6-FED9D8364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19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40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571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corresponding </a:t>
            </a:r>
            <a:r>
              <a:rPr lang="en-US" dirty="0" err="1"/>
              <a:t>as.numeric</a:t>
            </a:r>
            <a:r>
              <a:rPr lang="en-US" dirty="0"/>
              <a:t>(), </a:t>
            </a:r>
            <a:r>
              <a:rPr lang="en-US" dirty="0" err="1"/>
              <a:t>as.logical</a:t>
            </a:r>
            <a:r>
              <a:rPr lang="en-US" dirty="0"/>
              <a:t>,</a:t>
            </a:r>
            <a:r>
              <a:rPr lang="en-US" baseline="0" dirty="0"/>
              <a:t> </a:t>
            </a:r>
            <a:r>
              <a:rPr lang="en-US" baseline="0" dirty="0" err="1"/>
              <a:t>as.matrix</a:t>
            </a:r>
            <a:r>
              <a:rPr lang="en-US" baseline="0" dirty="0"/>
              <a:t>(), </a:t>
            </a:r>
            <a:r>
              <a:rPr lang="en-US" baseline="0" dirty="0" err="1"/>
              <a:t>as.data.frame</a:t>
            </a:r>
            <a:r>
              <a:rPr lang="en-US" baseline="0" dirty="0"/>
              <a:t>(), etc. functions. (Some require additional arguments, such as the dimensions for a matrix)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618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will accept “NA” and “</a:t>
            </a:r>
            <a:r>
              <a:rPr lang="en-US" dirty="0" err="1"/>
              <a:t>NaN</a:t>
            </a:r>
            <a:r>
              <a:rPr lang="en-US" dirty="0"/>
              <a:t>” as valid missing scores and read them correctly, but it doesn’t know what to do with “None” and so reads the entire column as</a:t>
            </a:r>
            <a:r>
              <a:rPr lang="en-US" baseline="0" dirty="0"/>
              <a:t> strings, which (by default) are turned into factors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8277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will </a:t>
            </a:r>
            <a:r>
              <a:rPr lang="en-US" dirty="0" err="1"/>
              <a:t>accelt</a:t>
            </a:r>
            <a:r>
              <a:rPr lang="en-US" dirty="0"/>
              <a:t> “NA” and “</a:t>
            </a:r>
            <a:r>
              <a:rPr lang="en-US" dirty="0" err="1"/>
              <a:t>NaN</a:t>
            </a:r>
            <a:r>
              <a:rPr lang="en-US" dirty="0"/>
              <a:t>” as valid missing scores and read them correctly, but it doesn’t know what to do with “None” and so reads the entire column as</a:t>
            </a:r>
            <a:r>
              <a:rPr lang="en-US" baseline="0" dirty="0"/>
              <a:t> strings, which (by default) are turned into factors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046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will </a:t>
            </a:r>
            <a:r>
              <a:rPr lang="en-US" dirty="0" err="1"/>
              <a:t>accelt</a:t>
            </a:r>
            <a:r>
              <a:rPr lang="en-US" dirty="0"/>
              <a:t> “NA” and “</a:t>
            </a:r>
            <a:r>
              <a:rPr lang="en-US" dirty="0" err="1"/>
              <a:t>NaN</a:t>
            </a:r>
            <a:r>
              <a:rPr lang="en-US" dirty="0"/>
              <a:t>” as valid missing scores and read them correctly, but it doesn’t know what to do with “None” and so reads the entire column as</a:t>
            </a:r>
            <a:r>
              <a:rPr lang="en-US" baseline="0" dirty="0"/>
              <a:t> strings, which (by default) are turned into factors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75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By default, R orders factor levels alphabetically, but you can change this behavior if you really want to. (I have rarely if ever seen this to be necessary, however).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1481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6650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6911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309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565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6882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0054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7682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Rhizobia are inoculated to help with nitrogen fixation.</a:t>
            </a:r>
          </a:p>
          <a:p>
            <a:r>
              <a:rPr lang="en-US" dirty="0"/>
              <a:t>Note that no</a:t>
            </a:r>
            <a:r>
              <a:rPr lang="en-US" baseline="0" dirty="0"/>
              <a:t> randomization has been done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869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374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9996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there were no interaction, the lines would be completely parallel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071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4349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</a:t>
            </a:r>
            <a:r>
              <a:rPr lang="en-US" baseline="0" dirty="0"/>
              <a:t> times I’ll still write it out the long way just to make it absolutely clear what it is I want to test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639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6055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1045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 the interactions because are </a:t>
            </a:r>
            <a:r>
              <a:rPr lang="en-US" dirty="0" err="1"/>
              <a:t>unreplicated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3121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you can’t have an _</a:t>
            </a:r>
            <a:r>
              <a:rPr lang="en-US" dirty="0" err="1"/>
              <a:t>unreplicated</a:t>
            </a:r>
            <a:r>
              <a:rPr lang="en-US" dirty="0"/>
              <a:t>_ RCBD. A RCBD with only 1 block is just a CRD</a:t>
            </a:r>
            <a:r>
              <a:rPr lang="en-US" baseline="0" dirty="0"/>
              <a:t> without replication.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531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you can’t have an _</a:t>
            </a:r>
            <a:r>
              <a:rPr lang="en-US" dirty="0" err="1"/>
              <a:t>unreplicated</a:t>
            </a:r>
            <a:r>
              <a:rPr lang="en-US" dirty="0"/>
              <a:t>_ RCBD. A RCBD with only 1 block is just a CRD</a:t>
            </a:r>
            <a:r>
              <a:rPr lang="en-US" baseline="0" dirty="0"/>
              <a:t> </a:t>
            </a:r>
            <a:r>
              <a:rPr lang="en-US" baseline="0"/>
              <a:t>without replication.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1985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5620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D8CC-2567-4E8B-88B6-FED9D8364B0E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3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8A1D8-F9AF-447C-AE09-AF14014826C2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F59B-F2EA-4295-8B7F-B2BE0898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22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0718"/>
          </a:xfrm>
        </p:spPr>
        <p:txBody>
          <a:bodyPr>
            <a:noAutofit/>
          </a:bodyPr>
          <a:lstStyle>
            <a:lvl1pPr marL="465138" indent="-465138">
              <a:defRPr sz="3200"/>
            </a:lvl1pPr>
            <a:lvl2pPr marL="914400" indent="-457200">
              <a:defRPr sz="2800"/>
            </a:lvl2pPr>
            <a:lvl3pPr marL="1262063" indent="-347663">
              <a:defRPr sz="2400"/>
            </a:lvl3pPr>
            <a:lvl4pPr marL="1712913" indent="-341313">
              <a:defRPr sz="2000"/>
            </a:lvl4pPr>
            <a:lvl5pPr marL="2176463" indent="-347663"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8A1D8-F9AF-447C-AE09-AF14014826C2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F59B-F2EA-4295-8B7F-B2BE0898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84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8A1D8-F9AF-447C-AE09-AF14014826C2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F59B-F2EA-4295-8B7F-B2BE0898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622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8A1D8-F9AF-447C-AE09-AF14014826C2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F59B-F2EA-4295-8B7F-B2BE0898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867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8A1D8-F9AF-447C-AE09-AF14014826C2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F59B-F2EA-4295-8B7F-B2BE0898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746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8A1D8-F9AF-447C-AE09-AF14014826C2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F59B-F2EA-4295-8B7F-B2BE0898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921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8A1D8-F9AF-447C-AE09-AF14014826C2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F59B-F2EA-4295-8B7F-B2BE0898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403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8A1D8-F9AF-447C-AE09-AF14014826C2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F59B-F2EA-4295-8B7F-B2BE0898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683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8A1D8-F9AF-447C-AE09-AF14014826C2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F59B-F2EA-4295-8B7F-B2BE0898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647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8A1D8-F9AF-447C-AE09-AF14014826C2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F59B-F2EA-4295-8B7F-B2BE0898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216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8A1D8-F9AF-447C-AE09-AF14014826C2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F59B-F2EA-4295-8B7F-B2BE0898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64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8A1D8-F9AF-447C-AE09-AF14014826C2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EF59B-F2EA-4295-8B7F-B2BE0898F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816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6" t="15472" r="24759" b="14182"/>
          <a:stretch/>
        </p:blipFill>
        <p:spPr>
          <a:xfrm>
            <a:off x="-57150" y="-76201"/>
            <a:ext cx="12363450" cy="702945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182495" y="1705533"/>
            <a:ext cx="7639050" cy="2570162"/>
          </a:xfrm>
          <a:prstGeom prst="roundRect">
            <a:avLst/>
          </a:prstGeom>
          <a:solidFill>
            <a:srgbClr val="FFFFFF">
              <a:alpha val="89804"/>
            </a:srgbClr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83049" y="1342600"/>
            <a:ext cx="6037943" cy="2387600"/>
          </a:xfrm>
        </p:spPr>
        <p:txBody>
          <a:bodyPr>
            <a:normAutofit/>
          </a:bodyPr>
          <a:lstStyle/>
          <a:p>
            <a:r>
              <a:rPr lang="en-US" b="1" dirty="0"/>
              <a:t>CRSS (PBGG) 8010:</a:t>
            </a:r>
            <a:br>
              <a:rPr lang="en-US" dirty="0"/>
            </a:br>
            <a:r>
              <a:rPr lang="en-US" sz="3600" dirty="0"/>
              <a:t>Research Methods and Design in Crop Science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41874" y="3846783"/>
            <a:ext cx="4520293" cy="472453"/>
          </a:xfrm>
        </p:spPr>
        <p:txBody>
          <a:bodyPr/>
          <a:lstStyle/>
          <a:p>
            <a:r>
              <a:rPr lang="en-US" dirty="0"/>
              <a:t>Jason Wallace      Fall 2026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538946" y="4654860"/>
            <a:ext cx="4926148" cy="1100780"/>
            <a:chOff x="3538946" y="4654860"/>
            <a:chExt cx="4926148" cy="1100780"/>
          </a:xfrm>
        </p:grpSpPr>
        <p:sp>
          <p:nvSpPr>
            <p:cNvPr id="6" name="Rounded Rectangle 5"/>
            <p:cNvSpPr/>
            <p:nvPr/>
          </p:nvSpPr>
          <p:spPr>
            <a:xfrm>
              <a:off x="3538946" y="4654860"/>
              <a:ext cx="4926148" cy="1100780"/>
            </a:xfrm>
            <a:prstGeom prst="roundRect">
              <a:avLst/>
            </a:prstGeom>
            <a:solidFill>
              <a:srgbClr val="FFFFFF">
                <a:alpha val="89804"/>
              </a:srgbClr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741875" y="4698401"/>
              <a:ext cx="452029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Lecture 12</a:t>
              </a:r>
            </a:p>
            <a:p>
              <a:pPr algn="ctr"/>
              <a:r>
                <a:rPr lang="en-US" sz="2400" b="1" dirty="0"/>
                <a:t>Factorial Designs</a:t>
              </a:r>
              <a:endParaRPr lang="en-US" sz="3200" b="1"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10801555" y="6555732"/>
            <a:ext cx="13261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chemeClr val="bg1"/>
                </a:solidFill>
              </a:rPr>
              <a:t>Kay Ledbetter</a:t>
            </a:r>
          </a:p>
        </p:txBody>
      </p:sp>
    </p:spTree>
    <p:extLst>
      <p:ext uri="{BB962C8B-B14F-4D97-AF65-F5344CB8AC3E}">
        <p14:creationId xmlns:p14="http://schemas.microsoft.com/office/powerpoint/2010/main" val="1611978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180" y="365125"/>
            <a:ext cx="7378700" cy="1325563"/>
          </a:xfrm>
        </p:spPr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059180" y="1825625"/>
            <a:ext cx="10238740" cy="4110718"/>
          </a:xfrm>
        </p:spPr>
        <p:txBody>
          <a:bodyPr/>
          <a:lstStyle/>
          <a:p>
            <a:r>
              <a:rPr lang="en-US" dirty="0"/>
              <a:t>Administrative stuff</a:t>
            </a:r>
          </a:p>
          <a:p>
            <a:r>
              <a:rPr lang="en-US" dirty="0"/>
              <a:t>Review of last time</a:t>
            </a:r>
          </a:p>
          <a:p>
            <a:r>
              <a:rPr lang="en-US" dirty="0"/>
              <a:t>Factors</a:t>
            </a:r>
          </a:p>
          <a:p>
            <a:r>
              <a:rPr lang="en-US" dirty="0"/>
              <a:t>Factorial designs</a:t>
            </a:r>
          </a:p>
          <a:p>
            <a:r>
              <a:rPr lang="en-US" dirty="0"/>
              <a:t>Interactions</a:t>
            </a:r>
          </a:p>
        </p:txBody>
      </p:sp>
    </p:spTree>
    <p:extLst>
      <p:ext uri="{BB962C8B-B14F-4D97-AF65-F5344CB8AC3E}">
        <p14:creationId xmlns:p14="http://schemas.microsoft.com/office/powerpoint/2010/main" val="119517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Administrative stuff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Midterm 1 starts immediately after class</a:t>
            </a:r>
          </a:p>
          <a:p>
            <a:pPr lvl="1"/>
            <a:r>
              <a:rPr lang="en-US" dirty="0"/>
              <a:t>No class Tuesday; due next Thursday at class start</a:t>
            </a:r>
          </a:p>
          <a:p>
            <a:pPr lvl="1"/>
            <a:r>
              <a:rPr lang="en-US" dirty="0"/>
              <a:t>Open-book and open-Internet, just not open-classmate.</a:t>
            </a:r>
          </a:p>
          <a:p>
            <a:pPr lvl="2"/>
            <a:r>
              <a:rPr lang="en-US" dirty="0"/>
              <a:t>(and don’t use AI to answer the questions)</a:t>
            </a:r>
          </a:p>
          <a:p>
            <a:pPr lvl="1"/>
            <a:r>
              <a:rPr lang="en-US" dirty="0"/>
              <a:t>Can edit the Word document and turn that in; no need for a separate R notebook.</a:t>
            </a:r>
          </a:p>
          <a:p>
            <a:pPr lvl="2"/>
            <a:r>
              <a:rPr lang="en-US" dirty="0"/>
              <a:t>Works best if put </a:t>
            </a:r>
            <a:r>
              <a:rPr lang="en-US" dirty="0">
                <a:solidFill>
                  <a:schemeClr val="accent5"/>
                </a:solidFill>
              </a:rPr>
              <a:t>answers in different color</a:t>
            </a:r>
          </a:p>
        </p:txBody>
      </p:sp>
    </p:spTree>
    <p:extLst>
      <p:ext uri="{BB962C8B-B14F-4D97-AF65-F5344CB8AC3E}">
        <p14:creationId xmlns:p14="http://schemas.microsoft.com/office/powerpoint/2010/main" val="397330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</a:t>
            </a:r>
            <a:br>
              <a:rPr lang="en-US" dirty="0"/>
            </a:br>
            <a:r>
              <a:rPr lang="en-US" sz="2800" dirty="0"/>
              <a:t>Randomized Complete Block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‘12_maize.csv’ and run an ANOVA analysis on it</a:t>
            </a:r>
          </a:p>
          <a:p>
            <a:pPr lvl="1"/>
            <a:r>
              <a:rPr lang="en-US" dirty="0"/>
              <a:t>If the varieties are significant, also determine which variety/varieties to recommend to farmers</a:t>
            </a:r>
          </a:p>
          <a:p>
            <a:pPr lvl="2"/>
            <a:r>
              <a:rPr lang="en-US" dirty="0"/>
              <a:t>(We usually don’t care about block-to-block differences)</a:t>
            </a:r>
          </a:p>
        </p:txBody>
      </p:sp>
    </p:spTree>
    <p:extLst>
      <p:ext uri="{BB962C8B-B14F-4D97-AF65-F5344CB8AC3E}">
        <p14:creationId xmlns:p14="http://schemas.microsoft.com/office/powerpoint/2010/main" val="2865583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</a:t>
            </a:r>
            <a:br>
              <a:rPr lang="en-US" dirty="0"/>
            </a:br>
            <a:r>
              <a:rPr lang="en-US" sz="2800" dirty="0"/>
              <a:t>Randomized Complete Block Design</a:t>
            </a:r>
          </a:p>
        </p:txBody>
      </p:sp>
      <p:sp>
        <p:nvSpPr>
          <p:cNvPr id="4" name="&quot;No&quot; Symbol 3"/>
          <p:cNvSpPr/>
          <p:nvPr/>
        </p:nvSpPr>
        <p:spPr>
          <a:xfrm>
            <a:off x="10798629" y="176981"/>
            <a:ext cx="1196566" cy="1196566"/>
          </a:xfrm>
          <a:prstGeom prst="noSmoking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298"/>
          <a:stretch/>
        </p:blipFill>
        <p:spPr>
          <a:xfrm>
            <a:off x="838200" y="1981073"/>
            <a:ext cx="10075181" cy="32132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69100" y="3835400"/>
            <a:ext cx="2159000" cy="419100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974160" y="3752562"/>
            <a:ext cx="19545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Significant</a:t>
            </a:r>
          </a:p>
        </p:txBody>
      </p:sp>
    </p:spTree>
    <p:extLst>
      <p:ext uri="{BB962C8B-B14F-4D97-AF65-F5344CB8AC3E}">
        <p14:creationId xmlns:p14="http://schemas.microsoft.com/office/powerpoint/2010/main" val="3848853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</a:t>
            </a:r>
            <a:br>
              <a:rPr lang="en-US" dirty="0"/>
            </a:br>
            <a:r>
              <a:rPr lang="en-US" sz="2800" dirty="0"/>
              <a:t>Randomized Complete Block Design</a:t>
            </a:r>
          </a:p>
        </p:txBody>
      </p:sp>
      <p:sp>
        <p:nvSpPr>
          <p:cNvPr id="4" name="&quot;No&quot; Symbol 3"/>
          <p:cNvSpPr/>
          <p:nvPr/>
        </p:nvSpPr>
        <p:spPr>
          <a:xfrm>
            <a:off x="10798629" y="176981"/>
            <a:ext cx="1196566" cy="1196566"/>
          </a:xfrm>
          <a:prstGeom prst="noSmoking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470" b="8148"/>
          <a:stretch/>
        </p:blipFill>
        <p:spPr>
          <a:xfrm>
            <a:off x="1058409" y="1690689"/>
            <a:ext cx="10075181" cy="182721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84"/>
          <a:stretch/>
        </p:blipFill>
        <p:spPr>
          <a:xfrm>
            <a:off x="1144670" y="3951287"/>
            <a:ext cx="10099025" cy="29105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46270" y="3317151"/>
            <a:ext cx="5501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4860" y="4489162"/>
            <a:ext cx="2194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Best variety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4670" y="4610099"/>
            <a:ext cx="3173330" cy="317501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162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</a:t>
            </a:r>
            <a:br>
              <a:rPr lang="en-US" dirty="0"/>
            </a:br>
            <a:r>
              <a:rPr lang="en-US" sz="2800" dirty="0"/>
              <a:t>Randomized Complete Block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74675"/>
          </a:xfrm>
        </p:spPr>
        <p:txBody>
          <a:bodyPr/>
          <a:lstStyle/>
          <a:p>
            <a:r>
              <a:rPr lang="en-US" dirty="0"/>
              <a:t>Which of the following code will generate a RCBD?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3"/>
          <a:stretch/>
        </p:blipFill>
        <p:spPr>
          <a:xfrm>
            <a:off x="203199" y="2692401"/>
            <a:ext cx="5688869" cy="22256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909" b="-967"/>
          <a:stretch/>
        </p:blipFill>
        <p:spPr>
          <a:xfrm>
            <a:off x="6197600" y="2692401"/>
            <a:ext cx="5688868" cy="25781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69641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</a:t>
            </a:r>
            <a:br>
              <a:rPr lang="en-US" dirty="0"/>
            </a:br>
            <a:r>
              <a:rPr lang="en-US" sz="2800" dirty="0"/>
              <a:t>Randomized Complete Block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74675"/>
          </a:xfrm>
        </p:spPr>
        <p:txBody>
          <a:bodyPr/>
          <a:lstStyle/>
          <a:p>
            <a:r>
              <a:rPr lang="en-US" dirty="0"/>
              <a:t>Which of the following code will generate a RCBD?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3"/>
          <a:stretch/>
        </p:blipFill>
        <p:spPr>
          <a:xfrm>
            <a:off x="203199" y="2692401"/>
            <a:ext cx="5688869" cy="2225628"/>
          </a:xfrm>
          <a:prstGeom prst="rect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909" b="-967"/>
          <a:stretch/>
        </p:blipFill>
        <p:spPr>
          <a:xfrm>
            <a:off x="6197600" y="2692401"/>
            <a:ext cx="5688868" cy="2578100"/>
          </a:xfrm>
          <a:prstGeom prst="rect">
            <a:avLst/>
          </a:prstGeom>
          <a:ln w="76200">
            <a:solidFill>
              <a:srgbClr val="C00000"/>
            </a:solidFill>
          </a:ln>
        </p:spPr>
      </p:pic>
      <p:sp>
        <p:nvSpPr>
          <p:cNvPr id="6" name="&quot;No&quot; Symbol 5"/>
          <p:cNvSpPr/>
          <p:nvPr/>
        </p:nvSpPr>
        <p:spPr>
          <a:xfrm>
            <a:off x="10798629" y="176981"/>
            <a:ext cx="1196566" cy="1196566"/>
          </a:xfrm>
          <a:prstGeom prst="noSmoking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6184900" y="2692401"/>
            <a:ext cx="5676900" cy="2590799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6197600" y="2692401"/>
            <a:ext cx="5688868" cy="257810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38200" y="5270501"/>
            <a:ext cx="13510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accent6">
                    <a:lumMod val="75000"/>
                  </a:schemeClr>
                </a:solidFill>
              </a:rPr>
              <a:t>RCBD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7600" y="5270501"/>
            <a:ext cx="10679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CRD</a:t>
            </a:r>
          </a:p>
        </p:txBody>
      </p:sp>
    </p:spTree>
    <p:extLst>
      <p:ext uri="{BB962C8B-B14F-4D97-AF65-F5344CB8AC3E}">
        <p14:creationId xmlns:p14="http://schemas.microsoft.com/office/powerpoint/2010/main" val="3870417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on RCBD?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4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factor?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93421"/>
          </a:xfrm>
        </p:spPr>
        <p:txBody>
          <a:bodyPr/>
          <a:lstStyle/>
          <a:p>
            <a:r>
              <a:rPr lang="en-US" u="sng" dirty="0"/>
              <a:t>Factors</a:t>
            </a:r>
            <a:r>
              <a:rPr lang="en-US" dirty="0"/>
              <a:t> are categorical variables that can take a few discrete values</a:t>
            </a:r>
            <a:endParaRPr lang="en-US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27" r="3135" b="3925"/>
          <a:stretch/>
        </p:blipFill>
        <p:spPr>
          <a:xfrm>
            <a:off x="1195754" y="3163030"/>
            <a:ext cx="2514600" cy="2514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50829" y="5770044"/>
            <a:ext cx="22044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Fruit Color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2" r="48628"/>
          <a:stretch/>
        </p:blipFill>
        <p:spPr>
          <a:xfrm>
            <a:off x="4656123" y="3163030"/>
            <a:ext cx="2514600" cy="2514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3645" y="5770044"/>
            <a:ext cx="3059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Fertilizer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589" y="5623459"/>
            <a:ext cx="19410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ClearChoicesCleanWater.org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89" t="1534" r="20922" b="34149"/>
          <a:stretch/>
        </p:blipFill>
        <p:spPr>
          <a:xfrm>
            <a:off x="8116491" y="3163030"/>
            <a:ext cx="2514600" cy="2514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53974" y="5770044"/>
            <a:ext cx="2639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Plant Variety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3173" y="5585338"/>
            <a:ext cx="10794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glendoick.com</a:t>
            </a:r>
          </a:p>
        </p:txBody>
      </p:sp>
    </p:spTree>
    <p:extLst>
      <p:ext uri="{BB962C8B-B14F-4D97-AF65-F5344CB8AC3E}">
        <p14:creationId xmlns:p14="http://schemas.microsoft.com/office/powerpoint/2010/main" val="2866749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versus continuous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06261"/>
          </a:xfrm>
        </p:spPr>
        <p:txBody>
          <a:bodyPr/>
          <a:lstStyle/>
          <a:p>
            <a:r>
              <a:rPr lang="en-US" dirty="0"/>
              <a:t>In contrast, </a:t>
            </a:r>
            <a:r>
              <a:rPr lang="en-US" u="sng" dirty="0"/>
              <a:t>continuous</a:t>
            </a:r>
            <a:r>
              <a:rPr lang="en-US" dirty="0"/>
              <a:t> variables can take a wide range of values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1" t="19867" r="28825" b="12754"/>
          <a:stretch/>
        </p:blipFill>
        <p:spPr>
          <a:xfrm>
            <a:off x="2763537" y="3066823"/>
            <a:ext cx="2971800" cy="2971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31" b="16869"/>
          <a:stretch/>
        </p:blipFill>
        <p:spPr>
          <a:xfrm>
            <a:off x="6739465" y="3066823"/>
            <a:ext cx="2971800" cy="2971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86109" y="6094856"/>
            <a:ext cx="1126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Yield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4312" y="6094857"/>
            <a:ext cx="2542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Plant Height</a:t>
            </a:r>
          </a:p>
        </p:txBody>
      </p:sp>
    </p:spTree>
    <p:extLst>
      <p:ext uri="{BB962C8B-B14F-4D97-AF65-F5344CB8AC3E}">
        <p14:creationId xmlns:p14="http://schemas.microsoft.com/office/powerpoint/2010/main" val="1034603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variables as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06261"/>
          </a:xfrm>
        </p:spPr>
        <p:txBody>
          <a:bodyPr/>
          <a:lstStyle/>
          <a:p>
            <a:r>
              <a:rPr lang="en-US" dirty="0"/>
              <a:t>We sometimes group a continuous variable into a few bins to turn it into a factor for convenience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31" b="16869"/>
          <a:stretch/>
        </p:blipFill>
        <p:spPr>
          <a:xfrm>
            <a:off x="1441751" y="3066823"/>
            <a:ext cx="2971800" cy="2971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56598" y="6094857"/>
            <a:ext cx="2542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Plant Height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860142" y="2684009"/>
            <a:ext cx="4329462" cy="1604327"/>
            <a:chOff x="5860142" y="2684009"/>
            <a:chExt cx="4329462" cy="1604327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0142" y="3290910"/>
              <a:ext cx="467236" cy="997425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5383" y="2858183"/>
              <a:ext cx="467236" cy="1430153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3636" y="2988812"/>
              <a:ext cx="467236" cy="1299524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6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1889" y="3084288"/>
              <a:ext cx="467236" cy="1204048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7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67130" y="2931886"/>
              <a:ext cx="467236" cy="1356449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8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22368" y="2684009"/>
              <a:ext cx="467236" cy="1604325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9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8877" y="3366225"/>
              <a:ext cx="467236" cy="922109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10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70624" y="3133953"/>
              <a:ext cx="467236" cy="1154382"/>
            </a:xfrm>
            <a:prstGeom prst="rect">
              <a:avLst/>
            </a:prstGeom>
          </p:spPr>
        </p:pic>
      </p:grpSp>
      <p:grpSp>
        <p:nvGrpSpPr>
          <p:cNvPr id="27" name="Group 26"/>
          <p:cNvGrpSpPr/>
          <p:nvPr/>
        </p:nvGrpSpPr>
        <p:grpSpPr>
          <a:xfrm>
            <a:off x="9981523" y="4813697"/>
            <a:ext cx="1008181" cy="1604325"/>
            <a:chOff x="9981523" y="4813697"/>
            <a:chExt cx="1008181" cy="1604325"/>
          </a:xfrm>
        </p:grpSpPr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4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1523" y="4987869"/>
              <a:ext cx="467236" cy="1430153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8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22468" y="4813697"/>
              <a:ext cx="467236" cy="1604325"/>
            </a:xfrm>
            <a:prstGeom prst="rect">
              <a:avLst/>
            </a:prstGeom>
          </p:spPr>
        </p:pic>
      </p:grpSp>
      <p:grpSp>
        <p:nvGrpSpPr>
          <p:cNvPr id="29" name="Group 28"/>
          <p:cNvGrpSpPr/>
          <p:nvPr/>
        </p:nvGrpSpPr>
        <p:grpSpPr>
          <a:xfrm>
            <a:off x="5630947" y="5420597"/>
            <a:ext cx="1008182" cy="997425"/>
            <a:chOff x="5630947" y="5420597"/>
            <a:chExt cx="1008182" cy="997425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1893" y="5420597"/>
              <a:ext cx="467236" cy="997425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9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0947" y="5495913"/>
              <a:ext cx="467236" cy="922109"/>
            </a:xfrm>
            <a:prstGeom prst="rect">
              <a:avLst/>
            </a:prstGeom>
          </p:spPr>
        </p:pic>
      </p:grpSp>
      <p:grpSp>
        <p:nvGrpSpPr>
          <p:cNvPr id="28" name="Group 27"/>
          <p:cNvGrpSpPr/>
          <p:nvPr/>
        </p:nvGrpSpPr>
        <p:grpSpPr>
          <a:xfrm>
            <a:off x="7265289" y="5061573"/>
            <a:ext cx="2090074" cy="1356449"/>
            <a:chOff x="7017639" y="5061573"/>
            <a:chExt cx="2090074" cy="1356449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9531" y="5118498"/>
              <a:ext cx="467236" cy="1299524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6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58585" y="5213974"/>
              <a:ext cx="467236" cy="1204048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7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0477" y="5061573"/>
              <a:ext cx="467236" cy="1356449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10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7639" y="5263640"/>
              <a:ext cx="467236" cy="1154382"/>
            </a:xfrm>
            <a:prstGeom prst="rect">
              <a:avLst/>
            </a:prstGeom>
          </p:spPr>
        </p:pic>
      </p:grpSp>
      <p:sp>
        <p:nvSpPr>
          <p:cNvPr id="30" name="Down Arrow 29"/>
          <p:cNvSpPr/>
          <p:nvPr/>
        </p:nvSpPr>
        <p:spPr>
          <a:xfrm>
            <a:off x="7732525" y="4445000"/>
            <a:ext cx="614656" cy="54286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5712407" y="6396335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Short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5975" y="6383635"/>
            <a:ext cx="12650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Medium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89604" y="6396335"/>
            <a:ext cx="616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Tall</a:t>
            </a:r>
          </a:p>
        </p:txBody>
      </p:sp>
    </p:spTree>
    <p:extLst>
      <p:ext uri="{BB962C8B-B14F-4D97-AF65-F5344CB8AC3E}">
        <p14:creationId xmlns:p14="http://schemas.microsoft.com/office/powerpoint/2010/main" val="3810338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  <p:bldP spid="32" grpId="0"/>
      <p:bldP spid="3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969000" cy="4110718"/>
          </a:xfrm>
        </p:spPr>
        <p:txBody>
          <a:bodyPr/>
          <a:lstStyle/>
          <a:p>
            <a:r>
              <a:rPr lang="en-US" dirty="0"/>
              <a:t>Because factors are so common in statistics, R has a special data type to deal with them</a:t>
            </a:r>
          </a:p>
          <a:p>
            <a:r>
              <a:rPr lang="en-US" dirty="0"/>
              <a:t>Factors consist of two parts:</a:t>
            </a:r>
          </a:p>
          <a:p>
            <a:pPr lvl="1"/>
            <a:r>
              <a:rPr lang="en-US" dirty="0"/>
              <a:t>The </a:t>
            </a:r>
            <a:r>
              <a:rPr lang="en-US" u="sng" dirty="0"/>
              <a:t>levels</a:t>
            </a:r>
            <a:r>
              <a:rPr lang="en-US" dirty="0"/>
              <a:t> of the factor (a character vector)</a:t>
            </a:r>
          </a:p>
          <a:p>
            <a:pPr lvl="1"/>
            <a:r>
              <a:rPr lang="en-US" dirty="0"/>
              <a:t>The </a:t>
            </a:r>
            <a:r>
              <a:rPr lang="en-US" u="sng" dirty="0"/>
              <a:t>values</a:t>
            </a:r>
            <a:r>
              <a:rPr lang="en-US" dirty="0"/>
              <a:t> given for each level (an integer vector)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045101"/>
              </p:ext>
            </p:extLst>
          </p:nvPr>
        </p:nvGraphicFramePr>
        <p:xfrm>
          <a:off x="7765142" y="1967894"/>
          <a:ext cx="1625601" cy="2072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625601">
                  <a:extLst>
                    <a:ext uri="{9D8B030D-6E8A-4147-A177-3AD203B41FA5}">
                      <a16:colId xmlns:a16="http://schemas.microsoft.com/office/drawing/2014/main" val="41495091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Levels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37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“Abel”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768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“Monty”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452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“</a:t>
                      </a:r>
                      <a:r>
                        <a:rPr lang="en-US" sz="2800" dirty="0" err="1"/>
                        <a:t>Zylph</a:t>
                      </a:r>
                      <a:r>
                        <a:rPr lang="en-US" sz="2800" dirty="0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95506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98620"/>
              </p:ext>
            </p:extLst>
          </p:nvPr>
        </p:nvGraphicFramePr>
        <p:xfrm>
          <a:off x="9728199" y="1967894"/>
          <a:ext cx="1244601" cy="31089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44601">
                  <a:extLst>
                    <a:ext uri="{9D8B030D-6E8A-4147-A177-3AD203B41FA5}">
                      <a16:colId xmlns:a16="http://schemas.microsoft.com/office/drawing/2014/main" val="41495091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37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768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452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955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941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015630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7765142" y="1690688"/>
            <a:ext cx="3207658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82097" y="1027906"/>
            <a:ext cx="36081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Factor “Variety”</a:t>
            </a:r>
          </a:p>
        </p:txBody>
      </p:sp>
    </p:spTree>
    <p:extLst>
      <p:ext uri="{BB962C8B-B14F-4D97-AF65-F5344CB8AC3E}">
        <p14:creationId xmlns:p14="http://schemas.microsoft.com/office/powerpoint/2010/main" val="406418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Explicit factors are less common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older versions of R (before 4.0), columns of text were loaded as factors by default</a:t>
            </a:r>
          </a:p>
          <a:p>
            <a:r>
              <a:rPr lang="en-US" dirty="0"/>
              <a:t>Now the default is characters </a:t>
            </a:r>
            <a:r>
              <a:rPr lang="en-US" u="sng" dirty="0"/>
              <a:t>but</a:t>
            </a:r>
            <a:r>
              <a:rPr lang="en-US" dirty="0"/>
              <a:t> they get converted to factors when we do analyses (ANOVA, linear regression, etc.)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083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in R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75632"/>
          </a:xfrm>
        </p:spPr>
        <p:txBody>
          <a:bodyPr/>
          <a:lstStyle/>
          <a:p>
            <a:r>
              <a:rPr lang="en-US" dirty="0"/>
              <a:t>When you print out a factor, R usually gives you the corresponding labels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8"/>
          <a:stretch/>
        </p:blipFill>
        <p:spPr>
          <a:xfrm>
            <a:off x="1365938" y="2975430"/>
            <a:ext cx="8370415" cy="126086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365938" y="3860800"/>
            <a:ext cx="3728576" cy="360978"/>
          </a:xfrm>
          <a:prstGeom prst="round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604001" y="3417122"/>
            <a:ext cx="50074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Indication that this is a factor, not a character vector</a:t>
            </a:r>
          </a:p>
        </p:txBody>
      </p:sp>
      <p:cxnSp>
        <p:nvCxnSpPr>
          <p:cNvPr id="9" name="Straight Arrow Connector 8"/>
          <p:cNvCxnSpPr>
            <a:stCxn id="6" idx="3"/>
            <a:endCxn id="7" idx="1"/>
          </p:cNvCxnSpPr>
          <p:nvPr/>
        </p:nvCxnSpPr>
        <p:spPr>
          <a:xfrm flipV="1">
            <a:off x="5094514" y="3894176"/>
            <a:ext cx="1509487" cy="147113"/>
          </a:xfrm>
          <a:prstGeom prst="straightConnector1">
            <a:avLst/>
          </a:prstGeom>
          <a:ln w="571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/>
          <p:cNvSpPr txBox="1">
            <a:spLocks/>
          </p:cNvSpPr>
          <p:nvPr/>
        </p:nvSpPr>
        <p:spPr>
          <a:xfrm>
            <a:off x="838200" y="4472219"/>
            <a:ext cx="10515600" cy="634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65138" indent="-46513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62063" indent="-3476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2913" indent="-3413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476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str</a:t>
            </a:r>
            <a:r>
              <a:rPr lang="en-US" dirty="0"/>
              <a:t>() lets you see the integers under the hood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503"/>
          <a:stretch/>
        </p:blipFill>
        <p:spPr>
          <a:xfrm>
            <a:off x="1389737" y="5107148"/>
            <a:ext cx="7409554" cy="57187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077310" y="5343075"/>
            <a:ext cx="1587719" cy="360978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749142" y="5742077"/>
            <a:ext cx="5007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Vector of levels</a:t>
            </a:r>
          </a:p>
        </p:txBody>
      </p:sp>
    </p:spTree>
    <p:extLst>
      <p:ext uri="{BB962C8B-B14F-4D97-AF65-F5344CB8AC3E}">
        <p14:creationId xmlns:p14="http://schemas.microsoft.com/office/powerpoint/2010/main" val="561321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1" grpId="0"/>
      <p:bldP spid="13" grpId="0" animBg="1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is picky about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019971" cy="1135289"/>
          </a:xfrm>
        </p:spPr>
        <p:txBody>
          <a:bodyPr/>
          <a:lstStyle/>
          <a:p>
            <a:r>
              <a:rPr lang="en-US" dirty="0"/>
              <a:t>You need to keep your factors straight because trying to treat them as either a character or an integer can cause problems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838"/>
          <a:stretch/>
        </p:blipFill>
        <p:spPr>
          <a:xfrm>
            <a:off x="1806626" y="3095851"/>
            <a:ext cx="9244981" cy="14035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162"/>
          <a:stretch/>
        </p:blipFill>
        <p:spPr>
          <a:xfrm>
            <a:off x="1806626" y="4630055"/>
            <a:ext cx="9244981" cy="1451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79885" y="3010654"/>
            <a:ext cx="43953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Try to set an invalid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4770994"/>
            <a:ext cx="37777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Try to use in addition</a:t>
            </a:r>
          </a:p>
        </p:txBody>
      </p:sp>
    </p:spTree>
    <p:extLst>
      <p:ext uri="{BB962C8B-B14F-4D97-AF65-F5344CB8AC3E}">
        <p14:creationId xmlns:p14="http://schemas.microsoft.com/office/powerpoint/2010/main" val="3008816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vector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90146"/>
          </a:xfrm>
        </p:spPr>
        <p:txBody>
          <a:bodyPr/>
          <a:lstStyle/>
          <a:p>
            <a:r>
              <a:rPr lang="en-US" dirty="0"/>
              <a:t>If you need it in a different form, you can change with the as._____() family of functions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21"/>
          <a:stretch/>
        </p:blipFill>
        <p:spPr>
          <a:xfrm>
            <a:off x="1822849" y="4557486"/>
            <a:ext cx="8546301" cy="16444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365"/>
          <a:stretch/>
        </p:blipFill>
        <p:spPr>
          <a:xfrm>
            <a:off x="1822848" y="2950708"/>
            <a:ext cx="8546301" cy="15487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06415" y="4445679"/>
            <a:ext cx="3662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Convert to character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6415" y="5366083"/>
            <a:ext cx="32724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Convert to integer</a:t>
            </a:r>
          </a:p>
        </p:txBody>
      </p:sp>
    </p:spTree>
    <p:extLst>
      <p:ext uri="{BB962C8B-B14F-4D97-AF65-F5344CB8AC3E}">
        <p14:creationId xmlns:p14="http://schemas.microsoft.com/office/powerpoint/2010/main" val="4042001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641DF1-8E3E-424C-BE42-455066515F3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496" b="37739"/>
          <a:stretch/>
        </p:blipFill>
        <p:spPr>
          <a:xfrm>
            <a:off x="1180026" y="2936194"/>
            <a:ext cx="6061432" cy="34074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 error: numbers as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75632"/>
          </a:xfrm>
        </p:spPr>
        <p:txBody>
          <a:bodyPr/>
          <a:lstStyle/>
          <a:p>
            <a:r>
              <a:rPr lang="en-US" dirty="0"/>
              <a:t>Sometimes due to a typo a vector will be read as a factor instead of numeric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3406" y="4416484"/>
            <a:ext cx="387109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Same data as in review, but with “None” entered as one yield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6769510" y="4778477"/>
            <a:ext cx="943896" cy="0"/>
          </a:xfrm>
          <a:prstGeom prst="straightConnector1">
            <a:avLst/>
          </a:prstGeom>
          <a:ln w="762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92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 error: numbers as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75632"/>
          </a:xfrm>
        </p:spPr>
        <p:txBody>
          <a:bodyPr/>
          <a:lstStyle/>
          <a:p>
            <a:r>
              <a:rPr lang="en-US" dirty="0"/>
              <a:t>Again, </a:t>
            </a:r>
            <a:r>
              <a:rPr lang="en-US" dirty="0" err="1"/>
              <a:t>str</a:t>
            </a:r>
            <a:r>
              <a:rPr lang="en-US" dirty="0"/>
              <a:t>() shows us what’s really going 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36C553-49C1-4B2D-AB0C-D539FB55E6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" t="62799" r="323" b="-151"/>
          <a:stretch/>
        </p:blipFill>
        <p:spPr>
          <a:xfrm>
            <a:off x="335200" y="2524411"/>
            <a:ext cx="11711026" cy="20442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24901" y="4568628"/>
            <a:ext cx="38710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rgbClr val="C00000"/>
                </a:solidFill>
              </a:rPr>
              <a:t>Not</a:t>
            </a:r>
            <a:r>
              <a:rPr lang="en-US" sz="3200" b="1" dirty="0">
                <a:solidFill>
                  <a:srgbClr val="C00000"/>
                </a:solidFill>
              </a:rPr>
              <a:t> what we want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24900" y="4160114"/>
            <a:ext cx="5209569" cy="408514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918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 error: numbers as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75632"/>
          </a:xfrm>
        </p:spPr>
        <p:txBody>
          <a:bodyPr/>
          <a:lstStyle/>
          <a:p>
            <a:r>
              <a:rPr lang="en-US" dirty="0"/>
              <a:t>Can be fixed with </a:t>
            </a:r>
            <a:r>
              <a:rPr lang="en-US" dirty="0" err="1"/>
              <a:t>as.numeric</a:t>
            </a:r>
            <a:r>
              <a:rPr lang="en-US" dirty="0"/>
              <a:t>()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36C553-49C1-4B2D-AB0C-D539FB55E6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016" y="2524410"/>
            <a:ext cx="10605166" cy="28029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16594" y="5357660"/>
            <a:ext cx="54123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Now actually numbers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9178" y="4949146"/>
            <a:ext cx="7257031" cy="408514"/>
          </a:xfrm>
          <a:prstGeom prst="round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AF1910-675C-404B-A811-889B928F6CED}"/>
              </a:ext>
            </a:extLst>
          </p:cNvPr>
          <p:cNvSpPr txBox="1"/>
          <p:nvPr/>
        </p:nvSpPr>
        <p:spPr>
          <a:xfrm>
            <a:off x="6915437" y="2849375"/>
            <a:ext cx="47034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Warning because can’t convert “None” to a number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0440515-0580-46A8-A39C-1E65EB5F6D4C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555974" y="3264874"/>
            <a:ext cx="1359463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775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exercise:</a:t>
            </a:r>
            <a:br>
              <a:rPr lang="en-US" dirty="0"/>
            </a:br>
            <a:r>
              <a:rPr lang="en-US" sz="2800" dirty="0"/>
              <a:t>Making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491748" cy="4110718"/>
          </a:xfrm>
        </p:spPr>
        <p:txBody>
          <a:bodyPr/>
          <a:lstStyle/>
          <a:p>
            <a:r>
              <a:rPr lang="en-US" u="sng" dirty="0"/>
              <a:t>Without</a:t>
            </a:r>
            <a:r>
              <a:rPr lang="en-US" dirty="0"/>
              <a:t> using R, write down how this data would appear as a factor:</a:t>
            </a:r>
            <a:endParaRPr lang="en-US" u="sng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751723"/>
              </p:ext>
            </p:extLst>
          </p:nvPr>
        </p:nvGraphicFramePr>
        <p:xfrm>
          <a:off x="8981766" y="1825625"/>
          <a:ext cx="2564581" cy="46329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564581">
                  <a:extLst>
                    <a:ext uri="{9D8B030D-6E8A-4147-A177-3AD203B41FA5}">
                      <a16:colId xmlns:a16="http://schemas.microsoft.com/office/drawing/2014/main" val="3008101680"/>
                    </a:ext>
                  </a:extLst>
                </a:gridCol>
              </a:tblGrid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/>
                        <a:t>RoseColor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038945"/>
                  </a:ext>
                </a:extLst>
              </a:tr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Cream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337337"/>
                  </a:ext>
                </a:extLst>
              </a:tr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909867"/>
                  </a:ext>
                </a:extLst>
              </a:tr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986651"/>
                  </a:ext>
                </a:extLst>
              </a:tr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501307"/>
                  </a:ext>
                </a:extLst>
              </a:tr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White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1137620"/>
                  </a:ext>
                </a:extLst>
              </a:tr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Cream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470917"/>
                  </a:ext>
                </a:extLst>
              </a:tr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486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8297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exercise:</a:t>
            </a:r>
            <a:br>
              <a:rPr lang="en-US" dirty="0"/>
            </a:br>
            <a:r>
              <a:rPr lang="en-US" sz="2800" dirty="0"/>
              <a:t>Making factors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249356"/>
              </p:ext>
            </p:extLst>
          </p:nvPr>
        </p:nvGraphicFramePr>
        <p:xfrm>
          <a:off x="2202594" y="1878832"/>
          <a:ext cx="2564581" cy="46329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564581">
                  <a:extLst>
                    <a:ext uri="{9D8B030D-6E8A-4147-A177-3AD203B41FA5}">
                      <a16:colId xmlns:a16="http://schemas.microsoft.com/office/drawing/2014/main" val="3008101680"/>
                    </a:ext>
                  </a:extLst>
                </a:gridCol>
              </a:tblGrid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/>
                        <a:t>RoseColor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038945"/>
                  </a:ext>
                </a:extLst>
              </a:tr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Cream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337337"/>
                  </a:ext>
                </a:extLst>
              </a:tr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909867"/>
                  </a:ext>
                </a:extLst>
              </a:tr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986651"/>
                  </a:ext>
                </a:extLst>
              </a:tr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501307"/>
                  </a:ext>
                </a:extLst>
              </a:tr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White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1137620"/>
                  </a:ext>
                </a:extLst>
              </a:tr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Cream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470917"/>
                  </a:ext>
                </a:extLst>
              </a:tr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486311"/>
                  </a:ext>
                </a:extLst>
              </a:tr>
            </a:tbl>
          </a:graphicData>
        </a:graphic>
      </p:graphicFrame>
      <p:sp>
        <p:nvSpPr>
          <p:cNvPr id="6" name="&quot;No&quot; Symbol 5"/>
          <p:cNvSpPr/>
          <p:nvPr/>
        </p:nvSpPr>
        <p:spPr>
          <a:xfrm>
            <a:off x="10798629" y="176981"/>
            <a:ext cx="1196566" cy="1196566"/>
          </a:xfrm>
          <a:prstGeom prst="noSmoking">
            <a:avLst/>
          </a:prstGeom>
          <a:solidFill>
            <a:srgbClr val="FF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935499"/>
              </p:ext>
            </p:extLst>
          </p:nvPr>
        </p:nvGraphicFramePr>
        <p:xfrm>
          <a:off x="8460826" y="1878832"/>
          <a:ext cx="1451901" cy="46329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451901">
                  <a:extLst>
                    <a:ext uri="{9D8B030D-6E8A-4147-A177-3AD203B41FA5}">
                      <a16:colId xmlns:a16="http://schemas.microsoft.com/office/drawing/2014/main" val="3008101680"/>
                    </a:ext>
                  </a:extLst>
                </a:gridCol>
              </a:tblGrid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038945"/>
                  </a:ext>
                </a:extLst>
              </a:tr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337337"/>
                  </a:ext>
                </a:extLst>
              </a:tr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909867"/>
                  </a:ext>
                </a:extLst>
              </a:tr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986651"/>
                  </a:ext>
                </a:extLst>
              </a:tr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501307"/>
                  </a:ext>
                </a:extLst>
              </a:tr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1137620"/>
                  </a:ext>
                </a:extLst>
              </a:tr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470917"/>
                  </a:ext>
                </a:extLst>
              </a:tr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48631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911386"/>
              </p:ext>
            </p:extLst>
          </p:nvPr>
        </p:nvGraphicFramePr>
        <p:xfrm>
          <a:off x="6452591" y="1878832"/>
          <a:ext cx="1774720" cy="28956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74720">
                  <a:extLst>
                    <a:ext uri="{9D8B030D-6E8A-4147-A177-3AD203B41FA5}">
                      <a16:colId xmlns:a16="http://schemas.microsoft.com/office/drawing/2014/main" val="3008101680"/>
                    </a:ext>
                  </a:extLst>
                </a:gridCol>
              </a:tblGrid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Levels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038945"/>
                  </a:ext>
                </a:extLst>
              </a:tr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Cream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337337"/>
                  </a:ext>
                </a:extLst>
              </a:tr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909867"/>
                  </a:ext>
                </a:extLst>
              </a:tr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986651"/>
                  </a:ext>
                </a:extLst>
              </a:tr>
              <a:tr h="557149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White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5013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76634" y="1170946"/>
            <a:ext cx="23348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err="1"/>
              <a:t>RoseColor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18616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factorial design?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602822"/>
            <a:ext cx="9261297" cy="2075379"/>
          </a:xfrm>
        </p:spPr>
        <p:txBody>
          <a:bodyPr/>
          <a:lstStyle/>
          <a:p>
            <a:r>
              <a:rPr lang="en-US" dirty="0"/>
              <a:t>“Factorial” = Testing two or more factors at once</a:t>
            </a:r>
          </a:p>
          <a:p>
            <a:pPr lvl="1"/>
            <a:r>
              <a:rPr lang="en-US" dirty="0"/>
              <a:t>Specifically, testing them </a:t>
            </a:r>
            <a:r>
              <a:rPr lang="en-US" u="sng" dirty="0"/>
              <a:t>and</a:t>
            </a:r>
            <a:r>
              <a:rPr lang="en-US" dirty="0"/>
              <a:t> their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3724" y="1577170"/>
            <a:ext cx="858320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"No aphorism is more frequently repeated in connection with field trials, than that we must ask Nature few questions, or, ideally, one question, at a time. The writer is convinced that this view is wholly mistaken.“</a:t>
            </a:r>
          </a:p>
          <a:p>
            <a:r>
              <a:rPr lang="en-US" sz="2800" i="1" dirty="0"/>
              <a:t>	- R. A. Fisher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99"/>
          <a:stretch/>
        </p:blipFill>
        <p:spPr>
          <a:xfrm>
            <a:off x="647271" y="1356679"/>
            <a:ext cx="2455525" cy="3020911"/>
          </a:xfrm>
          <a:prstGeom prst="roundRect">
            <a:avLst>
              <a:gd name="adj" fmla="val 8299"/>
            </a:avLst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2382411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factorial designs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42040"/>
          </a:xfrm>
        </p:spPr>
        <p:txBody>
          <a:bodyPr/>
          <a:lstStyle/>
          <a:p>
            <a:r>
              <a:rPr lang="en-US" dirty="0"/>
              <a:t>The primary goal of factorial designs is to do more with less</a:t>
            </a:r>
          </a:p>
          <a:p>
            <a:r>
              <a:rPr lang="en-US" dirty="0"/>
              <a:t>Example: Tall fescue response to N or P fertilizer: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40809" y="3067665"/>
            <a:ext cx="2373600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Test Nitrogen</a:t>
            </a:r>
          </a:p>
          <a:p>
            <a:pPr algn="ctr"/>
            <a:r>
              <a:rPr lang="en-US" sz="2400" b="1" dirty="0"/>
              <a:t>RCBD with 4 reps</a:t>
            </a:r>
          </a:p>
          <a:p>
            <a:pPr algn="ctr"/>
            <a:endParaRPr lang="en-US" sz="24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1827517" y="3958661"/>
            <a:ext cx="3400183" cy="2523546"/>
            <a:chOff x="2113541" y="3536384"/>
            <a:chExt cx="2188395" cy="1387015"/>
          </a:xfrm>
        </p:grpSpPr>
        <p:sp>
          <p:nvSpPr>
            <p:cNvPr id="6" name="Rectangle 5"/>
            <p:cNvSpPr/>
            <p:nvPr/>
          </p:nvSpPr>
          <p:spPr>
            <a:xfrm>
              <a:off x="2113541" y="3536384"/>
              <a:ext cx="729465" cy="34932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113541" y="3882282"/>
              <a:ext cx="729465" cy="3493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/>
                <a:t>20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113541" y="4228180"/>
              <a:ext cx="729465" cy="34932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/>
                <a:t>50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2113541" y="4574077"/>
              <a:ext cx="729465" cy="34932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843006" y="3536384"/>
              <a:ext cx="729465" cy="3493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/>
                <a:t>20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843006" y="3882282"/>
              <a:ext cx="729465" cy="34932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843006" y="4228180"/>
              <a:ext cx="729465" cy="3493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/>
                <a:t>20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843006" y="4574077"/>
              <a:ext cx="729465" cy="34932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/>
                <a:t>50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572471" y="3536384"/>
              <a:ext cx="729465" cy="34932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/>
                <a:t>50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572471" y="3882282"/>
              <a:ext cx="729465" cy="34932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/>
                <a:t>50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572471" y="4228180"/>
              <a:ext cx="729465" cy="34932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572471" y="4574077"/>
              <a:ext cx="729465" cy="3493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/>
                <a:t>20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6939184" y="3958661"/>
            <a:ext cx="3395283" cy="2523546"/>
            <a:chOff x="6848213" y="3801800"/>
            <a:chExt cx="2188395" cy="1387015"/>
          </a:xfrm>
        </p:grpSpPr>
        <p:sp>
          <p:nvSpPr>
            <p:cNvPr id="18" name="Rectangle 17"/>
            <p:cNvSpPr/>
            <p:nvPr/>
          </p:nvSpPr>
          <p:spPr>
            <a:xfrm>
              <a:off x="6848213" y="3801800"/>
              <a:ext cx="729465" cy="34932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848213" y="4147698"/>
              <a:ext cx="729465" cy="34932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848213" y="4493596"/>
              <a:ext cx="729465" cy="34932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848213" y="4839493"/>
              <a:ext cx="729465" cy="34932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577678" y="3801800"/>
              <a:ext cx="729465" cy="34932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577678" y="4147698"/>
              <a:ext cx="729465" cy="34932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7577678" y="4493596"/>
              <a:ext cx="729465" cy="34932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577678" y="4839493"/>
              <a:ext cx="729465" cy="34932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307143" y="3801800"/>
              <a:ext cx="729465" cy="34932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307143" y="4147698"/>
              <a:ext cx="729465" cy="34932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8307143" y="4493596"/>
              <a:ext cx="729465" cy="34932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307143" y="4839493"/>
              <a:ext cx="729465" cy="34932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7388442" y="3067665"/>
            <a:ext cx="2616614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Test Phosphorus</a:t>
            </a:r>
          </a:p>
          <a:p>
            <a:pPr algn="ctr"/>
            <a:r>
              <a:rPr lang="en-US" sz="2400" b="1" dirty="0"/>
              <a:t>RCBD with 4 reps</a:t>
            </a:r>
          </a:p>
          <a:p>
            <a:pPr algn="ctr"/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253749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factorial designs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6913" y="2134354"/>
            <a:ext cx="1490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Nitrogen</a:t>
            </a:r>
            <a:endParaRPr lang="en-US" sz="24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1946916" y="1562902"/>
            <a:ext cx="3400183" cy="2523546"/>
            <a:chOff x="2113541" y="3536384"/>
            <a:chExt cx="2188395" cy="1387015"/>
          </a:xfrm>
        </p:grpSpPr>
        <p:sp>
          <p:nvSpPr>
            <p:cNvPr id="6" name="Rectangle 5"/>
            <p:cNvSpPr/>
            <p:nvPr/>
          </p:nvSpPr>
          <p:spPr>
            <a:xfrm>
              <a:off x="2113541" y="3536384"/>
              <a:ext cx="729465" cy="34932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113541" y="3882282"/>
              <a:ext cx="729465" cy="3493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/>
                <a:t>20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113541" y="4228180"/>
              <a:ext cx="729465" cy="34932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/>
                <a:t>50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2113541" y="4574077"/>
              <a:ext cx="729465" cy="34932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843006" y="3536384"/>
              <a:ext cx="729465" cy="3493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/>
                <a:t>20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843006" y="3882282"/>
              <a:ext cx="729465" cy="34932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843006" y="4228180"/>
              <a:ext cx="729465" cy="3493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/>
                <a:t>20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843006" y="4574077"/>
              <a:ext cx="729465" cy="34932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/>
                <a:t>50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572471" y="3536384"/>
              <a:ext cx="729465" cy="34932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/>
                <a:t>50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572471" y="3882282"/>
              <a:ext cx="729465" cy="34932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/>
                <a:t>50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572471" y="4228180"/>
              <a:ext cx="729465" cy="34932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572471" y="4574077"/>
              <a:ext cx="729465" cy="3493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/>
                <a:t>20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946916" y="4273326"/>
            <a:ext cx="3395283" cy="2523546"/>
            <a:chOff x="6848213" y="3801800"/>
            <a:chExt cx="2188395" cy="1387015"/>
          </a:xfrm>
        </p:grpSpPr>
        <p:sp>
          <p:nvSpPr>
            <p:cNvPr id="18" name="Rectangle 17"/>
            <p:cNvSpPr/>
            <p:nvPr/>
          </p:nvSpPr>
          <p:spPr>
            <a:xfrm>
              <a:off x="6848213" y="3801800"/>
              <a:ext cx="729465" cy="34932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848213" y="4147698"/>
              <a:ext cx="729465" cy="34932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848213" y="4493596"/>
              <a:ext cx="729465" cy="34932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848213" y="4839493"/>
              <a:ext cx="729465" cy="34932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577678" y="3801800"/>
              <a:ext cx="729465" cy="34932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577678" y="4147698"/>
              <a:ext cx="729465" cy="34932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7577678" y="4493596"/>
              <a:ext cx="729465" cy="34932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577678" y="4839493"/>
              <a:ext cx="729465" cy="34932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307143" y="3801800"/>
              <a:ext cx="729465" cy="34932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307143" y="4147698"/>
              <a:ext cx="729465" cy="34932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8307143" y="4493596"/>
              <a:ext cx="729465" cy="34932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307143" y="4839493"/>
              <a:ext cx="729465" cy="34932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3756" y="5011879"/>
            <a:ext cx="1943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Phosphorus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767995"/>
              </p:ext>
            </p:extLst>
          </p:nvPr>
        </p:nvGraphicFramePr>
        <p:xfrm>
          <a:off x="5707285" y="1562902"/>
          <a:ext cx="4498599" cy="221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9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281">
                <a:tc>
                  <a:txBody>
                    <a:bodyPr/>
                    <a:lstStyle/>
                    <a:p>
                      <a:r>
                        <a:rPr lang="en-US" sz="3200" b="1" dirty="0"/>
                        <a:t>Total observations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12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3200" b="1" dirty="0"/>
                        <a:t>   Block</a:t>
                      </a:r>
                      <a:r>
                        <a:rPr lang="en-US" sz="3200" b="1" baseline="0" dirty="0"/>
                        <a:t> DOF</a:t>
                      </a:r>
                      <a:endParaRPr lang="en-US" sz="3200" b="1" dirty="0"/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3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3200" b="1" dirty="0"/>
                        <a:t>   Treatment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2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3200" b="1" dirty="0"/>
                        <a:t>   Error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6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816852"/>
              </p:ext>
            </p:extLst>
          </p:nvPr>
        </p:nvGraphicFramePr>
        <p:xfrm>
          <a:off x="5707285" y="4273326"/>
          <a:ext cx="4498599" cy="221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9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281">
                <a:tc>
                  <a:txBody>
                    <a:bodyPr/>
                    <a:lstStyle/>
                    <a:p>
                      <a:r>
                        <a:rPr lang="en-US" sz="3200" b="1" dirty="0"/>
                        <a:t>Total observations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12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3200" b="1" dirty="0"/>
                        <a:t>   Block</a:t>
                      </a:r>
                      <a:r>
                        <a:rPr lang="en-US" sz="3200" b="1" baseline="0" dirty="0"/>
                        <a:t> DOF</a:t>
                      </a:r>
                      <a:endParaRPr lang="en-US" sz="3200" b="1" dirty="0"/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3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3200" b="1" dirty="0"/>
                        <a:t>   Treatment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2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3200" b="1" dirty="0"/>
                        <a:t>   Error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6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223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1114"/>
          </a:xfrm>
        </p:spPr>
        <p:txBody>
          <a:bodyPr/>
          <a:lstStyle/>
          <a:p>
            <a:r>
              <a:rPr lang="en-US" dirty="0"/>
              <a:t>Now watch what happens if we combine them:</a:t>
            </a:r>
          </a:p>
        </p:txBody>
      </p:sp>
      <p:sp>
        <p:nvSpPr>
          <p:cNvPr id="4" name="TextBox 3"/>
          <p:cNvSpPr txBox="1"/>
          <p:nvPr/>
        </p:nvSpPr>
        <p:spPr>
          <a:xfrm rot="16200000">
            <a:off x="-1263254" y="3142428"/>
            <a:ext cx="408015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Nitrogen + Phosphorus</a:t>
            </a:r>
          </a:p>
          <a:p>
            <a:pPr algn="ctr"/>
            <a:r>
              <a:rPr lang="en-US" sz="2400" b="1" dirty="0"/>
              <a:t>RCBD with 4 reps</a:t>
            </a:r>
          </a:p>
          <a:p>
            <a:pPr algn="ctr"/>
            <a:endParaRPr lang="en-US" sz="3200" b="1" dirty="0"/>
          </a:p>
        </p:txBody>
      </p: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225537"/>
              </p:ext>
            </p:extLst>
          </p:nvPr>
        </p:nvGraphicFramePr>
        <p:xfrm>
          <a:off x="1444559" y="5254585"/>
          <a:ext cx="4329634" cy="98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64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Total observations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36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Block</a:t>
                      </a:r>
                      <a:r>
                        <a:rPr lang="en-US" sz="2800" b="1" baseline="0" dirty="0"/>
                        <a:t> DOF</a:t>
                      </a:r>
                      <a:endParaRPr lang="en-US" sz="2800" b="1" dirty="0"/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3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1152505" y="2630331"/>
            <a:ext cx="10201295" cy="2504788"/>
            <a:chOff x="1489926" y="3718883"/>
            <a:chExt cx="9309707" cy="1662041"/>
          </a:xfrm>
        </p:grpSpPr>
        <p:sp>
          <p:nvSpPr>
            <p:cNvPr id="5" name="Rectangle 4"/>
            <p:cNvSpPr/>
            <p:nvPr/>
          </p:nvSpPr>
          <p:spPr>
            <a:xfrm>
              <a:off x="2531613" y="3718883"/>
              <a:ext cx="976217" cy="3591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7620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0/0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489927" y="3718883"/>
              <a:ext cx="976217" cy="3591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762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0/5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823416" y="3718883"/>
              <a:ext cx="976217" cy="3591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762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0/10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740043" y="3718883"/>
              <a:ext cx="976217" cy="35911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7620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20/0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656671" y="3718883"/>
              <a:ext cx="976217" cy="35911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762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20/5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698357" y="3718883"/>
              <a:ext cx="976217" cy="35911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762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20/10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573299" y="3718883"/>
              <a:ext cx="976217" cy="35911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7620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50/0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8781729" y="3718883"/>
              <a:ext cx="976217" cy="35911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762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50/5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614985" y="3718883"/>
              <a:ext cx="976217" cy="35911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762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50/10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781728" y="4145043"/>
              <a:ext cx="976217" cy="3591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7620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0/0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2531612" y="4145043"/>
              <a:ext cx="976217" cy="3591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762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0/5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656670" y="4145043"/>
              <a:ext cx="976217" cy="3591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762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0/10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573298" y="4145043"/>
              <a:ext cx="976217" cy="35911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7620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20/0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614984" y="4145043"/>
              <a:ext cx="976217" cy="35911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762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20/5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9823415" y="4145043"/>
              <a:ext cx="976217" cy="35911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762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20/10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740042" y="4145043"/>
              <a:ext cx="976217" cy="35911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7620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50/0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1489926" y="4145043"/>
              <a:ext cx="976217" cy="35911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762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50/5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6698356" y="4145043"/>
              <a:ext cx="976217" cy="35911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762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50/10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4614984" y="4583427"/>
              <a:ext cx="976217" cy="3591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7620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0/0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531612" y="4583427"/>
              <a:ext cx="976217" cy="3591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762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0/5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8781728" y="4583427"/>
              <a:ext cx="976217" cy="3591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762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0/10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489926" y="4583427"/>
              <a:ext cx="976217" cy="35911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7620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20/0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5656670" y="4583427"/>
              <a:ext cx="976217" cy="35911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762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20/5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3573298" y="4583427"/>
              <a:ext cx="976217" cy="35911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762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20/10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7740042" y="4583427"/>
              <a:ext cx="976217" cy="35911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7620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50/0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6698356" y="4583427"/>
              <a:ext cx="976217" cy="35911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762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50/5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9823415" y="4583427"/>
              <a:ext cx="976217" cy="35911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762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50/10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7740042" y="5021811"/>
              <a:ext cx="976217" cy="3591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7620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0/0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9823415" y="5021811"/>
              <a:ext cx="976217" cy="3591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762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0/5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5656670" y="5021811"/>
              <a:ext cx="976217" cy="3591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762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0/10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573298" y="5021811"/>
              <a:ext cx="976217" cy="35911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7620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20/0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614984" y="5021811"/>
              <a:ext cx="976217" cy="35911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762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20/5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2531612" y="5021811"/>
              <a:ext cx="976217" cy="35911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762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20/10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6698356" y="5021811"/>
              <a:ext cx="976217" cy="35911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7620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50/0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8781728" y="5021811"/>
              <a:ext cx="976217" cy="35911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762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50/5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489926" y="5021811"/>
              <a:ext cx="976217" cy="35911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762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50/10</a:t>
              </a:r>
            </a:p>
          </p:txBody>
        </p:sp>
      </p:grpSp>
      <p:graphicFrame>
        <p:nvGraphicFramePr>
          <p:cNvPr id="77" name="Table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34665"/>
              </p:ext>
            </p:extLst>
          </p:nvPr>
        </p:nvGraphicFramePr>
        <p:xfrm>
          <a:off x="5774193" y="5254585"/>
          <a:ext cx="3924417" cy="1479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40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2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   Nitrogen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Phosphorus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Error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28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53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Doing more with less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1114"/>
          </a:xfrm>
        </p:spPr>
        <p:txBody>
          <a:bodyPr/>
          <a:lstStyle/>
          <a:p>
            <a:r>
              <a:rPr lang="en-US" dirty="0"/>
              <a:t>Compare the power of these setups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168537"/>
              </p:ext>
            </p:extLst>
          </p:nvPr>
        </p:nvGraphicFramePr>
        <p:xfrm>
          <a:off x="7024166" y="2568867"/>
          <a:ext cx="4329634" cy="98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64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Total observations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36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Block</a:t>
                      </a:r>
                      <a:r>
                        <a:rPr lang="en-US" sz="2800" b="1" baseline="0" dirty="0"/>
                        <a:t> DOF</a:t>
                      </a:r>
                      <a:endParaRPr lang="en-US" sz="2800" b="1" dirty="0"/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3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7" name="Table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553111"/>
              </p:ext>
            </p:extLst>
          </p:nvPr>
        </p:nvGraphicFramePr>
        <p:xfrm>
          <a:off x="7024166" y="3555107"/>
          <a:ext cx="4329634" cy="1479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64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2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   Nitrogen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Phosphorus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Error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28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278649"/>
              </p:ext>
            </p:extLst>
          </p:nvPr>
        </p:nvGraphicFramePr>
        <p:xfrm>
          <a:off x="1597401" y="2552795"/>
          <a:ext cx="4498599" cy="197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9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Total observations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12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Block</a:t>
                      </a:r>
                      <a:r>
                        <a:rPr lang="en-US" sz="2800" b="1" baseline="0" dirty="0"/>
                        <a:t> DOF</a:t>
                      </a:r>
                      <a:endParaRPr lang="en-US" sz="2800" b="1" dirty="0"/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3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Treatment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Error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6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39523"/>
              </p:ext>
            </p:extLst>
          </p:nvPr>
        </p:nvGraphicFramePr>
        <p:xfrm>
          <a:off x="1597401" y="4641680"/>
          <a:ext cx="4498599" cy="197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9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Total observations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12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Block</a:t>
                      </a:r>
                      <a:r>
                        <a:rPr lang="en-US" sz="2800" b="1" baseline="0" dirty="0"/>
                        <a:t> DOF</a:t>
                      </a:r>
                      <a:endParaRPr lang="en-US" sz="2800" b="1" dirty="0"/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3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Treatment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Error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6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793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Doing more with less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1114"/>
          </a:xfrm>
        </p:spPr>
        <p:txBody>
          <a:bodyPr/>
          <a:lstStyle/>
          <a:p>
            <a:r>
              <a:rPr lang="en-US" dirty="0"/>
              <a:t>Compare the power of these setups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914921"/>
              </p:ext>
            </p:extLst>
          </p:nvPr>
        </p:nvGraphicFramePr>
        <p:xfrm>
          <a:off x="7024166" y="2568867"/>
          <a:ext cx="4329634" cy="98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64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Total observations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36</a:t>
                      </a:r>
                    </a:p>
                  </a:txBody>
                  <a:tcPr marL="66399" marR="66399" marT="33200" marB="3320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Block</a:t>
                      </a:r>
                      <a:r>
                        <a:rPr lang="en-US" sz="2800" b="1" baseline="0" dirty="0"/>
                        <a:t> DOF</a:t>
                      </a:r>
                      <a:endParaRPr lang="en-US" sz="2800" b="1" dirty="0"/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3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7" name="Table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620984"/>
              </p:ext>
            </p:extLst>
          </p:nvPr>
        </p:nvGraphicFramePr>
        <p:xfrm>
          <a:off x="7024166" y="3555107"/>
          <a:ext cx="4329634" cy="1479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64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2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   Nitrogen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Phosphorus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Error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28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903559"/>
              </p:ext>
            </p:extLst>
          </p:nvPr>
        </p:nvGraphicFramePr>
        <p:xfrm>
          <a:off x="1597401" y="2552795"/>
          <a:ext cx="4498599" cy="197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9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Total observations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12</a:t>
                      </a:r>
                    </a:p>
                  </a:txBody>
                  <a:tcPr marL="66399" marR="66399" marT="33200" marB="3320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Block</a:t>
                      </a:r>
                      <a:r>
                        <a:rPr lang="en-US" sz="2800" b="1" baseline="0" dirty="0"/>
                        <a:t> DOF</a:t>
                      </a:r>
                      <a:endParaRPr lang="en-US" sz="2800" b="1" dirty="0"/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3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Treatment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Error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6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233606"/>
              </p:ext>
            </p:extLst>
          </p:nvPr>
        </p:nvGraphicFramePr>
        <p:xfrm>
          <a:off x="1597401" y="4641680"/>
          <a:ext cx="4498599" cy="197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9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Total observations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12</a:t>
                      </a:r>
                    </a:p>
                  </a:txBody>
                  <a:tcPr marL="66399" marR="66399" marT="33200" marB="3320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Block</a:t>
                      </a:r>
                      <a:r>
                        <a:rPr lang="en-US" sz="2800" b="1" baseline="0" dirty="0"/>
                        <a:t> DOF</a:t>
                      </a:r>
                      <a:endParaRPr lang="en-US" sz="2800" b="1" dirty="0"/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3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Treatment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Error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6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024166" y="5191433"/>
            <a:ext cx="4329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50% more samples</a:t>
            </a:r>
          </a:p>
        </p:txBody>
      </p:sp>
    </p:spTree>
    <p:extLst>
      <p:ext uri="{BB962C8B-B14F-4D97-AF65-F5344CB8AC3E}">
        <p14:creationId xmlns:p14="http://schemas.microsoft.com/office/powerpoint/2010/main" val="97237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Doing more with less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1114"/>
          </a:xfrm>
        </p:spPr>
        <p:txBody>
          <a:bodyPr/>
          <a:lstStyle/>
          <a:p>
            <a:r>
              <a:rPr lang="en-US" dirty="0"/>
              <a:t>Compare the power of these setups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853694"/>
              </p:ext>
            </p:extLst>
          </p:nvPr>
        </p:nvGraphicFramePr>
        <p:xfrm>
          <a:off x="7024166" y="2568867"/>
          <a:ext cx="4329634" cy="98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64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Total observations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36</a:t>
                      </a:r>
                    </a:p>
                  </a:txBody>
                  <a:tcPr marL="66399" marR="66399" marT="33200" marB="3320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Block</a:t>
                      </a:r>
                      <a:r>
                        <a:rPr lang="en-US" sz="2800" b="1" baseline="0" dirty="0"/>
                        <a:t> DOF</a:t>
                      </a:r>
                      <a:endParaRPr lang="en-US" sz="2800" b="1" dirty="0"/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3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7" name="Table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989385"/>
              </p:ext>
            </p:extLst>
          </p:nvPr>
        </p:nvGraphicFramePr>
        <p:xfrm>
          <a:off x="7024166" y="3555107"/>
          <a:ext cx="4329634" cy="1479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64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2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   Nitrogen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Phosphorus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Error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28</a:t>
                      </a:r>
                    </a:p>
                  </a:txBody>
                  <a:tcPr marL="66399" marR="66399" marT="33200" marB="332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267739"/>
              </p:ext>
            </p:extLst>
          </p:nvPr>
        </p:nvGraphicFramePr>
        <p:xfrm>
          <a:off x="1597401" y="2552795"/>
          <a:ext cx="4498599" cy="197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9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Total observations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12</a:t>
                      </a:r>
                    </a:p>
                  </a:txBody>
                  <a:tcPr marL="66399" marR="66399" marT="33200" marB="3320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Block</a:t>
                      </a:r>
                      <a:r>
                        <a:rPr lang="en-US" sz="2800" b="1" baseline="0" dirty="0"/>
                        <a:t> DOF</a:t>
                      </a:r>
                      <a:endParaRPr lang="en-US" sz="2800" b="1" dirty="0"/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3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Treatment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Error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6</a:t>
                      </a:r>
                    </a:p>
                  </a:txBody>
                  <a:tcPr marL="66399" marR="66399" marT="33200" marB="332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55184"/>
              </p:ext>
            </p:extLst>
          </p:nvPr>
        </p:nvGraphicFramePr>
        <p:xfrm>
          <a:off x="1597401" y="4641680"/>
          <a:ext cx="4498599" cy="197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9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Total observations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12</a:t>
                      </a:r>
                    </a:p>
                  </a:txBody>
                  <a:tcPr marL="66399" marR="66399" marT="33200" marB="3320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Block</a:t>
                      </a:r>
                      <a:r>
                        <a:rPr lang="en-US" sz="2800" b="1" baseline="0" dirty="0"/>
                        <a:t> DOF</a:t>
                      </a:r>
                      <a:endParaRPr lang="en-US" sz="2800" b="1" dirty="0"/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3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Treatment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</a:t>
                      </a:r>
                    </a:p>
                  </a:txBody>
                  <a:tcPr marL="66399" marR="66399" marT="33200" marB="33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281">
                <a:tc>
                  <a:txBody>
                    <a:bodyPr/>
                    <a:lstStyle/>
                    <a:p>
                      <a:r>
                        <a:rPr lang="en-US" sz="2800" b="1" dirty="0"/>
                        <a:t>   Error DOF</a:t>
                      </a:r>
                    </a:p>
                  </a:txBody>
                  <a:tcPr marL="66399" marR="66399" marT="33200" marB="33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6</a:t>
                      </a:r>
                    </a:p>
                  </a:txBody>
                  <a:tcPr marL="66399" marR="66399" marT="33200" marB="332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24166" y="5191433"/>
            <a:ext cx="4329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50% more samples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24166" y="5728319"/>
            <a:ext cx="47745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&gt;450% DOF for error</a:t>
            </a:r>
          </a:p>
        </p:txBody>
      </p:sp>
    </p:spTree>
    <p:extLst>
      <p:ext uri="{BB962C8B-B14F-4D97-AF65-F5344CB8AC3E}">
        <p14:creationId xmlns:p14="http://schemas.microsoft.com/office/powerpoint/2010/main" val="2979562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Hidden replication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105145"/>
          </a:xfrm>
        </p:spPr>
        <p:txBody>
          <a:bodyPr/>
          <a:lstStyle/>
          <a:p>
            <a:r>
              <a:rPr lang="en-US" dirty="0"/>
              <a:t>In addition to error DOF, we </a:t>
            </a:r>
            <a:r>
              <a:rPr lang="en-US" u="sng" dirty="0"/>
              <a:t>also</a:t>
            </a:r>
            <a:r>
              <a:rPr lang="en-US" dirty="0"/>
              <a:t> get more reps of individual treatment levels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36841" y="3106614"/>
            <a:ext cx="976217" cy="359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0/0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95155" y="3106614"/>
            <a:ext cx="976217" cy="359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0/5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728644" y="3106614"/>
            <a:ext cx="976217" cy="359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0/10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45271" y="3106614"/>
            <a:ext cx="976217" cy="3591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20/0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561899" y="3106614"/>
            <a:ext cx="976217" cy="3591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762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20/5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603585" y="3106614"/>
            <a:ext cx="976217" cy="3591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20/10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478527" y="3106614"/>
            <a:ext cx="976217" cy="35911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50/0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86957" y="3106614"/>
            <a:ext cx="976217" cy="35911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50/5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20213" y="3106614"/>
            <a:ext cx="976217" cy="35911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50/10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686956" y="3532774"/>
            <a:ext cx="976217" cy="359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0/0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436840" y="3532774"/>
            <a:ext cx="976217" cy="359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0/5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561898" y="3532774"/>
            <a:ext cx="976217" cy="359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0/10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478526" y="3532774"/>
            <a:ext cx="976217" cy="3591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20/0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20212" y="3532774"/>
            <a:ext cx="976217" cy="3591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762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20/5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728643" y="3532774"/>
            <a:ext cx="976217" cy="3591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20/10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645270" y="3532774"/>
            <a:ext cx="976217" cy="35911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50/0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395154" y="3532774"/>
            <a:ext cx="976217" cy="35911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50/5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603584" y="3532774"/>
            <a:ext cx="976217" cy="35911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50/10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20212" y="3971158"/>
            <a:ext cx="976217" cy="359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0/0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436840" y="3971158"/>
            <a:ext cx="976217" cy="359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0/5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686956" y="3971158"/>
            <a:ext cx="976217" cy="359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0/10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395154" y="3971158"/>
            <a:ext cx="976217" cy="3591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20/0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561898" y="3971158"/>
            <a:ext cx="976217" cy="3591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762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20/5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478526" y="3971158"/>
            <a:ext cx="976217" cy="3591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20/10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645270" y="3971158"/>
            <a:ext cx="976217" cy="35911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50/0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603584" y="3971158"/>
            <a:ext cx="976217" cy="35911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50/5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728643" y="3971158"/>
            <a:ext cx="976217" cy="35911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50/10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645270" y="4409542"/>
            <a:ext cx="976217" cy="359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0/0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728643" y="4409542"/>
            <a:ext cx="976217" cy="359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0/5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561898" y="4409542"/>
            <a:ext cx="976217" cy="359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0/10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478526" y="4409542"/>
            <a:ext cx="976217" cy="3591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20/0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20212" y="4409542"/>
            <a:ext cx="976217" cy="3591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762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20/5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436840" y="4409542"/>
            <a:ext cx="976217" cy="3591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20/10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603584" y="4409542"/>
            <a:ext cx="976217" cy="35911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50/0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686956" y="4409542"/>
            <a:ext cx="976217" cy="35911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50/5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395154" y="4409542"/>
            <a:ext cx="976217" cy="35911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50/10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395154" y="5106699"/>
            <a:ext cx="42198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4 reps of each combination</a:t>
            </a:r>
          </a:p>
        </p:txBody>
      </p:sp>
      <p:sp>
        <p:nvSpPr>
          <p:cNvPr id="6" name="Oval 5"/>
          <p:cNvSpPr/>
          <p:nvPr/>
        </p:nvSpPr>
        <p:spPr>
          <a:xfrm>
            <a:off x="2375122" y="3045209"/>
            <a:ext cx="1107155" cy="488814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4454742" y="3925704"/>
            <a:ext cx="1107155" cy="488814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8588754" y="3461969"/>
            <a:ext cx="1107155" cy="488814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/>
          <p:cNvSpPr/>
          <p:nvPr/>
        </p:nvSpPr>
        <p:spPr>
          <a:xfrm>
            <a:off x="7579800" y="4352807"/>
            <a:ext cx="1107155" cy="488814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Box 115"/>
          <p:cNvSpPr txBox="1"/>
          <p:nvPr/>
        </p:nvSpPr>
        <p:spPr>
          <a:xfrm>
            <a:off x="1395154" y="5629919"/>
            <a:ext cx="573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12 reps of each individual factor level</a:t>
            </a:r>
          </a:p>
        </p:txBody>
      </p:sp>
      <p:sp>
        <p:nvSpPr>
          <p:cNvPr id="117" name="Oval 116"/>
          <p:cNvSpPr/>
          <p:nvPr/>
        </p:nvSpPr>
        <p:spPr>
          <a:xfrm>
            <a:off x="3396689" y="3046066"/>
            <a:ext cx="1107155" cy="48881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/>
          <p:cNvSpPr/>
          <p:nvPr/>
        </p:nvSpPr>
        <p:spPr>
          <a:xfrm>
            <a:off x="4438375" y="3055891"/>
            <a:ext cx="1107155" cy="48881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/>
          <p:cNvSpPr/>
          <p:nvPr/>
        </p:nvSpPr>
        <p:spPr>
          <a:xfrm>
            <a:off x="8605121" y="3020529"/>
            <a:ext cx="1107155" cy="48881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/>
          <p:cNvSpPr/>
          <p:nvPr/>
        </p:nvSpPr>
        <p:spPr>
          <a:xfrm>
            <a:off x="6538113" y="3476167"/>
            <a:ext cx="1107155" cy="48881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/>
          <p:cNvSpPr/>
          <p:nvPr/>
        </p:nvSpPr>
        <p:spPr>
          <a:xfrm>
            <a:off x="7588745" y="3479256"/>
            <a:ext cx="1107155" cy="48881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/>
          <p:cNvSpPr/>
          <p:nvPr/>
        </p:nvSpPr>
        <p:spPr>
          <a:xfrm>
            <a:off x="1344163" y="3467031"/>
            <a:ext cx="1107155" cy="48881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/>
          <p:cNvSpPr/>
          <p:nvPr/>
        </p:nvSpPr>
        <p:spPr>
          <a:xfrm>
            <a:off x="1284883" y="4369064"/>
            <a:ext cx="1107155" cy="48881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/>
          <p:cNvSpPr/>
          <p:nvPr/>
        </p:nvSpPr>
        <p:spPr>
          <a:xfrm>
            <a:off x="6538112" y="4375986"/>
            <a:ext cx="1107155" cy="48881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/>
          <p:cNvSpPr/>
          <p:nvPr/>
        </p:nvSpPr>
        <p:spPr>
          <a:xfrm>
            <a:off x="8606563" y="4344691"/>
            <a:ext cx="1107155" cy="48881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/>
          <p:nvPr/>
        </p:nvSpPr>
        <p:spPr>
          <a:xfrm>
            <a:off x="9661691" y="3934380"/>
            <a:ext cx="1107155" cy="48881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/>
          <p:cNvSpPr/>
          <p:nvPr/>
        </p:nvSpPr>
        <p:spPr>
          <a:xfrm>
            <a:off x="7598269" y="3899321"/>
            <a:ext cx="1107155" cy="48881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/>
          <p:cNvSpPr/>
          <p:nvPr/>
        </p:nvSpPr>
        <p:spPr>
          <a:xfrm>
            <a:off x="6543137" y="3934380"/>
            <a:ext cx="1107155" cy="48881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/>
          <p:cNvSpPr txBox="1"/>
          <p:nvPr/>
        </p:nvSpPr>
        <p:spPr>
          <a:xfrm>
            <a:off x="7675765" y="5175769"/>
            <a:ext cx="44224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However</a:t>
            </a:r>
            <a:r>
              <a:rPr lang="en-US" sz="2800" dirty="0"/>
              <a:t>, these extra reps are only “free” if the factors don’t interact</a:t>
            </a:r>
          </a:p>
        </p:txBody>
      </p:sp>
    </p:spTree>
    <p:extLst>
      <p:ext uri="{BB962C8B-B14F-4D97-AF65-F5344CB8AC3E}">
        <p14:creationId xmlns:p14="http://schemas.microsoft.com/office/powerpoint/2010/main" val="2408268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/>
      <p:bldP spid="6" grpId="0" animBg="1"/>
      <p:bldP spid="113" grpId="0" animBg="1"/>
      <p:bldP spid="114" grpId="0" animBg="1"/>
      <p:bldP spid="115" grpId="0" animBg="1"/>
      <p:bldP spid="116" grpId="0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What are factorial designs?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86935"/>
          </a:xfrm>
        </p:spPr>
        <p:txBody>
          <a:bodyPr/>
          <a:lstStyle/>
          <a:p>
            <a:r>
              <a:rPr lang="en-US" dirty="0"/>
              <a:t>Factorial designs are any design where you’re testing more than one important factor at once</a:t>
            </a:r>
          </a:p>
          <a:p>
            <a:pPr lvl="1"/>
            <a:r>
              <a:rPr lang="en-US" dirty="0"/>
              <a:t>Contrast this with unimportant or “nuisance” factors, like blocks in RCBD</a:t>
            </a:r>
          </a:p>
          <a:p>
            <a:r>
              <a:rPr lang="en-US" dirty="0"/>
              <a:t>Factorial designs are actually a superset of designs, since any of the other designs we study can be made into a factorial design</a:t>
            </a:r>
          </a:p>
          <a:p>
            <a:pPr lvl="1"/>
            <a:r>
              <a:rPr lang="en-US" dirty="0"/>
              <a:t>Factorial CRD, Factorial RCBD, Factorial Latin Squares, etc.</a:t>
            </a:r>
          </a:p>
        </p:txBody>
      </p:sp>
    </p:spTree>
    <p:extLst>
      <p:ext uri="{BB962C8B-B14F-4D97-AF65-F5344CB8AC3E}">
        <p14:creationId xmlns:p14="http://schemas.microsoft.com/office/powerpoint/2010/main" val="4093892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Factorial designs fall into two camps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86935"/>
          </a:xfrm>
        </p:spPr>
        <p:txBody>
          <a:bodyPr/>
          <a:lstStyle/>
          <a:p>
            <a:r>
              <a:rPr lang="en-US" dirty="0"/>
              <a:t>“Full factorial designs” use every possible combination of factors</a:t>
            </a:r>
          </a:p>
          <a:p>
            <a:pPr lvl="1"/>
            <a:r>
              <a:rPr lang="en-US" dirty="0"/>
              <a:t>Most basic designs fall here</a:t>
            </a:r>
          </a:p>
          <a:p>
            <a:r>
              <a:rPr lang="en-US" dirty="0"/>
              <a:t>“Fractional factorial designs” use only a subset of possible combinations</a:t>
            </a:r>
          </a:p>
          <a:p>
            <a:pPr lvl="1"/>
            <a:r>
              <a:rPr lang="en-US" dirty="0"/>
              <a:t>Confounded designs (later in the semester) are the best example of this</a:t>
            </a:r>
          </a:p>
        </p:txBody>
      </p:sp>
    </p:spTree>
    <p:extLst>
      <p:ext uri="{BB962C8B-B14F-4D97-AF65-F5344CB8AC3E}">
        <p14:creationId xmlns:p14="http://schemas.microsoft.com/office/powerpoint/2010/main" val="191385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Treatments in full factorial designs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77976"/>
          </a:xfrm>
        </p:spPr>
        <p:txBody>
          <a:bodyPr/>
          <a:lstStyle/>
          <a:p>
            <a:r>
              <a:rPr lang="en-US" dirty="0"/>
              <a:t>The “treatment” in a full factorial design is the </a:t>
            </a:r>
            <a:r>
              <a:rPr lang="en-US" u="sng" dirty="0"/>
              <a:t>combination</a:t>
            </a:r>
            <a:r>
              <a:rPr lang="en-US" dirty="0"/>
              <a:t> of factors, not the individual factors themselves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493520" y="4277360"/>
            <a:ext cx="679650" cy="629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</a:t>
            </a:r>
          </a:p>
        </p:txBody>
      </p:sp>
      <p:sp>
        <p:nvSpPr>
          <p:cNvPr id="5" name="Rectangle 4"/>
          <p:cNvSpPr/>
          <p:nvPr/>
        </p:nvSpPr>
        <p:spPr>
          <a:xfrm>
            <a:off x="2321025" y="4277360"/>
            <a:ext cx="679650" cy="629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</a:t>
            </a:r>
          </a:p>
        </p:txBody>
      </p:sp>
      <p:sp>
        <p:nvSpPr>
          <p:cNvPr id="6" name="Rectangle 5"/>
          <p:cNvSpPr/>
          <p:nvPr/>
        </p:nvSpPr>
        <p:spPr>
          <a:xfrm>
            <a:off x="3148530" y="4277360"/>
            <a:ext cx="679650" cy="629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920" y="3538538"/>
            <a:ext cx="3281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3 Varieties of peanut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3778" y="3223578"/>
            <a:ext cx="23443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5 rhizobia inoculations</a:t>
            </a:r>
          </a:p>
        </p:txBody>
      </p:sp>
      <p:sp>
        <p:nvSpPr>
          <p:cNvPr id="9" name="Oval 8"/>
          <p:cNvSpPr/>
          <p:nvPr/>
        </p:nvSpPr>
        <p:spPr>
          <a:xfrm>
            <a:off x="5455920" y="4409440"/>
            <a:ext cx="497840" cy="4978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783313" y="5059332"/>
            <a:ext cx="497840" cy="49784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438098" y="5059332"/>
            <a:ext cx="497840" cy="4978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110706" y="4409440"/>
            <a:ext cx="497840" cy="49784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765490" y="4409440"/>
            <a:ext cx="497840" cy="49784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506850" y="4353282"/>
            <a:ext cx="57419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/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88530" y="4200256"/>
            <a:ext cx="60625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/>
              <a:t>=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53308" y="5233850"/>
            <a:ext cx="494670" cy="45847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53308" y="4717053"/>
            <a:ext cx="494670" cy="4584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53308" y="5750647"/>
            <a:ext cx="494670" cy="4584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53308" y="6267443"/>
            <a:ext cx="494670" cy="4584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53308" y="4200256"/>
            <a:ext cx="494670" cy="458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0560" y="5233850"/>
            <a:ext cx="494670" cy="45847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40560" y="4717053"/>
            <a:ext cx="494670" cy="4584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0560" y="5750647"/>
            <a:ext cx="494670" cy="4584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40560" y="6267443"/>
            <a:ext cx="494670" cy="4584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0560" y="4200256"/>
            <a:ext cx="494670" cy="458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27810" y="5233850"/>
            <a:ext cx="494670" cy="45847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27810" y="4717053"/>
            <a:ext cx="494670" cy="4584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27810" y="5750647"/>
            <a:ext cx="494670" cy="4584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7810" y="6267443"/>
            <a:ext cx="494670" cy="4584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27810" y="4200256"/>
            <a:ext cx="494670" cy="458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15744" y="3223578"/>
            <a:ext cx="23443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15 total treatments</a:t>
            </a:r>
          </a:p>
        </p:txBody>
      </p:sp>
    </p:spTree>
    <p:extLst>
      <p:ext uri="{BB962C8B-B14F-4D97-AF65-F5344CB8AC3E}">
        <p14:creationId xmlns:p14="http://schemas.microsoft.com/office/powerpoint/2010/main" val="4089861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6" grpId="0" animBg="1"/>
      <p:bldP spid="19" grpId="0" animBg="1"/>
      <p:bldP spid="22" grpId="0" animBg="1"/>
      <p:bldP spid="25" grpId="0" animBg="1"/>
      <p:bldP spid="28" grpId="0" animBg="1"/>
      <p:bldP spid="17" grpId="0" animBg="1"/>
      <p:bldP spid="20" grpId="0" animBg="1"/>
      <p:bldP spid="23" grpId="0" animBg="1"/>
      <p:bldP spid="26" grpId="0" animBg="1"/>
      <p:bldP spid="29" grpId="0" animBg="1"/>
      <p:bldP spid="18" grpId="0" animBg="1"/>
      <p:bldP spid="21" grpId="0" animBg="1"/>
      <p:bldP spid="24" grpId="0" animBg="1"/>
      <p:bldP spid="27" grpId="0" animBg="1"/>
      <p:bldP spid="30" grpId="0" animBg="1"/>
      <p:bldP spid="3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Quick exercise:</a:t>
            </a:r>
            <a:br>
              <a:rPr lang="en-US" dirty="0"/>
            </a:br>
            <a:r>
              <a:rPr lang="en-US" sz="2400" dirty="0"/>
              <a:t>Treatments in full factorial designs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77976"/>
          </a:xfrm>
        </p:spPr>
        <p:txBody>
          <a:bodyPr/>
          <a:lstStyle/>
          <a:p>
            <a:r>
              <a:rPr lang="en-US" dirty="0"/>
              <a:t>How many treatments does each of the following experiments contain?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403601"/>
            <a:ext cx="2558008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Experiment 1: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4 corn varieties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6 fertilizers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4040" y="3403601"/>
            <a:ext cx="283750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Experiment 2: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3 blueberry types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3 pesticides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3 fertilizer mixes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9380" y="3403601"/>
            <a:ext cx="3432286" cy="2739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Experiment 3: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7 switchgrass varieties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4 tillage schemes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3 irrigation schemes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5 fertilizers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3 pesticides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2 harvest points</a:t>
            </a:r>
          </a:p>
        </p:txBody>
      </p:sp>
    </p:spTree>
    <p:extLst>
      <p:ext uri="{BB962C8B-B14F-4D97-AF65-F5344CB8AC3E}">
        <p14:creationId xmlns:p14="http://schemas.microsoft.com/office/powerpoint/2010/main" val="409298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Quick exercise:</a:t>
            </a:r>
            <a:br>
              <a:rPr lang="en-US" sz="4000" dirty="0"/>
            </a:br>
            <a:r>
              <a:rPr lang="en-US" sz="2400" dirty="0"/>
              <a:t>Treatments in full factorial designs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77976"/>
          </a:xfrm>
        </p:spPr>
        <p:txBody>
          <a:bodyPr/>
          <a:lstStyle/>
          <a:p>
            <a:r>
              <a:rPr lang="en-US" dirty="0"/>
              <a:t>How many treatments does each of the following experiments contain?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403601"/>
            <a:ext cx="2558008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Experiment 1: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4 corn varieties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6 fertilizers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4040" y="3403601"/>
            <a:ext cx="283750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Experiment 2: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3 blueberry types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3 pesticides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3 fertilizer mixes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9380" y="3403601"/>
            <a:ext cx="3432286" cy="2739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Experiment 3: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7 switchgrass varieties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4 tillage schemes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3 irrigation schemes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5 fertilizers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3 pesticides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2 harvest points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7224" y="5228573"/>
            <a:ext cx="2219960" cy="481649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24 Treatments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92814" y="5228573"/>
            <a:ext cx="2219960" cy="481649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27 Treatments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0886" y="6142812"/>
            <a:ext cx="2561914" cy="481649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2520 Treatments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77420" y="6168688"/>
            <a:ext cx="23855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Don’t do this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7118505" y="6321028"/>
            <a:ext cx="1247029" cy="303433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&quot;No&quot; Symbol 11"/>
          <p:cNvSpPr/>
          <p:nvPr/>
        </p:nvSpPr>
        <p:spPr>
          <a:xfrm>
            <a:off x="10798629" y="176981"/>
            <a:ext cx="1196566" cy="1196566"/>
          </a:xfrm>
          <a:prstGeom prst="noSmoking">
            <a:avLst/>
          </a:prstGeom>
          <a:solidFill>
            <a:srgbClr val="FF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308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6" grpId="0" animBg="1"/>
      <p:bldP spid="37" grpId="0" animBg="1"/>
      <p:bldP spid="38" grpId="0"/>
      <p:bldP spid="3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Full factorials get big quickly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86935"/>
          </a:xfrm>
        </p:spPr>
        <p:txBody>
          <a:bodyPr/>
          <a:lstStyle/>
          <a:p>
            <a:r>
              <a:rPr lang="en-US" dirty="0"/>
              <a:t>Since you have to include every possible combination, the number of treatments rises very fast</a:t>
            </a:r>
          </a:p>
          <a:p>
            <a:r>
              <a:rPr lang="en-US" dirty="0"/>
              <a:t>When doing a full factorial, you have to limit yourself to a reasonable number of treatments</a:t>
            </a:r>
          </a:p>
          <a:p>
            <a:pPr lvl="1"/>
            <a:r>
              <a:rPr lang="en-US" dirty="0"/>
              <a:t>This is one of the full factorial’s chief limitations</a:t>
            </a:r>
          </a:p>
          <a:p>
            <a:pPr lvl="1"/>
            <a:r>
              <a:rPr lang="en-US" dirty="0"/>
              <a:t>This is also why fractional factorial designs are useful</a:t>
            </a:r>
          </a:p>
        </p:txBody>
      </p:sp>
    </p:spTree>
    <p:extLst>
      <p:ext uri="{BB962C8B-B14F-4D97-AF65-F5344CB8AC3E}">
        <p14:creationId xmlns:p14="http://schemas.microsoft.com/office/powerpoint/2010/main" val="4218997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interactions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111181" cy="4110718"/>
          </a:xfrm>
        </p:spPr>
        <p:txBody>
          <a:bodyPr/>
          <a:lstStyle/>
          <a:p>
            <a:r>
              <a:rPr lang="en-US" dirty="0"/>
              <a:t>One reason people like factorials is because they let you test interactions between factors</a:t>
            </a:r>
          </a:p>
          <a:p>
            <a:r>
              <a:rPr lang="en-US" dirty="0"/>
              <a:t>An </a:t>
            </a:r>
            <a:r>
              <a:rPr lang="en-US" u="sng" dirty="0"/>
              <a:t>interaction</a:t>
            </a:r>
            <a:r>
              <a:rPr lang="en-US" dirty="0"/>
              <a:t> means that the combination of A and B does something different than either does separately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3484" y="2661862"/>
            <a:ext cx="3693303" cy="312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16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97446"/>
          </a:xfrm>
        </p:spPr>
        <p:txBody>
          <a:bodyPr/>
          <a:lstStyle/>
          <a:p>
            <a:r>
              <a:rPr lang="en-US" dirty="0"/>
              <a:t>Say we have the following yield results:</a:t>
            </a:r>
          </a:p>
          <a:p>
            <a:pPr lvl="1"/>
            <a:r>
              <a:rPr lang="en-US" dirty="0"/>
              <a:t>50 kg/ha nitrogen = +200 kg yield</a:t>
            </a:r>
          </a:p>
          <a:p>
            <a:pPr lvl="1"/>
            <a:r>
              <a:rPr lang="en-US" dirty="0"/>
              <a:t>20 kg/ha phosphorus = +100 kg yield</a:t>
            </a:r>
          </a:p>
          <a:p>
            <a:r>
              <a:rPr lang="en-US" dirty="0"/>
              <a:t>Test with 50 kg/ nitrogen + 20 kg/ha phosphorus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9121" y="3937819"/>
            <a:ext cx="26258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No interaction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5534" y="3923071"/>
            <a:ext cx="20487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Interaction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57951"/>
              </p:ext>
            </p:extLst>
          </p:nvPr>
        </p:nvGraphicFramePr>
        <p:xfrm>
          <a:off x="838200" y="4507846"/>
          <a:ext cx="4028768" cy="2072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14384">
                  <a:extLst>
                    <a:ext uri="{9D8B030D-6E8A-4147-A177-3AD203B41FA5}">
                      <a16:colId xmlns:a16="http://schemas.microsoft.com/office/drawing/2014/main" val="383694957"/>
                    </a:ext>
                  </a:extLst>
                </a:gridCol>
                <a:gridCol w="2014384">
                  <a:extLst>
                    <a:ext uri="{9D8B030D-6E8A-4147-A177-3AD203B41FA5}">
                      <a16:colId xmlns:a16="http://schemas.microsoft.com/office/drawing/2014/main" val="3379741499"/>
                    </a:ext>
                  </a:extLst>
                </a:gridCol>
              </a:tblGrid>
              <a:tr h="128085">
                <a:tc>
                  <a:txBody>
                    <a:bodyPr/>
                    <a:lstStyle/>
                    <a:p>
                      <a:r>
                        <a:rPr lang="en-US" sz="2800" dirty="0"/>
                        <a:t>Application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Yield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863934"/>
                  </a:ext>
                </a:extLst>
              </a:tr>
              <a:tr h="128085">
                <a:tc>
                  <a:txBody>
                    <a:bodyPr/>
                    <a:lstStyle/>
                    <a:p>
                      <a:r>
                        <a:rPr lang="en-US" sz="2800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+200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3059071"/>
                  </a:ext>
                </a:extLst>
              </a:tr>
              <a:tr h="128085">
                <a:tc>
                  <a:txBody>
                    <a:bodyPr/>
                    <a:lstStyle/>
                    <a:p>
                      <a:r>
                        <a:rPr lang="en-US" sz="2800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+100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87678"/>
                  </a:ext>
                </a:extLst>
              </a:tr>
              <a:tr h="128085">
                <a:tc>
                  <a:txBody>
                    <a:bodyPr/>
                    <a:lstStyle/>
                    <a:p>
                      <a:r>
                        <a:rPr lang="en-US" sz="2800" dirty="0"/>
                        <a:t>N + 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+300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0306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061274"/>
              </p:ext>
            </p:extLst>
          </p:nvPr>
        </p:nvGraphicFramePr>
        <p:xfrm>
          <a:off x="5215379" y="4507846"/>
          <a:ext cx="4028768" cy="2072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14384">
                  <a:extLst>
                    <a:ext uri="{9D8B030D-6E8A-4147-A177-3AD203B41FA5}">
                      <a16:colId xmlns:a16="http://schemas.microsoft.com/office/drawing/2014/main" val="383694957"/>
                    </a:ext>
                  </a:extLst>
                </a:gridCol>
                <a:gridCol w="2014384">
                  <a:extLst>
                    <a:ext uri="{9D8B030D-6E8A-4147-A177-3AD203B41FA5}">
                      <a16:colId xmlns:a16="http://schemas.microsoft.com/office/drawing/2014/main" val="3379741499"/>
                    </a:ext>
                  </a:extLst>
                </a:gridCol>
              </a:tblGrid>
              <a:tr h="128085">
                <a:tc>
                  <a:txBody>
                    <a:bodyPr/>
                    <a:lstStyle/>
                    <a:p>
                      <a:r>
                        <a:rPr lang="en-US" sz="2800" dirty="0"/>
                        <a:t>Application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Yield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863934"/>
                  </a:ext>
                </a:extLst>
              </a:tr>
              <a:tr h="128085">
                <a:tc>
                  <a:txBody>
                    <a:bodyPr/>
                    <a:lstStyle/>
                    <a:p>
                      <a:r>
                        <a:rPr lang="en-US" sz="2800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+200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3059071"/>
                  </a:ext>
                </a:extLst>
              </a:tr>
              <a:tr h="128085">
                <a:tc>
                  <a:txBody>
                    <a:bodyPr/>
                    <a:lstStyle/>
                    <a:p>
                      <a:r>
                        <a:rPr lang="en-US" sz="2800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+100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87678"/>
                  </a:ext>
                </a:extLst>
              </a:tr>
              <a:tr h="128085">
                <a:tc>
                  <a:txBody>
                    <a:bodyPr/>
                    <a:lstStyle/>
                    <a:p>
                      <a:r>
                        <a:rPr lang="en-US" sz="2800" dirty="0"/>
                        <a:t>N + 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+450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0306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592558" y="4420781"/>
            <a:ext cx="2743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The effect of both together is different than just adding separately</a:t>
            </a:r>
          </a:p>
        </p:txBody>
      </p:sp>
      <p:sp>
        <p:nvSpPr>
          <p:cNvPr id="9" name="Right Arrow 8"/>
          <p:cNvSpPr/>
          <p:nvPr/>
        </p:nvSpPr>
        <p:spPr>
          <a:xfrm rot="10800000">
            <a:off x="9004455" y="6116029"/>
            <a:ext cx="588103" cy="464457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303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3154" cy="1662967"/>
          </a:xfrm>
        </p:spPr>
        <p:txBody>
          <a:bodyPr/>
          <a:lstStyle/>
          <a:p>
            <a:r>
              <a:rPr lang="en-US" dirty="0"/>
              <a:t>Three general types of interactions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931985" y="2103230"/>
            <a:ext cx="10515600" cy="671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65138" indent="-46513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62063" indent="-3476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2913" indent="-3413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476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75240" y="1712141"/>
            <a:ext cx="33403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Change in magnitude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0239" y="1712141"/>
            <a:ext cx="2925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Change in Ranking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7223" y="1708393"/>
            <a:ext cx="2526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Change in slope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58" y="2219410"/>
            <a:ext cx="3693303" cy="312771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6168" y="2219410"/>
            <a:ext cx="3693303" cy="312771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578" y="2219410"/>
            <a:ext cx="3693303" cy="31277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0891" y="2142465"/>
            <a:ext cx="15442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Variety A</a:t>
            </a:r>
          </a:p>
          <a:p>
            <a:r>
              <a:rPr lang="en-US" sz="2800" b="1" dirty="0">
                <a:solidFill>
                  <a:srgbClr val="0000FF"/>
                </a:solidFill>
              </a:rPr>
              <a:t>Variety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5068" y="5693908"/>
            <a:ext cx="2737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Nitrogen levels</a:t>
            </a:r>
          </a:p>
        </p:txBody>
      </p:sp>
      <p:sp>
        <p:nvSpPr>
          <p:cNvPr id="5" name="Right Triangle 4"/>
          <p:cNvSpPr/>
          <p:nvPr/>
        </p:nvSpPr>
        <p:spPr>
          <a:xfrm flipH="1">
            <a:off x="624114" y="5424067"/>
            <a:ext cx="3089864" cy="269841"/>
          </a:xfrm>
          <a:prstGeom prst="rt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21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2" grpId="0"/>
      <p:bldP spid="4" grpId="0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Statistical terminology:</a:t>
            </a:r>
            <a:br>
              <a:rPr lang="en-US" dirty="0"/>
            </a:br>
            <a:r>
              <a:rPr lang="en-US" sz="2800" dirty="0"/>
              <a:t>Simple versus main versus interaction effects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989022"/>
          </a:xfrm>
        </p:spPr>
        <p:txBody>
          <a:bodyPr/>
          <a:lstStyle/>
          <a:p>
            <a:r>
              <a:rPr lang="en-US" b="1" dirty="0"/>
              <a:t>Simple</a:t>
            </a:r>
            <a:r>
              <a:rPr lang="en-US" dirty="0"/>
              <a:t> effect = effect of factor A at one level of factor B</a:t>
            </a:r>
          </a:p>
          <a:p>
            <a:pPr lvl="1"/>
            <a:r>
              <a:rPr lang="en-US" dirty="0"/>
              <a:t>Effect of additional P at N=20</a:t>
            </a:r>
          </a:p>
          <a:p>
            <a:pPr lvl="1"/>
            <a:endParaRPr lang="en-US" dirty="0"/>
          </a:p>
          <a:p>
            <a:r>
              <a:rPr lang="en-US" b="1" dirty="0"/>
              <a:t>Main</a:t>
            </a:r>
            <a:r>
              <a:rPr lang="en-US" dirty="0"/>
              <a:t> effect = effect of factor A </a:t>
            </a:r>
            <a:r>
              <a:rPr lang="en-US" u="sng" dirty="0"/>
              <a:t>across all levels</a:t>
            </a:r>
            <a:r>
              <a:rPr lang="en-US" dirty="0"/>
              <a:t> of factor B</a:t>
            </a:r>
          </a:p>
          <a:p>
            <a:pPr lvl="1"/>
            <a:r>
              <a:rPr lang="en-US" dirty="0"/>
              <a:t>Effect of additional P at any level of N</a:t>
            </a:r>
          </a:p>
          <a:p>
            <a:pPr lvl="1"/>
            <a:endParaRPr lang="en-US" dirty="0"/>
          </a:p>
          <a:p>
            <a:r>
              <a:rPr lang="en-US" b="1" dirty="0"/>
              <a:t>Interaction</a:t>
            </a:r>
            <a:r>
              <a:rPr lang="en-US" dirty="0"/>
              <a:t> effect = effect of factor A and B together </a:t>
            </a:r>
            <a:r>
              <a:rPr lang="en-US" u="sng" dirty="0"/>
              <a:t>independent of</a:t>
            </a:r>
            <a:r>
              <a:rPr lang="en-US" dirty="0"/>
              <a:t> their main effects</a:t>
            </a:r>
          </a:p>
          <a:p>
            <a:pPr lvl="1"/>
            <a:r>
              <a:rPr lang="en-US" dirty="0"/>
              <a:t>Effect of A+B at any level of A and 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78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interactions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Interactions are symmetric:</a:t>
            </a:r>
          </a:p>
          <a:p>
            <a:pPr lvl="1"/>
            <a:r>
              <a:rPr lang="en-US" dirty="0"/>
              <a:t>If A interacts with B, then B interacts with A</a:t>
            </a:r>
          </a:p>
          <a:p>
            <a:pPr lvl="1"/>
            <a:r>
              <a:rPr lang="en-US" dirty="0"/>
              <a:t>Cannot have a one-way interaction</a:t>
            </a:r>
          </a:p>
          <a:p>
            <a:r>
              <a:rPr lang="en-US" dirty="0"/>
              <a:t>Test of significance is completely independent of the test for main effects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123" y="4497782"/>
            <a:ext cx="2664087" cy="22561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13938" y="4729291"/>
            <a:ext cx="46854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Strong interaction effect</a:t>
            </a:r>
          </a:p>
          <a:p>
            <a:r>
              <a:rPr lang="en-US" sz="3200" b="1" dirty="0"/>
              <a:t>Minimal/zero main effects</a:t>
            </a:r>
          </a:p>
        </p:txBody>
      </p:sp>
    </p:spTree>
    <p:extLst>
      <p:ext uri="{BB962C8B-B14F-4D97-AF65-F5344CB8AC3E}">
        <p14:creationId xmlns:p14="http://schemas.microsoft.com/office/powerpoint/2010/main" val="577502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interactions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615057" cy="627289"/>
          </a:xfrm>
        </p:spPr>
        <p:txBody>
          <a:bodyPr/>
          <a:lstStyle/>
          <a:p>
            <a:r>
              <a:rPr lang="en-US" dirty="0"/>
              <a:t>Interactions are specified in R with a “:” between model terms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582"/>
          <a:stretch/>
        </p:blipFill>
        <p:spPr>
          <a:xfrm>
            <a:off x="1393858" y="2767182"/>
            <a:ext cx="10377227" cy="6652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81" b="59722"/>
          <a:stretch/>
        </p:blipFill>
        <p:spPr>
          <a:xfrm>
            <a:off x="1393857" y="3801083"/>
            <a:ext cx="10377227" cy="6893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24915" y="4488183"/>
            <a:ext cx="29654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Interaction term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7561943" y="4490481"/>
            <a:ext cx="1901371" cy="0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619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Shortcut for interactions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a shortcut, you can use “*” in a model formula to mean “all main effects and their interactions”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81" b="59722"/>
          <a:stretch/>
        </p:blipFill>
        <p:spPr>
          <a:xfrm>
            <a:off x="1495457" y="3322112"/>
            <a:ext cx="10377227" cy="6893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954" b="29816"/>
          <a:stretch/>
        </p:blipFill>
        <p:spPr>
          <a:xfrm>
            <a:off x="1495456" y="4854855"/>
            <a:ext cx="10377227" cy="6531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1" y="4216337"/>
            <a:ext cx="17529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Equivalent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7445829" y="4022129"/>
            <a:ext cx="740229" cy="462436"/>
          </a:xfrm>
          <a:prstGeom prst="straightConnector1">
            <a:avLst/>
          </a:prstGeom>
          <a:ln w="571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1"/>
          </p:cNvCxnSpPr>
          <p:nvPr/>
        </p:nvCxnSpPr>
        <p:spPr>
          <a:xfrm flipH="1">
            <a:off x="7530858" y="4477947"/>
            <a:ext cx="698743" cy="631080"/>
          </a:xfrm>
          <a:prstGeom prst="straightConnector1">
            <a:avLst/>
          </a:prstGeom>
          <a:ln w="571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07429" y="3933276"/>
            <a:ext cx="4484915" cy="0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007429" y="5471616"/>
            <a:ext cx="2104571" cy="0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0102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exercise:</a:t>
            </a:r>
            <a:br>
              <a:rPr lang="en-US" dirty="0"/>
            </a:br>
            <a:r>
              <a:rPr lang="en-US" sz="2800" dirty="0"/>
              <a:t>Basic factorial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“12_cotton.csv”, which is a factorial CRD comparing cover crops and fertilizer combinations on cotton.</a:t>
            </a:r>
          </a:p>
          <a:p>
            <a:r>
              <a:rPr lang="en-US" dirty="0"/>
              <a:t>Run an ANOVA on this data looking at both main effects and their interaction. Which is/are significant?</a:t>
            </a:r>
          </a:p>
        </p:txBody>
      </p:sp>
    </p:spTree>
    <p:extLst>
      <p:ext uri="{BB962C8B-B14F-4D97-AF65-F5344CB8AC3E}">
        <p14:creationId xmlns:p14="http://schemas.microsoft.com/office/powerpoint/2010/main" val="4210722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exercise:</a:t>
            </a:r>
            <a:br>
              <a:rPr lang="en-US" dirty="0"/>
            </a:br>
            <a:r>
              <a:rPr lang="en-US" sz="2800" dirty="0"/>
              <a:t>Basic factorial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629" y="5544457"/>
            <a:ext cx="8302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All effects are significant</a:t>
            </a:r>
          </a:p>
        </p:txBody>
      </p:sp>
      <p:sp>
        <p:nvSpPr>
          <p:cNvPr id="7" name="&quot;No&quot; Symbol 6"/>
          <p:cNvSpPr/>
          <p:nvPr/>
        </p:nvSpPr>
        <p:spPr>
          <a:xfrm>
            <a:off x="10798629" y="176981"/>
            <a:ext cx="1196566" cy="1196566"/>
          </a:xfrm>
          <a:prstGeom prst="noSmoking">
            <a:avLst/>
          </a:prstGeom>
          <a:solidFill>
            <a:srgbClr val="FF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927" y="1739456"/>
            <a:ext cx="9883702" cy="359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838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exercise:</a:t>
            </a:r>
            <a:br>
              <a:rPr lang="en-US" dirty="0"/>
            </a:br>
            <a:r>
              <a:rPr lang="en-US" sz="2800" dirty="0"/>
              <a:t>RCBD factorial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run a similar analysis for the data in ‘12_alfalfa.csv’, which is a RCBD</a:t>
            </a:r>
          </a:p>
          <a:p>
            <a:pPr lvl="1"/>
            <a:r>
              <a:rPr lang="en-US" dirty="0"/>
              <a:t>Testing several alfalfa varieties against 2 rhizobia inoculations</a:t>
            </a:r>
          </a:p>
          <a:p>
            <a:pPr lvl="1"/>
            <a:r>
              <a:rPr lang="en-US" dirty="0"/>
              <a:t>Make sure to include the block effect</a:t>
            </a:r>
          </a:p>
          <a:p>
            <a:pPr lvl="1"/>
            <a:r>
              <a:rPr lang="en-US" dirty="0"/>
              <a:t>Blocks shouldn’t interact with anything</a:t>
            </a:r>
          </a:p>
        </p:txBody>
      </p:sp>
    </p:spTree>
    <p:extLst>
      <p:ext uri="{BB962C8B-B14F-4D97-AF65-F5344CB8AC3E}">
        <p14:creationId xmlns:p14="http://schemas.microsoft.com/office/powerpoint/2010/main" val="3389782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exercise:</a:t>
            </a:r>
            <a:br>
              <a:rPr lang="en-US" dirty="0"/>
            </a:br>
            <a:r>
              <a:rPr lang="en-US" sz="2800" dirty="0"/>
              <a:t>RCBD factorial analysis</a:t>
            </a:r>
            <a:endParaRPr lang="en-US" dirty="0"/>
          </a:p>
        </p:txBody>
      </p:sp>
      <p:sp>
        <p:nvSpPr>
          <p:cNvPr id="4" name="&quot;No&quot; Symbol 3"/>
          <p:cNvSpPr/>
          <p:nvPr/>
        </p:nvSpPr>
        <p:spPr>
          <a:xfrm>
            <a:off x="10798629" y="176981"/>
            <a:ext cx="1196566" cy="1196566"/>
          </a:xfrm>
          <a:prstGeom prst="noSmoking">
            <a:avLst/>
          </a:prstGeom>
          <a:solidFill>
            <a:srgbClr val="FF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076" y="1690688"/>
            <a:ext cx="10702439" cy="3911826"/>
          </a:xfrm>
        </p:spPr>
      </p:pic>
      <p:sp>
        <p:nvSpPr>
          <p:cNvPr id="7" name="TextBox 6"/>
          <p:cNvSpPr txBox="1"/>
          <p:nvPr/>
        </p:nvSpPr>
        <p:spPr>
          <a:xfrm>
            <a:off x="1146629" y="5544457"/>
            <a:ext cx="83021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Block, variety, and interaction significant</a:t>
            </a:r>
          </a:p>
          <a:p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Main effect of rhizobia is not</a:t>
            </a:r>
          </a:p>
        </p:txBody>
      </p:sp>
    </p:spTree>
    <p:extLst>
      <p:ext uri="{BB962C8B-B14F-4D97-AF65-F5344CB8AC3E}">
        <p14:creationId xmlns:p14="http://schemas.microsoft.com/office/powerpoint/2010/main" val="1685567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on factorial analysis?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61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dirty="0"/>
              <a:t>Statistical versus biological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27575"/>
          </a:xfrm>
        </p:spPr>
        <p:txBody>
          <a:bodyPr/>
          <a:lstStyle/>
          <a:p>
            <a:r>
              <a:rPr lang="en-US" dirty="0"/>
              <a:t>ANOVA interaction effects are </a:t>
            </a:r>
            <a:r>
              <a:rPr lang="en-US" u="sng" dirty="0"/>
              <a:t>statistical</a:t>
            </a:r>
            <a:r>
              <a:rPr lang="en-US" dirty="0"/>
              <a:t> interactions</a:t>
            </a:r>
          </a:p>
          <a:p>
            <a:r>
              <a:rPr lang="en-US" dirty="0"/>
              <a:t>These only reflect the mathematical behavior of factor A versus factor B</a:t>
            </a:r>
          </a:p>
          <a:p>
            <a:r>
              <a:rPr lang="en-US" dirty="0"/>
              <a:t>Whether there is biology involved is another question entirely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767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dirty="0"/>
              <a:t>Statistical versus biological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27575"/>
          </a:xfrm>
        </p:spPr>
        <p:txBody>
          <a:bodyPr/>
          <a:lstStyle/>
          <a:p>
            <a:r>
              <a:rPr lang="en-US" dirty="0"/>
              <a:t>Wheat A does better in Environment 1 (hot &amp; dry)</a:t>
            </a:r>
          </a:p>
          <a:p>
            <a:r>
              <a:rPr lang="en-US" dirty="0"/>
              <a:t>Wheat B does better in Environment 2 (cool &amp; wet)</a:t>
            </a:r>
          </a:p>
          <a:p>
            <a:r>
              <a:rPr lang="en-US" dirty="0"/>
              <a:t>Strong statistical interaction</a:t>
            </a:r>
          </a:p>
          <a:p>
            <a:r>
              <a:rPr lang="en-US" dirty="0"/>
              <a:t>Several potential reasons:</a:t>
            </a:r>
          </a:p>
          <a:p>
            <a:pPr lvl="1"/>
            <a:r>
              <a:rPr lang="en-US" dirty="0"/>
              <a:t>Different water use efficiency</a:t>
            </a:r>
          </a:p>
          <a:p>
            <a:pPr lvl="1"/>
            <a:r>
              <a:rPr lang="en-US" dirty="0"/>
              <a:t>Different disease resistance</a:t>
            </a:r>
          </a:p>
          <a:p>
            <a:pPr lvl="1"/>
            <a:r>
              <a:rPr lang="en-US" dirty="0"/>
              <a:t>Different insect resistance</a:t>
            </a:r>
          </a:p>
          <a:p>
            <a:pPr lvl="1"/>
            <a:r>
              <a:rPr lang="en-US" dirty="0"/>
              <a:t>Different nutrient requirements</a:t>
            </a:r>
          </a:p>
          <a:p>
            <a:pPr lvl="1"/>
            <a:r>
              <a:rPr lang="en-US" dirty="0"/>
              <a:t>Different lodging propensity</a:t>
            </a:r>
          </a:p>
        </p:txBody>
      </p:sp>
      <p:sp>
        <p:nvSpPr>
          <p:cNvPr id="4" name="Right Brace 3"/>
          <p:cNvSpPr/>
          <p:nvPr/>
        </p:nvSpPr>
        <p:spPr>
          <a:xfrm>
            <a:off x="6682154" y="4173415"/>
            <a:ext cx="339969" cy="2403231"/>
          </a:xfrm>
          <a:prstGeom prst="rightBrac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619999" y="4251645"/>
            <a:ext cx="431409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Interactions can lead you to form hypotheses, but you usually need more data or a new experiment to test them</a:t>
            </a:r>
          </a:p>
        </p:txBody>
      </p:sp>
    </p:spTree>
    <p:extLst>
      <p:ext uri="{BB962C8B-B14F-4D97-AF65-F5344CB8AC3E}">
        <p14:creationId xmlns:p14="http://schemas.microsoft.com/office/powerpoint/2010/main" val="3728145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5554" cy="1325563"/>
          </a:xfrm>
        </p:spPr>
        <p:txBody>
          <a:bodyPr/>
          <a:lstStyle/>
          <a:p>
            <a:r>
              <a:rPr lang="en-US" dirty="0"/>
              <a:t>Statistical versus practical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99761"/>
          </a:xfrm>
        </p:spPr>
        <p:txBody>
          <a:bodyPr/>
          <a:lstStyle/>
          <a:p>
            <a:r>
              <a:rPr lang="en-US" dirty="0"/>
              <a:t>Interactions can render the main effect meaningless</a:t>
            </a:r>
          </a:p>
          <a:p>
            <a:pPr lvl="1"/>
            <a:r>
              <a:rPr lang="en-US" dirty="0"/>
              <a:t>But that doesn’t mean they always do so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25386"/>
            <a:ext cx="10374241" cy="22796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20821" y="6550223"/>
            <a:ext cx="3371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Based on Agronomy 771 notes, U Wisconsin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5182199"/>
            <a:ext cx="10515600" cy="10997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65138" indent="-46513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62063" indent="-3476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2913" indent="-3413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476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15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5554" cy="1325563"/>
          </a:xfrm>
        </p:spPr>
        <p:txBody>
          <a:bodyPr/>
          <a:lstStyle/>
          <a:p>
            <a:r>
              <a:rPr lang="en-US" dirty="0"/>
              <a:t>Statistical versus practical significance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20821" y="6550223"/>
            <a:ext cx="3371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Based on Agronomy 771 notes, U Wisconsin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5182199"/>
            <a:ext cx="10515600" cy="10997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65138" indent="-46513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62063" indent="-3476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2913" indent="-3413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476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431" y="1508516"/>
            <a:ext cx="5193323" cy="5085977"/>
          </a:xfrm>
          <a:prstGeom prst="rect">
            <a:avLst/>
          </a:prstGeom>
        </p:spPr>
      </p:pic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200" y="1825625"/>
            <a:ext cx="5503985" cy="4110718"/>
          </a:xfrm>
        </p:spPr>
        <p:txBody>
          <a:bodyPr/>
          <a:lstStyle/>
          <a:p>
            <a:r>
              <a:rPr lang="en-US" dirty="0"/>
              <a:t>The interaction effect here is statistically significant.</a:t>
            </a:r>
          </a:p>
          <a:p>
            <a:pPr lvl="1"/>
            <a:r>
              <a:rPr lang="en-US" dirty="0"/>
              <a:t>Does it make a difference in practice?</a:t>
            </a:r>
          </a:p>
          <a:p>
            <a:r>
              <a:rPr lang="en-US" dirty="0"/>
              <a:t>If you were a farmer, which would you grow?</a:t>
            </a:r>
          </a:p>
        </p:txBody>
      </p:sp>
    </p:spTree>
    <p:extLst>
      <p:ext uri="{BB962C8B-B14F-4D97-AF65-F5344CB8AC3E}">
        <p14:creationId xmlns:p14="http://schemas.microsoft.com/office/powerpoint/2010/main" val="30387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Specifying your factorial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56591"/>
          </a:xfrm>
        </p:spPr>
        <p:txBody>
          <a:bodyPr/>
          <a:lstStyle/>
          <a:p>
            <a:r>
              <a:rPr lang="en-US" dirty="0"/>
              <a:t>As mentioned “factorial” (or even “full factorial”) is only part of the design</a:t>
            </a:r>
          </a:p>
          <a:p>
            <a:r>
              <a:rPr lang="en-US" dirty="0"/>
              <a:t>The other part is how you arrange the treatments</a:t>
            </a:r>
          </a:p>
        </p:txBody>
      </p:sp>
    </p:spTree>
    <p:extLst>
      <p:ext uri="{BB962C8B-B14F-4D97-AF65-F5344CB8AC3E}">
        <p14:creationId xmlns:p14="http://schemas.microsoft.com/office/powerpoint/2010/main" val="244295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Types of full factorial: </a:t>
            </a:r>
            <a:r>
              <a:rPr lang="en-US" sz="4000" dirty="0" err="1"/>
              <a:t>Unreplicated</a:t>
            </a:r>
            <a:r>
              <a:rPr lang="en-US" sz="4000" dirty="0"/>
              <a:t> CRD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86935"/>
          </a:xfrm>
        </p:spPr>
        <p:txBody>
          <a:bodyPr/>
          <a:lstStyle/>
          <a:p>
            <a:r>
              <a:rPr lang="en-US" dirty="0"/>
              <a:t>The most basic full factorial is an </a:t>
            </a:r>
            <a:r>
              <a:rPr lang="en-US" dirty="0" err="1"/>
              <a:t>unreplicated</a:t>
            </a:r>
            <a:r>
              <a:rPr lang="en-US" dirty="0"/>
              <a:t> one in CRD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3287208" y="3034669"/>
            <a:ext cx="2673752" cy="3612826"/>
            <a:chOff x="4780344" y="3034669"/>
            <a:chExt cx="2673752" cy="3612826"/>
          </a:xfrm>
        </p:grpSpPr>
        <p:sp>
          <p:nvSpPr>
            <p:cNvPr id="16" name="Rectangle 15"/>
            <p:cNvSpPr/>
            <p:nvPr/>
          </p:nvSpPr>
          <p:spPr>
            <a:xfrm>
              <a:off x="4780344" y="4513171"/>
              <a:ext cx="707599" cy="655824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A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780344" y="3773920"/>
              <a:ext cx="707599" cy="655824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A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780344" y="5252421"/>
              <a:ext cx="707599" cy="655824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A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780344" y="5991671"/>
              <a:ext cx="707599" cy="655824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A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780344" y="3034669"/>
              <a:ext cx="707599" cy="6558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A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763422" y="4513171"/>
              <a:ext cx="707599" cy="655824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B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763422" y="3773920"/>
              <a:ext cx="707599" cy="655824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B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763422" y="5252421"/>
              <a:ext cx="707599" cy="655824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B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763422" y="5991671"/>
              <a:ext cx="707599" cy="655824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B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763422" y="3034669"/>
              <a:ext cx="707599" cy="6558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B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746497" y="4513171"/>
              <a:ext cx="707599" cy="655824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C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746497" y="3773920"/>
              <a:ext cx="707599" cy="655824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C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746497" y="5252421"/>
              <a:ext cx="707599" cy="655824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C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746497" y="5991671"/>
              <a:ext cx="707599" cy="655824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C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746497" y="3034669"/>
              <a:ext cx="707599" cy="6558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C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1553195" y="2367629"/>
            <a:ext cx="6099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3 peanuts x 5 rhizobia = 15 treatments</a:t>
            </a:r>
          </a:p>
        </p:txBody>
      </p:sp>
    </p:spTree>
    <p:extLst>
      <p:ext uri="{BB962C8B-B14F-4D97-AF65-F5344CB8AC3E}">
        <p14:creationId xmlns:p14="http://schemas.microsoft.com/office/powerpoint/2010/main" val="970957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Types of full factorial: </a:t>
            </a:r>
            <a:r>
              <a:rPr lang="en-US" sz="4000" dirty="0" err="1"/>
              <a:t>Unreplicated</a:t>
            </a:r>
            <a:r>
              <a:rPr lang="en-US" sz="4000" dirty="0"/>
              <a:t> CRD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86935"/>
          </a:xfrm>
        </p:spPr>
        <p:txBody>
          <a:bodyPr/>
          <a:lstStyle/>
          <a:p>
            <a:r>
              <a:rPr lang="en-US" dirty="0"/>
              <a:t>The most basic full factorial is an </a:t>
            </a:r>
            <a:r>
              <a:rPr lang="en-US" dirty="0" err="1"/>
              <a:t>unreplicated</a:t>
            </a:r>
            <a:r>
              <a:rPr lang="en-US" dirty="0"/>
              <a:t> one in CRD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3361" y="3039067"/>
            <a:ext cx="707599" cy="6558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3361" y="6001416"/>
            <a:ext cx="707599" cy="6558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3361" y="4520241"/>
            <a:ext cx="707599" cy="65582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53361" y="5260828"/>
            <a:ext cx="707599" cy="655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7625" y="6001416"/>
            <a:ext cx="707599" cy="6558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7625" y="4520241"/>
            <a:ext cx="707599" cy="6558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7625" y="5260828"/>
            <a:ext cx="707599" cy="6558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3361" y="3779654"/>
            <a:ext cx="707599" cy="6558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7625" y="3039067"/>
            <a:ext cx="707599" cy="65582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81280" y="3779654"/>
            <a:ext cx="707599" cy="6558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81280" y="4520241"/>
            <a:ext cx="707599" cy="6558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81280" y="5260828"/>
            <a:ext cx="707599" cy="65582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81280" y="3039067"/>
            <a:ext cx="707599" cy="655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81280" y="6001416"/>
            <a:ext cx="707599" cy="6558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7625" y="3779654"/>
            <a:ext cx="707599" cy="655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3195" y="2367629"/>
            <a:ext cx="6099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3 peanuts x 5 rhizobia = 15 treatments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64649" y="3039067"/>
            <a:ext cx="57273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All treatments present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Everything randomized in a single block</a:t>
            </a:r>
          </a:p>
        </p:txBody>
      </p:sp>
    </p:spTree>
    <p:extLst>
      <p:ext uri="{BB962C8B-B14F-4D97-AF65-F5344CB8AC3E}">
        <p14:creationId xmlns:p14="http://schemas.microsoft.com/office/powerpoint/2010/main" val="3369330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Types of full factorial: </a:t>
            </a:r>
            <a:r>
              <a:rPr lang="en-US" sz="4000" dirty="0" err="1"/>
              <a:t>Unreplicated</a:t>
            </a:r>
            <a:r>
              <a:rPr lang="en-US" sz="4000" dirty="0"/>
              <a:t> CRD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86935"/>
          </a:xfrm>
        </p:spPr>
        <p:txBody>
          <a:bodyPr/>
          <a:lstStyle/>
          <a:p>
            <a:r>
              <a:rPr lang="en-US" dirty="0"/>
              <a:t>The most basic full factorial is an </a:t>
            </a:r>
            <a:r>
              <a:rPr lang="en-US" dirty="0" err="1"/>
              <a:t>unreplicated</a:t>
            </a:r>
            <a:r>
              <a:rPr lang="en-US" dirty="0"/>
              <a:t> one in CRD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3361" y="3039067"/>
            <a:ext cx="707599" cy="6558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3361" y="6001416"/>
            <a:ext cx="707599" cy="6558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3361" y="4520241"/>
            <a:ext cx="707599" cy="65582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53361" y="5260828"/>
            <a:ext cx="707599" cy="655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7625" y="6001416"/>
            <a:ext cx="707599" cy="6558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7625" y="4520241"/>
            <a:ext cx="707599" cy="6558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7625" y="5260828"/>
            <a:ext cx="707599" cy="6558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3361" y="3779654"/>
            <a:ext cx="707599" cy="6558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7625" y="3039067"/>
            <a:ext cx="707599" cy="65582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81280" y="3779654"/>
            <a:ext cx="707599" cy="6558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81280" y="4520241"/>
            <a:ext cx="707599" cy="6558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81280" y="5260828"/>
            <a:ext cx="707599" cy="65582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81280" y="3039067"/>
            <a:ext cx="707599" cy="655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81280" y="6001416"/>
            <a:ext cx="707599" cy="6558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7625" y="3779654"/>
            <a:ext cx="707599" cy="655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3195" y="2367629"/>
            <a:ext cx="6099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3 peanuts x 5 rhizobia = 15 treatments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1817" y="3074591"/>
            <a:ext cx="31070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Fill out the DOF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184542"/>
              </p:ext>
            </p:extLst>
          </p:nvPr>
        </p:nvGraphicFramePr>
        <p:xfrm>
          <a:off x="6927636" y="3640922"/>
          <a:ext cx="3281235" cy="289883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24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940">
                <a:tc>
                  <a:txBody>
                    <a:bodyPr/>
                    <a:lstStyle/>
                    <a:p>
                      <a:r>
                        <a:rPr lang="en-US" sz="2800" b="1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DOF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/>
                        <a:t>Variety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/>
                        <a:t>Rhizobia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/>
                        <a:t>V x R 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/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pPr algn="r"/>
                      <a:r>
                        <a:rPr lang="en-US" sz="2400" b="1" i="1" dirty="0"/>
                        <a:t>Total: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0364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Types of full factorial: </a:t>
            </a:r>
            <a:r>
              <a:rPr lang="en-US" sz="4000" dirty="0" err="1"/>
              <a:t>Unreplicated</a:t>
            </a:r>
            <a:r>
              <a:rPr lang="en-US" sz="4000" dirty="0"/>
              <a:t> CRD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86935"/>
          </a:xfrm>
        </p:spPr>
        <p:txBody>
          <a:bodyPr/>
          <a:lstStyle/>
          <a:p>
            <a:r>
              <a:rPr lang="en-US" dirty="0"/>
              <a:t>The most basic full factorial is an </a:t>
            </a:r>
            <a:r>
              <a:rPr lang="en-US" dirty="0" err="1"/>
              <a:t>unreplicated</a:t>
            </a:r>
            <a:r>
              <a:rPr lang="en-US" dirty="0"/>
              <a:t> one in CRD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3361" y="3039067"/>
            <a:ext cx="707599" cy="6558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3361" y="6001416"/>
            <a:ext cx="707599" cy="6558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3361" y="4520241"/>
            <a:ext cx="707599" cy="65582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53361" y="5260828"/>
            <a:ext cx="707599" cy="655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7625" y="6001416"/>
            <a:ext cx="707599" cy="6558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7625" y="4520241"/>
            <a:ext cx="707599" cy="6558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7625" y="5260828"/>
            <a:ext cx="707599" cy="6558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3361" y="3779654"/>
            <a:ext cx="707599" cy="6558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7625" y="3039067"/>
            <a:ext cx="707599" cy="65582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81280" y="3779654"/>
            <a:ext cx="707599" cy="6558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81280" y="4520241"/>
            <a:ext cx="707599" cy="6558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81280" y="5260828"/>
            <a:ext cx="707599" cy="65582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81280" y="3039067"/>
            <a:ext cx="707599" cy="655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81280" y="6001416"/>
            <a:ext cx="707599" cy="6558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7625" y="3779654"/>
            <a:ext cx="707599" cy="655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3195" y="2367629"/>
            <a:ext cx="6099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3 peanuts x 5 rhizobia = 15 treatments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01722"/>
              </p:ext>
            </p:extLst>
          </p:nvPr>
        </p:nvGraphicFramePr>
        <p:xfrm>
          <a:off x="6927636" y="3640922"/>
          <a:ext cx="3281235" cy="289883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24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940">
                <a:tc>
                  <a:txBody>
                    <a:bodyPr/>
                    <a:lstStyle/>
                    <a:p>
                      <a:r>
                        <a:rPr lang="en-US" sz="2800" b="1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DOF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/>
                        <a:t>Variety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/>
                        <a:t>Rhizobia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/>
                        <a:t>V x R 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/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pPr algn="r"/>
                      <a:r>
                        <a:rPr lang="en-US" sz="2400" b="1" i="1" dirty="0"/>
                        <a:t>Total: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7101817" y="3074591"/>
            <a:ext cx="31070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Fill out the DOF</a:t>
            </a:r>
          </a:p>
        </p:txBody>
      </p:sp>
      <p:sp>
        <p:nvSpPr>
          <p:cNvPr id="32" name="&quot;No&quot; Symbol 31"/>
          <p:cNvSpPr/>
          <p:nvPr/>
        </p:nvSpPr>
        <p:spPr>
          <a:xfrm>
            <a:off x="10798629" y="176981"/>
            <a:ext cx="1196566" cy="1196566"/>
          </a:xfrm>
          <a:prstGeom prst="noSmoking">
            <a:avLst/>
          </a:prstGeom>
          <a:solidFill>
            <a:srgbClr val="FF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346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Types of full factorial: </a:t>
            </a:r>
            <a:r>
              <a:rPr lang="en-US" sz="4000" dirty="0" err="1"/>
              <a:t>Unreplicated</a:t>
            </a:r>
            <a:r>
              <a:rPr lang="en-US" sz="4000" dirty="0"/>
              <a:t> CRD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86935"/>
          </a:xfrm>
        </p:spPr>
        <p:txBody>
          <a:bodyPr/>
          <a:lstStyle/>
          <a:p>
            <a:r>
              <a:rPr lang="en-US" dirty="0"/>
              <a:t>The most basic full factorial is an </a:t>
            </a:r>
            <a:r>
              <a:rPr lang="en-US" dirty="0" err="1"/>
              <a:t>unreplicated</a:t>
            </a:r>
            <a:r>
              <a:rPr lang="en-US" dirty="0"/>
              <a:t> one in CRD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3361" y="3039067"/>
            <a:ext cx="707599" cy="6558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3361" y="6001416"/>
            <a:ext cx="707599" cy="6558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3361" y="4520241"/>
            <a:ext cx="707599" cy="65582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53361" y="5260828"/>
            <a:ext cx="707599" cy="655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7625" y="6001416"/>
            <a:ext cx="707599" cy="6558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7625" y="4520241"/>
            <a:ext cx="707599" cy="6558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7625" y="5260828"/>
            <a:ext cx="707599" cy="6558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3361" y="3779654"/>
            <a:ext cx="707599" cy="6558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7625" y="3039067"/>
            <a:ext cx="707599" cy="65582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81280" y="3779654"/>
            <a:ext cx="707599" cy="6558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81280" y="4520241"/>
            <a:ext cx="707599" cy="6558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81280" y="5260828"/>
            <a:ext cx="707599" cy="65582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81280" y="3039067"/>
            <a:ext cx="707599" cy="655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81280" y="6001416"/>
            <a:ext cx="707599" cy="6558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7625" y="3779654"/>
            <a:ext cx="707599" cy="655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3195" y="2367629"/>
            <a:ext cx="6099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3 peanuts x 5 rhizobia = 15 treatments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069090"/>
              </p:ext>
            </p:extLst>
          </p:nvPr>
        </p:nvGraphicFramePr>
        <p:xfrm>
          <a:off x="6927636" y="3640922"/>
          <a:ext cx="3281235" cy="289883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24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940">
                <a:tc>
                  <a:txBody>
                    <a:bodyPr/>
                    <a:lstStyle/>
                    <a:p>
                      <a:r>
                        <a:rPr lang="en-US" sz="2800" b="1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DOF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/>
                        <a:t>Variety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/>
                        <a:t>Rhizobia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/>
                        <a:t>V x R 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pPr algn="r"/>
                      <a:r>
                        <a:rPr lang="en-US" sz="2400" b="1" i="1" dirty="0"/>
                        <a:t>Total: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7101817" y="3074591"/>
            <a:ext cx="31070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Fill out the DOF</a:t>
            </a:r>
          </a:p>
        </p:txBody>
      </p:sp>
      <p:sp>
        <p:nvSpPr>
          <p:cNvPr id="34" name="&quot;No&quot; Symbol 33"/>
          <p:cNvSpPr/>
          <p:nvPr/>
        </p:nvSpPr>
        <p:spPr>
          <a:xfrm>
            <a:off x="10798629" y="176981"/>
            <a:ext cx="1196566" cy="1196566"/>
          </a:xfrm>
          <a:prstGeom prst="noSmoking">
            <a:avLst/>
          </a:prstGeom>
          <a:solidFill>
            <a:srgbClr val="FF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48342" y="3779654"/>
            <a:ext cx="2481943" cy="185188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You can only test interactions if they’re replicated</a:t>
            </a:r>
          </a:p>
        </p:txBody>
      </p:sp>
    </p:spTree>
    <p:extLst>
      <p:ext uri="{BB962C8B-B14F-4D97-AF65-F5344CB8AC3E}">
        <p14:creationId xmlns:p14="http://schemas.microsoft.com/office/powerpoint/2010/main" val="2014343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Types of full factorial: </a:t>
            </a:r>
            <a:r>
              <a:rPr lang="en-US" sz="4000" dirty="0" err="1"/>
              <a:t>Unreplicated</a:t>
            </a:r>
            <a:r>
              <a:rPr lang="en-US" sz="4000" dirty="0"/>
              <a:t> CRD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86935"/>
          </a:xfrm>
        </p:spPr>
        <p:txBody>
          <a:bodyPr/>
          <a:lstStyle/>
          <a:p>
            <a:r>
              <a:rPr lang="en-US" dirty="0"/>
              <a:t>The most basic full factorial is an </a:t>
            </a:r>
            <a:r>
              <a:rPr lang="en-US" dirty="0" err="1"/>
              <a:t>unreplicated</a:t>
            </a:r>
            <a:r>
              <a:rPr lang="en-US" dirty="0"/>
              <a:t> one in CRD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3361" y="3039067"/>
            <a:ext cx="707599" cy="6558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3361" y="6001416"/>
            <a:ext cx="707599" cy="6558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3361" y="4520241"/>
            <a:ext cx="707599" cy="65582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53361" y="5260828"/>
            <a:ext cx="707599" cy="655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7625" y="6001416"/>
            <a:ext cx="707599" cy="6558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7625" y="4520241"/>
            <a:ext cx="707599" cy="6558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7625" y="5260828"/>
            <a:ext cx="707599" cy="6558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3361" y="3779654"/>
            <a:ext cx="707599" cy="6558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7625" y="3039067"/>
            <a:ext cx="707599" cy="65582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81280" y="3779654"/>
            <a:ext cx="707599" cy="6558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81280" y="4520241"/>
            <a:ext cx="707599" cy="6558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81280" y="5260828"/>
            <a:ext cx="707599" cy="65582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81280" y="3039067"/>
            <a:ext cx="707599" cy="655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81280" y="6001416"/>
            <a:ext cx="707599" cy="6558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7625" y="3779654"/>
            <a:ext cx="707599" cy="655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3195" y="2367629"/>
            <a:ext cx="6099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3 peanuts x 5 rhizobia = 15 treatments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266116"/>
              </p:ext>
            </p:extLst>
          </p:nvPr>
        </p:nvGraphicFramePr>
        <p:xfrm>
          <a:off x="6927636" y="3640922"/>
          <a:ext cx="3281235" cy="289883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24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940">
                <a:tc>
                  <a:txBody>
                    <a:bodyPr/>
                    <a:lstStyle/>
                    <a:p>
                      <a:r>
                        <a:rPr lang="en-US" sz="2800" b="1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DOF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/>
                        <a:t>Variety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/>
                        <a:t>Rhizobia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strike="sngStrike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V x R 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strike="sngStrike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pPr algn="r"/>
                      <a:r>
                        <a:rPr lang="en-US" sz="2400" b="1" i="1" dirty="0"/>
                        <a:t>Total: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7101817" y="3074591"/>
            <a:ext cx="31070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Fill out the DOF</a:t>
            </a:r>
          </a:p>
        </p:txBody>
      </p:sp>
      <p:sp>
        <p:nvSpPr>
          <p:cNvPr id="34" name="&quot;No&quot; Symbol 33"/>
          <p:cNvSpPr/>
          <p:nvPr/>
        </p:nvSpPr>
        <p:spPr>
          <a:xfrm>
            <a:off x="10798629" y="176981"/>
            <a:ext cx="1196566" cy="1196566"/>
          </a:xfrm>
          <a:prstGeom prst="noSmoking">
            <a:avLst/>
          </a:prstGeom>
          <a:solidFill>
            <a:srgbClr val="FF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575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Types of full factorial: Replicated CRD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311435"/>
          </a:xfrm>
        </p:spPr>
        <p:txBody>
          <a:bodyPr/>
          <a:lstStyle/>
          <a:p>
            <a:r>
              <a:rPr lang="en-US" dirty="0"/>
              <a:t>Next step up is to replicate it so you can test interaction effects</a:t>
            </a:r>
          </a:p>
          <a:p>
            <a:r>
              <a:rPr lang="en-US" dirty="0"/>
              <a:t>Same experiment, but now with 3 reps</a:t>
            </a:r>
          </a:p>
          <a:p>
            <a:pPr lvl="1"/>
            <a:r>
              <a:rPr lang="en-US" dirty="0"/>
              <a:t>3 varieties, 5 rhizobia, 3 reps in CRD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905129"/>
              </p:ext>
            </p:extLst>
          </p:nvPr>
        </p:nvGraphicFramePr>
        <p:xfrm>
          <a:off x="8588364" y="3697978"/>
          <a:ext cx="3281235" cy="289883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24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940">
                <a:tc>
                  <a:txBody>
                    <a:bodyPr/>
                    <a:lstStyle/>
                    <a:p>
                      <a:r>
                        <a:rPr lang="en-US" sz="2800" b="1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DOF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/>
                        <a:t>Variety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/>
                        <a:t>Rhizobia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strike="noStrike" dirty="0">
                          <a:solidFill>
                            <a:schemeClr val="tx1"/>
                          </a:solidFill>
                        </a:rPr>
                        <a:t>V x R 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b="1" strike="noStrik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pPr algn="r"/>
                      <a:r>
                        <a:rPr lang="en-US" sz="2400" b="1" i="1" dirty="0"/>
                        <a:t>Total: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1930243" y="4216719"/>
            <a:ext cx="4789569" cy="2099619"/>
            <a:chOff x="1930243" y="4216719"/>
            <a:chExt cx="4789569" cy="2099619"/>
          </a:xfrm>
        </p:grpSpPr>
        <p:sp>
          <p:nvSpPr>
            <p:cNvPr id="16" name="Rectangle 15"/>
            <p:cNvSpPr/>
            <p:nvPr/>
          </p:nvSpPr>
          <p:spPr>
            <a:xfrm>
              <a:off x="3028841" y="4216719"/>
              <a:ext cx="395179" cy="36626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127439" y="4216719"/>
              <a:ext cx="395179" cy="36626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127439" y="5083397"/>
              <a:ext cx="395179" cy="36626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028841" y="5516736"/>
              <a:ext cx="395179" cy="3662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30243" y="5950075"/>
              <a:ext cx="395179" cy="36626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676738" y="5950075"/>
              <a:ext cx="395179" cy="36626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930243" y="5516736"/>
              <a:ext cx="395179" cy="36626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479542" y="5950075"/>
              <a:ext cx="395179" cy="36626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578140" y="4216719"/>
              <a:ext cx="395179" cy="36626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226037" y="4650058"/>
              <a:ext cx="395179" cy="36626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028841" y="4650058"/>
              <a:ext cx="395179" cy="36626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479542" y="5516736"/>
              <a:ext cx="395179" cy="36626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479542" y="4216719"/>
              <a:ext cx="395179" cy="3662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226037" y="5516736"/>
              <a:ext cx="395179" cy="36626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930243" y="4650058"/>
              <a:ext cx="395179" cy="3662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028841" y="5950075"/>
              <a:ext cx="395179" cy="36626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479542" y="5083397"/>
              <a:ext cx="395179" cy="36626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676738" y="5083397"/>
              <a:ext cx="395179" cy="36626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676738" y="5516736"/>
              <a:ext cx="395179" cy="3662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578140" y="5950075"/>
              <a:ext cx="395179" cy="36626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578140" y="5083397"/>
              <a:ext cx="395179" cy="36626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930243" y="4216719"/>
              <a:ext cx="395179" cy="36626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479542" y="4650058"/>
              <a:ext cx="395179" cy="36626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578140" y="5516736"/>
              <a:ext cx="395179" cy="36626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127439" y="4650058"/>
              <a:ext cx="395179" cy="36626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930243" y="5083397"/>
              <a:ext cx="395179" cy="36626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127439" y="5516736"/>
              <a:ext cx="395179" cy="36626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324633" y="5950075"/>
              <a:ext cx="395179" cy="3662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127439" y="5950075"/>
              <a:ext cx="395179" cy="36626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226037" y="5083397"/>
              <a:ext cx="395179" cy="3662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324633" y="4216719"/>
              <a:ext cx="395179" cy="36626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578140" y="4650058"/>
              <a:ext cx="395179" cy="36626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324633" y="5083397"/>
              <a:ext cx="395179" cy="36626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324633" y="5516736"/>
              <a:ext cx="395179" cy="3662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5226037" y="5950075"/>
              <a:ext cx="395179" cy="36626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5775336" y="4216719"/>
              <a:ext cx="395179" cy="36626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676738" y="4650058"/>
              <a:ext cx="395179" cy="36626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6324633" y="4650058"/>
              <a:ext cx="395179" cy="36626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5226037" y="4216719"/>
              <a:ext cx="395179" cy="36626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775336" y="4650058"/>
              <a:ext cx="395179" cy="36626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775336" y="5083397"/>
              <a:ext cx="395179" cy="36626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5775336" y="5516736"/>
              <a:ext cx="395179" cy="36626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676738" y="4216719"/>
              <a:ext cx="395179" cy="3662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5775336" y="5950075"/>
              <a:ext cx="395179" cy="36626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3028841" y="5083397"/>
              <a:ext cx="395179" cy="3662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4894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Types of full factorial: Replicated CRD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311435"/>
          </a:xfrm>
        </p:spPr>
        <p:txBody>
          <a:bodyPr/>
          <a:lstStyle/>
          <a:p>
            <a:r>
              <a:rPr lang="en-US" dirty="0"/>
              <a:t>Next step up is to replicate it so you can test interaction effects</a:t>
            </a:r>
          </a:p>
          <a:p>
            <a:r>
              <a:rPr lang="en-US" dirty="0"/>
              <a:t>Same experiment, but now with 3 reps</a:t>
            </a:r>
          </a:p>
          <a:p>
            <a:pPr lvl="1"/>
            <a:r>
              <a:rPr lang="en-US" dirty="0"/>
              <a:t>3 varieties, 5 rhizobia, 3 reps in CRD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494857"/>
              </p:ext>
            </p:extLst>
          </p:nvPr>
        </p:nvGraphicFramePr>
        <p:xfrm>
          <a:off x="8588364" y="3697978"/>
          <a:ext cx="3281235" cy="289883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24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940">
                <a:tc>
                  <a:txBody>
                    <a:bodyPr/>
                    <a:lstStyle/>
                    <a:p>
                      <a:r>
                        <a:rPr lang="en-US" sz="2800" b="1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DOF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/>
                        <a:t>Variety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/>
                        <a:t>Rhizobia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strike="noStrike" dirty="0">
                          <a:solidFill>
                            <a:schemeClr val="tx1"/>
                          </a:solidFill>
                        </a:rPr>
                        <a:t>V x R 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strike="noStrike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pPr algn="r"/>
                      <a:r>
                        <a:rPr lang="en-US" sz="2400" b="1" i="1" dirty="0"/>
                        <a:t>Total: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5" name="Group 64"/>
          <p:cNvGrpSpPr/>
          <p:nvPr/>
        </p:nvGrpSpPr>
        <p:grpSpPr>
          <a:xfrm>
            <a:off x="1930243" y="4216719"/>
            <a:ext cx="4789569" cy="2099619"/>
            <a:chOff x="1930243" y="4216719"/>
            <a:chExt cx="4789569" cy="2099619"/>
          </a:xfrm>
        </p:grpSpPr>
        <p:sp>
          <p:nvSpPr>
            <p:cNvPr id="66" name="Rectangle 65"/>
            <p:cNvSpPr/>
            <p:nvPr/>
          </p:nvSpPr>
          <p:spPr>
            <a:xfrm>
              <a:off x="3028841" y="4216719"/>
              <a:ext cx="395179" cy="36626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4127439" y="4216719"/>
              <a:ext cx="395179" cy="36626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127439" y="5083397"/>
              <a:ext cx="395179" cy="36626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3028841" y="5516736"/>
              <a:ext cx="395179" cy="3662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930243" y="5950075"/>
              <a:ext cx="395179" cy="36626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4676738" y="5950075"/>
              <a:ext cx="395179" cy="36626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930243" y="5516736"/>
              <a:ext cx="395179" cy="36626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2479542" y="5950075"/>
              <a:ext cx="395179" cy="36626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3578140" y="4216719"/>
              <a:ext cx="395179" cy="36626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5226037" y="4650058"/>
              <a:ext cx="395179" cy="36626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3028841" y="4650058"/>
              <a:ext cx="395179" cy="36626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2479542" y="5516736"/>
              <a:ext cx="395179" cy="36626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2479542" y="4216719"/>
              <a:ext cx="395179" cy="3662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5226037" y="5516736"/>
              <a:ext cx="395179" cy="36626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1930243" y="4650058"/>
              <a:ext cx="395179" cy="3662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3028841" y="5950075"/>
              <a:ext cx="395179" cy="36626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2479542" y="5083397"/>
              <a:ext cx="395179" cy="36626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4676738" y="5083397"/>
              <a:ext cx="395179" cy="36626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4676738" y="5516736"/>
              <a:ext cx="395179" cy="3662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3578140" y="5950075"/>
              <a:ext cx="395179" cy="36626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3578140" y="5083397"/>
              <a:ext cx="395179" cy="36626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1930243" y="4216719"/>
              <a:ext cx="395179" cy="36626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2479542" y="4650058"/>
              <a:ext cx="395179" cy="36626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3578140" y="5516736"/>
              <a:ext cx="395179" cy="36626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4127439" y="4650058"/>
              <a:ext cx="395179" cy="36626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1930243" y="5083397"/>
              <a:ext cx="395179" cy="36626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4127439" y="5516736"/>
              <a:ext cx="395179" cy="36626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6324633" y="5950075"/>
              <a:ext cx="395179" cy="3662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4127439" y="5950075"/>
              <a:ext cx="395179" cy="36626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95" name="Rectangle 94"/>
            <p:cNvSpPr/>
            <p:nvPr/>
          </p:nvSpPr>
          <p:spPr>
            <a:xfrm>
              <a:off x="5226037" y="5083397"/>
              <a:ext cx="395179" cy="3662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6324633" y="4216719"/>
              <a:ext cx="395179" cy="36626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3578140" y="4650058"/>
              <a:ext cx="395179" cy="36626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6324633" y="5083397"/>
              <a:ext cx="395179" cy="36626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6324633" y="5516736"/>
              <a:ext cx="395179" cy="3662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5226037" y="5950075"/>
              <a:ext cx="395179" cy="36626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5775336" y="4216719"/>
              <a:ext cx="395179" cy="36626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4676738" y="4650058"/>
              <a:ext cx="395179" cy="36626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6324633" y="4650058"/>
              <a:ext cx="395179" cy="36626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5226037" y="4216719"/>
              <a:ext cx="395179" cy="36626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5775336" y="4650058"/>
              <a:ext cx="395179" cy="36626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5775336" y="5083397"/>
              <a:ext cx="395179" cy="36626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5775336" y="5516736"/>
              <a:ext cx="395179" cy="36626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4676738" y="4216719"/>
              <a:ext cx="395179" cy="3662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5775336" y="5950075"/>
              <a:ext cx="395179" cy="36626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3028841" y="5083397"/>
              <a:ext cx="395179" cy="3662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</a:t>
              </a:r>
            </a:p>
          </p:txBody>
        </p:sp>
      </p:grpSp>
      <p:sp>
        <p:nvSpPr>
          <p:cNvPr id="51" name="&quot;No&quot; Symbol 50"/>
          <p:cNvSpPr/>
          <p:nvPr/>
        </p:nvSpPr>
        <p:spPr>
          <a:xfrm>
            <a:off x="10798629" y="176981"/>
            <a:ext cx="1196566" cy="1196566"/>
          </a:xfrm>
          <a:prstGeom prst="noSmoking">
            <a:avLst/>
          </a:prstGeom>
          <a:solidFill>
            <a:srgbClr val="FF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452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Types of full factorial: Replicated RCBD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70872"/>
          </a:xfrm>
        </p:spPr>
        <p:txBody>
          <a:bodyPr/>
          <a:lstStyle/>
          <a:p>
            <a:r>
              <a:rPr lang="en-US" dirty="0"/>
              <a:t>(Slightly) more complex is a full factorial in RCBD</a:t>
            </a:r>
          </a:p>
          <a:p>
            <a:r>
              <a:rPr lang="en-US" dirty="0"/>
              <a:t>Different experiment this time:</a:t>
            </a:r>
          </a:p>
          <a:p>
            <a:pPr lvl="1"/>
            <a:r>
              <a:rPr lang="en-US" dirty="0"/>
              <a:t>4 corn varieties</a:t>
            </a:r>
          </a:p>
          <a:p>
            <a:pPr lvl="1"/>
            <a:r>
              <a:rPr lang="en-US" dirty="0"/>
              <a:t>2 clover intercrops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128" y="3927337"/>
            <a:ext cx="5156624" cy="2669471"/>
          </a:xfrm>
          <a:prstGeom prst="rect">
            <a:avLst/>
          </a:prstGeom>
        </p:spPr>
      </p:pic>
      <p:sp>
        <p:nvSpPr>
          <p:cNvPr id="52" name="Content Placeholder 2"/>
          <p:cNvSpPr txBox="1">
            <a:spLocks/>
          </p:cNvSpPr>
          <p:nvPr/>
        </p:nvSpPr>
        <p:spPr>
          <a:xfrm>
            <a:off x="4270576" y="2892425"/>
            <a:ext cx="3650848" cy="6031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65138" indent="-46513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62063" indent="-3476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2913" indent="-3413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476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4 reps in RCBD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948299"/>
              </p:ext>
            </p:extLst>
          </p:nvPr>
        </p:nvGraphicFramePr>
        <p:xfrm>
          <a:off x="8634663" y="3221844"/>
          <a:ext cx="3281235" cy="337496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24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940">
                <a:tc>
                  <a:txBody>
                    <a:bodyPr/>
                    <a:lstStyle/>
                    <a:p>
                      <a:r>
                        <a:rPr lang="en-US" sz="2800" b="1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DOF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/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/>
                        <a:t>Maize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/>
                        <a:t>Clover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strike="noStrike" dirty="0">
                          <a:solidFill>
                            <a:schemeClr val="tx1"/>
                          </a:solidFill>
                        </a:rPr>
                        <a:t>M x C 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b="1" strike="noStrik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pPr algn="r"/>
                      <a:r>
                        <a:rPr lang="en-US" sz="2400" b="1" i="1" dirty="0"/>
                        <a:t>Total: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55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Types of full factorial: Replicated RCBD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70872"/>
          </a:xfrm>
        </p:spPr>
        <p:txBody>
          <a:bodyPr/>
          <a:lstStyle/>
          <a:p>
            <a:r>
              <a:rPr lang="en-US" dirty="0"/>
              <a:t>(Slightly) more complex is a full factorial in RCBD</a:t>
            </a:r>
          </a:p>
          <a:p>
            <a:r>
              <a:rPr lang="en-US" dirty="0"/>
              <a:t>Different experiment this time:</a:t>
            </a:r>
          </a:p>
          <a:p>
            <a:pPr lvl="1"/>
            <a:r>
              <a:rPr lang="en-US" dirty="0"/>
              <a:t>4 corn varieties</a:t>
            </a:r>
          </a:p>
          <a:p>
            <a:pPr lvl="1"/>
            <a:r>
              <a:rPr lang="en-US" dirty="0"/>
              <a:t>2 clover intercrops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422234"/>
              </p:ext>
            </p:extLst>
          </p:nvPr>
        </p:nvGraphicFramePr>
        <p:xfrm>
          <a:off x="8634663" y="3221844"/>
          <a:ext cx="3281235" cy="337496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24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940">
                <a:tc>
                  <a:txBody>
                    <a:bodyPr/>
                    <a:lstStyle/>
                    <a:p>
                      <a:r>
                        <a:rPr lang="en-US" sz="2800" b="1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DOF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/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/>
                        <a:t>Maize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/>
                        <a:t>Clover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strike="noStrike" dirty="0">
                          <a:solidFill>
                            <a:schemeClr val="tx1"/>
                          </a:solidFill>
                        </a:rPr>
                        <a:t>M x C 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strike="noStrike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134">
                <a:tc>
                  <a:txBody>
                    <a:bodyPr/>
                    <a:lstStyle/>
                    <a:p>
                      <a:pPr algn="r"/>
                      <a:r>
                        <a:rPr lang="en-US" sz="2400" b="1" i="1" dirty="0"/>
                        <a:t>Total: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128" y="3927337"/>
            <a:ext cx="5156624" cy="2669471"/>
          </a:xfrm>
          <a:prstGeom prst="rect">
            <a:avLst/>
          </a:prstGeom>
        </p:spPr>
      </p:pic>
      <p:sp>
        <p:nvSpPr>
          <p:cNvPr id="52" name="Content Placeholder 2"/>
          <p:cNvSpPr txBox="1">
            <a:spLocks/>
          </p:cNvSpPr>
          <p:nvPr/>
        </p:nvSpPr>
        <p:spPr>
          <a:xfrm>
            <a:off x="4270576" y="2892425"/>
            <a:ext cx="3650848" cy="6031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65138" indent="-46513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62063" indent="-3476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2913" indent="-3413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476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4 reps in RCBD</a:t>
            </a:r>
          </a:p>
        </p:txBody>
      </p:sp>
      <p:sp>
        <p:nvSpPr>
          <p:cNvPr id="7" name="&quot;No&quot; Symbol 6"/>
          <p:cNvSpPr/>
          <p:nvPr/>
        </p:nvSpPr>
        <p:spPr>
          <a:xfrm>
            <a:off x="10798629" y="176981"/>
            <a:ext cx="1196566" cy="1196566"/>
          </a:xfrm>
          <a:prstGeom prst="noSmoking">
            <a:avLst/>
          </a:prstGeom>
          <a:solidFill>
            <a:srgbClr val="FF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74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Limits on factorial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biggest limits on factorial designs are practical</a:t>
            </a:r>
          </a:p>
          <a:p>
            <a:r>
              <a:rPr lang="en-US" dirty="0"/>
              <a:t>The number of interactions increases exponentially with the number of factors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01" y="3692769"/>
            <a:ext cx="10671924" cy="26220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20821" y="6550223"/>
            <a:ext cx="3371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Based on Agronomy 771 notes, U Wisconsin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70584" y="3603259"/>
            <a:ext cx="2600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 levels per factor)</a:t>
            </a:r>
          </a:p>
        </p:txBody>
      </p:sp>
    </p:spTree>
    <p:extLst>
      <p:ext uri="{BB962C8B-B14F-4D97-AF65-F5344CB8AC3E}">
        <p14:creationId xmlns:p14="http://schemas.microsoft.com/office/powerpoint/2010/main" val="1682026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Limits on factorial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biggest limits on factorial designs are practical</a:t>
            </a:r>
          </a:p>
          <a:p>
            <a:r>
              <a:rPr lang="en-US" dirty="0"/>
              <a:t>The number of interactions increases exponentially with the number of factors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01" y="3692769"/>
            <a:ext cx="10671924" cy="26220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20821" y="6550223"/>
            <a:ext cx="3371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Based on Agronomy 771 notes, U Wisconsin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70584" y="3603259"/>
            <a:ext cx="2600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 levels per factor)</a:t>
            </a:r>
          </a:p>
        </p:txBody>
      </p:sp>
    </p:spTree>
    <p:extLst>
      <p:ext uri="{BB962C8B-B14F-4D97-AF65-F5344CB8AC3E}">
        <p14:creationId xmlns:p14="http://schemas.microsoft.com/office/powerpoint/2010/main" val="1293579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on factorial designs?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43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 for Midterm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Begins immediately after class, ends immediately before class next </a:t>
            </a:r>
            <a:r>
              <a:rPr lang="en-US"/>
              <a:t>week (=1:15 </a:t>
            </a:r>
            <a:r>
              <a:rPr lang="en-US" dirty="0"/>
              <a:t>PM on Oct 1</a:t>
            </a:r>
            <a:r>
              <a:rPr lang="en-US" baseline="30000" dirty="0"/>
              <a:t>st</a:t>
            </a:r>
            <a:r>
              <a:rPr lang="en-US" dirty="0"/>
              <a:t>)</a:t>
            </a:r>
          </a:p>
          <a:p>
            <a:r>
              <a:rPr lang="en-US" dirty="0"/>
              <a:t>Put your answers in the midterm file itself to upload. (No need for a separate R notebook)</a:t>
            </a:r>
          </a:p>
        </p:txBody>
      </p:sp>
    </p:spTree>
    <p:extLst>
      <p:ext uri="{BB962C8B-B14F-4D97-AF65-F5344CB8AC3E}">
        <p14:creationId xmlns:p14="http://schemas.microsoft.com/office/powerpoint/2010/main" val="374983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5292</TotalTime>
  <Words>3277</Words>
  <Application>Microsoft Office PowerPoint</Application>
  <PresentationFormat>Widescreen</PresentationFormat>
  <Paragraphs>918</Paragraphs>
  <Slides>67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2" baseType="lpstr">
      <vt:lpstr>Arial</vt:lpstr>
      <vt:lpstr>Calibri</vt:lpstr>
      <vt:lpstr>Calibri Light</vt:lpstr>
      <vt:lpstr>Times New Roman</vt:lpstr>
      <vt:lpstr>Office Theme</vt:lpstr>
      <vt:lpstr>CRSS (PBGG) 8010: Research Methods and Design in Crop Science</vt:lpstr>
      <vt:lpstr>Lecture outline</vt:lpstr>
      <vt:lpstr>Administrative stuff</vt:lpstr>
      <vt:lpstr>Review: Randomized Complete Block Design</vt:lpstr>
      <vt:lpstr>Review: Randomized Complete Block Design</vt:lpstr>
      <vt:lpstr>Review: Randomized Complete Block Design</vt:lpstr>
      <vt:lpstr>Review: Randomized Complete Block Design</vt:lpstr>
      <vt:lpstr>Review: Randomized Complete Block Design</vt:lpstr>
      <vt:lpstr>Questions on RCBD?</vt:lpstr>
      <vt:lpstr>What is a factor?</vt:lpstr>
      <vt:lpstr>Factors versus continuous variables</vt:lpstr>
      <vt:lpstr>Continuous variables as factors</vt:lpstr>
      <vt:lpstr>Factors in R</vt:lpstr>
      <vt:lpstr>Explicit factors are less common now</vt:lpstr>
      <vt:lpstr>Factors in R (cont.)</vt:lpstr>
      <vt:lpstr>R is picky about factors</vt:lpstr>
      <vt:lpstr>Changing vector types</vt:lpstr>
      <vt:lpstr>Frequent error: numbers as characters</vt:lpstr>
      <vt:lpstr>Frequent error: numbers as characters</vt:lpstr>
      <vt:lpstr>Frequent error: numbers as characters</vt:lpstr>
      <vt:lpstr>In-class exercise: Making factors</vt:lpstr>
      <vt:lpstr>In-class exercise: Making factors</vt:lpstr>
      <vt:lpstr>What is a factorial design?</vt:lpstr>
      <vt:lpstr>Goal of factorial designs</vt:lpstr>
      <vt:lpstr>Goal of factorial designs</vt:lpstr>
      <vt:lpstr>Combining experiments</vt:lpstr>
      <vt:lpstr>Doing more with less</vt:lpstr>
      <vt:lpstr>Doing more with less</vt:lpstr>
      <vt:lpstr>Doing more with less</vt:lpstr>
      <vt:lpstr>Hidden replication</vt:lpstr>
      <vt:lpstr>What are factorial designs?</vt:lpstr>
      <vt:lpstr>Factorial designs fall into two camps</vt:lpstr>
      <vt:lpstr>Treatments in full factorial designs</vt:lpstr>
      <vt:lpstr>Quick exercise: Treatments in full factorial designs</vt:lpstr>
      <vt:lpstr>Quick exercise: Treatments in full factorial designs</vt:lpstr>
      <vt:lpstr>Full factorials get big quickly</vt:lpstr>
      <vt:lpstr>Testing interactions</vt:lpstr>
      <vt:lpstr>Interaction example</vt:lpstr>
      <vt:lpstr>Three general types of interactions</vt:lpstr>
      <vt:lpstr>Statistical terminology: Simple versus main versus interaction effects</vt:lpstr>
      <vt:lpstr>Properties of interactions</vt:lpstr>
      <vt:lpstr>Testing interactions in R</vt:lpstr>
      <vt:lpstr>Shortcut for interactions in R</vt:lpstr>
      <vt:lpstr>In-class exercise: Basic factorial analysis</vt:lpstr>
      <vt:lpstr>In-class exercise: Basic factorial analysis</vt:lpstr>
      <vt:lpstr>In-class exercise: RCBD factorial analysis</vt:lpstr>
      <vt:lpstr>In-class exercise: RCBD factorial analysis</vt:lpstr>
      <vt:lpstr>Questions on factorial analysis?</vt:lpstr>
      <vt:lpstr>Statistical versus biological interaction</vt:lpstr>
      <vt:lpstr>Statistical versus biological interaction</vt:lpstr>
      <vt:lpstr>Statistical versus practical significance</vt:lpstr>
      <vt:lpstr>Statistical versus practical significance</vt:lpstr>
      <vt:lpstr>Specifying your factorial design</vt:lpstr>
      <vt:lpstr>Types of full factorial: Unreplicated CRD</vt:lpstr>
      <vt:lpstr>Types of full factorial: Unreplicated CRD</vt:lpstr>
      <vt:lpstr>Types of full factorial: Unreplicated CRD</vt:lpstr>
      <vt:lpstr>Types of full factorial: Unreplicated CRD</vt:lpstr>
      <vt:lpstr>Types of full factorial: Unreplicated CRD</vt:lpstr>
      <vt:lpstr>Types of full factorial: Unreplicated CRD</vt:lpstr>
      <vt:lpstr>Types of full factorial: Replicated CRD</vt:lpstr>
      <vt:lpstr>Types of full factorial: Replicated CRD</vt:lpstr>
      <vt:lpstr>Types of full factorial: Replicated RCBD</vt:lpstr>
      <vt:lpstr>Types of full factorial: Replicated RCBD</vt:lpstr>
      <vt:lpstr>Limits on factorial design</vt:lpstr>
      <vt:lpstr>Limits on factorial design</vt:lpstr>
      <vt:lpstr>Questions on factorial designs?</vt:lpstr>
      <vt:lpstr>Reminder for Midterm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CRSS (PBGG) 8010: Research Methods and Experimental Design for Agriculture</dc:title>
  <dc:creator>Jason Wallace</dc:creator>
  <cp:lastModifiedBy>Jason Wallace</cp:lastModifiedBy>
  <cp:revision>709</cp:revision>
  <dcterms:created xsi:type="dcterms:W3CDTF">2016-05-27T18:28:23Z</dcterms:created>
  <dcterms:modified xsi:type="dcterms:W3CDTF">2026-09-23T19:17:40Z</dcterms:modified>
</cp:coreProperties>
</file>