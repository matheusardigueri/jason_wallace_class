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6"/>
  </p:notesMasterIdLst>
  <p:sldIdLst>
    <p:sldId id="728" r:id="rId2"/>
    <p:sldId id="694" r:id="rId3"/>
    <p:sldId id="730" r:id="rId4"/>
    <p:sldId id="651" r:id="rId5"/>
    <p:sldId id="650" r:id="rId6"/>
    <p:sldId id="680" r:id="rId7"/>
    <p:sldId id="652" r:id="rId8"/>
    <p:sldId id="653" r:id="rId9"/>
    <p:sldId id="654" r:id="rId10"/>
    <p:sldId id="655" r:id="rId11"/>
    <p:sldId id="656" r:id="rId12"/>
    <p:sldId id="659" r:id="rId13"/>
    <p:sldId id="660" r:id="rId14"/>
    <p:sldId id="661" r:id="rId15"/>
    <p:sldId id="662" r:id="rId16"/>
    <p:sldId id="663" r:id="rId17"/>
    <p:sldId id="665" r:id="rId18"/>
    <p:sldId id="666" r:id="rId19"/>
    <p:sldId id="667" r:id="rId20"/>
    <p:sldId id="668" r:id="rId21"/>
    <p:sldId id="669" r:id="rId22"/>
    <p:sldId id="670" r:id="rId23"/>
    <p:sldId id="671" r:id="rId24"/>
    <p:sldId id="672" r:id="rId25"/>
    <p:sldId id="673" r:id="rId26"/>
    <p:sldId id="674" r:id="rId27"/>
    <p:sldId id="675" r:id="rId28"/>
    <p:sldId id="676" r:id="rId29"/>
    <p:sldId id="677" r:id="rId30"/>
    <p:sldId id="678" r:id="rId31"/>
    <p:sldId id="679" r:id="rId32"/>
    <p:sldId id="681" r:id="rId33"/>
    <p:sldId id="682" r:id="rId34"/>
    <p:sldId id="483" r:id="rId35"/>
    <p:sldId id="683" r:id="rId36"/>
    <p:sldId id="684" r:id="rId37"/>
    <p:sldId id="685" r:id="rId38"/>
    <p:sldId id="686" r:id="rId39"/>
    <p:sldId id="687" r:id="rId40"/>
    <p:sldId id="688" r:id="rId41"/>
    <p:sldId id="690" r:id="rId42"/>
    <p:sldId id="691" r:id="rId43"/>
    <p:sldId id="692" r:id="rId44"/>
    <p:sldId id="729" r:id="rId4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81850"/>
    <a:srgbClr val="00008A"/>
    <a:srgbClr val="8C0000"/>
    <a:srgbClr val="8A0000"/>
    <a:srgbClr val="2F5597"/>
    <a:srgbClr val="000000"/>
    <a:srgbClr val="7A0000"/>
    <a:srgbClr val="FFFFFF"/>
    <a:srgbClr val="5B9BD5"/>
    <a:srgbClr val="6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76" autoAdjust="0"/>
    <p:restoredTop sz="83029" autoAdjust="0"/>
  </p:normalViewPr>
  <p:slideViewPr>
    <p:cSldViewPr snapToGrid="0">
      <p:cViewPr varScale="1">
        <p:scale>
          <a:sx n="95" d="100"/>
          <a:sy n="95" d="100"/>
        </p:scale>
        <p:origin x="31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9FA04D-5C42-4D62-A2E3-69462FD4FA81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5FD8CC-2567-4E8B-88B6-FED9D8364B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11917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5FD8CC-2567-4E8B-88B6-FED9D8364B0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9860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5FD8CC-2567-4E8B-88B6-FED9D8364B0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3267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actually don’t care</a:t>
            </a:r>
            <a:r>
              <a:rPr lang="en-US" baseline="0" dirty="0"/>
              <a:t> about the shape of the left side of the distribution. We only care about the right-hand side.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5FD8CC-2567-4E8B-88B6-FED9D8364B0E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5635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 would be hard to get this division of degrees of freedom in a real experiment; this is mostly for</a:t>
            </a:r>
            <a:r>
              <a:rPr lang="en-US" baseline="0" dirty="0"/>
              <a:t> demonstration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5FD8CC-2567-4E8B-88B6-FED9D8364B0E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86632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Notice how much thinner the right-hand</a:t>
            </a:r>
            <a:r>
              <a:rPr lang="en-US" baseline="0" dirty="0"/>
              <a:t> tails are on the second distribution. 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5FD8CC-2567-4E8B-88B6-FED9D8364B0E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2065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Notice how much thinner the right-hand</a:t>
            </a:r>
            <a:r>
              <a:rPr lang="en-US" baseline="0" dirty="0"/>
              <a:t> tails are on the second distribution.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5FD8CC-2567-4E8B-88B6-FED9D8364B0E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2042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P-values are the probability of the</a:t>
            </a:r>
            <a:r>
              <a:rPr lang="en-US" baseline="0" dirty="0"/>
              <a:t> given F value </a:t>
            </a:r>
            <a:r>
              <a:rPr lang="en-US" u="sng" baseline="0" dirty="0"/>
              <a:t>or one more extreme</a:t>
            </a:r>
            <a:r>
              <a:rPr lang="en-US" u="none" baseline="0" dirty="0"/>
              <a:t>, which is why they need the </a:t>
            </a:r>
            <a:r>
              <a:rPr lang="en-US" u="sng" baseline="0" dirty="0"/>
              <a:t>upper</a:t>
            </a:r>
            <a:r>
              <a:rPr lang="en-US" u="none" baseline="0" dirty="0"/>
              <a:t> tail of probability.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5FD8CC-2567-4E8B-88B6-FED9D8364B0E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1483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I’ll usually just pronounce the </a:t>
            </a:r>
            <a:r>
              <a:rPr lang="en-US" dirty="0" err="1"/>
              <a:t>tidle</a:t>
            </a:r>
            <a:r>
              <a:rPr lang="en-US" dirty="0"/>
              <a:t> (~) as “by”, that is, “</a:t>
            </a:r>
            <a:r>
              <a:rPr lang="en-US" dirty="0" err="1"/>
              <a:t>num_fruit</a:t>
            </a:r>
            <a:r>
              <a:rPr lang="en-US" dirty="0"/>
              <a:t> by variety”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5FD8CC-2567-4E8B-88B6-FED9D8364B0E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0564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Notice that the</a:t>
            </a:r>
            <a:r>
              <a:rPr lang="en-US" baseline="0" dirty="0"/>
              <a:t> basic </a:t>
            </a:r>
            <a:r>
              <a:rPr lang="en-US" baseline="0" dirty="0" err="1"/>
              <a:t>aov</a:t>
            </a:r>
            <a:r>
              <a:rPr lang="en-US" baseline="0" dirty="0"/>
              <a:t>() call only gives Sums of Squares and DOF.</a:t>
            </a:r>
          </a:p>
          <a:p>
            <a:endParaRPr lang="en-US" baseline="0" dirty="0"/>
          </a:p>
          <a:p>
            <a:r>
              <a:rPr lang="en-US" baseline="0" dirty="0"/>
              <a:t>“Residuals” = “Error”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5FD8CC-2567-4E8B-88B6-FED9D8364B0E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0864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recommend doing it the other way, where you save the </a:t>
            </a:r>
            <a:r>
              <a:rPr lang="en-US" dirty="0" err="1"/>
              <a:t>aov</a:t>
            </a:r>
            <a:r>
              <a:rPr lang="en-US" dirty="0"/>
              <a:t>()</a:t>
            </a:r>
            <a:r>
              <a:rPr lang="en-US" baseline="0" dirty="0"/>
              <a:t> output to a variable and then run summary on that, since if you do it this way the results are printed and then gone. If you save it in a variable, it’s around for future reference.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5FD8CC-2567-4E8B-88B6-FED9D8364B0E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2847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8A1D8-F9AF-447C-AE09-AF14014826C2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F59B-F2EA-4295-8B7F-B2BE0898F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8225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110718"/>
          </a:xfrm>
        </p:spPr>
        <p:txBody>
          <a:bodyPr>
            <a:noAutofit/>
          </a:bodyPr>
          <a:lstStyle>
            <a:lvl1pPr marL="465138" indent="-465138">
              <a:defRPr sz="3200"/>
            </a:lvl1pPr>
            <a:lvl2pPr marL="914400" indent="-457200">
              <a:defRPr sz="2800"/>
            </a:lvl2pPr>
            <a:lvl3pPr marL="1262063" indent="-347663">
              <a:defRPr sz="2400"/>
            </a:lvl3pPr>
            <a:lvl4pPr marL="1712913" indent="-341313">
              <a:defRPr sz="2000"/>
            </a:lvl4pPr>
            <a:lvl5pPr marL="2176463" indent="-347663"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8A1D8-F9AF-447C-AE09-AF14014826C2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F59B-F2EA-4295-8B7F-B2BE0898F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8450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8A1D8-F9AF-447C-AE09-AF14014826C2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F59B-F2EA-4295-8B7F-B2BE0898F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6229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8A1D8-F9AF-447C-AE09-AF14014826C2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F59B-F2EA-4295-8B7F-B2BE0898F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867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8A1D8-F9AF-447C-AE09-AF14014826C2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F59B-F2EA-4295-8B7F-B2BE0898F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87463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8A1D8-F9AF-447C-AE09-AF14014826C2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F59B-F2EA-4295-8B7F-B2BE0898F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9219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8A1D8-F9AF-447C-AE09-AF14014826C2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F59B-F2EA-4295-8B7F-B2BE0898F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94039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8A1D8-F9AF-447C-AE09-AF14014826C2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F59B-F2EA-4295-8B7F-B2BE0898F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6839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8A1D8-F9AF-447C-AE09-AF14014826C2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F59B-F2EA-4295-8B7F-B2BE0898F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56473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8A1D8-F9AF-447C-AE09-AF14014826C2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F59B-F2EA-4295-8B7F-B2BE0898F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2162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8A1D8-F9AF-447C-AE09-AF14014826C2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F59B-F2EA-4295-8B7F-B2BE0898F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3643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E8A1D8-F9AF-447C-AE09-AF14014826C2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3EF59B-F2EA-4295-8B7F-B2BE0898F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18165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855" b="11693"/>
          <a:stretch/>
        </p:blipFill>
        <p:spPr>
          <a:xfrm>
            <a:off x="0" y="-58994"/>
            <a:ext cx="12192000" cy="699073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602736" y="6646907"/>
            <a:ext cx="5892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>
                <a:solidFill>
                  <a:schemeClr val="bg1">
                    <a:lumMod val="50000"/>
                  </a:schemeClr>
                </a:solidFill>
              </a:rPr>
              <a:t>NASA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02400" y="5780782"/>
            <a:ext cx="402139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effectLst>
                  <a:glow rad="101600">
                    <a:schemeClr val="tx1">
                      <a:alpha val="60000"/>
                    </a:schemeClr>
                  </a:glow>
                </a:effectLst>
              </a:rPr>
              <a:t>Lesson 8</a:t>
            </a:r>
            <a:br>
              <a:rPr lang="en-US" sz="3200" b="1" dirty="0">
                <a:solidFill>
                  <a:schemeClr val="bg1"/>
                </a:solidFill>
                <a:effectLst>
                  <a:glow rad="101600">
                    <a:schemeClr val="tx1">
                      <a:alpha val="60000"/>
                    </a:schemeClr>
                  </a:glow>
                </a:effectLst>
              </a:rPr>
            </a:br>
            <a:r>
              <a:rPr lang="en-US" sz="3200" b="1" dirty="0">
                <a:solidFill>
                  <a:schemeClr val="bg1"/>
                </a:solidFill>
                <a:effectLst>
                  <a:glow rad="101600">
                    <a:schemeClr val="tx1">
                      <a:alpha val="60000"/>
                    </a:schemeClr>
                  </a:glow>
                </a:effectLst>
              </a:rPr>
              <a:t>ANOVA (part 2)</a:t>
            </a:r>
          </a:p>
        </p:txBody>
      </p:sp>
      <p:sp>
        <p:nvSpPr>
          <p:cNvPr id="12" name="Title 1"/>
          <p:cNvSpPr txBox="1">
            <a:spLocks/>
          </p:cNvSpPr>
          <p:nvPr/>
        </p:nvSpPr>
        <p:spPr>
          <a:xfrm>
            <a:off x="-78013" y="-343209"/>
            <a:ext cx="6021614" cy="222280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chemeClr val="bg1"/>
                </a:solidFill>
                <a:effectLst>
                  <a:glow rad="101600">
                    <a:schemeClr val="tx1">
                      <a:alpha val="60000"/>
                    </a:schemeClr>
                  </a:glow>
                </a:effectLst>
              </a:rPr>
              <a:t>CRSS (PBGG) 8010:</a:t>
            </a:r>
            <a:br>
              <a:rPr lang="en-US" dirty="0">
                <a:solidFill>
                  <a:schemeClr val="bg1"/>
                </a:solidFill>
                <a:effectLst>
                  <a:glow rad="101600">
                    <a:schemeClr val="tx1">
                      <a:alpha val="60000"/>
                    </a:schemeClr>
                  </a:glow>
                </a:effectLst>
              </a:rPr>
            </a:br>
            <a:r>
              <a:rPr lang="en-US" sz="3600" dirty="0">
                <a:solidFill>
                  <a:schemeClr val="bg1"/>
                </a:solidFill>
                <a:effectLst>
                  <a:glow rad="101600">
                    <a:schemeClr val="tx1">
                      <a:alpha val="60000"/>
                    </a:schemeClr>
                  </a:glow>
                </a:effectLst>
              </a:rPr>
              <a:t>Research Methods and Design in Crop Science</a:t>
            </a:r>
            <a:endParaRPr lang="en-US" dirty="0">
              <a:solidFill>
                <a:schemeClr val="bg1"/>
              </a:solidFill>
              <a:effectLst>
                <a:glow rad="101600">
                  <a:schemeClr val="tx1">
                    <a:alpha val="60000"/>
                  </a:schemeClr>
                </a:glow>
              </a:effectLst>
            </a:endParaRPr>
          </a:p>
        </p:txBody>
      </p:sp>
      <p:sp>
        <p:nvSpPr>
          <p:cNvPr id="13" name="Subtitle 2"/>
          <p:cNvSpPr txBox="1">
            <a:spLocks/>
          </p:cNvSpPr>
          <p:nvPr/>
        </p:nvSpPr>
        <p:spPr>
          <a:xfrm>
            <a:off x="214994" y="1879652"/>
            <a:ext cx="5435600" cy="969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  <a:effectLst>
                  <a:glow rad="101600">
                    <a:schemeClr val="tx1">
                      <a:alpha val="60000"/>
                    </a:schemeClr>
                  </a:glow>
                </a:effectLst>
              </a:rPr>
              <a:t>Jason Wallace - Fall 2026</a:t>
            </a:r>
          </a:p>
        </p:txBody>
      </p:sp>
    </p:spTree>
    <p:extLst>
      <p:ext uri="{BB962C8B-B14F-4D97-AF65-F5344CB8AC3E}">
        <p14:creationId xmlns:p14="http://schemas.microsoft.com/office/powerpoint/2010/main" val="4239654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Lecture 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Administrative Stuff</a:t>
            </a:r>
          </a:p>
          <a:p>
            <a:r>
              <a:rPr lang="en-US" dirty="0"/>
              <a:t>Review of last time</a:t>
            </a:r>
          </a:p>
          <a:p>
            <a:r>
              <a:rPr lang="en-US" dirty="0"/>
              <a:t>F-tests</a:t>
            </a:r>
          </a:p>
          <a:p>
            <a:r>
              <a:rPr lang="en-US" dirty="0"/>
              <a:t>ANOVA in R</a:t>
            </a:r>
          </a:p>
        </p:txBody>
      </p:sp>
    </p:spTree>
    <p:extLst>
      <p:ext uri="{BB962C8B-B14F-4D97-AF65-F5344CB8AC3E}">
        <p14:creationId xmlns:p14="http://schemas.microsoft.com/office/powerpoint/2010/main" val="1915501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4ED34-A9B6-41B5-8848-AB6EB5ACB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Administrative Stuff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0E2F08-1B48-43FA-9CCA-FFC2A8C911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29 Sept – 1</a:t>
            </a:r>
            <a:r>
              <a:rPr lang="en-US" baseline="30000" dirty="0"/>
              <a:t>st</a:t>
            </a:r>
            <a:r>
              <a:rPr lang="en-US" dirty="0"/>
              <a:t> Midterm</a:t>
            </a:r>
          </a:p>
        </p:txBody>
      </p:sp>
    </p:spTree>
    <p:extLst>
      <p:ext uri="{BB962C8B-B14F-4D97-AF65-F5344CB8AC3E}">
        <p14:creationId xmlns:p14="http://schemas.microsoft.com/office/powerpoint/2010/main" val="3224683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 of last time: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ANOVA</a:t>
            </a:r>
          </a:p>
          <a:p>
            <a:pPr lvl="1"/>
            <a:r>
              <a:rPr lang="en-US" dirty="0"/>
              <a:t>Sums-of-squares</a:t>
            </a:r>
          </a:p>
          <a:p>
            <a:pPr lvl="1"/>
            <a:r>
              <a:rPr lang="en-US" dirty="0"/>
              <a:t>Degrees of Freedom</a:t>
            </a:r>
          </a:p>
        </p:txBody>
      </p:sp>
    </p:spTree>
    <p:extLst>
      <p:ext uri="{BB962C8B-B14F-4D97-AF65-F5344CB8AC3E}">
        <p14:creationId xmlns:p14="http://schemas.microsoft.com/office/powerpoint/2010/main" val="2939750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 Exercise:</a:t>
            </a:r>
            <a:br>
              <a:rPr lang="en-US" dirty="0"/>
            </a:br>
            <a:r>
              <a:rPr lang="en-US" sz="2800" dirty="0"/>
              <a:t>ANOVA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021092"/>
          </a:xfrm>
        </p:spPr>
        <p:txBody>
          <a:bodyPr/>
          <a:lstStyle/>
          <a:p>
            <a:r>
              <a:rPr lang="en-US" dirty="0"/>
              <a:t>Run an ANOVA on this data: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0240868"/>
              </p:ext>
            </p:extLst>
          </p:nvPr>
        </p:nvGraphicFramePr>
        <p:xfrm>
          <a:off x="203200" y="2804160"/>
          <a:ext cx="6232105" cy="405384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497763">
                  <a:extLst>
                    <a:ext uri="{9D8B030D-6E8A-4147-A177-3AD203B41FA5}">
                      <a16:colId xmlns:a16="http://schemas.microsoft.com/office/drawing/2014/main" val="4177851342"/>
                    </a:ext>
                  </a:extLst>
                </a:gridCol>
                <a:gridCol w="2656974">
                  <a:extLst>
                    <a:ext uri="{9D8B030D-6E8A-4147-A177-3AD203B41FA5}">
                      <a16:colId xmlns:a16="http://schemas.microsoft.com/office/drawing/2014/main" val="3855500568"/>
                    </a:ext>
                  </a:extLst>
                </a:gridCol>
                <a:gridCol w="2077368">
                  <a:extLst>
                    <a:ext uri="{9D8B030D-6E8A-4147-A177-3AD203B41FA5}">
                      <a16:colId xmlns:a16="http://schemas.microsoft.com/office/drawing/2014/main" val="7678808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3200" b="1" dirty="0"/>
                        <a:t>Plot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b="1" dirty="0"/>
                        <a:t>Insecticide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b="1" dirty="0" err="1"/>
                        <a:t>ThripCount</a:t>
                      </a:r>
                      <a:endParaRPr lang="en-US" sz="32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5194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001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b="1" dirty="0"/>
                        <a:t>Fortune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42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015567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002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b="1" dirty="0" err="1"/>
                        <a:t>Bugz</a:t>
                      </a:r>
                      <a:r>
                        <a:rPr lang="en-US" sz="3200" b="1" dirty="0"/>
                        <a:t>-B-Gone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65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632726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003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b="1" dirty="0"/>
                        <a:t>Eliminator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48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79741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004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b="1" dirty="0" err="1"/>
                        <a:t>Bugz</a:t>
                      </a:r>
                      <a:r>
                        <a:rPr lang="en-US" sz="3200" b="1" dirty="0"/>
                        <a:t>-B-Gone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62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27385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005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b="1" dirty="0"/>
                        <a:t>Fortune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47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62986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006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b="1" dirty="0"/>
                        <a:t>Eliminator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44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77133173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5347219"/>
              </p:ext>
            </p:extLst>
          </p:nvPr>
        </p:nvGraphicFramePr>
        <p:xfrm>
          <a:off x="6780361" y="3470473"/>
          <a:ext cx="5411636" cy="155448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966968">
                  <a:extLst>
                    <a:ext uri="{9D8B030D-6E8A-4147-A177-3AD203B41FA5}">
                      <a16:colId xmlns:a16="http://schemas.microsoft.com/office/drawing/2014/main" val="369717379"/>
                    </a:ext>
                  </a:extLst>
                </a:gridCol>
                <a:gridCol w="861167">
                  <a:extLst>
                    <a:ext uri="{9D8B030D-6E8A-4147-A177-3AD203B41FA5}">
                      <a16:colId xmlns:a16="http://schemas.microsoft.com/office/drawing/2014/main" val="3388363177"/>
                    </a:ext>
                  </a:extLst>
                </a:gridCol>
                <a:gridCol w="861167">
                  <a:extLst>
                    <a:ext uri="{9D8B030D-6E8A-4147-A177-3AD203B41FA5}">
                      <a16:colId xmlns:a16="http://schemas.microsoft.com/office/drawing/2014/main" val="3930285627"/>
                    </a:ext>
                  </a:extLst>
                </a:gridCol>
                <a:gridCol w="861167">
                  <a:extLst>
                    <a:ext uri="{9D8B030D-6E8A-4147-A177-3AD203B41FA5}">
                      <a16:colId xmlns:a16="http://schemas.microsoft.com/office/drawing/2014/main" val="2720853190"/>
                    </a:ext>
                  </a:extLst>
                </a:gridCol>
                <a:gridCol w="861167">
                  <a:extLst>
                    <a:ext uri="{9D8B030D-6E8A-4147-A177-3AD203B41FA5}">
                      <a16:colId xmlns:a16="http://schemas.microsoft.com/office/drawing/2014/main" val="10254075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sz="28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SS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DOF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MS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297581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b="1" baseline="0" dirty="0"/>
                        <a:t>Insecticide</a:t>
                      </a:r>
                      <a:endParaRPr lang="en-US" sz="2800" b="1" baseline="-25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234794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b="1" baseline="0" dirty="0"/>
                        <a:t>Error</a:t>
                      </a:r>
                      <a:endParaRPr lang="en-US" sz="2800" b="1" baseline="-25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0869616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780361" y="2866207"/>
            <a:ext cx="251780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ANOVA table:</a:t>
            </a:r>
          </a:p>
        </p:txBody>
      </p:sp>
    </p:spTree>
    <p:extLst>
      <p:ext uri="{BB962C8B-B14F-4D97-AF65-F5344CB8AC3E}">
        <p14:creationId xmlns:p14="http://schemas.microsoft.com/office/powerpoint/2010/main" val="1586560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 Exercise:</a:t>
            </a:r>
            <a:br>
              <a:rPr lang="en-US" dirty="0"/>
            </a:br>
            <a:r>
              <a:rPr lang="en-US" sz="2800" dirty="0"/>
              <a:t>ANOVA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021092"/>
          </a:xfrm>
        </p:spPr>
        <p:txBody>
          <a:bodyPr/>
          <a:lstStyle/>
          <a:p>
            <a:r>
              <a:rPr lang="en-US" dirty="0"/>
              <a:t>Run an ANOVA on this data: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1203881"/>
              </p:ext>
            </p:extLst>
          </p:nvPr>
        </p:nvGraphicFramePr>
        <p:xfrm>
          <a:off x="203200" y="2804160"/>
          <a:ext cx="4558581" cy="277368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095564">
                  <a:extLst>
                    <a:ext uri="{9D8B030D-6E8A-4147-A177-3AD203B41FA5}">
                      <a16:colId xmlns:a16="http://schemas.microsoft.com/office/drawing/2014/main" val="4177851342"/>
                    </a:ext>
                  </a:extLst>
                </a:gridCol>
                <a:gridCol w="1943490">
                  <a:extLst>
                    <a:ext uri="{9D8B030D-6E8A-4147-A177-3AD203B41FA5}">
                      <a16:colId xmlns:a16="http://schemas.microsoft.com/office/drawing/2014/main" val="3855500568"/>
                    </a:ext>
                  </a:extLst>
                </a:gridCol>
                <a:gridCol w="1519527">
                  <a:extLst>
                    <a:ext uri="{9D8B030D-6E8A-4147-A177-3AD203B41FA5}">
                      <a16:colId xmlns:a16="http://schemas.microsoft.com/office/drawing/2014/main" val="7678808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b="1" dirty="0"/>
                        <a:t>Plot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Insecticide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 err="1"/>
                        <a:t>ThripCount</a:t>
                      </a:r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5194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001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Fortune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42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015567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002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 err="1"/>
                        <a:t>Bugz</a:t>
                      </a:r>
                      <a:r>
                        <a:rPr lang="en-US" sz="2000" b="1" dirty="0"/>
                        <a:t>-B-Gone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65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632726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003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Eliminator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48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79741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004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 err="1"/>
                        <a:t>Bugz</a:t>
                      </a:r>
                      <a:r>
                        <a:rPr lang="en-US" sz="2000" b="1" dirty="0"/>
                        <a:t>-B-Gone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62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27385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005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Fortune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47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62986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006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Eliminator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44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77133173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9645725"/>
              </p:ext>
            </p:extLst>
          </p:nvPr>
        </p:nvGraphicFramePr>
        <p:xfrm>
          <a:off x="5055081" y="3470473"/>
          <a:ext cx="7136916" cy="155448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594056">
                  <a:extLst>
                    <a:ext uri="{9D8B030D-6E8A-4147-A177-3AD203B41FA5}">
                      <a16:colId xmlns:a16="http://schemas.microsoft.com/office/drawing/2014/main" val="369717379"/>
                    </a:ext>
                  </a:extLst>
                </a:gridCol>
                <a:gridCol w="1135715">
                  <a:extLst>
                    <a:ext uri="{9D8B030D-6E8A-4147-A177-3AD203B41FA5}">
                      <a16:colId xmlns:a16="http://schemas.microsoft.com/office/drawing/2014/main" val="3388363177"/>
                    </a:ext>
                  </a:extLst>
                </a:gridCol>
                <a:gridCol w="1135715">
                  <a:extLst>
                    <a:ext uri="{9D8B030D-6E8A-4147-A177-3AD203B41FA5}">
                      <a16:colId xmlns:a16="http://schemas.microsoft.com/office/drawing/2014/main" val="3930285627"/>
                    </a:ext>
                  </a:extLst>
                </a:gridCol>
                <a:gridCol w="1135715">
                  <a:extLst>
                    <a:ext uri="{9D8B030D-6E8A-4147-A177-3AD203B41FA5}">
                      <a16:colId xmlns:a16="http://schemas.microsoft.com/office/drawing/2014/main" val="2720853190"/>
                    </a:ext>
                  </a:extLst>
                </a:gridCol>
                <a:gridCol w="1135715">
                  <a:extLst>
                    <a:ext uri="{9D8B030D-6E8A-4147-A177-3AD203B41FA5}">
                      <a16:colId xmlns:a16="http://schemas.microsoft.com/office/drawing/2014/main" val="10254075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sz="28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SS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DOF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MS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297581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b="1" baseline="0" dirty="0"/>
                        <a:t>Insecticide</a:t>
                      </a:r>
                      <a:endParaRPr lang="en-US" sz="2800" b="1" baseline="-25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446.3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223.2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26.78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234794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b="1" baseline="0" dirty="0"/>
                        <a:t>Error</a:t>
                      </a:r>
                      <a:endParaRPr lang="en-US" sz="2800" b="1" baseline="-25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25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8.33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0869616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55081" y="2885698"/>
            <a:ext cx="251780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ANOVA table:</a:t>
            </a:r>
          </a:p>
        </p:txBody>
      </p:sp>
      <p:sp>
        <p:nvSpPr>
          <p:cNvPr id="7" name="&quot;No&quot; Symbol 6"/>
          <p:cNvSpPr/>
          <p:nvPr/>
        </p:nvSpPr>
        <p:spPr>
          <a:xfrm>
            <a:off x="10798629" y="186506"/>
            <a:ext cx="1196566" cy="1196566"/>
          </a:xfrm>
          <a:prstGeom prst="noSmoking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4473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 Exercise:</a:t>
            </a:r>
            <a:br>
              <a:rPr lang="en-US" dirty="0"/>
            </a:br>
            <a:r>
              <a:rPr lang="en-US" sz="2800" dirty="0"/>
              <a:t>ANOVA</a:t>
            </a:r>
            <a:endParaRPr lang="en-US" dirty="0"/>
          </a:p>
        </p:txBody>
      </p:sp>
      <p:sp>
        <p:nvSpPr>
          <p:cNvPr id="5" name="&quot;No&quot; Symbol 4"/>
          <p:cNvSpPr/>
          <p:nvPr/>
        </p:nvSpPr>
        <p:spPr>
          <a:xfrm>
            <a:off x="10798629" y="186506"/>
            <a:ext cx="1196566" cy="1196566"/>
          </a:xfrm>
          <a:prstGeom prst="noSmoking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/>
          <a:srcRect t="31721"/>
          <a:stretch/>
        </p:blipFill>
        <p:spPr>
          <a:xfrm>
            <a:off x="838200" y="3329796"/>
            <a:ext cx="7926131" cy="352820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"/>
          <a:srcRect b="68613"/>
          <a:stretch/>
        </p:blipFill>
        <p:spPr>
          <a:xfrm>
            <a:off x="838200" y="1690688"/>
            <a:ext cx="7926131" cy="162185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8814447" y="1690688"/>
            <a:ext cx="153215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>
                <a:solidFill>
                  <a:schemeClr val="accent4">
                    <a:lumMod val="75000"/>
                  </a:schemeClr>
                </a:solidFill>
              </a:rPr>
              <a:t>Setup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14446" y="3171556"/>
            <a:ext cx="327756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>
                <a:solidFill>
                  <a:schemeClr val="accent4">
                    <a:lumMod val="75000"/>
                  </a:schemeClr>
                </a:solidFill>
              </a:rPr>
              <a:t>Treatment SS</a:t>
            </a:r>
          </a:p>
        </p:txBody>
      </p:sp>
    </p:spTree>
    <p:extLst>
      <p:ext uri="{BB962C8B-B14F-4D97-AF65-F5344CB8AC3E}">
        <p14:creationId xmlns:p14="http://schemas.microsoft.com/office/powerpoint/2010/main" val="1636881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 Exercise:</a:t>
            </a:r>
            <a:br>
              <a:rPr lang="en-US" dirty="0"/>
            </a:br>
            <a:r>
              <a:rPr lang="en-US" sz="2800" dirty="0"/>
              <a:t>ANOVA</a:t>
            </a:r>
            <a:endParaRPr lang="en-US" dirty="0"/>
          </a:p>
        </p:txBody>
      </p:sp>
      <p:sp>
        <p:nvSpPr>
          <p:cNvPr id="5" name="&quot;No&quot; Symbol 4"/>
          <p:cNvSpPr/>
          <p:nvPr/>
        </p:nvSpPr>
        <p:spPr>
          <a:xfrm>
            <a:off x="10798629" y="186506"/>
            <a:ext cx="1196566" cy="1196566"/>
          </a:xfrm>
          <a:prstGeom prst="noSmoking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69307"/>
            <a:ext cx="8729377" cy="329355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9567577" y="1869307"/>
            <a:ext cx="201805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>
                <a:solidFill>
                  <a:schemeClr val="accent4">
                    <a:lumMod val="75000"/>
                  </a:schemeClr>
                </a:solidFill>
              </a:rPr>
              <a:t>Error SS</a:t>
            </a:r>
          </a:p>
        </p:txBody>
      </p:sp>
    </p:spTree>
    <p:extLst>
      <p:ext uri="{BB962C8B-B14F-4D97-AF65-F5344CB8AC3E}">
        <p14:creationId xmlns:p14="http://schemas.microsoft.com/office/powerpoint/2010/main" val="42765248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 Exercise:</a:t>
            </a:r>
            <a:br>
              <a:rPr lang="en-US" dirty="0"/>
            </a:br>
            <a:r>
              <a:rPr lang="en-US" sz="2800" dirty="0"/>
              <a:t>ANOVA</a:t>
            </a:r>
            <a:endParaRPr lang="en-US" dirty="0"/>
          </a:p>
        </p:txBody>
      </p:sp>
      <p:sp>
        <p:nvSpPr>
          <p:cNvPr id="5" name="&quot;No&quot; Symbol 4"/>
          <p:cNvSpPr/>
          <p:nvPr/>
        </p:nvSpPr>
        <p:spPr>
          <a:xfrm>
            <a:off x="10798629" y="186506"/>
            <a:ext cx="1196566" cy="1196566"/>
          </a:xfrm>
          <a:prstGeom prst="noSmoking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t="58972"/>
          <a:stretch/>
        </p:blipFill>
        <p:spPr>
          <a:xfrm>
            <a:off x="838200" y="3968151"/>
            <a:ext cx="10026396" cy="158444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b="41027"/>
          <a:stretch/>
        </p:blipFill>
        <p:spPr>
          <a:xfrm>
            <a:off x="838200" y="1690688"/>
            <a:ext cx="10026396" cy="227746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10864596" y="2521601"/>
            <a:ext cx="171382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accent4">
                    <a:lumMod val="75000"/>
                  </a:schemeClr>
                </a:solidFill>
              </a:rPr>
              <a:t>Mean Sq.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09448" y="3968151"/>
            <a:ext cx="44435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>
                <a:solidFill>
                  <a:schemeClr val="accent4">
                    <a:lumMod val="75000"/>
                  </a:schemeClr>
                </a:solidFill>
              </a:rPr>
              <a:t>F</a:t>
            </a:r>
          </a:p>
        </p:txBody>
      </p:sp>
    </p:spTree>
    <p:extLst>
      <p:ext uri="{BB962C8B-B14F-4D97-AF65-F5344CB8AC3E}">
        <p14:creationId xmlns:p14="http://schemas.microsoft.com/office/powerpoint/2010/main" val="31919834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 on performing ANOVA?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718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5193" y="944393"/>
            <a:ext cx="6446807" cy="644680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Continuing: The F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4596442" cy="3660775"/>
          </a:xfrm>
        </p:spPr>
        <p:txBody>
          <a:bodyPr/>
          <a:lstStyle/>
          <a:p>
            <a:r>
              <a:rPr lang="en-US" dirty="0"/>
              <a:t>The ratio of means squares follow an F distribution</a:t>
            </a:r>
          </a:p>
          <a:p>
            <a:pPr lvl="1"/>
            <a:r>
              <a:rPr lang="en-US" dirty="0"/>
              <a:t>2 parameters, corresponding to DOF of numerator and denominator</a:t>
            </a:r>
          </a:p>
        </p:txBody>
      </p:sp>
    </p:spTree>
    <p:extLst>
      <p:ext uri="{BB962C8B-B14F-4D97-AF65-F5344CB8AC3E}">
        <p14:creationId xmlns:p14="http://schemas.microsoft.com/office/powerpoint/2010/main" val="3129711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5193" y="944393"/>
            <a:ext cx="6446807" cy="644680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Continuing: The F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4596442" cy="3660775"/>
          </a:xfrm>
        </p:spPr>
        <p:txBody>
          <a:bodyPr/>
          <a:lstStyle/>
          <a:p>
            <a:r>
              <a:rPr lang="en-US" dirty="0"/>
              <a:t>The ratio of means squares follow an F distribution</a:t>
            </a:r>
          </a:p>
          <a:p>
            <a:pPr lvl="1"/>
            <a:r>
              <a:rPr lang="en-US" dirty="0"/>
              <a:t>2 parameters, corresponding to DOF of numerator and denominator</a:t>
            </a:r>
          </a:p>
        </p:txBody>
      </p:sp>
    </p:spTree>
    <p:extLst>
      <p:ext uri="{BB962C8B-B14F-4D97-AF65-F5344CB8AC3E}">
        <p14:creationId xmlns:p14="http://schemas.microsoft.com/office/powerpoint/2010/main" val="208122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5193" y="944393"/>
            <a:ext cx="6446807" cy="644680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Continuing: The F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4596442" cy="3660775"/>
          </a:xfrm>
        </p:spPr>
        <p:txBody>
          <a:bodyPr/>
          <a:lstStyle/>
          <a:p>
            <a:r>
              <a:rPr lang="en-US" dirty="0"/>
              <a:t>The ratio of means squares follow an F distribution</a:t>
            </a:r>
          </a:p>
          <a:p>
            <a:pPr lvl="1"/>
            <a:r>
              <a:rPr lang="en-US" dirty="0"/>
              <a:t>2 parameters, corresponding to DOF of numerator and denominator</a:t>
            </a:r>
          </a:p>
        </p:txBody>
      </p:sp>
    </p:spTree>
    <p:extLst>
      <p:ext uri="{BB962C8B-B14F-4D97-AF65-F5344CB8AC3E}">
        <p14:creationId xmlns:p14="http://schemas.microsoft.com/office/powerpoint/2010/main" val="25721971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5193" y="944393"/>
            <a:ext cx="6446807" cy="644680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Continuing: The F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4596442" cy="3660775"/>
          </a:xfrm>
        </p:spPr>
        <p:txBody>
          <a:bodyPr/>
          <a:lstStyle/>
          <a:p>
            <a:r>
              <a:rPr lang="en-US" dirty="0"/>
              <a:t>The ratio of means squares follow an F distribution</a:t>
            </a:r>
          </a:p>
          <a:p>
            <a:pPr lvl="1"/>
            <a:r>
              <a:rPr lang="en-US" dirty="0"/>
              <a:t>2 parameters, corresponding to DOF of numerator and denominator</a:t>
            </a:r>
          </a:p>
        </p:txBody>
      </p:sp>
    </p:spTree>
    <p:extLst>
      <p:ext uri="{BB962C8B-B14F-4D97-AF65-F5344CB8AC3E}">
        <p14:creationId xmlns:p14="http://schemas.microsoft.com/office/powerpoint/2010/main" val="18522230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5193" y="944393"/>
            <a:ext cx="6446807" cy="644680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Continuing: The F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4596442" cy="3660775"/>
          </a:xfrm>
        </p:spPr>
        <p:txBody>
          <a:bodyPr/>
          <a:lstStyle/>
          <a:p>
            <a:r>
              <a:rPr lang="en-US" dirty="0"/>
              <a:t>The ratio of means squares follow an F distribution</a:t>
            </a:r>
          </a:p>
          <a:p>
            <a:pPr lvl="1"/>
            <a:r>
              <a:rPr lang="en-US" dirty="0"/>
              <a:t>2 parameters, corresponding to DOF of numerator and denominator</a:t>
            </a:r>
          </a:p>
        </p:txBody>
      </p:sp>
    </p:spTree>
    <p:extLst>
      <p:ext uri="{BB962C8B-B14F-4D97-AF65-F5344CB8AC3E}">
        <p14:creationId xmlns:p14="http://schemas.microsoft.com/office/powerpoint/2010/main" val="21128284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5193" y="944393"/>
            <a:ext cx="6446807" cy="644680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Continuing: The F distribution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50807" y="944392"/>
            <a:ext cx="6446807" cy="6446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211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20872"/>
            <a:ext cx="6446807" cy="644680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Continuing: The F distribution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6096000" y="1690688"/>
            <a:ext cx="5463396" cy="3660775"/>
          </a:xfrm>
        </p:spPr>
        <p:txBody>
          <a:bodyPr/>
          <a:lstStyle/>
          <a:p>
            <a:r>
              <a:rPr lang="en-US" dirty="0"/>
              <a:t>Basic rule is that more DOF makes it “tighter”</a:t>
            </a:r>
          </a:p>
          <a:p>
            <a:r>
              <a:rPr lang="en-US" dirty="0"/>
              <a:t>For our purposes, it’s easier to see the effect of DOF on your mean square values than on the F distribution</a:t>
            </a:r>
          </a:p>
          <a:p>
            <a:pPr lvl="1"/>
            <a:r>
              <a:rPr lang="en-US" dirty="0"/>
              <a:t>But notice that it starts centering around 1</a:t>
            </a:r>
          </a:p>
        </p:txBody>
      </p:sp>
      <p:sp>
        <p:nvSpPr>
          <p:cNvPr id="9" name="Right Arrow 8"/>
          <p:cNvSpPr/>
          <p:nvPr/>
        </p:nvSpPr>
        <p:spPr>
          <a:xfrm rot="16200000">
            <a:off x="2237022" y="6461339"/>
            <a:ext cx="235978" cy="242720"/>
          </a:xfrm>
          <a:prstGeom prst="rightArrow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874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60" t="14956" r="7672" b="8237"/>
          <a:stretch/>
        </p:blipFill>
        <p:spPr>
          <a:xfrm>
            <a:off x="6573328" y="1690688"/>
            <a:ext cx="5451895" cy="495156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the F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5338313" cy="4110718"/>
          </a:xfrm>
        </p:spPr>
        <p:txBody>
          <a:bodyPr/>
          <a:lstStyle/>
          <a:p>
            <a:r>
              <a:rPr lang="en-US" dirty="0"/>
              <a:t>Remember our ANOVA hypotheses?</a:t>
            </a:r>
          </a:p>
          <a:p>
            <a:pPr lvl="1"/>
            <a:r>
              <a:rPr lang="en-US" dirty="0"/>
              <a:t>H</a:t>
            </a:r>
            <a:r>
              <a:rPr lang="en-US" baseline="-25000" dirty="0"/>
              <a:t>0</a:t>
            </a:r>
            <a:r>
              <a:rPr lang="en-US" dirty="0"/>
              <a:t>: There are no differences among the groups</a:t>
            </a:r>
          </a:p>
          <a:p>
            <a:pPr lvl="1"/>
            <a:r>
              <a:rPr lang="en-US" dirty="0"/>
              <a:t>H</a:t>
            </a:r>
            <a:r>
              <a:rPr lang="en-US" baseline="-25000" dirty="0"/>
              <a:t>1</a:t>
            </a:r>
            <a:r>
              <a:rPr lang="en-US" dirty="0"/>
              <a:t>: There is at least one difference among the groups</a:t>
            </a:r>
          </a:p>
          <a:p>
            <a:r>
              <a:rPr lang="en-US" dirty="0"/>
              <a:t>If H</a:t>
            </a:r>
            <a:r>
              <a:rPr lang="en-US" baseline="-25000" dirty="0"/>
              <a:t>0</a:t>
            </a:r>
            <a:r>
              <a:rPr lang="en-US" dirty="0"/>
              <a:t> is true, then we expect our F-ratio to be around 1</a:t>
            </a:r>
          </a:p>
        </p:txBody>
      </p:sp>
    </p:spTree>
    <p:extLst>
      <p:ext uri="{BB962C8B-B14F-4D97-AF65-F5344CB8AC3E}">
        <p14:creationId xmlns:p14="http://schemas.microsoft.com/office/powerpoint/2010/main" val="847246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F distribution in practice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2057" y="1690688"/>
            <a:ext cx="5467912" cy="4667731"/>
          </a:xfrm>
        </p:spPr>
      </p:pic>
      <p:sp>
        <p:nvSpPr>
          <p:cNvPr id="5" name="TextBox 4"/>
          <p:cNvSpPr txBox="1"/>
          <p:nvPr/>
        </p:nvSpPr>
        <p:spPr>
          <a:xfrm>
            <a:off x="10598467" y="1690688"/>
            <a:ext cx="12715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rgbClr val="8A0000"/>
                </a:solidFill>
              </a:rPr>
              <a:t>F(5,1)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838200" y="1690688"/>
            <a:ext cx="5338313" cy="41107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465138" indent="-465138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62063" indent="-34766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12913" indent="-34131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4766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The question we want to ask is “How likely is this F statistic if H</a:t>
            </a:r>
            <a:r>
              <a:rPr lang="en-US" baseline="-25000" dirty="0"/>
              <a:t>0</a:t>
            </a:r>
            <a:r>
              <a:rPr lang="en-US" dirty="0"/>
              <a:t> is true?” </a:t>
            </a:r>
          </a:p>
        </p:txBody>
      </p:sp>
    </p:spTree>
    <p:extLst>
      <p:ext uri="{BB962C8B-B14F-4D97-AF65-F5344CB8AC3E}">
        <p14:creationId xmlns:p14="http://schemas.microsoft.com/office/powerpoint/2010/main" val="1081418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F distribution in practice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0800" y="1691640"/>
            <a:ext cx="5453746" cy="4667730"/>
          </a:xfrm>
        </p:spPr>
      </p:pic>
      <p:sp>
        <p:nvSpPr>
          <p:cNvPr id="6" name="TextBox 5"/>
          <p:cNvSpPr txBox="1"/>
          <p:nvPr/>
        </p:nvSpPr>
        <p:spPr>
          <a:xfrm>
            <a:off x="10598467" y="1690688"/>
            <a:ext cx="12715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rgbClr val="8A0000"/>
                </a:solidFill>
              </a:rPr>
              <a:t>F(5,1)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838200" y="1690688"/>
            <a:ext cx="5338313" cy="41107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465138" indent="-465138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62063" indent="-34766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12913" indent="-34131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4766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The question we want to ask is “How likely is this F statistic if H</a:t>
            </a:r>
            <a:r>
              <a:rPr lang="en-US" baseline="-25000" dirty="0"/>
              <a:t>0</a:t>
            </a:r>
            <a:r>
              <a:rPr lang="en-US" dirty="0"/>
              <a:t> is true?” </a:t>
            </a:r>
          </a:p>
          <a:p>
            <a:pPr lvl="1"/>
            <a:r>
              <a:rPr lang="en-US" dirty="0"/>
              <a:t>Example: F = 6</a:t>
            </a:r>
          </a:p>
        </p:txBody>
      </p:sp>
    </p:spTree>
    <p:extLst>
      <p:ext uri="{BB962C8B-B14F-4D97-AF65-F5344CB8AC3E}">
        <p14:creationId xmlns:p14="http://schemas.microsoft.com/office/powerpoint/2010/main" val="35672143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F distribution in practice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0800" y="1691640"/>
            <a:ext cx="5453746" cy="4667729"/>
          </a:xfrm>
        </p:spPr>
      </p:pic>
      <p:sp>
        <p:nvSpPr>
          <p:cNvPr id="6" name="TextBox 5"/>
          <p:cNvSpPr txBox="1"/>
          <p:nvPr/>
        </p:nvSpPr>
        <p:spPr>
          <a:xfrm>
            <a:off x="10598467" y="1690688"/>
            <a:ext cx="12715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rgbClr val="8A0000"/>
                </a:solidFill>
              </a:rPr>
              <a:t>F(5,1)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838200" y="1690688"/>
            <a:ext cx="5338313" cy="41107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465138" indent="-465138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62063" indent="-34766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12913" indent="-34131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4766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The question we want to ask is “How likely is this F statistic if H</a:t>
            </a:r>
            <a:r>
              <a:rPr lang="en-US" baseline="-25000" dirty="0"/>
              <a:t>0</a:t>
            </a:r>
            <a:r>
              <a:rPr lang="en-US" dirty="0"/>
              <a:t> is true?” </a:t>
            </a:r>
          </a:p>
          <a:p>
            <a:pPr lvl="1"/>
            <a:r>
              <a:rPr lang="en-US" dirty="0"/>
              <a:t>Example: F = 6</a:t>
            </a:r>
          </a:p>
          <a:p>
            <a:pPr lvl="1"/>
            <a:r>
              <a:rPr lang="en-US" dirty="0"/>
              <a:t>p = 0.30</a:t>
            </a:r>
          </a:p>
          <a:p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9002264" y="2228774"/>
            <a:ext cx="9893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rgbClr val="8A0000"/>
                </a:solidFill>
              </a:rPr>
              <a:t>70%</a:t>
            </a:r>
          </a:p>
        </p:txBody>
      </p:sp>
      <p:cxnSp>
        <p:nvCxnSpPr>
          <p:cNvPr id="10" name="Straight Arrow Connector 9"/>
          <p:cNvCxnSpPr/>
          <p:nvPr/>
        </p:nvCxnSpPr>
        <p:spPr>
          <a:xfrm flipH="1">
            <a:off x="8905634" y="2845328"/>
            <a:ext cx="1000665" cy="0"/>
          </a:xfrm>
          <a:prstGeom prst="straightConnector1">
            <a:avLst/>
          </a:prstGeom>
          <a:ln w="76200">
            <a:solidFill>
              <a:srgbClr val="8C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>
            <a:off x="10067654" y="2845328"/>
            <a:ext cx="1000665" cy="0"/>
          </a:xfrm>
          <a:prstGeom prst="straightConnector1">
            <a:avLst/>
          </a:prstGeom>
          <a:ln w="76200">
            <a:solidFill>
              <a:srgbClr val="8C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019720" y="2242827"/>
            <a:ext cx="9893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rgbClr val="8A0000"/>
                </a:solidFill>
              </a:rPr>
              <a:t>30%</a:t>
            </a:r>
          </a:p>
        </p:txBody>
      </p:sp>
    </p:spTree>
    <p:extLst>
      <p:ext uri="{BB962C8B-B14F-4D97-AF65-F5344CB8AC3E}">
        <p14:creationId xmlns:p14="http://schemas.microsoft.com/office/powerpoint/2010/main" val="22250068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F distribution in practice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0800" y="1691640"/>
            <a:ext cx="5453744" cy="4667729"/>
          </a:xfrm>
        </p:spPr>
      </p:pic>
      <p:sp>
        <p:nvSpPr>
          <p:cNvPr id="6" name="TextBox 5"/>
          <p:cNvSpPr txBox="1"/>
          <p:nvPr/>
        </p:nvSpPr>
        <p:spPr>
          <a:xfrm>
            <a:off x="10598467" y="1690688"/>
            <a:ext cx="12715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rgbClr val="8A0000"/>
                </a:solidFill>
              </a:rPr>
              <a:t>F(5,1)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838200" y="1690688"/>
            <a:ext cx="5338313" cy="41107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465138" indent="-465138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62063" indent="-34766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12913" indent="-34131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4766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The question we want to ask is “How likely is this F statistic if H</a:t>
            </a:r>
            <a:r>
              <a:rPr lang="en-US" baseline="-25000" dirty="0"/>
              <a:t>0</a:t>
            </a:r>
            <a:r>
              <a:rPr lang="en-US" dirty="0"/>
              <a:t> is true?” </a:t>
            </a:r>
          </a:p>
          <a:p>
            <a:pPr lvl="1"/>
            <a:r>
              <a:rPr lang="en-US" dirty="0"/>
              <a:t>Example: F = 6</a:t>
            </a:r>
          </a:p>
          <a:p>
            <a:pPr lvl="1"/>
            <a:r>
              <a:rPr lang="en-US" dirty="0"/>
              <a:t>p = 0.30</a:t>
            </a:r>
          </a:p>
          <a:p>
            <a:r>
              <a:rPr lang="en-US" dirty="0"/>
              <a:t>Now compare with more DOF for error</a:t>
            </a:r>
          </a:p>
          <a:p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9002264" y="2228774"/>
            <a:ext cx="9893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rgbClr val="8A0000"/>
                </a:solidFill>
              </a:rPr>
              <a:t>70%</a:t>
            </a:r>
          </a:p>
        </p:txBody>
      </p:sp>
      <p:cxnSp>
        <p:nvCxnSpPr>
          <p:cNvPr id="9" name="Straight Arrow Connector 8"/>
          <p:cNvCxnSpPr/>
          <p:nvPr/>
        </p:nvCxnSpPr>
        <p:spPr>
          <a:xfrm flipH="1">
            <a:off x="8905634" y="2845328"/>
            <a:ext cx="1000665" cy="0"/>
          </a:xfrm>
          <a:prstGeom prst="straightConnector1">
            <a:avLst/>
          </a:prstGeom>
          <a:ln w="76200">
            <a:solidFill>
              <a:srgbClr val="8C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>
            <a:off x="10067654" y="2845328"/>
            <a:ext cx="1000665" cy="0"/>
          </a:xfrm>
          <a:prstGeom prst="straightConnector1">
            <a:avLst/>
          </a:prstGeom>
          <a:ln w="76200">
            <a:solidFill>
              <a:srgbClr val="8C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0019720" y="2242827"/>
            <a:ext cx="9893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rgbClr val="8A0000"/>
                </a:solidFill>
              </a:rPr>
              <a:t>30%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64429" y="4520152"/>
            <a:ext cx="15055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rgbClr val="00008A"/>
                </a:solidFill>
              </a:rPr>
              <a:t>F(5,20)</a:t>
            </a:r>
          </a:p>
        </p:txBody>
      </p:sp>
    </p:spTree>
    <p:extLst>
      <p:ext uri="{BB962C8B-B14F-4D97-AF65-F5344CB8AC3E}">
        <p14:creationId xmlns:p14="http://schemas.microsoft.com/office/powerpoint/2010/main" val="28669839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F distribution in practice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0800" y="1691640"/>
            <a:ext cx="5453744" cy="4667728"/>
          </a:xfrm>
        </p:spPr>
      </p:pic>
      <p:sp>
        <p:nvSpPr>
          <p:cNvPr id="6" name="TextBox 5"/>
          <p:cNvSpPr txBox="1"/>
          <p:nvPr/>
        </p:nvSpPr>
        <p:spPr>
          <a:xfrm>
            <a:off x="10598467" y="1690688"/>
            <a:ext cx="12715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rgbClr val="8A0000"/>
                </a:solidFill>
              </a:rPr>
              <a:t>F(5,1)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838200" y="1690688"/>
            <a:ext cx="5338313" cy="41107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465138" indent="-465138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62063" indent="-34766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12913" indent="-34131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4766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The question we want to ask is “How likely is this F statistic if H</a:t>
            </a:r>
            <a:r>
              <a:rPr lang="en-US" baseline="-25000" dirty="0"/>
              <a:t>0</a:t>
            </a:r>
            <a:r>
              <a:rPr lang="en-US" dirty="0"/>
              <a:t> is true?” </a:t>
            </a:r>
          </a:p>
          <a:p>
            <a:pPr lvl="1"/>
            <a:r>
              <a:rPr lang="en-US" dirty="0"/>
              <a:t>Example: F = 6</a:t>
            </a:r>
          </a:p>
          <a:p>
            <a:pPr lvl="1"/>
            <a:r>
              <a:rPr lang="en-US" dirty="0"/>
              <a:t>p = 0.30</a:t>
            </a:r>
          </a:p>
          <a:p>
            <a:r>
              <a:rPr lang="en-US" dirty="0"/>
              <a:t>Now compare with more DOF for error</a:t>
            </a:r>
          </a:p>
          <a:p>
            <a:pPr lvl="1"/>
            <a:r>
              <a:rPr lang="en-US" dirty="0"/>
              <a:t>p=0.002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9002264" y="2228774"/>
            <a:ext cx="9893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rgbClr val="8A0000"/>
                </a:solidFill>
              </a:rPr>
              <a:t>70%</a:t>
            </a:r>
          </a:p>
        </p:txBody>
      </p:sp>
      <p:cxnSp>
        <p:nvCxnSpPr>
          <p:cNvPr id="9" name="Straight Arrow Connector 8"/>
          <p:cNvCxnSpPr/>
          <p:nvPr/>
        </p:nvCxnSpPr>
        <p:spPr>
          <a:xfrm flipH="1">
            <a:off x="8905634" y="2845328"/>
            <a:ext cx="1000665" cy="0"/>
          </a:xfrm>
          <a:prstGeom prst="straightConnector1">
            <a:avLst/>
          </a:prstGeom>
          <a:ln w="76200">
            <a:solidFill>
              <a:srgbClr val="8C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>
            <a:off x="10067654" y="2845328"/>
            <a:ext cx="1000665" cy="0"/>
          </a:xfrm>
          <a:prstGeom prst="straightConnector1">
            <a:avLst/>
          </a:prstGeom>
          <a:ln w="76200">
            <a:solidFill>
              <a:srgbClr val="8C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0019720" y="2242827"/>
            <a:ext cx="9893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rgbClr val="8A0000"/>
                </a:solidFill>
              </a:rPr>
              <a:t>30%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64429" y="4520152"/>
            <a:ext cx="15055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rgbClr val="00008A"/>
                </a:solidFill>
              </a:rPr>
              <a:t>F(5,20)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44793" y="3169461"/>
            <a:ext cx="13468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rgbClr val="00008A"/>
                </a:solidFill>
              </a:rPr>
              <a:t>99.8%</a:t>
            </a:r>
          </a:p>
        </p:txBody>
      </p:sp>
      <p:cxnSp>
        <p:nvCxnSpPr>
          <p:cNvPr id="14" name="Straight Arrow Connector 13"/>
          <p:cNvCxnSpPr/>
          <p:nvPr/>
        </p:nvCxnSpPr>
        <p:spPr>
          <a:xfrm flipH="1">
            <a:off x="8905634" y="3771962"/>
            <a:ext cx="1000665" cy="0"/>
          </a:xfrm>
          <a:prstGeom prst="straightConnector1">
            <a:avLst/>
          </a:prstGeom>
          <a:ln w="76200">
            <a:solidFill>
              <a:srgbClr val="00008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10067654" y="3771962"/>
            <a:ext cx="1000665" cy="0"/>
          </a:xfrm>
          <a:prstGeom prst="straightConnector1">
            <a:avLst/>
          </a:prstGeom>
          <a:ln w="76200">
            <a:solidFill>
              <a:srgbClr val="00008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019720" y="3169461"/>
            <a:ext cx="11128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rgbClr val="00008A"/>
                </a:solidFill>
              </a:rPr>
              <a:t>0.2%</a:t>
            </a:r>
          </a:p>
        </p:txBody>
      </p:sp>
    </p:spTree>
    <p:extLst>
      <p:ext uri="{BB962C8B-B14F-4D97-AF65-F5344CB8AC3E}">
        <p14:creationId xmlns:p14="http://schemas.microsoft.com/office/powerpoint/2010/main" val="34122390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33" t="15566" r="8029" b="12176"/>
          <a:stretch/>
        </p:blipFill>
        <p:spPr>
          <a:xfrm>
            <a:off x="6671094" y="1916434"/>
            <a:ext cx="5520906" cy="465826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Take-home on F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35896"/>
            <a:ext cx="5976668" cy="1935492"/>
          </a:xfrm>
        </p:spPr>
        <p:txBody>
          <a:bodyPr/>
          <a:lstStyle/>
          <a:p>
            <a:r>
              <a:rPr lang="en-US" dirty="0"/>
              <a:t>The more DOF you have for error, the smaller the F-statistic you can call as significant</a:t>
            </a:r>
          </a:p>
          <a:p>
            <a:pPr lvl="1"/>
            <a:r>
              <a:rPr lang="en-US" dirty="0"/>
              <a:t>=more power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1595033"/>
              </p:ext>
            </p:extLst>
          </p:nvPr>
        </p:nvGraphicFramePr>
        <p:xfrm>
          <a:off x="411553" y="3607211"/>
          <a:ext cx="6061254" cy="310896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020418">
                  <a:extLst>
                    <a:ext uri="{9D8B030D-6E8A-4147-A177-3AD203B41FA5}">
                      <a16:colId xmlns:a16="http://schemas.microsoft.com/office/drawing/2014/main" val="415091391"/>
                    </a:ext>
                  </a:extLst>
                </a:gridCol>
                <a:gridCol w="2020418">
                  <a:extLst>
                    <a:ext uri="{9D8B030D-6E8A-4147-A177-3AD203B41FA5}">
                      <a16:colId xmlns:a16="http://schemas.microsoft.com/office/drawing/2014/main" val="2102456296"/>
                    </a:ext>
                  </a:extLst>
                </a:gridCol>
                <a:gridCol w="2020418">
                  <a:extLst>
                    <a:ext uri="{9D8B030D-6E8A-4147-A177-3AD203B41FA5}">
                      <a16:colId xmlns:a16="http://schemas.microsoft.com/office/drawing/2014/main" val="29357322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F Dist.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p&lt;=0.05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p&lt;=0.01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8934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(1,1)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b="1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85327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(1,5)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b="1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568432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(1,20)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b="1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99575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(1,50)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b="1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93257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(1,100)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062471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98932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33" t="15566" r="8029" b="12176"/>
          <a:stretch/>
        </p:blipFill>
        <p:spPr>
          <a:xfrm>
            <a:off x="6671094" y="1916434"/>
            <a:ext cx="5520906" cy="465826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Take-home on F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35896"/>
            <a:ext cx="5976668" cy="1935492"/>
          </a:xfrm>
        </p:spPr>
        <p:txBody>
          <a:bodyPr/>
          <a:lstStyle/>
          <a:p>
            <a:r>
              <a:rPr lang="en-US" dirty="0"/>
              <a:t>The more DOF you have for error, the smaller the F-statistic you can call as significant</a:t>
            </a:r>
          </a:p>
          <a:p>
            <a:pPr lvl="1"/>
            <a:r>
              <a:rPr lang="en-US" dirty="0"/>
              <a:t>=more power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1321424"/>
              </p:ext>
            </p:extLst>
          </p:nvPr>
        </p:nvGraphicFramePr>
        <p:xfrm>
          <a:off x="411553" y="3607211"/>
          <a:ext cx="6061254" cy="310896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020418">
                  <a:extLst>
                    <a:ext uri="{9D8B030D-6E8A-4147-A177-3AD203B41FA5}">
                      <a16:colId xmlns:a16="http://schemas.microsoft.com/office/drawing/2014/main" val="415091391"/>
                    </a:ext>
                  </a:extLst>
                </a:gridCol>
                <a:gridCol w="2020418">
                  <a:extLst>
                    <a:ext uri="{9D8B030D-6E8A-4147-A177-3AD203B41FA5}">
                      <a16:colId xmlns:a16="http://schemas.microsoft.com/office/drawing/2014/main" val="2102456296"/>
                    </a:ext>
                  </a:extLst>
                </a:gridCol>
                <a:gridCol w="2020418">
                  <a:extLst>
                    <a:ext uri="{9D8B030D-6E8A-4147-A177-3AD203B41FA5}">
                      <a16:colId xmlns:a16="http://schemas.microsoft.com/office/drawing/2014/main" val="29357322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F Dist.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p&lt;=0.05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p&lt;=0.01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8934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(1,1)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161.4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85327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(1,5)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6.61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568432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(1,20)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4.35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99575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(1,50)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4.03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93257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(1,100)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3.94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062471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38451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33" t="15566" r="8029" b="12176"/>
          <a:stretch/>
        </p:blipFill>
        <p:spPr>
          <a:xfrm>
            <a:off x="6671094" y="1916434"/>
            <a:ext cx="5520906" cy="465826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Take-home on F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35896"/>
            <a:ext cx="5976668" cy="1935492"/>
          </a:xfrm>
        </p:spPr>
        <p:txBody>
          <a:bodyPr/>
          <a:lstStyle/>
          <a:p>
            <a:r>
              <a:rPr lang="en-US" dirty="0"/>
              <a:t>The more DOF you have for error, the smaller the F-statistic you can call as significant</a:t>
            </a:r>
          </a:p>
          <a:p>
            <a:pPr lvl="1"/>
            <a:r>
              <a:rPr lang="en-US" dirty="0"/>
              <a:t>=more power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0417185"/>
              </p:ext>
            </p:extLst>
          </p:nvPr>
        </p:nvGraphicFramePr>
        <p:xfrm>
          <a:off x="411553" y="3607211"/>
          <a:ext cx="6061254" cy="310896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020418">
                  <a:extLst>
                    <a:ext uri="{9D8B030D-6E8A-4147-A177-3AD203B41FA5}">
                      <a16:colId xmlns:a16="http://schemas.microsoft.com/office/drawing/2014/main" val="415091391"/>
                    </a:ext>
                  </a:extLst>
                </a:gridCol>
                <a:gridCol w="2020418">
                  <a:extLst>
                    <a:ext uri="{9D8B030D-6E8A-4147-A177-3AD203B41FA5}">
                      <a16:colId xmlns:a16="http://schemas.microsoft.com/office/drawing/2014/main" val="2102456296"/>
                    </a:ext>
                  </a:extLst>
                </a:gridCol>
                <a:gridCol w="2020418">
                  <a:extLst>
                    <a:ext uri="{9D8B030D-6E8A-4147-A177-3AD203B41FA5}">
                      <a16:colId xmlns:a16="http://schemas.microsoft.com/office/drawing/2014/main" val="29357322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F Dist.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p&lt;=0.05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p&lt;=0.01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8934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(1,1)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161.4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4052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85327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(1,5)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6.61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16.26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568432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(1,20)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4.35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8.10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99575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(1,50)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4.03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7.17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93257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(1,100)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3.94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6.90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062471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311476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F distribution in 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1353800" cy="4110718"/>
          </a:xfrm>
        </p:spPr>
        <p:txBody>
          <a:bodyPr/>
          <a:lstStyle/>
          <a:p>
            <a:r>
              <a:rPr lang="en-US" dirty="0"/>
              <a:t>F distributions in R are handled with the _f() family of functions</a:t>
            </a:r>
          </a:p>
          <a:p>
            <a:pPr lvl="1"/>
            <a:r>
              <a:rPr lang="en-US" dirty="0"/>
              <a:t>pf() – How (un)likely is this F value?</a:t>
            </a:r>
          </a:p>
          <a:p>
            <a:pPr lvl="1"/>
            <a:r>
              <a:rPr lang="en-US" dirty="0" err="1"/>
              <a:t>qf</a:t>
            </a:r>
            <a:r>
              <a:rPr lang="en-US" dirty="0"/>
              <a:t>() – What F value do I need to get this probability?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9705" y="3330201"/>
            <a:ext cx="4121858" cy="352779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28106" y="3728707"/>
            <a:ext cx="12715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rgbClr val="8A0000"/>
                </a:solidFill>
              </a:rPr>
              <a:t>F(5,1)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28106" y="3272972"/>
            <a:ext cx="15055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rgbClr val="00008A"/>
                </a:solidFill>
              </a:rPr>
              <a:t>F(5,20)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33646" y="4375038"/>
            <a:ext cx="10679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F = 6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3"/>
          <a:srcRect b="51113"/>
          <a:stretch/>
        </p:blipFill>
        <p:spPr>
          <a:xfrm>
            <a:off x="838200" y="4228738"/>
            <a:ext cx="5517089" cy="93893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621765" y="3570581"/>
            <a:ext cx="13840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chemeClr val="accent4">
                    <a:lumMod val="50000"/>
                  </a:schemeClr>
                </a:solidFill>
              </a:rPr>
              <a:t>F value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73930" y="3272972"/>
            <a:ext cx="90922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chemeClr val="accent6">
                    <a:lumMod val="75000"/>
                  </a:schemeClr>
                </a:solidFill>
              </a:rPr>
              <a:t>DOF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9750" y="3622137"/>
            <a:ext cx="15874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Numerator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20950" y="3632136"/>
            <a:ext cx="18827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Denominator</a:t>
            </a:r>
          </a:p>
        </p:txBody>
      </p:sp>
      <p:cxnSp>
        <p:nvCxnSpPr>
          <p:cNvPr id="17" name="Straight Connector 16"/>
          <p:cNvCxnSpPr/>
          <p:nvPr/>
        </p:nvCxnSpPr>
        <p:spPr>
          <a:xfrm flipH="1" flipV="1">
            <a:off x="2262188" y="4051872"/>
            <a:ext cx="7165" cy="222184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V="1">
            <a:off x="4015603" y="4044721"/>
            <a:ext cx="116653" cy="221270"/>
          </a:xfrm>
          <a:prstGeom prst="line">
            <a:avLst/>
          </a:prstGeom>
          <a:ln w="762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 flipV="1">
            <a:off x="5532120" y="4081412"/>
            <a:ext cx="144552" cy="184579"/>
          </a:xfrm>
          <a:prstGeom prst="line">
            <a:avLst/>
          </a:prstGeom>
          <a:ln w="762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59009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12" grpId="0"/>
      <p:bldP spid="13" grpId="0"/>
      <p:bldP spid="14" grpId="0"/>
      <p:bldP spid="15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F distribution in 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1353800" cy="4110718"/>
          </a:xfrm>
        </p:spPr>
        <p:txBody>
          <a:bodyPr/>
          <a:lstStyle/>
          <a:p>
            <a:r>
              <a:rPr lang="en-US" dirty="0"/>
              <a:t>F distributions in R are handled with the _f() family of functions</a:t>
            </a:r>
          </a:p>
          <a:p>
            <a:pPr lvl="1"/>
            <a:r>
              <a:rPr lang="en-US" dirty="0"/>
              <a:t>pf() – How (un)likely is this F value?</a:t>
            </a:r>
          </a:p>
          <a:p>
            <a:pPr lvl="1"/>
            <a:r>
              <a:rPr lang="en-US" dirty="0" err="1"/>
              <a:t>qf</a:t>
            </a:r>
            <a:r>
              <a:rPr lang="en-US" dirty="0"/>
              <a:t>() – What F value do I need to get this probability?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9705" y="3330201"/>
            <a:ext cx="4121858" cy="352779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28106" y="3728707"/>
            <a:ext cx="12715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rgbClr val="8A0000"/>
                </a:solidFill>
              </a:rPr>
              <a:t>F(5,1)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28106" y="3272972"/>
            <a:ext cx="15055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rgbClr val="00008A"/>
                </a:solidFill>
              </a:rPr>
              <a:t>F(5,20)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33646" y="4375038"/>
            <a:ext cx="10679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F = 6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3"/>
          <a:srcRect b="51113"/>
          <a:stretch/>
        </p:blipFill>
        <p:spPr>
          <a:xfrm>
            <a:off x="838200" y="4228738"/>
            <a:ext cx="5517089" cy="93893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3"/>
          <a:srcRect t="49082"/>
          <a:stretch/>
        </p:blipFill>
        <p:spPr>
          <a:xfrm>
            <a:off x="838200" y="5582306"/>
            <a:ext cx="5517089" cy="97794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621765" y="3570581"/>
            <a:ext cx="13840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chemeClr val="accent4">
                    <a:lumMod val="50000"/>
                  </a:schemeClr>
                </a:solidFill>
              </a:rPr>
              <a:t>F value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73930" y="3272972"/>
            <a:ext cx="90922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chemeClr val="accent6">
                    <a:lumMod val="75000"/>
                  </a:schemeClr>
                </a:solidFill>
              </a:rPr>
              <a:t>DOF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9750" y="3622137"/>
            <a:ext cx="15141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Treatment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20950" y="3632136"/>
            <a:ext cx="8236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Error</a:t>
            </a:r>
          </a:p>
        </p:txBody>
      </p:sp>
      <p:cxnSp>
        <p:nvCxnSpPr>
          <p:cNvPr id="17" name="Straight Connector 16"/>
          <p:cNvCxnSpPr/>
          <p:nvPr/>
        </p:nvCxnSpPr>
        <p:spPr>
          <a:xfrm flipH="1" flipV="1">
            <a:off x="2262188" y="4051872"/>
            <a:ext cx="7165" cy="222184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V="1">
            <a:off x="4015603" y="4044721"/>
            <a:ext cx="116653" cy="221270"/>
          </a:xfrm>
          <a:prstGeom prst="line">
            <a:avLst/>
          </a:prstGeom>
          <a:ln w="762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 flipV="1">
            <a:off x="5532120" y="4081412"/>
            <a:ext cx="144552" cy="184579"/>
          </a:xfrm>
          <a:prstGeom prst="line">
            <a:avLst/>
          </a:prstGeom>
          <a:ln w="762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3186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Getting p-values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314390"/>
          </a:xfrm>
        </p:spPr>
        <p:txBody>
          <a:bodyPr/>
          <a:lstStyle/>
          <a:p>
            <a:r>
              <a:rPr lang="en-US" dirty="0"/>
              <a:t>By default, pf() gives you the “lower tail” probability, meaning the probability </a:t>
            </a:r>
            <a:r>
              <a:rPr lang="en-US" u="sng" dirty="0"/>
              <a:t>up to</a:t>
            </a:r>
            <a:r>
              <a:rPr lang="en-US" dirty="0"/>
              <a:t> the F value you supply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b="51113"/>
          <a:stretch/>
        </p:blipFill>
        <p:spPr>
          <a:xfrm>
            <a:off x="2080403" y="2855789"/>
            <a:ext cx="4303144" cy="732334"/>
          </a:xfrm>
          <a:prstGeom prst="rect">
            <a:avLst/>
          </a:prstGeom>
        </p:spPr>
      </p:pic>
      <p:sp>
        <p:nvSpPr>
          <p:cNvPr id="5" name="Content Placeholder 2"/>
          <p:cNvSpPr txBox="1">
            <a:spLocks/>
          </p:cNvSpPr>
          <p:nvPr/>
        </p:nvSpPr>
        <p:spPr>
          <a:xfrm>
            <a:off x="838200" y="3755066"/>
            <a:ext cx="10515600" cy="131439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465138" indent="-465138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62063" indent="-34766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12913" indent="-34131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4766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To get actual p-values, either:</a:t>
            </a:r>
          </a:p>
          <a:p>
            <a:pPr lvl="1"/>
            <a:r>
              <a:rPr lang="en-US" dirty="0"/>
              <a:t>Set the argument “</a:t>
            </a:r>
            <a:r>
              <a:rPr lang="en-US" dirty="0" err="1"/>
              <a:t>lower.tail</a:t>
            </a:r>
            <a:r>
              <a:rPr lang="en-US" dirty="0"/>
              <a:t>” to FALSE</a:t>
            </a:r>
          </a:p>
          <a:p>
            <a:pPr lvl="1"/>
            <a:r>
              <a:rPr lang="en-US" dirty="0"/>
              <a:t>Subtract the default value from 1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80403" y="5179184"/>
            <a:ext cx="7656957" cy="1510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82603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qf</a:t>
            </a:r>
            <a:r>
              <a:rPr lang="en-US" dirty="0"/>
              <a:t>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qf</a:t>
            </a:r>
            <a:r>
              <a:rPr lang="en-US" dirty="0"/>
              <a:t>() is the opposite of pf()</a:t>
            </a:r>
          </a:p>
          <a:p>
            <a:pPr lvl="1"/>
            <a:r>
              <a:rPr lang="en-US" dirty="0"/>
              <a:t>Takes a probability and gives you an F value out.</a:t>
            </a:r>
          </a:p>
          <a:p>
            <a:pPr lvl="1"/>
            <a:r>
              <a:rPr lang="en-US" dirty="0"/>
              <a:t>Same issue with </a:t>
            </a:r>
            <a:r>
              <a:rPr lang="en-US" dirty="0" err="1"/>
              <a:t>lower.tail</a:t>
            </a:r>
            <a:r>
              <a:rPr lang="en-US" dirty="0"/>
              <a:t> applies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996" y="3485790"/>
            <a:ext cx="9105250" cy="1828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36417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In-class exercise:</a:t>
            </a:r>
            <a:br>
              <a:rPr lang="en-US" dirty="0"/>
            </a:br>
            <a:r>
              <a:rPr lang="en-US" sz="2800" dirty="0"/>
              <a:t>F-values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Finish the ANOVA table from the review by calculating the p-value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9377724"/>
              </p:ext>
            </p:extLst>
          </p:nvPr>
        </p:nvGraphicFramePr>
        <p:xfrm>
          <a:off x="1687737" y="3473127"/>
          <a:ext cx="9110891" cy="192024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856911">
                  <a:extLst>
                    <a:ext uri="{9D8B030D-6E8A-4147-A177-3AD203B41FA5}">
                      <a16:colId xmlns:a16="http://schemas.microsoft.com/office/drawing/2014/main" val="369717379"/>
                    </a:ext>
                  </a:extLst>
                </a:gridCol>
                <a:gridCol w="1250796">
                  <a:extLst>
                    <a:ext uri="{9D8B030D-6E8A-4147-A177-3AD203B41FA5}">
                      <a16:colId xmlns:a16="http://schemas.microsoft.com/office/drawing/2014/main" val="3388363177"/>
                    </a:ext>
                  </a:extLst>
                </a:gridCol>
                <a:gridCol w="1250796">
                  <a:extLst>
                    <a:ext uri="{9D8B030D-6E8A-4147-A177-3AD203B41FA5}">
                      <a16:colId xmlns:a16="http://schemas.microsoft.com/office/drawing/2014/main" val="3930285627"/>
                    </a:ext>
                  </a:extLst>
                </a:gridCol>
                <a:gridCol w="1250796">
                  <a:extLst>
                    <a:ext uri="{9D8B030D-6E8A-4147-A177-3AD203B41FA5}">
                      <a16:colId xmlns:a16="http://schemas.microsoft.com/office/drawing/2014/main" val="2720853190"/>
                    </a:ext>
                  </a:extLst>
                </a:gridCol>
                <a:gridCol w="1250796">
                  <a:extLst>
                    <a:ext uri="{9D8B030D-6E8A-4147-A177-3AD203B41FA5}">
                      <a16:colId xmlns:a16="http://schemas.microsoft.com/office/drawing/2014/main" val="1025407508"/>
                    </a:ext>
                  </a:extLst>
                </a:gridCol>
                <a:gridCol w="1250796">
                  <a:extLst>
                    <a:ext uri="{9D8B030D-6E8A-4147-A177-3AD203B41FA5}">
                      <a16:colId xmlns:a16="http://schemas.microsoft.com/office/drawing/2014/main" val="24870409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sz="36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/>
                        <a:t>SS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/>
                        <a:t>DOF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/>
                        <a:t>MS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/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/>
                        <a:t>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297581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3600" b="1" baseline="0" dirty="0"/>
                        <a:t>Insecticide</a:t>
                      </a:r>
                      <a:endParaRPr lang="en-US" sz="3600" b="1" baseline="-25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/>
                        <a:t>446.3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/>
                        <a:t>223.2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/>
                        <a:t>26.78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6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234794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3600" b="1" baseline="0" dirty="0"/>
                        <a:t>Error</a:t>
                      </a:r>
                      <a:endParaRPr lang="en-US" sz="3600" b="1" baseline="-25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/>
                        <a:t>25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/>
                        <a:t>8.33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6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6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0869616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687738" y="2885698"/>
            <a:ext cx="251780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ANOVA table:</a:t>
            </a:r>
          </a:p>
        </p:txBody>
      </p:sp>
      <p:sp>
        <p:nvSpPr>
          <p:cNvPr id="6" name="&quot;No&quot; Symbol 5"/>
          <p:cNvSpPr/>
          <p:nvPr/>
        </p:nvSpPr>
        <p:spPr>
          <a:xfrm>
            <a:off x="10798629" y="186506"/>
            <a:ext cx="1196566" cy="1196566"/>
          </a:xfrm>
          <a:prstGeom prst="noSmoking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982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In-class exercise:</a:t>
            </a:r>
            <a:br>
              <a:rPr lang="en-US" dirty="0"/>
            </a:br>
            <a:r>
              <a:rPr lang="en-US" sz="2800" dirty="0"/>
              <a:t>F-values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Finish the ANOVA table from the review by calculating the p-value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3121888"/>
              </p:ext>
            </p:extLst>
          </p:nvPr>
        </p:nvGraphicFramePr>
        <p:xfrm>
          <a:off x="1687737" y="3473127"/>
          <a:ext cx="9110891" cy="192024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856911">
                  <a:extLst>
                    <a:ext uri="{9D8B030D-6E8A-4147-A177-3AD203B41FA5}">
                      <a16:colId xmlns:a16="http://schemas.microsoft.com/office/drawing/2014/main" val="369717379"/>
                    </a:ext>
                  </a:extLst>
                </a:gridCol>
                <a:gridCol w="1250796">
                  <a:extLst>
                    <a:ext uri="{9D8B030D-6E8A-4147-A177-3AD203B41FA5}">
                      <a16:colId xmlns:a16="http://schemas.microsoft.com/office/drawing/2014/main" val="3388363177"/>
                    </a:ext>
                  </a:extLst>
                </a:gridCol>
                <a:gridCol w="1250796">
                  <a:extLst>
                    <a:ext uri="{9D8B030D-6E8A-4147-A177-3AD203B41FA5}">
                      <a16:colId xmlns:a16="http://schemas.microsoft.com/office/drawing/2014/main" val="3930285627"/>
                    </a:ext>
                  </a:extLst>
                </a:gridCol>
                <a:gridCol w="1250796">
                  <a:extLst>
                    <a:ext uri="{9D8B030D-6E8A-4147-A177-3AD203B41FA5}">
                      <a16:colId xmlns:a16="http://schemas.microsoft.com/office/drawing/2014/main" val="2720853190"/>
                    </a:ext>
                  </a:extLst>
                </a:gridCol>
                <a:gridCol w="1250796">
                  <a:extLst>
                    <a:ext uri="{9D8B030D-6E8A-4147-A177-3AD203B41FA5}">
                      <a16:colId xmlns:a16="http://schemas.microsoft.com/office/drawing/2014/main" val="1025407508"/>
                    </a:ext>
                  </a:extLst>
                </a:gridCol>
                <a:gridCol w="1250796">
                  <a:extLst>
                    <a:ext uri="{9D8B030D-6E8A-4147-A177-3AD203B41FA5}">
                      <a16:colId xmlns:a16="http://schemas.microsoft.com/office/drawing/2014/main" val="24870409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sz="36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/>
                        <a:t>SS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/>
                        <a:t>DOF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/>
                        <a:t>MS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/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/>
                        <a:t>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297581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3600" b="1" baseline="0" dirty="0"/>
                        <a:t>Insecticide</a:t>
                      </a:r>
                      <a:endParaRPr lang="en-US" sz="3600" b="1" baseline="-25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/>
                        <a:t>446.3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/>
                        <a:t>223.2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/>
                        <a:t>26.78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/>
                        <a:t>0.012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234794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3600" b="1" baseline="0" dirty="0"/>
                        <a:t>Error</a:t>
                      </a:r>
                      <a:endParaRPr lang="en-US" sz="3600" b="1" baseline="-25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/>
                        <a:t>25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/>
                        <a:t>8.33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6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6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0869616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687738" y="2885698"/>
            <a:ext cx="251780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ANOVA table:</a:t>
            </a:r>
          </a:p>
        </p:txBody>
      </p:sp>
      <p:sp>
        <p:nvSpPr>
          <p:cNvPr id="6" name="&quot;No&quot; Symbol 5"/>
          <p:cNvSpPr/>
          <p:nvPr/>
        </p:nvSpPr>
        <p:spPr>
          <a:xfrm>
            <a:off x="10798629" y="186506"/>
            <a:ext cx="1196566" cy="1196566"/>
          </a:xfrm>
          <a:prstGeom prst="noSmoking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687737" y="5674733"/>
            <a:ext cx="94211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pf(26.78, df1=2, df2=3, </a:t>
            </a:r>
            <a:r>
              <a:rPr lang="en-US" sz="2800" b="1" dirty="0" err="1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lower.tail</a:t>
            </a:r>
            <a:r>
              <a:rPr lang="en-US" sz="28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=FALSE)</a:t>
            </a:r>
          </a:p>
        </p:txBody>
      </p:sp>
    </p:spTree>
    <p:extLst>
      <p:ext uri="{BB962C8B-B14F-4D97-AF65-F5344CB8AC3E}">
        <p14:creationId xmlns:p14="http://schemas.microsoft.com/office/powerpoint/2010/main" val="2426445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1152517" cy="1325563"/>
          </a:xfrm>
        </p:spPr>
        <p:txBody>
          <a:bodyPr/>
          <a:lstStyle/>
          <a:p>
            <a:r>
              <a:rPr lang="en-US" dirty="0"/>
              <a:t>Questions on F distributions &amp; p-values?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62319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ANOVA in 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1130280" cy="4110718"/>
          </a:xfrm>
        </p:spPr>
        <p:txBody>
          <a:bodyPr/>
          <a:lstStyle/>
          <a:p>
            <a:r>
              <a:rPr lang="en-US" dirty="0"/>
              <a:t>Confusingly, R has </a:t>
            </a:r>
            <a:r>
              <a:rPr lang="en-US" u="sng" dirty="0"/>
              <a:t>two</a:t>
            </a:r>
            <a:r>
              <a:rPr lang="en-US" dirty="0"/>
              <a:t> ANOVA functions:</a:t>
            </a:r>
          </a:p>
          <a:p>
            <a:pPr lvl="1"/>
            <a:r>
              <a:rPr lang="en-US" dirty="0" err="1"/>
              <a:t>aov</a:t>
            </a:r>
            <a:r>
              <a:rPr lang="en-US" dirty="0"/>
              <a:t>() – Direct ANOVA (but can have issues with unbalanced data)</a:t>
            </a:r>
          </a:p>
          <a:p>
            <a:pPr lvl="1"/>
            <a:r>
              <a:rPr lang="en-US" dirty="0" err="1"/>
              <a:t>anova</a:t>
            </a:r>
            <a:r>
              <a:rPr lang="en-US" dirty="0"/>
              <a:t>() – ANOVA table from a fitted model. More general and useful.</a:t>
            </a:r>
          </a:p>
          <a:p>
            <a:r>
              <a:rPr lang="en-US" dirty="0"/>
              <a:t>We will start by using </a:t>
            </a:r>
            <a:r>
              <a:rPr lang="en-US" dirty="0" err="1"/>
              <a:t>aov</a:t>
            </a:r>
            <a:r>
              <a:rPr lang="en-US" dirty="0"/>
              <a:t>(), then switch to </a:t>
            </a:r>
            <a:r>
              <a:rPr lang="en-US" dirty="0" err="1"/>
              <a:t>anova</a:t>
            </a:r>
            <a:r>
              <a:rPr lang="en-US" dirty="0"/>
              <a:t>() once we cover linear regression</a:t>
            </a:r>
            <a:endParaRPr 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30232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Running an ANOVA in 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It’s usually easiest to run ANOVA in R if your data is in a data frame.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6694" y="2973775"/>
            <a:ext cx="7458612" cy="3737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98913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Running an ANOVA in 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624277"/>
          </a:xfrm>
        </p:spPr>
        <p:txBody>
          <a:bodyPr/>
          <a:lstStyle/>
          <a:p>
            <a:r>
              <a:rPr lang="en-US" dirty="0"/>
              <a:t>After getting your data, call </a:t>
            </a:r>
            <a:r>
              <a:rPr lang="en-US" dirty="0" err="1"/>
              <a:t>aov</a:t>
            </a:r>
            <a:r>
              <a:rPr lang="en-US" dirty="0"/>
              <a:t>()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b="91389"/>
          <a:stretch/>
        </p:blipFill>
        <p:spPr>
          <a:xfrm>
            <a:off x="1115241" y="2329132"/>
            <a:ext cx="11076759" cy="37956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0" y="2814253"/>
            <a:ext cx="233506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C00000"/>
                </a:solidFill>
              </a:rPr>
              <a:t>Function call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34194" y="2814253"/>
            <a:ext cx="209046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4">
                    <a:lumMod val="75000"/>
                  </a:schemeClr>
                </a:solidFill>
              </a:rPr>
              <a:t>Dependent variable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14328" y="4089361"/>
            <a:ext cx="31026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2">
                    <a:lumMod val="75000"/>
                  </a:schemeClr>
                </a:solidFill>
              </a:rPr>
              <a:t>“is a function of”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74883" y="2814253"/>
            <a:ext cx="310263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6">
                    <a:lumMod val="75000"/>
                  </a:schemeClr>
                </a:solidFill>
              </a:rPr>
              <a:t>Independent variable(s)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52005" y="2814253"/>
            <a:ext cx="310263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7030A0"/>
                </a:solidFill>
              </a:rPr>
              <a:t>Where to find the data</a:t>
            </a:r>
          </a:p>
        </p:txBody>
      </p:sp>
      <p:cxnSp>
        <p:nvCxnSpPr>
          <p:cNvPr id="11" name="Straight Connector 10"/>
          <p:cNvCxnSpPr/>
          <p:nvPr/>
        </p:nvCxnSpPr>
        <p:spPr>
          <a:xfrm>
            <a:off x="1611701" y="2708694"/>
            <a:ext cx="570962" cy="0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2449363" y="2708694"/>
            <a:ext cx="1881337" cy="0"/>
          </a:xfrm>
          <a:prstGeom prst="line">
            <a:avLst/>
          </a:prstGeom>
          <a:ln w="7620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080000" y="2708694"/>
            <a:ext cx="1346200" cy="0"/>
          </a:xfrm>
          <a:prstGeom prst="line">
            <a:avLst/>
          </a:prstGeom>
          <a:ln w="762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6870700" y="2708694"/>
            <a:ext cx="2372322" cy="0"/>
          </a:xfrm>
          <a:prstGeom prst="line">
            <a:avLst/>
          </a:prstGeom>
          <a:ln w="762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4424662" y="2286911"/>
            <a:ext cx="450221" cy="421783"/>
          </a:xfrm>
          <a:prstGeom prst="ellipse">
            <a:avLst/>
          </a:prstGeom>
          <a:noFill/>
          <a:ln w="762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Connector 20"/>
          <p:cNvCxnSpPr>
            <a:stCxn id="19" idx="4"/>
          </p:cNvCxnSpPr>
          <p:nvPr/>
        </p:nvCxnSpPr>
        <p:spPr>
          <a:xfrm flipH="1">
            <a:off x="4632640" y="2708694"/>
            <a:ext cx="17133" cy="1558506"/>
          </a:xfrm>
          <a:prstGeom prst="line">
            <a:avLst/>
          </a:prstGeom>
          <a:ln w="762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Left Brace 21"/>
          <p:cNvSpPr/>
          <p:nvPr/>
        </p:nvSpPr>
        <p:spPr>
          <a:xfrm rot="16200000">
            <a:off x="4370141" y="2560709"/>
            <a:ext cx="579781" cy="4421337"/>
          </a:xfrm>
          <a:prstGeom prst="leftBrac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/>
          <p:cNvSpPr txBox="1"/>
          <p:nvPr/>
        </p:nvSpPr>
        <p:spPr>
          <a:xfrm>
            <a:off x="2884610" y="5264151"/>
            <a:ext cx="35303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Model specification</a:t>
            </a:r>
          </a:p>
        </p:txBody>
      </p:sp>
    </p:spTree>
    <p:extLst>
      <p:ext uri="{BB962C8B-B14F-4D97-AF65-F5344CB8AC3E}">
        <p14:creationId xmlns:p14="http://schemas.microsoft.com/office/powerpoint/2010/main" val="1256246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9" grpId="0" animBg="1"/>
      <p:bldP spid="22" grpId="0" animBg="1"/>
      <p:bldP spid="23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Running an ANOVA in 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624277"/>
          </a:xfrm>
        </p:spPr>
        <p:txBody>
          <a:bodyPr/>
          <a:lstStyle/>
          <a:p>
            <a:r>
              <a:rPr lang="en-US" dirty="0"/>
              <a:t>After getting your data, call </a:t>
            </a:r>
            <a:r>
              <a:rPr lang="en-US" dirty="0" err="1"/>
              <a:t>aov</a:t>
            </a:r>
            <a:r>
              <a:rPr lang="en-US" dirty="0"/>
              <a:t>()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b="91389"/>
          <a:stretch/>
        </p:blipFill>
        <p:spPr>
          <a:xfrm>
            <a:off x="1115241" y="2329132"/>
            <a:ext cx="11076759" cy="379562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 rotWithShape="1">
          <a:blip r:embed="rId3"/>
          <a:srcRect t="8219" b="-1374"/>
          <a:stretch/>
        </p:blipFill>
        <p:spPr>
          <a:xfrm>
            <a:off x="1115241" y="2691441"/>
            <a:ext cx="11076759" cy="410617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023230" y="4744527"/>
            <a:ext cx="300915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chemeClr val="accent2">
                    <a:lumMod val="75000"/>
                  </a:schemeClr>
                </a:solidFill>
              </a:rPr>
              <a:t>Only SS and DOF</a:t>
            </a:r>
          </a:p>
        </p:txBody>
      </p:sp>
      <p:cxnSp>
        <p:nvCxnSpPr>
          <p:cNvPr id="14" name="Straight Arrow Connector 13"/>
          <p:cNvCxnSpPr/>
          <p:nvPr/>
        </p:nvCxnSpPr>
        <p:spPr>
          <a:xfrm flipH="1">
            <a:off x="8298611" y="5037826"/>
            <a:ext cx="655608" cy="0"/>
          </a:xfrm>
          <a:prstGeom prst="straightConnector1">
            <a:avLst/>
          </a:prstGeom>
          <a:ln w="762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293079" y="3875989"/>
            <a:ext cx="19548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chemeClr val="accent6">
                    <a:lumMod val="75000"/>
                  </a:schemeClr>
                </a:solidFill>
              </a:rPr>
              <a:t>Treatment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53620" y="3875990"/>
            <a:ext cx="10388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Error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27585" y="3875989"/>
            <a:ext cx="1831675" cy="1696675"/>
          </a:xfrm>
          <a:prstGeom prst="roundRect">
            <a:avLst/>
          </a:prstGeom>
          <a:noFill/>
          <a:ln w="762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6226834" y="3875988"/>
            <a:ext cx="2002766" cy="1696675"/>
          </a:xfrm>
          <a:prstGeom prst="round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88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4" grpId="0"/>
      <p:bldP spid="25" grpId="0"/>
      <p:bldP spid="16" grpId="0" animBg="1"/>
      <p:bldP spid="26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Running an ANOVA in 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1353800" cy="1141862"/>
          </a:xfrm>
        </p:spPr>
        <p:txBody>
          <a:bodyPr/>
          <a:lstStyle/>
          <a:p>
            <a:r>
              <a:rPr lang="en-US" dirty="0"/>
              <a:t>The basic </a:t>
            </a:r>
            <a:r>
              <a:rPr lang="en-US" dirty="0" err="1"/>
              <a:t>aov</a:t>
            </a:r>
            <a:r>
              <a:rPr lang="en-US" dirty="0"/>
              <a:t>() function doesn’t give you a full ANOVA table</a:t>
            </a:r>
          </a:p>
          <a:p>
            <a:r>
              <a:rPr lang="en-US" dirty="0"/>
              <a:t>To get F- and p-values, run summary() on the output of </a:t>
            </a:r>
            <a:r>
              <a:rPr lang="en-US" dirty="0" err="1"/>
              <a:t>aov</a:t>
            </a:r>
            <a:r>
              <a:rPr lang="en-US" dirty="0"/>
              <a:t>()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0134" y="3102424"/>
            <a:ext cx="10549932" cy="3226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76911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Running an ANOVA in 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1353800" cy="1728458"/>
          </a:xfrm>
        </p:spPr>
        <p:txBody>
          <a:bodyPr/>
          <a:lstStyle/>
          <a:p>
            <a:r>
              <a:rPr lang="en-US" dirty="0"/>
              <a:t>The basic </a:t>
            </a:r>
            <a:r>
              <a:rPr lang="en-US" dirty="0" err="1"/>
              <a:t>aov</a:t>
            </a:r>
            <a:r>
              <a:rPr lang="en-US" dirty="0"/>
              <a:t>() function doesn’t give you a full ANOVA table</a:t>
            </a:r>
          </a:p>
          <a:p>
            <a:r>
              <a:rPr lang="en-US" dirty="0"/>
              <a:t>To get F- and p-values, run summary() on the output of </a:t>
            </a:r>
            <a:r>
              <a:rPr lang="en-US" dirty="0" err="1"/>
              <a:t>aov</a:t>
            </a:r>
            <a:r>
              <a:rPr lang="en-US" dirty="0"/>
              <a:t>()</a:t>
            </a:r>
          </a:p>
          <a:p>
            <a:pPr lvl="1"/>
            <a:r>
              <a:rPr lang="en-US" dirty="0"/>
              <a:t>Can also do it directly instead of saving output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8126" y="3554083"/>
            <a:ext cx="10253948" cy="2784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4376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In-class exercise:</a:t>
            </a:r>
            <a:br>
              <a:rPr lang="en-US" dirty="0"/>
            </a:br>
            <a:r>
              <a:rPr lang="en-US" sz="2800" dirty="0"/>
              <a:t>ANOVA in 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Download “08_thrips.csv” and run an ANOVA on it using R’s </a:t>
            </a:r>
            <a:r>
              <a:rPr lang="en-US" dirty="0" err="1"/>
              <a:t>aov</a:t>
            </a:r>
            <a:r>
              <a:rPr lang="en-US" dirty="0"/>
              <a:t>() function</a:t>
            </a:r>
          </a:p>
          <a:p>
            <a:pPr lvl="1"/>
            <a:r>
              <a:rPr lang="en-US" dirty="0"/>
              <a:t>This is the same data from the review exercise</a:t>
            </a:r>
          </a:p>
          <a:p>
            <a:r>
              <a:rPr lang="en-US" dirty="0"/>
              <a:t>Confirm that the results match what you did by hand earlier</a:t>
            </a:r>
          </a:p>
        </p:txBody>
      </p:sp>
    </p:spTree>
    <p:extLst>
      <p:ext uri="{BB962C8B-B14F-4D97-AF65-F5344CB8AC3E}">
        <p14:creationId xmlns:p14="http://schemas.microsoft.com/office/powerpoint/2010/main" val="2569005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In-class exercise:</a:t>
            </a:r>
            <a:br>
              <a:rPr lang="en-US" dirty="0"/>
            </a:br>
            <a:r>
              <a:rPr lang="en-US" sz="2800" dirty="0"/>
              <a:t>ANOVA in R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908862"/>
            <a:ext cx="10683505" cy="387083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&quot;No&quot; Symbol 5"/>
          <p:cNvSpPr/>
          <p:nvPr/>
        </p:nvSpPr>
        <p:spPr>
          <a:xfrm>
            <a:off x="10798629" y="186506"/>
            <a:ext cx="1196566" cy="1196566"/>
          </a:xfrm>
          <a:prstGeom prst="noSmoking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379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 on ANOVA in 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54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Any last questions on statistics?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Random variables</a:t>
            </a:r>
          </a:p>
          <a:p>
            <a:r>
              <a:rPr lang="en-US" dirty="0"/>
              <a:t>Degrees of freedom</a:t>
            </a:r>
          </a:p>
          <a:p>
            <a:r>
              <a:rPr lang="en-US" dirty="0"/>
              <a:t>Distributions</a:t>
            </a:r>
          </a:p>
          <a:p>
            <a:r>
              <a:rPr lang="en-US" dirty="0"/>
              <a:t>ANOVA</a:t>
            </a:r>
          </a:p>
          <a:p>
            <a:r>
              <a:rPr lang="en-US" dirty="0"/>
              <a:t>F-tests</a:t>
            </a:r>
          </a:p>
          <a:p>
            <a:endParaRPr lang="en-US" dirty="0"/>
          </a:p>
          <a:p>
            <a:r>
              <a:rPr lang="en-US" dirty="0"/>
              <a:t>(We’ll cover linear regression later)</a:t>
            </a:r>
          </a:p>
        </p:txBody>
      </p:sp>
    </p:spTree>
    <p:extLst>
      <p:ext uri="{BB962C8B-B14F-4D97-AF65-F5344CB8AC3E}">
        <p14:creationId xmlns:p14="http://schemas.microsoft.com/office/powerpoint/2010/main" val="17770055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4304" y="3783908"/>
            <a:ext cx="3097696" cy="28653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Homework 4: ANOVA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1168270" cy="4545358"/>
          </a:xfrm>
        </p:spPr>
        <p:txBody>
          <a:bodyPr/>
          <a:lstStyle/>
          <a:p>
            <a:r>
              <a:rPr lang="en-US" dirty="0"/>
              <a:t>A group is testing 3 different treatments for thrombocytopenia (low platelet count)</a:t>
            </a:r>
          </a:p>
          <a:p>
            <a:r>
              <a:rPr lang="en-US" dirty="0"/>
              <a:t>The file 08_platelets.csv contains data from their trial of 96 patients (24 per treatment + controls)</a:t>
            </a:r>
          </a:p>
          <a:p>
            <a:r>
              <a:rPr lang="en-US" dirty="0"/>
              <a:t>Run an ANOVA:</a:t>
            </a:r>
          </a:p>
          <a:p>
            <a:pPr lvl="1"/>
            <a:r>
              <a:rPr lang="en-US" dirty="0"/>
              <a:t>By manually calculating the needed quantities</a:t>
            </a:r>
          </a:p>
          <a:p>
            <a:pPr lvl="1"/>
            <a:r>
              <a:rPr lang="en-US" dirty="0"/>
              <a:t>By using </a:t>
            </a:r>
            <a:r>
              <a:rPr lang="en-US" dirty="0" err="1"/>
              <a:t>aov</a:t>
            </a:r>
            <a:r>
              <a:rPr lang="en-US" dirty="0"/>
              <a:t>() to check your math</a:t>
            </a:r>
          </a:p>
          <a:p>
            <a:r>
              <a:rPr lang="en-US" dirty="0"/>
              <a:t>Put your results in an R notebook (HTML report)</a:t>
            </a:r>
          </a:p>
          <a:p>
            <a:pPr lvl="1"/>
            <a:r>
              <a:rPr lang="en-US" dirty="0"/>
              <a:t>Due Tuesday before class as Homework 4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3399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13046</TotalTime>
  <Words>1616</Words>
  <Application>Microsoft Office PowerPoint</Application>
  <PresentationFormat>Widescreen</PresentationFormat>
  <Paragraphs>336</Paragraphs>
  <Slides>44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9" baseType="lpstr">
      <vt:lpstr>Arial</vt:lpstr>
      <vt:lpstr>Calibri</vt:lpstr>
      <vt:lpstr>Calibri Light</vt:lpstr>
      <vt:lpstr>Courier New</vt:lpstr>
      <vt:lpstr>Office Theme</vt:lpstr>
      <vt:lpstr>PowerPoint Presentation</vt:lpstr>
      <vt:lpstr>Lecture Outline</vt:lpstr>
      <vt:lpstr>Administrative Stuff</vt:lpstr>
      <vt:lpstr>Review of last time:</vt:lpstr>
      <vt:lpstr>Review Exercise: ANOVA</vt:lpstr>
      <vt:lpstr>Review Exercise: ANOVA</vt:lpstr>
      <vt:lpstr>Review Exercise: ANOVA</vt:lpstr>
      <vt:lpstr>Review Exercise: ANOVA</vt:lpstr>
      <vt:lpstr>Review Exercise: ANOVA</vt:lpstr>
      <vt:lpstr>Questions on performing ANOVA?</vt:lpstr>
      <vt:lpstr>Continuing: The F distribution</vt:lpstr>
      <vt:lpstr>Continuing: The F distribution</vt:lpstr>
      <vt:lpstr>Continuing: The F distribution</vt:lpstr>
      <vt:lpstr>Continuing: The F distribution</vt:lpstr>
      <vt:lpstr>Continuing: The F distribution</vt:lpstr>
      <vt:lpstr>Continuing: The F distribution</vt:lpstr>
      <vt:lpstr>Continuing: The F distribution</vt:lpstr>
      <vt:lpstr>Using the F distribution</vt:lpstr>
      <vt:lpstr>The F distribution in practice</vt:lpstr>
      <vt:lpstr>The F distribution in practice</vt:lpstr>
      <vt:lpstr>The F distribution in practice</vt:lpstr>
      <vt:lpstr>The F distribution in practice</vt:lpstr>
      <vt:lpstr>The F distribution in practice</vt:lpstr>
      <vt:lpstr>Take-home on F distribution</vt:lpstr>
      <vt:lpstr>Take-home on F distribution</vt:lpstr>
      <vt:lpstr>Take-home on F distribution</vt:lpstr>
      <vt:lpstr>The F distribution in R</vt:lpstr>
      <vt:lpstr>The F distribution in R</vt:lpstr>
      <vt:lpstr>Getting p-values</vt:lpstr>
      <vt:lpstr>qf()</vt:lpstr>
      <vt:lpstr>In-class exercise: F-values</vt:lpstr>
      <vt:lpstr>In-class exercise: F-values</vt:lpstr>
      <vt:lpstr>Questions on F distributions &amp; p-values?</vt:lpstr>
      <vt:lpstr>ANOVA in R</vt:lpstr>
      <vt:lpstr>Running an ANOVA in R</vt:lpstr>
      <vt:lpstr>Running an ANOVA in R</vt:lpstr>
      <vt:lpstr>Running an ANOVA in R</vt:lpstr>
      <vt:lpstr>Running an ANOVA in R</vt:lpstr>
      <vt:lpstr>Running an ANOVA in R</vt:lpstr>
      <vt:lpstr>In-class exercise: ANOVA in R</vt:lpstr>
      <vt:lpstr>In-class exercise: ANOVA in R</vt:lpstr>
      <vt:lpstr>Questions on ANOVA in R?</vt:lpstr>
      <vt:lpstr>Any last questions on statistics?</vt:lpstr>
      <vt:lpstr>Homework 4: ANOVA analysis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CRSS (PBGG) 8010: Research Methods and Experimental Design for Agriculture</dc:title>
  <dc:creator>Jason Wallace</dc:creator>
  <cp:lastModifiedBy>Jason Wallace</cp:lastModifiedBy>
  <cp:revision>762</cp:revision>
  <dcterms:created xsi:type="dcterms:W3CDTF">2016-05-27T18:28:23Z</dcterms:created>
  <dcterms:modified xsi:type="dcterms:W3CDTF">2026-09-09T14:05:10Z</dcterms:modified>
</cp:coreProperties>
</file>